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 id="{92bd3c80-777a-509b-e35a-6382e4d85a66}">
          <p14:sldIdLst>
            <p14:sldId id="256"/>
            <p14:sldId id="257"/>
          </p14:sldIdLst>
        </p14:section>
        <p14:section name="1. 方法" id="{c84cdf78-d10e-bc66-f044-af597a9b43db}">
          <p14:sldIdLst>
            <p14:sldId id="258"/>
            <p14:sldId id="259"/>
            <p14:sldId id="260"/>
            <p14:sldId id="261"/>
            <p14:sldId id="262"/>
            <p14:sldId id="263"/>
            <p14:sldId id="264"/>
          </p14:sldIdLst>
        </p14:section>
        <p14:section name="2. 結果" id="{bf22ed0e-b639-cb8f-5e0b-cb5ac3a282e5}">
          <p14:sldIdLst>
            <p14:sldId id="265"/>
            <p14:sldId id="266"/>
            <p14:sldId id="267"/>
            <p14:sldId id="268"/>
            <p14:sldId id="269"/>
            <p14:sldId id="270"/>
          </p14:sldIdLst>
        </p14:section>
        <p14:section name="3. 全体の何割で倒れるか" id="{47f142f6-fe68-70fa-df0a-fdd06ebd7e38}">
          <p14:sldIdLst>
            <p14:sldId id="271"/>
            <p14:sldId id="272"/>
            <p14:sldId id="273"/>
            <p14:sldId id="274"/>
          </p14:sldIdLst>
        </p14:section>
        <p14:section name="3. まとめ" id="{33e05a51-86c7-1e08-3801-db2631b1f064}">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GMR</c:v>
                </c:pt>
              </c:strCache>
            </c:strRef>
          </c:tx>
          <c:spPr>
            <a:solidFill>
              <a:srgbClr val="5B6577"/>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Sheet1!$A$2:$A$5</c:f>
              <c:multiLvlStrCache>
                <c:ptCount val="4"/>
                <c:lvl>
                  <c:pt idx="0">
                    <c:v>aiming1 KHR</c:v>
                  </c:pt>
                  <c:pt idx="1">
                    <c:v>aiming1 KXR</c:v>
                  </c:pt>
                  <c:pt idx="2">
                    <c:v>walk1 KHR</c:v>
                  </c:pt>
                  <c:pt idx="3">
                    <c:v>walk1 KXR</c:v>
                  </c:pt>
                </c:lvl>
              </c:multiLvlStrCache>
            </c:multiLvlStrRef>
          </c:cat>
          <c:val>
            <c:numRef>
              <c:f>Sheet1!$B$2:$B$5</c:f>
              <c:numCache>
                <c:formatCode>General</c:formatCode>
                <c:ptCount val="4"/>
                <c:pt idx="0">
                  <c:v>19</c:v>
                </c:pt>
                <c:pt idx="1">
                  <c:v>5.1</c:v>
                </c:pt>
                <c:pt idx="2">
                  <c:v>5.3</c:v>
                </c:pt>
                <c:pt idx="3">
                  <c:v>5</c:v>
                </c:pt>
              </c:numCache>
            </c:numRef>
          </c:val>
        </c:ser>
        <c:ser>
          <c:idx val="1"/>
          <c:order val="1"/>
          <c:tx>
            <c:strRef>
              <c:f>Sheet1!$C$1</c:f>
              <c:strCache>
                <c:ptCount val="1"/>
                <c:pt idx="0">
                  <c:v>GMR+QP</c:v>
                </c:pt>
              </c:strCache>
            </c:strRef>
          </c:tx>
          <c:spPr>
            <a:solidFill>
              <a:srgbClr val="3A6EA5"/>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Sheet1!$A$2:$A$5</c:f>
              <c:multiLvlStrCache>
                <c:ptCount val="4"/>
                <c:lvl>
                  <c:pt idx="0">
                    <c:v>aiming1 KHR</c:v>
                  </c:pt>
                  <c:pt idx="1">
                    <c:v>aiming1 KXR</c:v>
                  </c:pt>
                  <c:pt idx="2">
                    <c:v>walk1 KHR</c:v>
                  </c:pt>
                  <c:pt idx="3">
                    <c:v>walk1 KXR</c:v>
                  </c:pt>
                </c:lvl>
              </c:multiLvlStrCache>
            </c:multiLvlStrRef>
          </c:cat>
          <c:val>
            <c:numRef>
              <c:f>Sheet1!$C$2:$C$5</c:f>
              <c:numCache>
                <c:formatCode>General</c:formatCode>
                <c:ptCount val="4"/>
                <c:pt idx="0">
                  <c:v>30</c:v>
                </c:pt>
                <c:pt idx="1">
                  <c:v>30</c:v>
                </c:pt>
                <c:pt idx="2">
                  <c:v>6.8</c:v>
                </c:pt>
                <c:pt idx="3">
                  <c:v>6.5</c:v>
                </c:pt>
              </c:numCache>
            </c:numRef>
          </c:val>
        </c:ser>
        <c:ser>
          <c:idx val="2"/>
          <c:order val="2"/>
          <c:tx>
            <c:strRef>
              <c:f>Sheet1!$D$1</c:f>
              <c:strCache>
                <c:ptCount val="1"/>
                <c:pt idx="0">
                  <c:v>QP+バランス</c:v>
                </c:pt>
              </c:strCache>
            </c:strRef>
          </c:tx>
          <c:spPr>
            <a:solidFill>
              <a:srgbClr val="5B8C5A"/>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Sheet1!$A$2:$A$5</c:f>
              <c:multiLvlStrCache>
                <c:ptCount val="4"/>
                <c:lvl>
                  <c:pt idx="0">
                    <c:v>aiming1 KHR</c:v>
                  </c:pt>
                  <c:pt idx="1">
                    <c:v>aiming1 KXR</c:v>
                  </c:pt>
                  <c:pt idx="2">
                    <c:v>walk1 KHR</c:v>
                  </c:pt>
                  <c:pt idx="3">
                    <c:v>walk1 KXR</c:v>
                  </c:pt>
                </c:lvl>
              </c:multiLvlStrCache>
            </c:multiLvlStrRef>
          </c:cat>
          <c:val>
            <c:numRef>
              <c:f>Sheet1!$D$2:$D$5</c:f>
              <c:numCache>
                <c:formatCode>General</c:formatCode>
                <c:ptCount val="4"/>
                <c:pt idx="0">
                  <c:v>30</c:v>
                </c:pt>
                <c:pt idx="1">
                  <c:v>24.5</c:v>
                </c:pt>
                <c:pt idx="2">
                  <c:v>19.7</c:v>
                </c:pt>
                <c:pt idx="3">
                  <c:v>7</c:v>
                </c:pt>
              </c:numCache>
            </c:numRef>
          </c:val>
        </c:ser>
        <c:ser>
          <c:idx val="3"/>
          <c:order val="3"/>
          <c:tx>
            <c:strRef>
              <c:f>Sheet1!$E$1</c:f>
              <c:strCache>
                <c:ptCount val="1"/>
                <c:pt idx="0">
                  <c:v>GMR+MPC</c:v>
                </c:pt>
              </c:strCache>
            </c:strRef>
          </c:tx>
          <c:spPr>
            <a:solidFill>
              <a:srgbClr val="8E7DBE"/>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Sheet1!$A$2:$A$5</c:f>
              <c:multiLvlStrCache>
                <c:ptCount val="4"/>
                <c:lvl>
                  <c:pt idx="0">
                    <c:v>aiming1 KHR</c:v>
                  </c:pt>
                  <c:pt idx="1">
                    <c:v>aiming1 KXR</c:v>
                  </c:pt>
                  <c:pt idx="2">
                    <c:v>walk1 KHR</c:v>
                  </c:pt>
                  <c:pt idx="3">
                    <c:v>walk1 KXR</c:v>
                  </c:pt>
                </c:lvl>
              </c:multiLvlStrCache>
            </c:multiLvlStrRef>
          </c:cat>
          <c:val>
            <c:numRef>
              <c:f>Sheet1!$E$2:$E$5</c:f>
              <c:numCache>
                <c:formatCode>General</c:formatCode>
                <c:ptCount val="4"/>
                <c:pt idx="0">
                  <c:v>24.4</c:v>
                </c:pt>
                <c:pt idx="1">
                  <c:v>30</c:v>
                </c:pt>
                <c:pt idx="2">
                  <c:v>6.7</c:v>
                </c:pt>
                <c:pt idx="3">
                  <c:v>6.5</c:v>
                </c:pt>
              </c:numCache>
            </c:numRef>
          </c:val>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577"/>
                </a:solidFill>
                <a:latin typeface="+mn-lt"/>
              </a:defRPr>
            </a:pPr>
            <a:endParaRPr lang="en-US"/>
          </a:p>
        </c:txPr>
        <c:crossAx val="2094734552"/>
        <c:crosses val="autoZero"/>
        <c:auto val="1"/>
        <c:lblAlgn val="ctr"/>
        <c:noMultiLvlLbl val="1"/>
      </c:catAx>
      <c:valAx>
        <c:axId val="2094734552"/>
        <c:scaling>
          <c:orientation val="minMax"/>
          <c:max val="30"/>
        </c:scaling>
        <c:delete val="0"/>
        <c:axPos val="l"/>
        <c:majorGridlines>
          <c:spPr>
            <a:ln w="6350" cap="flat">
              <a:solidFill>
                <a:srgbClr val="E2E6EE"/>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倒れるまで（秒, 30 = 倒れない）</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KHR × GMR+MPC</c:v>
                </c:pt>
              </c:strCache>
            </c:strRef>
          </c:tx>
          <c:spPr>
            <a:solidFill>
              <a:srgbClr val="8E7DBE"/>
            </a:solidFill>
            <a:effectLst/>
          </c:spPr>
          <c:invertIfNegative val="0"/>
          <c:dLbls>
            <c:numFmt formatCode="#,##0" sourceLinked="0"/>
            <c:txPr>
              <a:bodyPr/>
              <a:lstStyle/>
              <a:p>
                <a:pPr>
                  <a:defRPr b="0" i="0" strike="noStrike" sz="900" u="none">
                    <a:solidFill>
                      <a:srgbClr val="000000"/>
                    </a:solidFill>
                    <a:latin typeface="+mn-lt"/>
                  </a:defRPr>
                </a:pPr>
              </a:p>
            </c:txPr>
            <c:showLegendKey val="0"/>
            <c:showVal val="1"/>
            <c:showCatName val="0"/>
            <c:showSerName val="0"/>
            <c:showPercent val="0"/>
            <c:showBubbleSize val="0"/>
            <c:showLeaderLines val="0"/>
          </c:dLbls>
          <c:cat>
            <c:multiLvlStrRef>
              <c:f>Sheet1!$A$2:$A$7</c:f>
              <c:multiLvlStrCache>
                <c:ptCount val="6"/>
                <c:lvl>
                  <c:pt idx="0">
                    <c:v>〜5%</c:v>
                  </c:pt>
                  <c:pt idx="1">
                    <c:v>5〜10%</c:v>
                  </c:pt>
                  <c:pt idx="2">
                    <c:v>10〜25%</c:v>
                  </c:pt>
                  <c:pt idx="3">
                    <c:v>25〜50%</c:v>
                  </c:pt>
                  <c:pt idx="4">
                    <c:v>50%〜</c:v>
                  </c:pt>
                  <c:pt idx="5">
                    <c:v>最後まで</c:v>
                  </c:pt>
                </c:lvl>
              </c:multiLvlStrCache>
            </c:multiLvlStrRef>
          </c:cat>
          <c:val>
            <c:numRef>
              <c:f>Sheet1!$B$2:$B$7</c:f>
              <c:numCache>
                <c:formatCode>General</c:formatCode>
                <c:ptCount val="6"/>
                <c:pt idx="0">
                  <c:v>45</c:v>
                </c:pt>
                <c:pt idx="1">
                  <c:v>21</c:v>
                </c:pt>
                <c:pt idx="2">
                  <c:v>10</c:v>
                </c:pt>
                <c:pt idx="3">
                  <c:v>1</c:v>
                </c:pt>
                <c:pt idx="4">
                  <c:v>0</c:v>
                </c:pt>
                <c:pt idx="5">
                  <c:v>0</c:v>
                </c:pt>
              </c:numCache>
            </c:numRef>
          </c:val>
        </c:ser>
        <c:ser>
          <c:idx val="1"/>
          <c:order val="1"/>
          <c:tx>
            <c:strRef>
              <c:f>Sheet1!$C$1</c:f>
              <c:strCache>
                <c:ptCount val="1"/>
                <c:pt idx="0">
                  <c:v>KXR × GMR+MPC</c:v>
                </c:pt>
              </c:strCache>
            </c:strRef>
          </c:tx>
          <c:spPr>
            <a:solidFill>
              <a:srgbClr val="3A6EA5"/>
            </a:solidFill>
            <a:effectLst/>
          </c:spPr>
          <c:invertIfNegative val="0"/>
          <c:dLbls>
            <c:numFmt formatCode="#,##0" sourceLinked="0"/>
            <c:txPr>
              <a:bodyPr/>
              <a:lstStyle/>
              <a:p>
                <a:pPr>
                  <a:defRPr b="0" i="0" strike="noStrike" sz="900" u="none">
                    <a:solidFill>
                      <a:srgbClr val="000000"/>
                    </a:solidFill>
                    <a:latin typeface="+mn-lt"/>
                  </a:defRPr>
                </a:pPr>
              </a:p>
            </c:txPr>
            <c:showLegendKey val="0"/>
            <c:showVal val="1"/>
            <c:showCatName val="0"/>
            <c:showSerName val="0"/>
            <c:showPercent val="0"/>
            <c:showBubbleSize val="0"/>
            <c:showLeaderLines val="0"/>
          </c:dLbls>
          <c:cat>
            <c:multiLvlStrRef>
              <c:f>Sheet1!$A$2:$A$7</c:f>
              <c:multiLvlStrCache>
                <c:ptCount val="6"/>
                <c:lvl>
                  <c:pt idx="0">
                    <c:v>〜5%</c:v>
                  </c:pt>
                  <c:pt idx="1">
                    <c:v>5〜10%</c:v>
                  </c:pt>
                  <c:pt idx="2">
                    <c:v>10〜25%</c:v>
                  </c:pt>
                  <c:pt idx="3">
                    <c:v>25〜50%</c:v>
                  </c:pt>
                  <c:pt idx="4">
                    <c:v>50%〜</c:v>
                  </c:pt>
                  <c:pt idx="5">
                    <c:v>最後まで</c:v>
                  </c:pt>
                </c:lvl>
              </c:multiLvlStrCache>
            </c:multiLvlStrRef>
          </c:cat>
          <c:val>
            <c:numRef>
              <c:f>Sheet1!$C$2:$C$7</c:f>
              <c:numCache>
                <c:formatCode>General</c:formatCode>
                <c:ptCount val="6"/>
                <c:pt idx="0">
                  <c:v>43</c:v>
                </c:pt>
                <c:pt idx="1">
                  <c:v>19</c:v>
                </c:pt>
                <c:pt idx="2">
                  <c:v>11</c:v>
                </c:pt>
                <c:pt idx="3">
                  <c:v>4</c:v>
                </c:pt>
                <c:pt idx="4">
                  <c:v>0</c:v>
                </c:pt>
                <c:pt idx="5">
                  <c:v>0</c:v>
                </c:pt>
              </c:numCache>
            </c:numRef>
          </c:val>
        </c:ser>
        <c:ser>
          <c:idx val="2"/>
          <c:order val="2"/>
          <c:tx>
            <c:strRef>
              <c:f>Sheet1!$D$1</c:f>
              <c:strCache>
                <c:ptCount val="1"/>
                <c:pt idx="0">
                  <c:v>KHR × GMR+QP</c:v>
                </c:pt>
              </c:strCache>
            </c:strRef>
          </c:tx>
          <c:spPr>
            <a:solidFill>
              <a:srgbClr val="5B6577"/>
            </a:solidFill>
            <a:effectLst/>
          </c:spPr>
          <c:invertIfNegative val="0"/>
          <c:dLbls>
            <c:numFmt formatCode="#,##0" sourceLinked="0"/>
            <c:txPr>
              <a:bodyPr/>
              <a:lstStyle/>
              <a:p>
                <a:pPr>
                  <a:defRPr b="0" i="0" strike="noStrike" sz="900" u="none">
                    <a:solidFill>
                      <a:srgbClr val="000000"/>
                    </a:solidFill>
                    <a:latin typeface="+mn-lt"/>
                  </a:defRPr>
                </a:pPr>
              </a:p>
            </c:txPr>
            <c:showLegendKey val="0"/>
            <c:showVal val="1"/>
            <c:showCatName val="0"/>
            <c:showSerName val="0"/>
            <c:showPercent val="0"/>
            <c:showBubbleSize val="0"/>
            <c:showLeaderLines val="0"/>
          </c:dLbls>
          <c:cat>
            <c:multiLvlStrRef>
              <c:f>Sheet1!$A$2:$A$7</c:f>
              <c:multiLvlStrCache>
                <c:ptCount val="6"/>
                <c:lvl>
                  <c:pt idx="0">
                    <c:v>〜5%</c:v>
                  </c:pt>
                  <c:pt idx="1">
                    <c:v>5〜10%</c:v>
                  </c:pt>
                  <c:pt idx="2">
                    <c:v>10〜25%</c:v>
                  </c:pt>
                  <c:pt idx="3">
                    <c:v>25〜50%</c:v>
                  </c:pt>
                  <c:pt idx="4">
                    <c:v>50%〜</c:v>
                  </c:pt>
                  <c:pt idx="5">
                    <c:v>最後まで</c:v>
                  </c:pt>
                </c:lvl>
              </c:multiLvlStrCache>
            </c:multiLvlStrRef>
          </c:cat>
          <c:val>
            <c:numRef>
              <c:f>Sheet1!$D$2:$D$7</c:f>
              <c:numCache>
                <c:formatCode>General</c:formatCode>
                <c:ptCount val="6"/>
                <c:pt idx="0">
                  <c:v>43</c:v>
                </c:pt>
                <c:pt idx="1">
                  <c:v>21</c:v>
                </c:pt>
                <c:pt idx="2">
                  <c:v>12</c:v>
                </c:pt>
                <c:pt idx="3">
                  <c:v>1</c:v>
                </c:pt>
                <c:pt idx="4">
                  <c:v>0</c:v>
                </c:pt>
                <c:pt idx="5">
                  <c:v>0</c:v>
                </c:pt>
              </c:numCache>
            </c:numRef>
          </c:val>
        </c:ser>
        <c:dLbls>
          <c:numFmt formatCode="#,##0" sourceLinked="0"/>
          <c:txPr>
            <a:bodyPr/>
            <a:lstStyle/>
            <a:p>
              <a:pPr>
                <a:defRPr b="0" i="0" strike="noStrike" sz="9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577"/>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6EE"/>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本数（77 本中）</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KHR × GMR+MPC</c:v>
                </c:pt>
              </c:strCache>
            </c:strRef>
          </c:tx>
          <c:spPr>
            <a:solidFill>
              <a:srgbClr val="8E7DBE"/>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Sheet1!$A$2:$A$78</c:f>
              <c:multiLvlStrCache>
                <c:ptCount val="77"/>
                <c:lvl>
                  <c:pt idx="0">
                    <c:v>dance1_s3.ebvh</c:v>
                  </c:pt>
                  <c:pt idx="1">
                    <c:v>obstacles5_s2.ebvh</c:v>
                  </c:pt>
                  <c:pt idx="2">
                    <c:v>dance2_s3.ebvh</c:v>
                  </c:pt>
                  <c:pt idx="3">
                    <c:v>multipleActions1_s4.ebvh</c:v>
                  </c:pt>
                  <c:pt idx="4">
                    <c:v>walk4_s1.ebvh</c:v>
                  </c:pt>
                  <c:pt idx="5">
                    <c:v>dance2_s5.ebvh</c:v>
                  </c:pt>
                  <c:pt idx="6">
                    <c:v>walk3_s2.ebvh</c:v>
                  </c:pt>
                  <c:pt idx="7">
                    <c:v>dance2_s1.ebvh</c:v>
                  </c:pt>
                  <c:pt idx="8">
                    <c:v>ground1_s5.ebvh</c:v>
                  </c:pt>
                  <c:pt idx="9">
                    <c:v>aiming2_s2.ebvh</c:v>
                  </c:pt>
                  <c:pt idx="10">
                    <c:v>pushAndStumble1_s3.ebvh</c:v>
                  </c:pt>
                  <c:pt idx="11">
                    <c:v>dance1_s2.ebvh</c:v>
                  </c:pt>
                  <c:pt idx="12">
                    <c:v>fallAndGetUp2_s3.ebvh</c:v>
                  </c:pt>
                  <c:pt idx="13">
                    <c:v>walk1_s2.ebvh</c:v>
                  </c:pt>
                  <c:pt idx="14">
                    <c:v>aiming1_s1.ebvh</c:v>
                  </c:pt>
                  <c:pt idx="15">
                    <c:v>walk3_s1.ebvh</c:v>
                  </c:pt>
                  <c:pt idx="16">
                    <c:v>obstacles2_s1.ebvh</c:v>
                  </c:pt>
                  <c:pt idx="17">
                    <c:v>pushAndStumble1_s5.ebvh</c:v>
                  </c:pt>
                  <c:pt idx="18">
                    <c:v>dance2_s4.ebvh</c:v>
                  </c:pt>
                  <c:pt idx="19">
                    <c:v>multipleActions1_s1.ebvh</c:v>
                  </c:pt>
                  <c:pt idx="20">
                    <c:v>obstacles6_s4.ebvh</c:v>
                  </c:pt>
                  <c:pt idx="21">
                    <c:v>jumps1_s2.ebvh</c:v>
                  </c:pt>
                  <c:pt idx="22">
                    <c:v>dance2_s2.ebvh</c:v>
                  </c:pt>
                  <c:pt idx="23">
                    <c:v>multipleActions1_s3.ebvh</c:v>
                  </c:pt>
                  <c:pt idx="24">
                    <c:v>run1_s2.ebvh</c:v>
                  </c:pt>
                  <c:pt idx="25">
                    <c:v>ground2_s2.ebvh</c:v>
                  </c:pt>
                  <c:pt idx="26">
                    <c:v>fallAndGetUp3_s1.ebvh</c:v>
                  </c:pt>
                  <c:pt idx="27">
                    <c:v>walk1_s1.ebvh</c:v>
                  </c:pt>
                  <c:pt idx="28">
                    <c:v>fallAndGetUp1_s1.ebvh</c:v>
                  </c:pt>
                  <c:pt idx="29">
                    <c:v>obstacles3_s3.ebvh</c:v>
                  </c:pt>
                  <c:pt idx="30">
                    <c:v>dance1_s1.ebvh</c:v>
                  </c:pt>
                  <c:pt idx="31">
                    <c:v>push1_s2.ebvh</c:v>
                  </c:pt>
                  <c:pt idx="32">
                    <c:v>ground1_s4.ebvh</c:v>
                  </c:pt>
                  <c:pt idx="33">
                    <c:v>pushAndFall1_s1.ebvh</c:v>
                  </c:pt>
                  <c:pt idx="34">
                    <c:v>ground1_s1.ebvh</c:v>
                  </c:pt>
                  <c:pt idx="35">
                    <c:v>walk2_s4.ebvh</c:v>
                  </c:pt>
                  <c:pt idx="36">
                    <c:v>walk2_s1.ebvh</c:v>
                  </c:pt>
                  <c:pt idx="37">
                    <c:v>pushAndStumble1_s2.ebvh</c:v>
                  </c:pt>
                  <c:pt idx="38">
                    <c:v>walk2_s3.ebvh</c:v>
                  </c:pt>
                  <c:pt idx="39">
                    <c:v>jumps1_s1.ebvh</c:v>
                  </c:pt>
                  <c:pt idx="40">
                    <c:v>pushAndFall1_s4.ebvh</c:v>
                  </c:pt>
                  <c:pt idx="41">
                    <c:v>obstacles3_s4.ebvh</c:v>
                  </c:pt>
                  <c:pt idx="42">
                    <c:v>obstacles1_s1.ebvh</c:v>
                  </c:pt>
                  <c:pt idx="43">
                    <c:v>obstacles4_s4.ebvh</c:v>
                  </c:pt>
                  <c:pt idx="44">
                    <c:v>obstacles1_s2.ebvh</c:v>
                  </c:pt>
                  <c:pt idx="45">
                    <c:v>fallAndGetUp1_s4.ebvh</c:v>
                  </c:pt>
                  <c:pt idx="46">
                    <c:v>multipleActions1_s2.ebvh</c:v>
                  </c:pt>
                  <c:pt idx="47">
                    <c:v>fallAndGetUp2_s2.ebvh</c:v>
                  </c:pt>
                  <c:pt idx="48">
                    <c:v>obstacles5_s3.ebvh</c:v>
                  </c:pt>
                  <c:pt idx="49">
                    <c:v>aiming2_s3.ebvh</c:v>
                  </c:pt>
                  <c:pt idx="50">
                    <c:v>run2_s1.ebvh</c:v>
                  </c:pt>
                  <c:pt idx="51">
                    <c:v>obstacles2_s2.ebvh</c:v>
                  </c:pt>
                  <c:pt idx="52">
                    <c:v>fallAndGetUp1_s5.ebvh</c:v>
                  </c:pt>
                  <c:pt idx="53">
                    <c:v>obstacles4_s2.ebvh</c:v>
                  </c:pt>
                  <c:pt idx="54">
                    <c:v>ground2_s3.ebvh</c:v>
                  </c:pt>
                  <c:pt idx="55">
                    <c:v>obstacles1_s5.ebvh</c:v>
                  </c:pt>
                  <c:pt idx="56">
                    <c:v>obstacles4_s3.ebvh</c:v>
                  </c:pt>
                  <c:pt idx="57">
                    <c:v>walk3_s3.ebvh</c:v>
                  </c:pt>
                  <c:pt idx="58">
                    <c:v>aiming1_s4.ebvh</c:v>
                  </c:pt>
                  <c:pt idx="59">
                    <c:v>fightAndSports1_s4.ebvh</c:v>
                  </c:pt>
                  <c:pt idx="60">
                    <c:v>obstacles5_s4.ebvh</c:v>
                  </c:pt>
                  <c:pt idx="61">
                    <c:v>obstacles2_s5.ebvh</c:v>
                  </c:pt>
                  <c:pt idx="62">
                    <c:v>sprint1_s4.ebvh</c:v>
                  </c:pt>
                  <c:pt idx="63">
                    <c:v>obstacles6_s1.ebvh</c:v>
                  </c:pt>
                  <c:pt idx="64">
                    <c:v>run1_s5.ebvh</c:v>
                  </c:pt>
                  <c:pt idx="65">
                    <c:v>fightAndSports1_s1.ebvh</c:v>
                  </c:pt>
                  <c:pt idx="66">
                    <c:v>sprint1_s2.ebvh</c:v>
                  </c:pt>
                  <c:pt idx="67">
                    <c:v>fight1_s2.ebvh</c:v>
                  </c:pt>
                  <c:pt idx="68">
                    <c:v>walk3_s4.ebvh</c:v>
                  </c:pt>
                  <c:pt idx="69">
                    <c:v>fight1_s3.ebvh</c:v>
                  </c:pt>
                  <c:pt idx="70">
                    <c:v>walk1_s5.ebvh</c:v>
                  </c:pt>
                  <c:pt idx="71">
                    <c:v>aiming2_s5.ebvh</c:v>
                  </c:pt>
                  <c:pt idx="72">
                    <c:v>obstacles6_s5.ebvh</c:v>
                  </c:pt>
                  <c:pt idx="73">
                    <c:v>fight1_s5.ebvh</c:v>
                  </c:pt>
                  <c:pt idx="74">
                    <c:v>run2_s4.ebvh</c:v>
                  </c:pt>
                  <c:pt idx="75">
                    <c:v>walk3_s5.ebvh</c:v>
                  </c:pt>
                  <c:pt idx="76">
                    <c:v>jumps1_s5.ebvh</c:v>
                  </c:pt>
                </c:lvl>
              </c:multiLvlStrCache>
            </c:multiLvlStrRef>
          </c:cat>
          <c:val>
            <c:numRef>
              <c:f>Sheet1!$B$2:$B$78</c:f>
              <c:numCache>
                <c:formatCode>General</c:formatCode>
                <c:ptCount val="77"/>
                <c:pt idx="0">
                  <c:v>32.7</c:v>
                </c:pt>
                <c:pt idx="1">
                  <c:v>23.8</c:v>
                </c:pt>
                <c:pt idx="2">
                  <c:v>22.8</c:v>
                </c:pt>
                <c:pt idx="3">
                  <c:v>16.7</c:v>
                </c:pt>
                <c:pt idx="4">
                  <c:v>14.9</c:v>
                </c:pt>
                <c:pt idx="5">
                  <c:v>13.5</c:v>
                </c:pt>
                <c:pt idx="6">
                  <c:v>12.7</c:v>
                </c:pt>
                <c:pt idx="7">
                  <c:v>12.4</c:v>
                </c:pt>
                <c:pt idx="8">
                  <c:v>11.6</c:v>
                </c:pt>
                <c:pt idx="9">
                  <c:v>11.1</c:v>
                </c:pt>
                <c:pt idx="10">
                  <c:v>10.5</c:v>
                </c:pt>
                <c:pt idx="11">
                  <c:v>9.4</c:v>
                </c:pt>
                <c:pt idx="12">
                  <c:v>9</c:v>
                </c:pt>
                <c:pt idx="13">
                  <c:v>8.7</c:v>
                </c:pt>
                <c:pt idx="14">
                  <c:v>8.6</c:v>
                </c:pt>
                <c:pt idx="15">
                  <c:v>8.3</c:v>
                </c:pt>
                <c:pt idx="16">
                  <c:v>7.9</c:v>
                </c:pt>
                <c:pt idx="17">
                  <c:v>7.1</c:v>
                </c:pt>
                <c:pt idx="18">
                  <c:v>7</c:v>
                </c:pt>
                <c:pt idx="19">
                  <c:v>6.9</c:v>
                </c:pt>
                <c:pt idx="20">
                  <c:v>6.4</c:v>
                </c:pt>
                <c:pt idx="21">
                  <c:v>6.3</c:v>
                </c:pt>
                <c:pt idx="22">
                  <c:v>6.2</c:v>
                </c:pt>
                <c:pt idx="23">
                  <c:v>6.1</c:v>
                </c:pt>
                <c:pt idx="24">
                  <c:v>5.9</c:v>
                </c:pt>
                <c:pt idx="25">
                  <c:v>5.9</c:v>
                </c:pt>
                <c:pt idx="26">
                  <c:v>5.8</c:v>
                </c:pt>
                <c:pt idx="27">
                  <c:v>5.8</c:v>
                </c:pt>
                <c:pt idx="28">
                  <c:v>5.7</c:v>
                </c:pt>
                <c:pt idx="29">
                  <c:v>5.6</c:v>
                </c:pt>
                <c:pt idx="30">
                  <c:v>5.4</c:v>
                </c:pt>
                <c:pt idx="31">
                  <c:v>5.2</c:v>
                </c:pt>
                <c:pt idx="32">
                  <c:v>5</c:v>
                </c:pt>
                <c:pt idx="33">
                  <c:v>4.9</c:v>
                </c:pt>
                <c:pt idx="34">
                  <c:v>4.9</c:v>
                </c:pt>
                <c:pt idx="35">
                  <c:v>4.9</c:v>
                </c:pt>
                <c:pt idx="36">
                  <c:v>4.7</c:v>
                </c:pt>
                <c:pt idx="37">
                  <c:v>4.7</c:v>
                </c:pt>
                <c:pt idx="38">
                  <c:v>4.5</c:v>
                </c:pt>
                <c:pt idx="39">
                  <c:v>4.4</c:v>
                </c:pt>
                <c:pt idx="40">
                  <c:v>4.2</c:v>
                </c:pt>
                <c:pt idx="41">
                  <c:v>4.1</c:v>
                </c:pt>
                <c:pt idx="42">
                  <c:v>4</c:v>
                </c:pt>
                <c:pt idx="43">
                  <c:v>3.9</c:v>
                </c:pt>
                <c:pt idx="44">
                  <c:v>3.9</c:v>
                </c:pt>
                <c:pt idx="45">
                  <c:v>3.8</c:v>
                </c:pt>
                <c:pt idx="46">
                  <c:v>3.8</c:v>
                </c:pt>
                <c:pt idx="47">
                  <c:v>3.8</c:v>
                </c:pt>
                <c:pt idx="48">
                  <c:v>3.7</c:v>
                </c:pt>
                <c:pt idx="49">
                  <c:v>3.7</c:v>
                </c:pt>
                <c:pt idx="50">
                  <c:v>3.4</c:v>
                </c:pt>
                <c:pt idx="51">
                  <c:v>3.2</c:v>
                </c:pt>
                <c:pt idx="52">
                  <c:v>3.2</c:v>
                </c:pt>
                <c:pt idx="53">
                  <c:v>3.2</c:v>
                </c:pt>
                <c:pt idx="54">
                  <c:v>3.1</c:v>
                </c:pt>
                <c:pt idx="55">
                  <c:v>3.1</c:v>
                </c:pt>
                <c:pt idx="56">
                  <c:v>3</c:v>
                </c:pt>
                <c:pt idx="57">
                  <c:v>2.8</c:v>
                </c:pt>
                <c:pt idx="58">
                  <c:v>2.7</c:v>
                </c:pt>
                <c:pt idx="59">
                  <c:v>2.7</c:v>
                </c:pt>
                <c:pt idx="60">
                  <c:v>2.6</c:v>
                </c:pt>
                <c:pt idx="61">
                  <c:v>2.5</c:v>
                </c:pt>
                <c:pt idx="62">
                  <c:v>2.4</c:v>
                </c:pt>
                <c:pt idx="63">
                  <c:v>2.4</c:v>
                </c:pt>
                <c:pt idx="64">
                  <c:v>2.3</c:v>
                </c:pt>
                <c:pt idx="65">
                  <c:v>2.2</c:v>
                </c:pt>
                <c:pt idx="66">
                  <c:v>2.2</c:v>
                </c:pt>
                <c:pt idx="67">
                  <c:v>2.1</c:v>
                </c:pt>
                <c:pt idx="68">
                  <c:v>2</c:v>
                </c:pt>
                <c:pt idx="69">
                  <c:v>2</c:v>
                </c:pt>
                <c:pt idx="70">
                  <c:v>2</c:v>
                </c:pt>
                <c:pt idx="71">
                  <c:v>1.9</c:v>
                </c:pt>
                <c:pt idx="72">
                  <c:v>1.9</c:v>
                </c:pt>
                <c:pt idx="73">
                  <c:v>1.8</c:v>
                </c:pt>
                <c:pt idx="74">
                  <c:v>1.8</c:v>
                </c:pt>
                <c:pt idx="75">
                  <c:v>1.7</c:v>
                </c:pt>
                <c:pt idx="76">
                  <c:v>1.6</c:v>
                </c:pt>
              </c:numCache>
            </c:numRef>
          </c:val>
        </c:ser>
        <c:ser>
          <c:idx val="1"/>
          <c:order val="1"/>
          <c:tx>
            <c:strRef>
              <c:f>Sheet1!$C$1</c:f>
              <c:strCache>
                <c:ptCount val="1"/>
                <c:pt idx="0">
                  <c:v>KXR × GMR+MPC</c:v>
                </c:pt>
              </c:strCache>
            </c:strRef>
          </c:tx>
          <c:spPr>
            <a:solidFill>
              <a:srgbClr val="3A6EA5"/>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Sheet1!$A$2:$A$78</c:f>
              <c:multiLvlStrCache>
                <c:ptCount val="77"/>
                <c:lvl>
                  <c:pt idx="0">
                    <c:v>dance1_s3.ebvh</c:v>
                  </c:pt>
                  <c:pt idx="1">
                    <c:v>obstacles5_s2.ebvh</c:v>
                  </c:pt>
                  <c:pt idx="2">
                    <c:v>dance2_s3.ebvh</c:v>
                  </c:pt>
                  <c:pt idx="3">
                    <c:v>multipleActions1_s4.ebvh</c:v>
                  </c:pt>
                  <c:pt idx="4">
                    <c:v>walk4_s1.ebvh</c:v>
                  </c:pt>
                  <c:pt idx="5">
                    <c:v>dance2_s5.ebvh</c:v>
                  </c:pt>
                  <c:pt idx="6">
                    <c:v>walk3_s2.ebvh</c:v>
                  </c:pt>
                  <c:pt idx="7">
                    <c:v>dance2_s1.ebvh</c:v>
                  </c:pt>
                  <c:pt idx="8">
                    <c:v>ground1_s5.ebvh</c:v>
                  </c:pt>
                  <c:pt idx="9">
                    <c:v>aiming2_s2.ebvh</c:v>
                  </c:pt>
                  <c:pt idx="10">
                    <c:v>pushAndStumble1_s3.ebvh</c:v>
                  </c:pt>
                  <c:pt idx="11">
                    <c:v>dance1_s2.ebvh</c:v>
                  </c:pt>
                  <c:pt idx="12">
                    <c:v>fallAndGetUp2_s3.ebvh</c:v>
                  </c:pt>
                  <c:pt idx="13">
                    <c:v>walk1_s2.ebvh</c:v>
                  </c:pt>
                  <c:pt idx="14">
                    <c:v>aiming1_s1.ebvh</c:v>
                  </c:pt>
                  <c:pt idx="15">
                    <c:v>walk3_s1.ebvh</c:v>
                  </c:pt>
                  <c:pt idx="16">
                    <c:v>obstacles2_s1.ebvh</c:v>
                  </c:pt>
                  <c:pt idx="17">
                    <c:v>pushAndStumble1_s5.ebvh</c:v>
                  </c:pt>
                  <c:pt idx="18">
                    <c:v>dance2_s4.ebvh</c:v>
                  </c:pt>
                  <c:pt idx="19">
                    <c:v>multipleActions1_s1.ebvh</c:v>
                  </c:pt>
                  <c:pt idx="20">
                    <c:v>obstacles6_s4.ebvh</c:v>
                  </c:pt>
                  <c:pt idx="21">
                    <c:v>jumps1_s2.ebvh</c:v>
                  </c:pt>
                  <c:pt idx="22">
                    <c:v>dance2_s2.ebvh</c:v>
                  </c:pt>
                  <c:pt idx="23">
                    <c:v>multipleActions1_s3.ebvh</c:v>
                  </c:pt>
                  <c:pt idx="24">
                    <c:v>run1_s2.ebvh</c:v>
                  </c:pt>
                  <c:pt idx="25">
                    <c:v>ground2_s2.ebvh</c:v>
                  </c:pt>
                  <c:pt idx="26">
                    <c:v>fallAndGetUp3_s1.ebvh</c:v>
                  </c:pt>
                  <c:pt idx="27">
                    <c:v>walk1_s1.ebvh</c:v>
                  </c:pt>
                  <c:pt idx="28">
                    <c:v>fallAndGetUp1_s1.ebvh</c:v>
                  </c:pt>
                  <c:pt idx="29">
                    <c:v>obstacles3_s3.ebvh</c:v>
                  </c:pt>
                  <c:pt idx="30">
                    <c:v>dance1_s1.ebvh</c:v>
                  </c:pt>
                  <c:pt idx="31">
                    <c:v>push1_s2.ebvh</c:v>
                  </c:pt>
                  <c:pt idx="32">
                    <c:v>ground1_s4.ebvh</c:v>
                  </c:pt>
                  <c:pt idx="33">
                    <c:v>pushAndFall1_s1.ebvh</c:v>
                  </c:pt>
                  <c:pt idx="34">
                    <c:v>ground1_s1.ebvh</c:v>
                  </c:pt>
                  <c:pt idx="35">
                    <c:v>walk2_s4.ebvh</c:v>
                  </c:pt>
                  <c:pt idx="36">
                    <c:v>walk2_s1.ebvh</c:v>
                  </c:pt>
                  <c:pt idx="37">
                    <c:v>pushAndStumble1_s2.ebvh</c:v>
                  </c:pt>
                  <c:pt idx="38">
                    <c:v>walk2_s3.ebvh</c:v>
                  </c:pt>
                  <c:pt idx="39">
                    <c:v>jumps1_s1.ebvh</c:v>
                  </c:pt>
                  <c:pt idx="40">
                    <c:v>pushAndFall1_s4.ebvh</c:v>
                  </c:pt>
                  <c:pt idx="41">
                    <c:v>obstacles3_s4.ebvh</c:v>
                  </c:pt>
                  <c:pt idx="42">
                    <c:v>obstacles1_s1.ebvh</c:v>
                  </c:pt>
                  <c:pt idx="43">
                    <c:v>obstacles4_s4.ebvh</c:v>
                  </c:pt>
                  <c:pt idx="44">
                    <c:v>obstacles1_s2.ebvh</c:v>
                  </c:pt>
                  <c:pt idx="45">
                    <c:v>fallAndGetUp1_s4.ebvh</c:v>
                  </c:pt>
                  <c:pt idx="46">
                    <c:v>multipleActions1_s2.ebvh</c:v>
                  </c:pt>
                  <c:pt idx="47">
                    <c:v>fallAndGetUp2_s2.ebvh</c:v>
                  </c:pt>
                  <c:pt idx="48">
                    <c:v>obstacles5_s3.ebvh</c:v>
                  </c:pt>
                  <c:pt idx="49">
                    <c:v>aiming2_s3.ebvh</c:v>
                  </c:pt>
                  <c:pt idx="50">
                    <c:v>run2_s1.ebvh</c:v>
                  </c:pt>
                  <c:pt idx="51">
                    <c:v>obstacles2_s2.ebvh</c:v>
                  </c:pt>
                  <c:pt idx="52">
                    <c:v>fallAndGetUp1_s5.ebvh</c:v>
                  </c:pt>
                  <c:pt idx="53">
                    <c:v>obstacles4_s2.ebvh</c:v>
                  </c:pt>
                  <c:pt idx="54">
                    <c:v>ground2_s3.ebvh</c:v>
                  </c:pt>
                  <c:pt idx="55">
                    <c:v>obstacles1_s5.ebvh</c:v>
                  </c:pt>
                  <c:pt idx="56">
                    <c:v>obstacles4_s3.ebvh</c:v>
                  </c:pt>
                  <c:pt idx="57">
                    <c:v>walk3_s3.ebvh</c:v>
                  </c:pt>
                  <c:pt idx="58">
                    <c:v>aiming1_s4.ebvh</c:v>
                  </c:pt>
                  <c:pt idx="59">
                    <c:v>fightAndSports1_s4.ebvh</c:v>
                  </c:pt>
                  <c:pt idx="60">
                    <c:v>obstacles5_s4.ebvh</c:v>
                  </c:pt>
                  <c:pt idx="61">
                    <c:v>obstacles2_s5.ebvh</c:v>
                  </c:pt>
                  <c:pt idx="62">
                    <c:v>sprint1_s4.ebvh</c:v>
                  </c:pt>
                  <c:pt idx="63">
                    <c:v>obstacles6_s1.ebvh</c:v>
                  </c:pt>
                  <c:pt idx="64">
                    <c:v>run1_s5.ebvh</c:v>
                  </c:pt>
                  <c:pt idx="65">
                    <c:v>fightAndSports1_s1.ebvh</c:v>
                  </c:pt>
                  <c:pt idx="66">
                    <c:v>sprint1_s2.ebvh</c:v>
                  </c:pt>
                  <c:pt idx="67">
                    <c:v>fight1_s2.ebvh</c:v>
                  </c:pt>
                  <c:pt idx="68">
                    <c:v>walk3_s4.ebvh</c:v>
                  </c:pt>
                  <c:pt idx="69">
                    <c:v>fight1_s3.ebvh</c:v>
                  </c:pt>
                  <c:pt idx="70">
                    <c:v>walk1_s5.ebvh</c:v>
                  </c:pt>
                  <c:pt idx="71">
                    <c:v>aiming2_s5.ebvh</c:v>
                  </c:pt>
                  <c:pt idx="72">
                    <c:v>obstacles6_s5.ebvh</c:v>
                  </c:pt>
                  <c:pt idx="73">
                    <c:v>fight1_s5.ebvh</c:v>
                  </c:pt>
                  <c:pt idx="74">
                    <c:v>run2_s4.ebvh</c:v>
                  </c:pt>
                  <c:pt idx="75">
                    <c:v>walk3_s5.ebvh</c:v>
                  </c:pt>
                  <c:pt idx="76">
                    <c:v>jumps1_s5.ebvh</c:v>
                  </c:pt>
                </c:lvl>
              </c:multiLvlStrCache>
            </c:multiLvlStrRef>
          </c:cat>
          <c:val>
            <c:numRef>
              <c:f>Sheet1!$C$2:$C$78</c:f>
              <c:numCache>
                <c:formatCode>General</c:formatCode>
                <c:ptCount val="77"/>
                <c:pt idx="0">
                  <c:v>33.3</c:v>
                </c:pt>
                <c:pt idx="1">
                  <c:v>23.8</c:v>
                </c:pt>
                <c:pt idx="2">
                  <c:v>32.4</c:v>
                </c:pt>
                <c:pt idx="3">
                  <c:v>11.1</c:v>
                </c:pt>
                <c:pt idx="4">
                  <c:v>15.8</c:v>
                </c:pt>
                <c:pt idx="5">
                  <c:v>19.6</c:v>
                </c:pt>
                <c:pt idx="6">
                  <c:v>13.2</c:v>
                </c:pt>
                <c:pt idx="7">
                  <c:v>11.6</c:v>
                </c:pt>
                <c:pt idx="8">
                  <c:v>12</c:v>
                </c:pt>
                <c:pt idx="9">
                  <c:v>14.1</c:v>
                </c:pt>
                <c:pt idx="10">
                  <c:v>11.4</c:v>
                </c:pt>
                <c:pt idx="11">
                  <c:v>10.6</c:v>
                </c:pt>
                <c:pt idx="12">
                  <c:v>9</c:v>
                </c:pt>
                <c:pt idx="13">
                  <c:v>19.6</c:v>
                </c:pt>
                <c:pt idx="14">
                  <c:v>9.8</c:v>
                </c:pt>
                <c:pt idx="15">
                  <c:v>8.3</c:v>
                </c:pt>
                <c:pt idx="16">
                  <c:v>6</c:v>
                </c:pt>
                <c:pt idx="17">
                  <c:v>5.9</c:v>
                </c:pt>
                <c:pt idx="18">
                  <c:v>7.1</c:v>
                </c:pt>
                <c:pt idx="19">
                  <c:v>2.9</c:v>
                </c:pt>
                <c:pt idx="20">
                  <c:v>6.5</c:v>
                </c:pt>
                <c:pt idx="21">
                  <c:v>3.8</c:v>
                </c:pt>
                <c:pt idx="22">
                  <c:v>4.5</c:v>
                </c:pt>
                <c:pt idx="23">
                  <c:v>6.1</c:v>
                </c:pt>
                <c:pt idx="24">
                  <c:v>6.4</c:v>
                </c:pt>
                <c:pt idx="25">
                  <c:v>7.3</c:v>
                </c:pt>
                <c:pt idx="26">
                  <c:v>5.6</c:v>
                </c:pt>
                <c:pt idx="27">
                  <c:v>2.6</c:v>
                </c:pt>
                <c:pt idx="28">
                  <c:v>5.7</c:v>
                </c:pt>
                <c:pt idx="29">
                  <c:v>5</c:v>
                </c:pt>
                <c:pt idx="30">
                  <c:v>5.9</c:v>
                </c:pt>
                <c:pt idx="31">
                  <c:v>33.8</c:v>
                </c:pt>
                <c:pt idx="32">
                  <c:v>33.8</c:v>
                </c:pt>
                <c:pt idx="33">
                  <c:v>9.2</c:v>
                </c:pt>
                <c:pt idx="34">
                  <c:v>4.8</c:v>
                </c:pt>
                <c:pt idx="35">
                  <c:v>5.6</c:v>
                </c:pt>
                <c:pt idx="36">
                  <c:v>4.2</c:v>
                </c:pt>
                <c:pt idx="37">
                  <c:v>4.6</c:v>
                </c:pt>
                <c:pt idx="38">
                  <c:v>5.1</c:v>
                </c:pt>
                <c:pt idx="39">
                  <c:v>4.1</c:v>
                </c:pt>
                <c:pt idx="40">
                  <c:v>5.1</c:v>
                </c:pt>
                <c:pt idx="41">
                  <c:v>4.2</c:v>
                </c:pt>
                <c:pt idx="42">
                  <c:v>3.8</c:v>
                </c:pt>
                <c:pt idx="43">
                  <c:v>4.2</c:v>
                </c:pt>
                <c:pt idx="44">
                  <c:v>4.4</c:v>
                </c:pt>
                <c:pt idx="45">
                  <c:v>3.8</c:v>
                </c:pt>
                <c:pt idx="46">
                  <c:v>3.7</c:v>
                </c:pt>
                <c:pt idx="47">
                  <c:v>3.8</c:v>
                </c:pt>
                <c:pt idx="48">
                  <c:v>4.3</c:v>
                </c:pt>
                <c:pt idx="49">
                  <c:v>3.6</c:v>
                </c:pt>
                <c:pt idx="50">
                  <c:v>3.9</c:v>
                </c:pt>
                <c:pt idx="51">
                  <c:v>3.4</c:v>
                </c:pt>
                <c:pt idx="52">
                  <c:v>3.6</c:v>
                </c:pt>
                <c:pt idx="53">
                  <c:v>3</c:v>
                </c:pt>
                <c:pt idx="54">
                  <c:v>3.1</c:v>
                </c:pt>
                <c:pt idx="55">
                  <c:v>3.7</c:v>
                </c:pt>
                <c:pt idx="56">
                  <c:v>3.2</c:v>
                </c:pt>
                <c:pt idx="57">
                  <c:v>3.1</c:v>
                </c:pt>
                <c:pt idx="58">
                  <c:v>2.1</c:v>
                </c:pt>
                <c:pt idx="59">
                  <c:v>4.6</c:v>
                </c:pt>
                <c:pt idx="60">
                  <c:v>3.5</c:v>
                </c:pt>
                <c:pt idx="61">
                  <c:v>2.6</c:v>
                </c:pt>
                <c:pt idx="62">
                  <c:v>5.2</c:v>
                </c:pt>
                <c:pt idx="63">
                  <c:v>1.9</c:v>
                </c:pt>
                <c:pt idx="64">
                  <c:v>2.8</c:v>
                </c:pt>
                <c:pt idx="65">
                  <c:v>2.4</c:v>
                </c:pt>
                <c:pt idx="66">
                  <c:v>2.9</c:v>
                </c:pt>
                <c:pt idx="67">
                  <c:v>2.4</c:v>
                </c:pt>
                <c:pt idx="68">
                  <c:v>2.4</c:v>
                </c:pt>
                <c:pt idx="69">
                  <c:v>3.3</c:v>
                </c:pt>
                <c:pt idx="70">
                  <c:v>2.2</c:v>
                </c:pt>
                <c:pt idx="71">
                  <c:v>2.2</c:v>
                </c:pt>
                <c:pt idx="72">
                  <c:v>2</c:v>
                </c:pt>
                <c:pt idx="73">
                  <c:v>2</c:v>
                </c:pt>
                <c:pt idx="74">
                  <c:v>2.2</c:v>
                </c:pt>
                <c:pt idx="75">
                  <c:v>2.1</c:v>
                </c:pt>
                <c:pt idx="76">
                  <c:v>1.9</c:v>
                </c:pt>
              </c:numCache>
            </c:numRef>
          </c:val>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5400000"/>
          <a:lstStyle/>
          <a:p>
            <a:pPr>
              <a:defRPr sz="600" b="0" i="0" u="none" strike="noStrike">
                <a:solidFill>
                  <a:srgbClr val="5B6577"/>
                </a:solidFill>
                <a:latin typeface="+mn-lt"/>
              </a:defRPr>
            </a:pPr>
            <a:endParaRPr lang="en-US"/>
          </a:p>
        </c:txPr>
        <c:crossAx val="2094734552"/>
        <c:crosses val="autoZero"/>
        <c:auto val="1"/>
        <c:lblAlgn val="ctr"/>
        <c:noMultiLvlLbl val="1"/>
      </c:catAx>
      <c:valAx>
        <c:axId val="2094734552"/>
        <c:scaling>
          <c:orientation val="minMax"/>
          <c:max val="40"/>
        </c:scaling>
        <c:delete val="0"/>
        <c:axPos val="l"/>
        <c:majorGridlines>
          <c:spPr>
            <a:ln w="6350" cap="flat">
              <a:solidFill>
                <a:srgbClr val="E2E6EE"/>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倒れた位置（動作の長さに対する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7"/>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倒れるまでの時間は、関節角をサーボの目標にして ODE で再生し、腰（ルートのリンク）の上向きが 60° より傾いた時刻。lafan1 の 77 本 × 2 体（最後まで, 1 本 2〜4 分）と、30 秒までの比べ。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どれも同じ C++ の全身 QP（wbqp.cpp, Goldfarb–Idnani）を iPhone・Mac・Android・デスクトップで使う。BVH の画面のボタン「GMR+QP」「QP+バランス」「物理で比べる」。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 wbqp_plan_balance(h, n, q_ref, root_ref, contact, support, com_out) → コマごとに wbqp_set_com_target(&amp;com_out[i*5]) → wbqp_solve。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コードは wbqp.cpp の comMpc（自前, C++17 の標準ライブラリだけ）。QP は全身 QP と同じ Goldfarb–Idnani 法。変数 45 個（躍度 x・y 15 ブロック + 緩め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物理（ODE）の今の関節角とルートの姿勢を入れると、次のコマのサーボの目標を返す。実機ならエンコーダと IMU の値を入れる。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wbqp_mpc_step の中. ω = √(g / z), z = 今の重心の高さ。パラメータ: cp_gain 1, cp_max 0.3 L, cp_filter 0.5, mpc_dq_max 0.06 rad, mpc_smooth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BalanceStabilizer（Swift / Kotlin）と FallRecovery（Swift / Kotlin）。どちらもロボットの関節の名前によらない作り。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「倒れない」は 30 秒まで立っていた。初めのコマの姿勢で 0.5 秒置いてから再生。アプリの既定のサーボ（eusdyna と同じ, kp 10〜30, 力の上限 5e5）。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倒れたら起き上がって倒れたコマから続ける（FallRecovery）。時間の上限 240 秒の間にどこまで再生できたか。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BVH の画面: 「QP+バランス」で 5 体目、「物理で比べる」で GMR+QP と QP+バランスを物理で並べて動かし「x.x 秒で倒れた」「立っている」を出す。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iPhone はシミュレータ（iPhone 16 Pro, Release）、Android は Pixel 7a（release 版）。倒れるまでの時間は Mac の qptest と同じ（walk1 × KHR: GMR+QP 6.8 秒, QP+バランス 19.7 秒。Pixel は 20.5 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BVH の画面の「物理で比べる」が 3 体（GMR+QP・QP+バランス・GMR+MPC）。GMR+MPC は毎コマ物理の今の状態から wbqp_mpc_step。起動の引数 -method mpc -bvhphysics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倒れた = 腰の上向きが 60° より傾いた（参照が立っているとき）。倒れたら物理を止めて測った（-stopatfall 1）。起き上がりなし。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中央値。「手」= 床に手をつく・倒れる動作（fallAndGetUp・ground・pushAndFall）。倒れるまで = 初めて倒れた時刻。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77 本を KHR の割合の大きい順に並べた。棒が短いほど早く倒れた（100% = 最後まで）。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4630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731520" y="3566160"/>
            <a:ext cx="10698480" cy="1463040"/>
          </a:xfrm>
          <a:prstGeom prst="rect">
            <a:avLst/>
          </a:prstGeom>
          <a:noFill/>
          <a:ln/>
        </p:spPr>
        <p:txBody>
          <a:bodyPr wrap="square" rtlCol="0"/>
          <a:lstStyle>
            <a:lvl1pPr algn="l" indent="0" marL="0">
              <a:buNone/>
              <a:defRPr lang="en-US" sz="1800" dirty="0">
                <a:solidFill>
                  <a:srgbClr val="CADCFC"/>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377440" y="2514600"/>
            <a:ext cx="9144000" cy="9144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2377440" y="3566160"/>
            <a:ext cx="9144000" cy="1097280"/>
          </a:xfrm>
          <a:prstGeom prst="rect">
            <a:avLst/>
          </a:prstGeom>
          <a:noFill/>
          <a:ln/>
        </p:spPr>
        <p:txBody>
          <a:bodyPr wrap="square" rtlCol="0"/>
          <a:lstStyle>
            <a:lvl1pPr algn="l" indent="0" marL="0">
              <a:buNone/>
              <a:defRPr lang="en-US" sz="1600" dirty="0">
                <a:solidFill>
                  <a:srgbClr val="CADCFC"/>
                </a:solidFill>
              </a:defRPr>
            </a:lvl1pPr>
          </a:lstStyle>
          <a:p>
            <a:pPr algn="l" indent="0" marL="0">
              <a:buNone/>
            </a:pP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90B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chemeClr val="accent6"/>
                </a:solidFill>
              </a:rPr>
              <a:t>GMR + MPC — BVH の動作を倒れずに再生する</a:t>
            </a:r>
            <a:endParaRPr lang="en-US" sz="9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HEET">
    <p:bg>
      <p:bgPr>
        <a:solidFill>
          <a:srgbClr val="0B0F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65760" y="109728"/>
            <a:ext cx="11430000" cy="457200"/>
          </a:xfrm>
          <a:prstGeom prst="rect">
            <a:avLst/>
          </a:prstGeom>
          <a:noFill/>
          <a:ln/>
        </p:spPr>
        <p:txBody>
          <a:bodyPr wrap="square" rtlCol="0"/>
          <a:lstStyle>
            <a:lvl1pPr algn="l" indent="0" marL="0">
              <a:buNone/>
              <a:defRPr lang="en-US" sz="1800" b="1" dirty="0">
                <a:solidFill>
                  <a:schemeClr val="bg1"/>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247120" y="649224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90B0"/>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90B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463040"/>
          </a:xfrm>
          <a:prstGeom prst="rect">
            <a:avLst/>
          </a:prstGeom>
          <a:noFill/>
          <a:ln/>
        </p:spPr>
        <p:txBody>
          <a:bodyPr wrap="square" lIns="0" tIns="0" rIns="0" bIns="0" rtlCol="0" anchor="b"/>
          <a:lstStyle/>
          <a:p>
            <a:pPr algn="l" indent="0" marL="0">
              <a:buNone/>
            </a:pPr>
            <a:r>
              <a:rPr lang="en-US" sz="3400" b="1" dirty="0">
                <a:solidFill>
                  <a:schemeClr val="bg1"/>
                </a:solidFill>
              </a:rPr>
              <a:t>GMR + MPC — BVH の動作をロボットで倒れずに再生する</a:t>
            </a:r>
            <a:endParaRPr lang="en-US" sz="3400" dirty="0"/>
          </a:p>
        </p:txBody>
      </p:sp>
      <p:sp>
        <p:nvSpPr>
          <p:cNvPr id="3" name="Text 0"/>
          <p:cNvSpPr/>
          <p:nvPr>
            <p:ph idx="101" type="body" hasCustomPrompt="1"/>
          </p:nvPr>
        </p:nvSpPr>
        <p:spPr>
          <a:xfrm>
            <a:off x="731520" y="3566160"/>
            <a:ext cx="10698480" cy="1463040"/>
          </a:xfrm>
          <a:prstGeom prst="rect">
            <a:avLst/>
          </a:prstGeom>
          <a:noFill/>
          <a:ln/>
        </p:spPr>
        <p:txBody>
          <a:bodyPr wrap="square" lIns="0" tIns="0" rIns="0" bIns="0" rtlCol="0" anchor="t"/>
          <a:lstStyle/>
          <a:p>
            <a:pPr algn="l" indent="0" marL="0">
              <a:buNone/>
            </a:pPr>
            <a:r>
              <a:rPr lang="en-US" sz="1800" dirty="0">
                <a:solidFill>
                  <a:srgbClr val="CADCFC"/>
                </a:solidFill>
              </a:rPr>
              <a:t>人の動き（lafan1）を KXR・KHR に移し（GMR）、全身 QP・ZMP の MPC・閉ループの MPC・足首の安定化・起き上がりで、物理（ODE）の中で倒れないようにする試み</a:t>
            </a:r>
            <a:endParaRPr lang="en-US" sz="1800" dirty="0"/>
          </a:p>
          <a:p>
            <a:pPr algn="l" indent="0" marL="0">
              <a:buNone/>
            </a:pPr>
            <a:r>
              <a:rPr lang="en-US" sz="1300" dirty="0">
                <a:solidFill>
                  <a:srgbClr val="8FA3C8"/>
                </a:solidFill>
              </a:rPr>
              <a:t>数値はすべて Mac（Intel）の qptest と、アプリ（Android・デスクトップ）で測ったもの。2026-10-06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結論</a:t>
            </a:r>
            <a:endParaRPr lang="en-US" sz="2800" dirty="0"/>
          </a:p>
        </p:txBody>
      </p:sp>
      <p:sp>
        <p:nvSpPr>
          <p:cNvPr id="4" name="stat-1"/>
          <p:cNvSpPr txBox="1"/>
          <p:nvPr/>
        </p:nvSpPr>
        <p:spPr>
          <a:xfrm>
            <a:off x="548640" y="1188720"/>
            <a:ext cx="2743200" cy="822960"/>
          </a:xfrm>
          <a:prstGeom prst="rect">
            <a:avLst/>
          </a:prstGeom>
          <a:noFill/>
          <a:ln/>
        </p:spPr>
        <p:txBody>
          <a:bodyPr wrap="square" lIns="0" tIns="0" rIns="0" bIns="0" rtlCol="0" anchor="b"/>
          <a:lstStyle/>
          <a:p>
            <a:pPr indent="0" marL="0">
              <a:buNone/>
            </a:pPr>
            <a:r>
              <a:rPr lang="en-US" sz="4000" b="1" dirty="0">
                <a:solidFill>
                  <a:schemeClr val="accent1"/>
                </a:solidFill>
              </a:rPr>
              <a:t>4〜5%</a:t>
            </a:r>
            <a:endParaRPr lang="en-US" sz="4000" dirty="0"/>
          </a:p>
        </p:txBody>
      </p:sp>
      <p:sp>
        <p:nvSpPr>
          <p:cNvPr id="5" name="statlbl-2"/>
          <p:cNvSpPr txBox="1"/>
          <p:nvPr/>
        </p:nvSpPr>
        <p:spPr>
          <a:xfrm>
            <a:off x="548640" y="2057400"/>
            <a:ext cx="2743200" cy="548640"/>
          </a:xfrm>
          <a:prstGeom prst="rect">
            <a:avLst/>
          </a:prstGeom>
          <a:noFill/>
          <a:ln/>
        </p:spPr>
        <p:txBody>
          <a:bodyPr wrap="square" lIns="0" tIns="0" rIns="0" bIns="0" rtlCol="0" anchor="t"/>
          <a:lstStyle/>
          <a:p>
            <a:pPr indent="0" marL="0">
              <a:buNone/>
            </a:pPr>
            <a:r>
              <a:rPr lang="en-US" sz="1200" dirty="0">
                <a:solidFill>
                  <a:schemeClr val="accent6"/>
                </a:solidFill>
              </a:rPr>
              <a:t>GMR+MPC で lafan1 の動作の何割の所で倒れるか（中央値, 77 本 × KXR・KHR, 最後まで倒れないのは 0 本）</a:t>
            </a:r>
            <a:endParaRPr lang="en-US" sz="1200" dirty="0"/>
          </a:p>
        </p:txBody>
      </p:sp>
      <p:sp>
        <p:nvSpPr>
          <p:cNvPr id="6" name="stat-3"/>
          <p:cNvSpPr txBox="1"/>
          <p:nvPr/>
        </p:nvSpPr>
        <p:spPr>
          <a:xfrm>
            <a:off x="3429000" y="1188720"/>
            <a:ext cx="2651760" cy="822960"/>
          </a:xfrm>
          <a:prstGeom prst="rect">
            <a:avLst/>
          </a:prstGeom>
          <a:noFill/>
          <a:ln/>
        </p:spPr>
        <p:txBody>
          <a:bodyPr wrap="square" lIns="0" tIns="0" rIns="0" bIns="0" rtlCol="0" anchor="b"/>
          <a:lstStyle/>
          <a:p>
            <a:pPr indent="0" marL="0">
              <a:buNone/>
            </a:pPr>
            <a:r>
              <a:rPr lang="en-US" sz="4000" b="1" dirty="0">
                <a:solidFill>
                  <a:schemeClr val="accent2"/>
                </a:solidFill>
              </a:rPr>
              <a:t>19.7 秒</a:t>
            </a:r>
            <a:endParaRPr lang="en-US" sz="4000" dirty="0"/>
          </a:p>
        </p:txBody>
      </p:sp>
      <p:sp>
        <p:nvSpPr>
          <p:cNvPr id="7" name="statlbl-4"/>
          <p:cNvSpPr txBox="1"/>
          <p:nvPr/>
        </p:nvSpPr>
        <p:spPr>
          <a:xfrm>
            <a:off x="3429000" y="2057400"/>
            <a:ext cx="2651760" cy="548640"/>
          </a:xfrm>
          <a:prstGeom prst="rect">
            <a:avLst/>
          </a:prstGeom>
          <a:noFill/>
          <a:ln/>
        </p:spPr>
        <p:txBody>
          <a:bodyPr wrap="square" lIns="0" tIns="0" rIns="0" bIns="0" rtlCol="0" anchor="t"/>
          <a:lstStyle/>
          <a:p>
            <a:pPr indent="0" marL="0">
              <a:buNone/>
            </a:pPr>
            <a:r>
              <a:rPr lang="en-US" sz="1200" dirty="0">
                <a:solidFill>
                  <a:schemeClr val="accent6"/>
                </a:solidFill>
              </a:rPr>
              <a:t>walk1 × KHR の倒れるまで: GMR+QP 6.8 秒 → QP+バランス 19.7 秒（30 秒まで）</a:t>
            </a:r>
            <a:endParaRPr lang="en-US" sz="1200" dirty="0"/>
          </a:p>
        </p:txBody>
      </p:sp>
      <p:sp>
        <p:nvSpPr>
          <p:cNvPr id="8" name="stat-5"/>
          <p:cNvSpPr txBox="1"/>
          <p:nvPr/>
        </p:nvSpPr>
        <p:spPr>
          <a:xfrm>
            <a:off x="6217920" y="1188720"/>
            <a:ext cx="2651760" cy="822960"/>
          </a:xfrm>
          <a:prstGeom prst="rect">
            <a:avLst/>
          </a:prstGeom>
          <a:noFill/>
          <a:ln/>
        </p:spPr>
        <p:txBody>
          <a:bodyPr wrap="square" lIns="0" tIns="0" rIns="0" bIns="0" rtlCol="0" anchor="b"/>
          <a:lstStyle/>
          <a:p>
            <a:pPr indent="0" marL="0">
              <a:buNone/>
            </a:pPr>
            <a:r>
              <a:rPr lang="en-US" sz="4000" b="1" dirty="0">
                <a:solidFill>
                  <a:schemeClr val="accent4"/>
                </a:solidFill>
              </a:rPr>
              <a:t>倒れない</a:t>
            </a:r>
            <a:endParaRPr lang="en-US" sz="4000" dirty="0"/>
          </a:p>
        </p:txBody>
      </p:sp>
      <p:sp>
        <p:nvSpPr>
          <p:cNvPr id="9" name="statlbl-6"/>
          <p:cNvSpPr txBox="1"/>
          <p:nvPr/>
        </p:nvSpPr>
        <p:spPr>
          <a:xfrm>
            <a:off x="6217920" y="2057400"/>
            <a:ext cx="2651760" cy="548640"/>
          </a:xfrm>
          <a:prstGeom prst="rect">
            <a:avLst/>
          </a:prstGeom>
          <a:noFill/>
          <a:ln/>
        </p:spPr>
        <p:txBody>
          <a:bodyPr wrap="square" lIns="0" tIns="0" rIns="0" bIns="0" rtlCol="0" anchor="t"/>
          <a:lstStyle/>
          <a:p>
            <a:pPr indent="0" marL="0">
              <a:buNone/>
            </a:pPr>
            <a:r>
              <a:rPr lang="en-US" sz="1200" dirty="0">
                <a:solidFill>
                  <a:schemeClr val="accent6"/>
                </a:solidFill>
              </a:rPr>
              <a:t>aiming1（立って狙う）× KHR: GMR+QP・QP+バランスとも 30 秒</a:t>
            </a:r>
            <a:endParaRPr lang="en-US" sz="1200" dirty="0"/>
          </a:p>
        </p:txBody>
      </p:sp>
      <p:sp>
        <p:nvSpPr>
          <p:cNvPr id="10" name="stat-7"/>
          <p:cNvSpPr txBox="1"/>
          <p:nvPr/>
        </p:nvSpPr>
        <p:spPr>
          <a:xfrm>
            <a:off x="9006840" y="1188720"/>
            <a:ext cx="2651760" cy="822960"/>
          </a:xfrm>
          <a:prstGeom prst="rect">
            <a:avLst/>
          </a:prstGeom>
          <a:noFill/>
          <a:ln/>
        </p:spPr>
        <p:txBody>
          <a:bodyPr wrap="square" lIns="0" tIns="0" rIns="0" bIns="0" rtlCol="0" anchor="b"/>
          <a:lstStyle/>
          <a:p>
            <a:pPr indent="0" marL="0">
              <a:buNone/>
            </a:pPr>
            <a:r>
              <a:rPr lang="en-US" sz="4000" b="1" dirty="0">
                <a:solidFill>
                  <a:schemeClr val="accent5"/>
                </a:solidFill>
              </a:rPr>
              <a:t>38 / 39 回</a:t>
            </a:r>
            <a:endParaRPr lang="en-US" sz="4000" dirty="0"/>
          </a:p>
        </p:txBody>
      </p:sp>
      <p:sp>
        <p:nvSpPr>
          <p:cNvPr id="11" name="statlbl-8"/>
          <p:cNvSpPr txBox="1"/>
          <p:nvPr/>
        </p:nvSpPr>
        <p:spPr>
          <a:xfrm>
            <a:off x="9006840" y="2057400"/>
            <a:ext cx="2651760" cy="548640"/>
          </a:xfrm>
          <a:prstGeom prst="rect">
            <a:avLst/>
          </a:prstGeom>
          <a:noFill/>
          <a:ln/>
        </p:spPr>
        <p:txBody>
          <a:bodyPr wrap="square" lIns="0" tIns="0" rIns="0" bIns="0" rtlCol="0" anchor="t"/>
          <a:lstStyle/>
          <a:p>
            <a:pPr indent="0" marL="0">
              <a:buNone/>
            </a:pPr>
            <a:r>
              <a:rPr lang="en-US" sz="1200" dirty="0">
                <a:solidFill>
                  <a:schemeClr val="accent6"/>
                </a:solidFill>
              </a:rPr>
              <a:t>walk1 × KHR で倒れて起き上がれた回数（GMR+MPC, 60 秒ぶん）</a:t>
            </a:r>
            <a:endParaRPr lang="en-US" sz="1200" dirty="0"/>
          </a:p>
        </p:txBody>
      </p:sp>
      <p:sp>
        <p:nvSpPr>
          <p:cNvPr id="12" name="bullets-9"/>
          <p:cNvSpPr txBox="1"/>
          <p:nvPr/>
        </p:nvSpPr>
        <p:spPr>
          <a:xfrm>
            <a:off x="548640" y="3154680"/>
            <a:ext cx="11109960" cy="31089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立って腕を動かす動き（aiming）は、静的な重心の制約と左右の股の誤判定の修正だけで倒れなくなった</a:t>
            </a:r>
            <a:endParaRPr lang="en-US" sz="1400" dirty="0"/>
          </a:p>
          <a:p>
            <a:pPr marL="342900" indent="-342900">
              <a:spcAft>
                <a:spcPts val="500"/>
              </a:spcAft>
              <a:buSzPct val="100000"/>
              <a:buChar char="•"/>
            </a:pPr>
            <a:r>
              <a:rPr lang="en-US" sz="1400" dirty="0">
                <a:solidFill>
                  <a:schemeClr val="tx1"/>
                </a:solidFill>
              </a:rPr>
              <a:t>歩く・走るは、計画（QP + ZMP の MPC）でも閉ループの MPC でも 20 秒以内に倒れる。人の歩く速さは小さなロボットには速すぎ、足の置き場所を変えない限り立て直せない</a:t>
            </a:r>
            <a:endParaRPr lang="en-US" sz="1400" dirty="0"/>
          </a:p>
          <a:p>
            <a:pPr marL="342900" indent="-342900">
              <a:spcAft>
                <a:spcPts val="500"/>
              </a:spcAft>
              <a:buSzPct val="100000"/>
              <a:buChar char="•"/>
            </a:pPr>
            <a:r>
              <a:rPr lang="en-US" sz="1400" dirty="0">
                <a:solidFill>
                  <a:schemeClr val="tx1"/>
                </a:solidFill>
              </a:rPr>
              <a:t>倒れたら起き上がりの動作（RCB4）で立ち、倒れたコマから続ける。KHR はほぼ毎回起き上がれる。KXR は起き上がれず置き直しになることが多い</a:t>
            </a:r>
            <a:endParaRPr lang="en-US" sz="1400" dirty="0"/>
          </a:p>
          <a:p>
            <a:pPr marL="342900" indent="-342900">
              <a:spcAft>
                <a:spcPts val="500"/>
              </a:spcAft>
              <a:buSzPct val="100000"/>
              <a:buChar char="•"/>
            </a:pPr>
            <a:r>
              <a:rPr lang="en-US" sz="1400" dirty="0">
                <a:solidFill>
                  <a:schemeClr val="tx1"/>
                </a:solidFill>
              </a:rPr>
              <a:t>キャプチャポイントで着地をずらし、MPC の出力をなめらかにすると walk1 × KHR は 26.6 秒まで立つ（30 秒まで）。まだ倒れる</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2377440" y="2514600"/>
            <a:ext cx="9144000" cy="914400"/>
          </a:xfrm>
          <a:prstGeom prst="rect">
            <a:avLst/>
          </a:prstGeom>
          <a:noFill/>
          <a:ln/>
        </p:spPr>
        <p:txBody>
          <a:bodyPr wrap="square" lIns="0" tIns="0" rIns="0" bIns="0" rtlCol="0" anchor="b"/>
          <a:lstStyle/>
          <a:p>
            <a:pPr algn="l" indent="0" marL="0">
              <a:buNone/>
            </a:pPr>
            <a:r>
              <a:rPr lang="en-US" sz="3600" b="1" dirty="0">
                <a:solidFill>
                  <a:schemeClr val="bg1"/>
                </a:solidFill>
              </a:rPr>
              <a:t>1. 3 つの方法</a:t>
            </a:r>
            <a:endParaRPr lang="en-US" sz="3600" dirty="0"/>
          </a:p>
        </p:txBody>
      </p:sp>
      <p:sp>
        <p:nvSpPr>
          <p:cNvPr id="3" name="Text 0"/>
          <p:cNvSpPr/>
          <p:nvPr>
            <p:ph idx="101" type="body" hasCustomPrompt="1"/>
          </p:nvPr>
        </p:nvSpPr>
        <p:spPr>
          <a:xfrm>
            <a:off x="2377440" y="3566160"/>
            <a:ext cx="9144000" cy="1097280"/>
          </a:xfrm>
          <a:prstGeom prst="rect">
            <a:avLst/>
          </a:prstGeom>
          <a:noFill/>
          <a:ln/>
        </p:spPr>
        <p:txBody>
          <a:bodyPr wrap="square" lIns="0" tIns="0" rIns="0" bIns="0" rtlCol="0" anchor="t"/>
          <a:lstStyle/>
          <a:p>
            <a:pPr algn="l" indent="0" marL="0">
              <a:buNone/>
            </a:pPr>
            <a:r>
              <a:rPr lang="en-US" sz="1600" dirty="0">
                <a:solidFill>
                  <a:srgbClr val="CADCFC"/>
                </a:solidFill>
              </a:rPr>
              <a:t>GMR + QP（開ループ）、QP + バランス（動作全体を先に見て計画）、GMR + MPC（物理の今の状態から毎コマ計画し直す）</a:t>
            </a:r>
            <a:endParaRPr lang="en-US" sz="1600" dirty="0"/>
          </a:p>
        </p:txBody>
      </p:sp>
      <p:sp>
        <p:nvSpPr>
          <p:cNvPr id="4" name="tile-10"/>
          <p:cNvSpPr txBox="1"/>
          <p:nvPr/>
        </p:nvSpPr>
        <p:spPr>
          <a:xfrm>
            <a:off x="822960" y="2514600"/>
            <a:ext cx="1097280" cy="1097280"/>
          </a:xfrm>
          <a:prstGeom prst="roundRect">
            <a:avLst>
              <a:gd name="adj" fmla="val 5000"/>
            </a:avLst>
          </a:prstGeom>
          <a:solidFill>
            <a:schemeClr val="accent2"/>
          </a:solidFill>
          <a:ln/>
        </p:spPr>
        <p:txBody>
          <a:bodyPr wrap="square" lIns="0" tIns="0" rIns="0" bIns="0" rtlCol="0" anchor="ctr"/>
          <a:lstStyle/>
          <a:p>
            <a:pPr algn="ctr" indent="0" marL="0">
              <a:buNone/>
            </a:pPr>
            <a:r>
              <a:rPr lang="en-US" sz="2800" b="1" dirty="0">
                <a:solidFill>
                  <a:schemeClr val="bg1"/>
                </a:solidFill>
              </a:rPr>
              <a:t>1</a:t>
            </a:r>
            <a:endParaRPr lang="en-US" sz="2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90B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3 つの方法と、倒れないための制約</a:t>
            </a:r>
            <a:endParaRPr lang="en-US" sz="2800" dirty="0"/>
          </a:p>
        </p:txBody>
      </p:sp>
      <p:graphicFrame>
        <p:nvGraphicFramePr>
          <p:cNvPr id="5" name="table-11"/>
          <p:cNvGraphicFramePr>
            <a:graphicFrameLocks noGrp="1"/>
          </p:cNvGraphicFramePr>
          <p:nvPr>
            <p:extLst>
              <p:ext uri="{D42A27DB-BD31-4B8C-83A1-F6EECF244321}">
                <p14:modId xmlns:p14="http://schemas.microsoft.com/office/powerpoint/2010/main" val="1579011935"/>
              </p:ext>
            </p:extLst>
          </p:nvPr>
        </p:nvGraphicFramePr>
        <p:xfrm>
          <a:off x="548640" y="1188720"/>
          <a:ext cx="11109960" cy="914400"/>
        </p:xfrm>
        <a:graphic>
          <a:graphicData uri="http://schemas.openxmlformats.org/drawingml/2006/table">
            <a:tbl>
              <a:tblPr/>
              <a:tblGrid>
                <a:gridCol w="1554480"/>
                <a:gridCol w="3017520"/>
                <a:gridCol w="3291840"/>
                <a:gridCol w="3246120"/>
              </a:tblGrid>
              <a:tr h="566928">
                <a:tc>
                  <a:txBody>
                    <a:bodyPr/>
                    <a:lstStyle/>
                    <a:p>
                      <a:pPr indent="0" marL="0">
                        <a:buNone/>
                      </a:pP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rPr>
                        <a:t>GMR + QP</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rPr>
                        <a:t>QP + バランス</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rPr>
                        <a:t>GMR + MPC（閉ループ）</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66928">
                <a:tc>
                  <a:txBody>
                    <a:bodyPr/>
                    <a:lstStyle/>
                    <a:p>
                      <a:pPr indent="0" marL="0">
                        <a:buNone/>
                      </a:pPr>
                      <a:r>
                        <a:rPr lang="en-US" sz="1150" dirty="0">
                          <a:solidFill>
                            <a:srgbClr val="14213D"/>
                          </a:solidFill>
                        </a:rPr>
                        <a:t>いつ解く</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150" dirty="0">
                          <a:solidFill>
                            <a:srgbClr val="14213D"/>
                          </a:solidFill>
                        </a:rPr>
                        <a:t>コマごと（前から順に）</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150" dirty="0">
                          <a:solidFill>
                            <a:srgbClr val="14213D"/>
                          </a:solidFill>
                        </a:rPr>
                        <a:t>動作全体を先に計画 → コマごと</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150" dirty="0">
                          <a:solidFill>
                            <a:srgbClr val="14213D"/>
                          </a:solidFill>
                        </a:rPr>
                        <a:t>再生中に毎コマ（物理の今の状態から）</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66928">
                <a:tc>
                  <a:txBody>
                    <a:bodyPr/>
                    <a:lstStyle/>
                    <a:p>
                      <a:pPr indent="0" marL="0">
                        <a:buNone/>
                      </a:pPr>
                      <a:r>
                        <a:rPr lang="en-US" sz="1150" dirty="0">
                          <a:solidFill>
                            <a:srgbClr val="14213D"/>
                          </a:solidFill>
                        </a:rPr>
                        <a:t>倒れない制約</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50" dirty="0">
                          <a:solidFill>
                            <a:srgbClr val="14213D"/>
                          </a:solidFill>
                        </a:rPr>
                        <a:t>重心の床への投影が支持多角形の中（静的, 緩めの重み 1e6）</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50" dirty="0">
                          <a:solidFill>
                            <a:srgbClr val="14213D"/>
                          </a:solidFill>
                        </a:rPr>
                        <a:t>ZMP が支持多角形の中（MPC, 1.5 秒先まで）。その重心を最優先（1e8）</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50" dirty="0">
                          <a:solidFill>
                            <a:srgbClr val="14213D"/>
                          </a:solidFill>
                        </a:rPr>
                        <a:t>同じ MPC を、測った重心・速さから解き直す</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4213D"/>
                          </a:solidFill>
                        </a:rPr>
                        <a:t>接地</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150" dirty="0">
                          <a:solidFill>
                            <a:srgbClr val="14213D"/>
                          </a:solidFill>
                        </a:rPr>
                        <a:t>参照の足が低ければ着く</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150" dirty="0">
                          <a:solidFill>
                            <a:srgbClr val="14213D"/>
                          </a:solidFill>
                        </a:rPr>
                        <a:t>一歩ずつ。両足が浮かない。両足で支える時間 4 コマ</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150" dirty="0">
                          <a:solidFill>
                            <a:srgbClr val="14213D"/>
                          </a:solidFill>
                        </a:rPr>
                        <a:t>計画の接地。着いた足は今の場所</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66928">
                <a:tc>
                  <a:txBody>
                    <a:bodyPr/>
                    <a:lstStyle/>
                    <a:p>
                      <a:pPr indent="0" marL="0">
                        <a:buNone/>
                      </a:pPr>
                      <a:r>
                        <a:rPr lang="en-US" sz="1150" dirty="0">
                          <a:solidFill>
                            <a:srgbClr val="14213D"/>
                          </a:solidFill>
                        </a:rPr>
                        <a:t>足の振り出し</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50" dirty="0">
                          <a:solidFill>
                            <a:srgbClr val="14213D"/>
                          </a:solidFill>
                        </a:rPr>
                        <a:t>参照どおり</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50" dirty="0">
                          <a:solidFill>
                            <a:srgbClr val="14213D"/>
                          </a:solidFill>
                        </a:rPr>
                        <a:t>水平にして 0.06 L 持ち上げる</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50" dirty="0">
                          <a:solidFill>
                            <a:srgbClr val="14213D"/>
                          </a:solidFill>
                        </a:rPr>
                        <a:t>計画（座標を合わせて）</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4213D"/>
                          </a:solidFill>
                        </a:rPr>
                        <a:t>再生</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150" dirty="0">
                          <a:solidFill>
                            <a:srgbClr val="14213D"/>
                          </a:solidFill>
                        </a:rPr>
                        <a:t>関節角をそのまま</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150" dirty="0">
                          <a:solidFill>
                            <a:srgbClr val="14213D"/>
                          </a:solidFill>
                        </a:rPr>
                        <a:t>足首の安定化（傾きの差を戻す）</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150" dirty="0">
                          <a:solidFill>
                            <a:srgbClr val="14213D"/>
                          </a:solidFill>
                        </a:rPr>
                        <a:t>MPC の答えの関節角</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66928">
                <a:tc>
                  <a:txBody>
                    <a:bodyPr/>
                    <a:lstStyle/>
                    <a:p>
                      <a:pPr indent="0" marL="0">
                        <a:buNone/>
                      </a:pPr>
                      <a:r>
                        <a:rPr lang="en-US" sz="1150" dirty="0">
                          <a:solidFill>
                            <a:srgbClr val="14213D"/>
                          </a:solidFill>
                        </a:rPr>
                        <a:t>倒れたら</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50" b="1" dirty="0">
                          <a:solidFill>
                            <a:srgbClr val="E4572E"/>
                          </a:solidFill>
                        </a:rPr>
                        <a:t>起き上がって倒れたコマから続ける（3 つとも同じ FallRecovery）</a:t>
                      </a: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c>
                  <a:txBody>
                    <a:bodyPr/>
                    <a:lstStyle/>
                    <a:p>
                      <a:pPr indent="0" marL="0">
                        <a:buNone/>
                      </a:pP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endParaRPr lang="en-US" sz="11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5" name="bullets-12"/>
          <p:cNvSpPr txBox="1"/>
          <p:nvPr/>
        </p:nvSpPr>
        <p:spPr>
          <a:xfrm>
            <a:off x="548640" y="5715000"/>
            <a:ext cx="11109960" cy="5486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L = 脚の長さ（KXR 0.212 m, KHR 0.296 m）。位置・余裕は L で割って、ロボットの大きさによらない値にする</a:t>
            </a:r>
            <a:endParaRPr lang="en-US" sz="1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QP + バランス — 動作全体を先に見て計画する（wbqp_plan_balance）</a:t>
            </a:r>
            <a:endParaRPr lang="en-US" sz="2800" dirty="0"/>
          </a:p>
        </p:txBody>
      </p:sp>
      <p:sp>
        <p:nvSpPr>
          <p:cNvPr id="4" name="tile-13"/>
          <p:cNvSpPr txBox="1"/>
          <p:nvPr/>
        </p:nvSpPr>
        <p:spPr>
          <a:xfrm>
            <a:off x="548640" y="1261872"/>
            <a:ext cx="384048"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5" name="text-14"/>
          <p:cNvSpPr txBox="1"/>
          <p:nvPr/>
        </p:nvSpPr>
        <p:spPr>
          <a:xfrm>
            <a:off x="1097280" y="1188720"/>
            <a:ext cx="10561320" cy="804672"/>
          </a:xfrm>
          <a:prstGeom prst="rect">
            <a:avLst/>
          </a:prstGeom>
          <a:noFill/>
          <a:ln/>
        </p:spPr>
        <p:txBody>
          <a:bodyPr wrap="square" lIns="0" tIns="0" rIns="0" bIns="0" rtlCol="0" anchor="t"/>
          <a:lstStyle/>
          <a:p>
            <a:pPr indent="0" marL="0">
              <a:buNone/>
            </a:pPr>
            <a:r>
              <a:rPr lang="en-US" sz="1400" b="1" dirty="0">
                <a:solidFill>
                  <a:schemeClr val="tx1"/>
                </a:solidFill>
              </a:rPr>
              <a:t>接地を一歩ずつ</a:t>
            </a:r>
            <a:endParaRPr lang="en-US" sz="1400" dirty="0"/>
          </a:p>
          <a:p>
            <a:pPr indent="0" marL="0">
              <a:buNone/>
            </a:pPr>
            <a:r>
              <a:rPr lang="en-US" sz="1200" dirty="0">
                <a:solidFill>
                  <a:schemeClr val="accent6"/>
                </a:solidFill>
              </a:rPr>
              <a:t>着いた足は、参照の足が 0.2 L 離れる・20° 回る・0.12 L 上がるときだけ離す。もう片足が 4 コマ以上着いているときだけ（両足は浮かない）。6 コマ以上たって参照の足が低くなったら着く</a:t>
            </a:r>
            <a:endParaRPr lang="en-US" sz="1400" dirty="0"/>
          </a:p>
        </p:txBody>
      </p:sp>
      <p:sp>
        <p:nvSpPr>
          <p:cNvPr id="6" name="tile-15"/>
          <p:cNvSpPr txBox="1"/>
          <p:nvPr/>
        </p:nvSpPr>
        <p:spPr>
          <a:xfrm>
            <a:off x="548640" y="2112264"/>
            <a:ext cx="384048" cy="384048"/>
          </a:xfrm>
          <a:prstGeom prst="roundRect">
            <a:avLst>
              <a:gd name="adj" fmla="val 14286"/>
            </a:avLst>
          </a:prstGeom>
          <a:solidFill>
            <a:schemeClr val="accent2"/>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7" name="text-16"/>
          <p:cNvSpPr txBox="1"/>
          <p:nvPr/>
        </p:nvSpPr>
        <p:spPr>
          <a:xfrm>
            <a:off x="1097280" y="2039112"/>
            <a:ext cx="10561320" cy="804672"/>
          </a:xfrm>
          <a:prstGeom prst="rect">
            <a:avLst/>
          </a:prstGeom>
          <a:noFill/>
          <a:ln/>
        </p:spPr>
        <p:txBody>
          <a:bodyPr wrap="square" lIns="0" tIns="0" rIns="0" bIns="0" rtlCol="0" anchor="t"/>
          <a:lstStyle/>
          <a:p>
            <a:pPr indent="0" marL="0">
              <a:buNone/>
            </a:pPr>
            <a:r>
              <a:rPr lang="en-US" sz="1400" b="1" dirty="0">
                <a:solidFill>
                  <a:schemeClr val="tx1"/>
                </a:solidFill>
              </a:rPr>
              <a:t>一度解いて集める</a:t>
            </a:r>
            <a:endParaRPr lang="en-US" sz="1400" dirty="0"/>
          </a:p>
          <a:p>
            <a:pPr indent="0" marL="0">
              <a:buNone/>
            </a:pPr>
            <a:r>
              <a:rPr lang="en-US" sz="1200" dirty="0">
                <a:solidFill>
                  <a:schemeClr val="accent6"/>
                </a:solidFill>
              </a:rPr>
              <a:t>今の QP（静的な重心）で全部のコマを解き、重心の参照と、着いた足の位置（支持多角形）を集める</a:t>
            </a:r>
            <a:endParaRPr lang="en-US" sz="1400" dirty="0"/>
          </a:p>
        </p:txBody>
      </p:sp>
      <p:sp>
        <p:nvSpPr>
          <p:cNvPr id="8" name="tile-17"/>
          <p:cNvSpPr txBox="1"/>
          <p:nvPr/>
        </p:nvSpPr>
        <p:spPr>
          <a:xfrm>
            <a:off x="548640" y="2962656"/>
            <a:ext cx="384048" cy="384048"/>
          </a:xfrm>
          <a:prstGeom prst="roundRect">
            <a:avLst>
              <a:gd name="adj" fmla="val 14286"/>
            </a:avLst>
          </a:prstGeom>
          <a:solidFill>
            <a:schemeClr val="accent3"/>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9" name="text-18"/>
          <p:cNvSpPr txBox="1"/>
          <p:nvPr/>
        </p:nvSpPr>
        <p:spPr>
          <a:xfrm>
            <a:off x="1097280" y="2889504"/>
            <a:ext cx="10561320" cy="804672"/>
          </a:xfrm>
          <a:prstGeom prst="rect">
            <a:avLst/>
          </a:prstGeom>
          <a:noFill/>
          <a:ln/>
        </p:spPr>
        <p:txBody>
          <a:bodyPr wrap="square" lIns="0" tIns="0" rIns="0" bIns="0" rtlCol="0" anchor="t"/>
          <a:lstStyle/>
          <a:p>
            <a:pPr indent="0" marL="0">
              <a:buNone/>
            </a:pPr>
            <a:r>
              <a:rPr lang="en-US" sz="1400" b="1" dirty="0">
                <a:solidFill>
                  <a:schemeClr val="tx1"/>
                </a:solidFill>
              </a:rPr>
              <a:t>重心の軌道（ZMP の MPC）</a:t>
            </a:r>
            <a:endParaRPr lang="en-US" sz="1400" dirty="0"/>
          </a:p>
          <a:p>
            <a:pPr indent="0" marL="0">
              <a:buNone/>
            </a:pPr>
            <a:r>
              <a:rPr lang="en-US" sz="1200" dirty="0">
                <a:solidFill>
                  <a:schemeClr val="accent6"/>
                </a:solidFill>
              </a:rPr>
              <a:t>1.5 秒先まで見て、ZMP が支持多角形（0.06 L 内側）に入る重心の軌道を決める（次のスライド）</a:t>
            </a:r>
            <a:endParaRPr lang="en-US" sz="1400" dirty="0"/>
          </a:p>
        </p:txBody>
      </p:sp>
      <p:sp>
        <p:nvSpPr>
          <p:cNvPr id="10" name="tile-19"/>
          <p:cNvSpPr txBox="1"/>
          <p:nvPr/>
        </p:nvSpPr>
        <p:spPr>
          <a:xfrm>
            <a:off x="548640" y="3813048"/>
            <a:ext cx="384048" cy="384048"/>
          </a:xfrm>
          <a:prstGeom prst="roundRect">
            <a:avLst>
              <a:gd name="adj" fmla="val 14286"/>
            </a:avLst>
          </a:prstGeom>
          <a:solidFill>
            <a:schemeClr val="accent4"/>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1" name="text-20"/>
          <p:cNvSpPr txBox="1"/>
          <p:nvPr/>
        </p:nvSpPr>
        <p:spPr>
          <a:xfrm>
            <a:off x="1097280" y="3739896"/>
            <a:ext cx="10561320" cy="804672"/>
          </a:xfrm>
          <a:prstGeom prst="rect">
            <a:avLst/>
          </a:prstGeom>
          <a:noFill/>
          <a:ln/>
        </p:spPr>
        <p:txBody>
          <a:bodyPr wrap="square" lIns="0" tIns="0" rIns="0" bIns="0" rtlCol="0" anchor="t"/>
          <a:lstStyle/>
          <a:p>
            <a:pPr indent="0" marL="0">
              <a:buNone/>
            </a:pPr>
            <a:r>
              <a:rPr lang="en-US" sz="1400" b="1" dirty="0">
                <a:solidFill>
                  <a:schemeClr val="tx1"/>
                </a:solidFill>
              </a:rPr>
              <a:t>重心を最優先に解く</a:t>
            </a:r>
            <a:endParaRPr lang="en-US" sz="1400" dirty="0"/>
          </a:p>
          <a:p>
            <a:pPr indent="0" marL="0">
              <a:buNone/>
            </a:pPr>
            <a:r>
              <a:rPr lang="en-US" sz="1200" dirty="0">
                <a:solidFill>
                  <a:schemeClr val="accent6"/>
                </a:solidFill>
              </a:rPr>
              <a:t>|重心 − 計画| ≤ 0.005 L を緩めの重み 1e8（衝突などは 1e6）。静的な重心の制約は外す</a:t>
            </a:r>
            <a:endParaRPr lang="en-US" sz="1400" dirty="0"/>
          </a:p>
        </p:txBody>
      </p:sp>
      <p:sp>
        <p:nvSpPr>
          <p:cNvPr id="12" name="tile-21"/>
          <p:cNvSpPr txBox="1"/>
          <p:nvPr/>
        </p:nvSpPr>
        <p:spPr>
          <a:xfrm>
            <a:off x="548640" y="4663440"/>
            <a:ext cx="384048" cy="384048"/>
          </a:xfrm>
          <a:prstGeom prst="roundRect">
            <a:avLst>
              <a:gd name="adj" fmla="val 14286"/>
            </a:avLst>
          </a:prstGeom>
          <a:solidFill>
            <a:schemeClr val="accent5"/>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3" name="text-22"/>
          <p:cNvSpPr txBox="1"/>
          <p:nvPr/>
        </p:nvSpPr>
        <p:spPr>
          <a:xfrm>
            <a:off x="1097280" y="4590288"/>
            <a:ext cx="10561320" cy="804672"/>
          </a:xfrm>
          <a:prstGeom prst="rect">
            <a:avLst/>
          </a:prstGeom>
          <a:noFill/>
          <a:ln/>
        </p:spPr>
        <p:txBody>
          <a:bodyPr wrap="square" lIns="0" tIns="0" rIns="0" bIns="0" rtlCol="0" anchor="t"/>
          <a:lstStyle/>
          <a:p>
            <a:pPr indent="0" marL="0">
              <a:buNone/>
            </a:pPr>
            <a:r>
              <a:rPr lang="en-US" sz="1400" b="1" dirty="0">
                <a:solidFill>
                  <a:schemeClr val="tx1"/>
                </a:solidFill>
              </a:rPr>
              <a:t>振り出す足</a:t>
            </a:r>
            <a:endParaRPr lang="en-US" sz="1400" dirty="0"/>
          </a:p>
          <a:p>
            <a:pPr indent="0" marL="0">
              <a:buNone/>
            </a:pPr>
            <a:r>
              <a:rPr lang="en-US" sz="1200" dirty="0">
                <a:solidFill>
                  <a:schemeClr val="accent6"/>
                </a:solidFill>
              </a:rPr>
              <a:t>水平にし、足の裏の高さ = max(参照, 0.06 L · sin(π 位相)) に。重み 15（ふだんは 3）</a:t>
            </a:r>
            <a:endParaRPr lang="en-US" sz="1400" dirty="0"/>
          </a:p>
        </p:txBody>
      </p:sp>
      <p:sp>
        <p:nvSpPr>
          <p:cNvPr id="14" name="tile-23"/>
          <p:cNvSpPr txBox="1"/>
          <p:nvPr/>
        </p:nvSpPr>
        <p:spPr>
          <a:xfrm>
            <a:off x="548640" y="5513832"/>
            <a:ext cx="384048" cy="384048"/>
          </a:xfrm>
          <a:prstGeom prst="roundRect">
            <a:avLst>
              <a:gd name="adj" fmla="val 14286"/>
            </a:avLst>
          </a:prstGeom>
          <a:solidFill>
            <a:schemeClr val="accent6"/>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15" name="text-24"/>
          <p:cNvSpPr txBox="1"/>
          <p:nvPr/>
        </p:nvSpPr>
        <p:spPr>
          <a:xfrm>
            <a:off x="1097280" y="5440680"/>
            <a:ext cx="10561320" cy="804672"/>
          </a:xfrm>
          <a:prstGeom prst="rect">
            <a:avLst/>
          </a:prstGeom>
          <a:noFill/>
          <a:ln/>
        </p:spPr>
        <p:txBody>
          <a:bodyPr wrap="square" lIns="0" tIns="0" rIns="0" bIns="0" rtlCol="0" anchor="t"/>
          <a:lstStyle/>
          <a:p>
            <a:pPr indent="0" marL="0">
              <a:buNone/>
            </a:pPr>
            <a:r>
              <a:rPr lang="en-US" sz="1400" b="1" dirty="0">
                <a:solidFill>
                  <a:schemeClr val="tx1"/>
                </a:solidFill>
              </a:rPr>
              <a:t>移動を縮める</a:t>
            </a:r>
            <a:endParaRPr lang="en-US" sz="1400" dirty="0"/>
          </a:p>
          <a:p>
            <a:pPr indent="0" marL="0">
              <a:buNone/>
            </a:pPr>
            <a:r>
              <a:rPr lang="en-US" sz="1200" dirty="0">
                <a:solidFill>
                  <a:schemeClr val="accent6"/>
                </a:solidFill>
              </a:rPr>
              <a:t>水平の移動を 0.5 倍に（人の歩く速さは小さなロボットには速い。参照より遅れて進む）</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ZMP の MPC（台車の模型）</a:t>
            </a:r>
            <a:endParaRPr lang="en-US" sz="2800" dirty="0"/>
          </a:p>
        </p:txBody>
      </p:sp>
      <p:sp>
        <p:nvSpPr>
          <p:cNvPr id="4" name="code-25"/>
          <p:cNvSpPr txBox="1"/>
          <p:nvPr/>
        </p:nvSpPr>
        <p:spPr>
          <a:xfrm>
            <a:off x="548640" y="1188720"/>
            <a:ext cx="6949440" cy="4206240"/>
          </a:xfrm>
          <a:prstGeom prst="roundRect">
            <a:avLst>
              <a:gd name="adj" fmla="val 1304"/>
            </a:avLst>
          </a:prstGeom>
          <a:solidFill>
            <a:srgbClr val="1B2433"/>
          </a:solidFill>
          <a:ln/>
        </p:spPr>
        <p:txBody>
          <a:bodyPr wrap="square" lIns="1905" tIns="1905" rIns="1905" bIns="1905" rtlCol="0" anchor="t"/>
          <a:lstStyle/>
          <a:p>
            <a:pPr indent="0" marL="0">
              <a:buNone/>
            </a:pPr>
            <a:r>
              <a:rPr lang="en-US" sz="1150" dirty="0">
                <a:solidFill>
                  <a:srgbClr val="E8ECF3"/>
                </a:solidFill>
                <a:latin typeface="BIZ UDGothic" pitchFamily="34" charset="0"/>
                <a:ea typeface="BIZ UDGothic" pitchFamily="34" charset="-122"/>
                <a:cs typeface="BIZ UDGothic" pitchFamily="34" charset="-120"/>
              </a:rPr>
              <a:t>状態（x, y ごと）  s = (c, c', c'')    1 コマ dt = 1/30 秒</a:t>
            </a:r>
            <a:endParaRPr lang="en-US" sz="1150" dirty="0"/>
          </a:p>
          <a:p>
            <a:pPr indent="0" marL="0">
              <a:buNone/>
            </a:pPr>
            <a:r>
              <a:rPr lang="en-US" sz="1150" dirty="0">
                <a:solidFill>
                  <a:srgbClr val="E8ECF3"/>
                </a:solidFill>
                <a:latin typeface="BIZ UDGothic" pitchFamily="34" charset="0"/>
                <a:ea typeface="BIZ UDGothic" pitchFamily="34" charset="-122"/>
                <a:cs typeface="BIZ UDGothic" pitchFamily="34" charset="-120"/>
              </a:rPr>
              <a:t>                   s+ = A s + B u      u = 躍度（3 コマのブロックごとに一定）</a:t>
            </a:r>
            <a:endParaRPr lang="en-US" sz="1150" dirty="0"/>
          </a:p>
          <a:p>
            <a:pPr indent="0" marL="0">
              <a:buNone/>
            </a:pPr>
            <a:r>
              <a:rPr lang="en-US" sz="1150" dirty="0">
                <a:solidFill>
                  <a:srgbClr val="E8ECF3"/>
                </a:solidFill>
                <a:latin typeface="BIZ UDGothic" pitchFamily="34" charset="0"/>
                <a:ea typeface="BIZ UDGothic" pitchFamily="34" charset="-122"/>
                <a:cs typeface="BIZ UDGothic" pitchFamily="34" charset="-120"/>
              </a:rPr>
              <a:t>先読み             15 ブロック = 45 コマ = 1.5 秒</a:t>
            </a:r>
            <a:endParaRPr lang="en-US" sz="1150" dirty="0"/>
          </a:p>
          <a:p>
            <a:pPr indent="0" marL="0">
              <a:buNone/>
            </a:pPr>
            <a:endParaRPr lang="en-US" sz="1150" dirty="0"/>
          </a:p>
          <a:p>
            <a:pPr indent="0" marL="0">
              <a:buNone/>
            </a:pPr>
            <a:r>
              <a:rPr lang="en-US" sz="1150" dirty="0">
                <a:solidFill>
                  <a:srgbClr val="E8ECF3"/>
                </a:solidFill>
                <a:latin typeface="BIZ UDGothic" pitchFamily="34" charset="0"/>
                <a:ea typeface="BIZ UDGothic" pitchFamily="34" charset="-122"/>
                <a:cs typeface="BIZ UDGothic" pitchFamily="34" charset="-120"/>
              </a:rPr>
              <a:t>ZMP                p = c − (z_c / g) c''      z_c = 計画の重心の高さ</a:t>
            </a:r>
            <a:endParaRPr lang="en-US" sz="1150" dirty="0"/>
          </a:p>
          <a:p>
            <a:pPr indent="0" marL="0">
              <a:buNone/>
            </a:pPr>
            <a:endParaRPr lang="en-US" sz="1150" dirty="0"/>
          </a:p>
          <a:p>
            <a:pPr indent="0" marL="0">
              <a:buNone/>
            </a:pPr>
            <a:r>
              <a:rPr lang="en-US" sz="1150" dirty="0">
                <a:solidFill>
                  <a:srgbClr val="E8ECF3"/>
                </a:solidFill>
                <a:latin typeface="BIZ UDGothic" pitchFamily="34" charset="0"/>
                <a:ea typeface="BIZ UDGothic" pitchFamily="34" charset="-122"/>
                <a:cs typeface="BIZ UDGothic" pitchFamily="34" charset="-120"/>
              </a:rPr>
              <a:t>最小化   Σ_k |c_k − c_ref,k|² / L²  +  w_v Σ_k |c'_k − c'_ref,k|²</a:t>
            </a:r>
            <a:endParaRPr lang="en-US" sz="1150" dirty="0"/>
          </a:p>
          <a:p>
            <a:pPr indent="0" marL="0">
              <a:buNone/>
            </a:pPr>
            <a:r>
              <a:rPr lang="en-US" sz="1150" dirty="0">
                <a:solidFill>
                  <a:srgbClr val="E8ECF3"/>
                </a:solidFill>
                <a:latin typeface="BIZ UDGothic" pitchFamily="34" charset="0"/>
                <a:ea typeface="BIZ UDGothic" pitchFamily="34" charset="-122"/>
                <a:cs typeface="BIZ UDGothic" pitchFamily="34" charset="-120"/>
              </a:rPr>
              <a:t>         +  w_j Σ_b |u_b|²  +  w_s Σ_b s_b²</a:t>
            </a:r>
            <a:endParaRPr lang="en-US" sz="1150" dirty="0"/>
          </a:p>
          <a:p>
            <a:pPr indent="0" marL="0">
              <a:buNone/>
            </a:pPr>
            <a:r>
              <a:rPr lang="en-US" sz="1150" dirty="0">
                <a:solidFill>
                  <a:srgbClr val="E8ECF3"/>
                </a:solidFill>
                <a:latin typeface="BIZ UDGothic" pitchFamily="34" charset="0"/>
                <a:ea typeface="BIZ UDGothic" pitchFamily="34" charset="-122"/>
                <a:cs typeface="BIZ UDGothic" pitchFamily="34" charset="-120"/>
              </a:rPr>
              <a:t>制約     m_eᵀ p_b ≤ b_e − margin + s_b    （支持多角形の各辺 e, ブロックの終わり b）</a:t>
            </a:r>
            <a:endParaRPr lang="en-US" sz="1150" dirty="0"/>
          </a:p>
          <a:p>
            <a:pPr indent="0" marL="0">
              <a:buNone/>
            </a:pPr>
            <a:r>
              <a:rPr lang="en-US" sz="1150" dirty="0">
                <a:solidFill>
                  <a:srgbClr val="E8ECF3"/>
                </a:solidFill>
                <a:latin typeface="BIZ UDGothic" pitchFamily="34" charset="0"/>
                <a:ea typeface="BIZ UDGothic" pitchFamily="34" charset="-122"/>
                <a:cs typeface="BIZ UDGothic" pitchFamily="34" charset="-120"/>
              </a:rPr>
              <a:t>         s_b ≥ 0</a:t>
            </a:r>
            <a:endParaRPr lang="en-US" sz="1150" dirty="0"/>
          </a:p>
          <a:p>
            <a:pPr indent="0" marL="0">
              <a:buNone/>
            </a:pPr>
            <a:endParaRPr lang="en-US" sz="1150" dirty="0"/>
          </a:p>
          <a:p>
            <a:pPr indent="0" marL="0">
              <a:buNone/>
            </a:pPr>
            <a:r>
              <a:rPr lang="en-US" sz="1150" dirty="0">
                <a:solidFill>
                  <a:srgbClr val="E8ECF3"/>
                </a:solidFill>
                <a:latin typeface="BIZ UDGothic" pitchFamily="34" charset="0"/>
                <a:ea typeface="BIZ UDGothic" pitchFamily="34" charset="-122"/>
                <a:cs typeface="BIZ UDGothic" pitchFamily="34" charset="-120"/>
              </a:rPr>
              <a:t>w_v = 1e-3,  w_j = 1e-6,  w_s = 1e6,  margin = min(0.06 L, 内接半径の 6 割)</a:t>
            </a:r>
            <a:endParaRPr lang="en-US" sz="1150" dirty="0"/>
          </a:p>
          <a:p>
            <a:pPr indent="0" marL="0">
              <a:buNone/>
            </a:pPr>
            <a:r>
              <a:rPr lang="en-US" sz="1150" dirty="0">
                <a:solidFill>
                  <a:srgbClr val="E8ECF3"/>
                </a:solidFill>
                <a:latin typeface="BIZ UDGothic" pitchFamily="34" charset="0"/>
                <a:ea typeface="BIZ UDGothic" pitchFamily="34" charset="-122"/>
                <a:cs typeface="BIZ UDGothic" pitchFamily="34" charset="-120"/>
              </a:rPr>
              <a:t>毎コマ解いて, 初めのブロックの躍度で 1 コマだけ進める（後退ホライズン）</a:t>
            </a:r>
            <a:endParaRPr lang="en-US" sz="1150" dirty="0"/>
          </a:p>
        </p:txBody>
      </p:sp>
      <p:sp>
        <p:nvSpPr>
          <p:cNvPr id="5" name="bullets-26"/>
          <p:cNvSpPr txBox="1"/>
          <p:nvPr/>
        </p:nvSpPr>
        <p:spPr>
          <a:xfrm>
            <a:off x="7726680" y="1188720"/>
            <a:ext cx="3931920" cy="51206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支持多角形は、計画（手順 2）で着いた足の裏の凸包。片足を上げる前に重心を残る足へ移す</a:t>
            </a:r>
            <a:endParaRPr lang="en-US" sz="1200" dirty="0"/>
          </a:p>
          <a:p>
            <a:pPr marL="342900" indent="-342900">
              <a:spcAft>
                <a:spcPts val="500"/>
              </a:spcAft>
              <a:buSzPct val="100000"/>
              <a:buChar char="•"/>
            </a:pPr>
            <a:r>
              <a:rPr lang="en-US" sz="1200" dirty="0">
                <a:solidFill>
                  <a:schemeClr val="tx1"/>
                </a:solidFill>
              </a:rPr>
              <a:t>緩めは解けないときだけ使う。walk1 × KHR では 7840 コマのうち 853 コマで緩めた（ZMP が外に出る計画）</a:t>
            </a:r>
            <a:endParaRPr lang="en-US" sz="1200" dirty="0"/>
          </a:p>
          <a:p>
            <a:pPr marL="342900" indent="-342900">
              <a:spcAft>
                <a:spcPts val="500"/>
              </a:spcAft>
              <a:buSzPct val="100000"/>
              <a:buChar char="•"/>
            </a:pPr>
            <a:r>
              <a:rPr lang="en-US" sz="1200" dirty="0">
                <a:solidFill>
                  <a:schemeClr val="tx1"/>
                </a:solidFill>
              </a:rPr>
              <a:t>台車の模型なので、腕や胴を速く回す角運動量は入っていない</a:t>
            </a:r>
            <a:endParaRPr lang="en-US" sz="1200" dirty="0"/>
          </a:p>
          <a:p>
            <a:pPr marL="342900" indent="-342900">
              <a:spcAft>
                <a:spcPts val="500"/>
              </a:spcAft>
              <a:buSzPct val="100000"/>
              <a:buChar char="•"/>
            </a:pPr>
            <a:r>
              <a:rPr lang="en-US" sz="1200" dirty="0">
                <a:solidFill>
                  <a:schemeClr val="tx1"/>
                </a:solidFill>
              </a:rPr>
              <a:t>計算: QP+バランス全体（計画 + コマごとの QP）で 1.7〜2.9 ms/コマ（Mac, qptest）。Pixel 7a は 7,000〜8,000 コマを 20 秒以内</a:t>
            </a:r>
            <a:endParaRPr lang="en-US" sz="1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GMR + MPC — 閉ループ（wbqp_mpc_step）</a:t>
            </a:r>
            <a:endParaRPr lang="en-US" sz="2800" dirty="0"/>
          </a:p>
        </p:txBody>
      </p:sp>
      <p:sp>
        <p:nvSpPr>
          <p:cNvPr id="4" name="box-27"/>
          <p:cNvSpPr txBox="1"/>
          <p:nvPr/>
        </p:nvSpPr>
        <p:spPr>
          <a:xfrm>
            <a:off x="548640" y="1280160"/>
            <a:ext cx="2377440" cy="1097280"/>
          </a:xfrm>
          <a:prstGeom prst="roundRect">
            <a:avLst>
              <a:gd name="adj" fmla="val 6667"/>
            </a:avLst>
          </a:prstGeom>
          <a:solidFill>
            <a:schemeClr val="bg2"/>
          </a:solidFill>
          <a:ln/>
        </p:spPr>
        <p:txBody>
          <a:bodyPr wrap="square" lIns="1270" tIns="1270" rIns="1270" bIns="1270" rtlCol="0" anchor="ctr"/>
          <a:lstStyle/>
          <a:p>
            <a:pPr indent="0" marL="0">
              <a:buNone/>
            </a:pPr>
            <a:r>
              <a:rPr lang="en-US" sz="1400" b="1" dirty="0">
                <a:solidFill>
                  <a:schemeClr val="tx1"/>
                </a:solidFill>
              </a:rPr>
              <a:t>測る</a:t>
            </a:r>
            <a:endParaRPr lang="en-US" sz="1400" dirty="0"/>
          </a:p>
          <a:p>
            <a:pPr indent="0" marL="0">
              <a:buNone/>
            </a:pPr>
            <a:r>
              <a:rPr lang="en-US" sz="1100" dirty="0">
                <a:solidFill>
                  <a:schemeClr val="tx1"/>
                </a:solidFill>
              </a:rPr>
              <a:t>物理の関節角・ルートの姿勢</a:t>
            </a:r>
            <a:endParaRPr lang="en-US" sz="1400" dirty="0"/>
          </a:p>
          <a:p>
            <a:pPr indent="0" marL="0">
              <a:buNone/>
            </a:pPr>
            <a:r>
              <a:rPr lang="en-US" sz="1100" dirty="0">
                <a:solidFill>
                  <a:schemeClr val="tx1"/>
                </a:solidFill>
              </a:rPr>
              <a:t>→ 重心, 速さ（差分をならす）</a:t>
            </a:r>
            <a:endParaRPr lang="en-US" sz="1400" dirty="0"/>
          </a:p>
        </p:txBody>
      </p:sp>
      <p:sp>
        <p:nvSpPr>
          <p:cNvPr id="5" name="box-28"/>
          <p:cNvSpPr txBox="1"/>
          <p:nvPr/>
        </p:nvSpPr>
        <p:spPr>
          <a:xfrm>
            <a:off x="3246120" y="1280160"/>
            <a:ext cx="2560320" cy="1097280"/>
          </a:xfrm>
          <a:prstGeom prst="roundRect">
            <a:avLst>
              <a:gd name="adj" fmla="val 6667"/>
            </a:avLst>
          </a:prstGeom>
          <a:solidFill>
            <a:schemeClr val="accent3"/>
          </a:solidFill>
          <a:ln/>
        </p:spPr>
        <p:txBody>
          <a:bodyPr wrap="square" lIns="1270" tIns="1270" rIns="1270" bIns="1270" rtlCol="0" anchor="ctr"/>
          <a:lstStyle/>
          <a:p>
            <a:pPr indent="0" marL="0">
              <a:buNone/>
            </a:pPr>
            <a:r>
              <a:rPr lang="en-US" sz="1400" b="1" dirty="0">
                <a:solidFill>
                  <a:schemeClr val="tx1"/>
                </a:solidFill>
              </a:rPr>
              <a:t>座標を合わせる</a:t>
            </a:r>
            <a:endParaRPr lang="en-US" sz="1400" dirty="0"/>
          </a:p>
          <a:p>
            <a:pPr indent="0" marL="0">
              <a:buNone/>
            </a:pPr>
            <a:r>
              <a:rPr lang="en-US" sz="1100" dirty="0">
                <a:solidFill>
                  <a:schemeClr val="tx1"/>
                </a:solidFill>
              </a:rPr>
              <a:t>着いた足の 今 と 計画 の</a:t>
            </a:r>
            <a:endParaRPr lang="en-US" sz="1400" dirty="0"/>
          </a:p>
          <a:p>
            <a:pPr indent="0" marL="0">
              <a:buNone/>
            </a:pPr>
            <a:r>
              <a:rPr lang="en-US" sz="1100" dirty="0">
                <a:solidFill>
                  <a:schemeClr val="tx1"/>
                </a:solidFill>
              </a:rPr>
              <a:t>位置・向き → ヨー + 平行移動</a:t>
            </a:r>
            <a:endParaRPr lang="en-US" sz="1400" dirty="0"/>
          </a:p>
        </p:txBody>
      </p:sp>
      <p:sp>
        <p:nvSpPr>
          <p:cNvPr id="6" name="box-29"/>
          <p:cNvSpPr txBox="1"/>
          <p:nvPr/>
        </p:nvSpPr>
        <p:spPr>
          <a:xfrm>
            <a:off x="6126480" y="1280160"/>
            <a:ext cx="2560320" cy="1097280"/>
          </a:xfrm>
          <a:prstGeom prst="roundRect">
            <a:avLst>
              <a:gd name="adj" fmla="val 6667"/>
            </a:avLst>
          </a:prstGeom>
          <a:solidFill>
            <a:schemeClr val="accent2"/>
          </a:solidFill>
          <a:ln/>
        </p:spPr>
        <p:txBody>
          <a:bodyPr wrap="square" lIns="1270" tIns="1270" rIns="1270" bIns="1270" rtlCol="0" anchor="ctr"/>
          <a:lstStyle/>
          <a:p>
            <a:pPr indent="0" marL="0">
              <a:buNone/>
            </a:pPr>
            <a:r>
              <a:rPr lang="en-US" sz="1400" b="1" dirty="0">
                <a:solidFill>
                  <a:schemeClr val="bg1"/>
                </a:solidFill>
              </a:rPr>
              <a:t>MPC</a:t>
            </a:r>
            <a:endParaRPr lang="en-US" sz="1400" dirty="0"/>
          </a:p>
          <a:p>
            <a:pPr indent="0" marL="0">
              <a:buNone/>
            </a:pPr>
            <a:r>
              <a:rPr lang="en-US" sz="1100" dirty="0">
                <a:solidFill>
                  <a:schemeClr val="bg1"/>
                </a:solidFill>
              </a:rPr>
              <a:t>今の重心・速さから ZMP の MPC</a:t>
            </a:r>
            <a:endParaRPr lang="en-US" sz="1400" dirty="0"/>
          </a:p>
          <a:p>
            <a:pPr indent="0" marL="0">
              <a:buNone/>
            </a:pPr>
            <a:r>
              <a:rPr lang="en-US" sz="1100" dirty="0">
                <a:solidFill>
                  <a:schemeClr val="bg1"/>
                </a:solidFill>
              </a:rPr>
              <a:t>→ 0.05 秒先の重心を狙う</a:t>
            </a:r>
            <a:endParaRPr lang="en-US" sz="1400" dirty="0"/>
          </a:p>
        </p:txBody>
      </p:sp>
      <p:sp>
        <p:nvSpPr>
          <p:cNvPr id="7" name="box-30"/>
          <p:cNvSpPr txBox="1"/>
          <p:nvPr/>
        </p:nvSpPr>
        <p:spPr>
          <a:xfrm>
            <a:off x="9006840" y="1280160"/>
            <a:ext cx="2651760" cy="1097280"/>
          </a:xfrm>
          <a:prstGeom prst="roundRect">
            <a:avLst>
              <a:gd name="adj" fmla="val 6667"/>
            </a:avLst>
          </a:prstGeom>
          <a:solidFill>
            <a:schemeClr val="accent4"/>
          </a:solidFill>
          <a:ln/>
        </p:spPr>
        <p:txBody>
          <a:bodyPr wrap="square" lIns="1270" tIns="1270" rIns="1270" bIns="1270" rtlCol="0" anchor="ctr"/>
          <a:lstStyle/>
          <a:p>
            <a:pPr indent="0" marL="0">
              <a:buNone/>
            </a:pPr>
            <a:r>
              <a:rPr lang="en-US" sz="1400" b="1" dirty="0">
                <a:solidFill>
                  <a:schemeClr val="bg1"/>
                </a:solidFill>
              </a:rPr>
              <a:t>全身 QP</a:t>
            </a:r>
            <a:endParaRPr lang="en-US" sz="1400" dirty="0"/>
          </a:p>
          <a:p>
            <a:pPr indent="0" marL="0">
              <a:buNone/>
            </a:pPr>
            <a:r>
              <a:rPr lang="en-US" sz="1100" dirty="0">
                <a:solidFill>
                  <a:schemeClr val="bg1"/>
                </a:solidFill>
              </a:rPr>
              <a:t>着いた足はその場, 浮いた足と</a:t>
            </a:r>
            <a:endParaRPr lang="en-US" sz="1400" dirty="0"/>
          </a:p>
          <a:p>
            <a:pPr indent="0" marL="0">
              <a:buNone/>
            </a:pPr>
            <a:r>
              <a:rPr lang="en-US" sz="1100" dirty="0">
                <a:solidFill>
                  <a:schemeClr val="bg1"/>
                </a:solidFill>
              </a:rPr>
              <a:t>手は計画, 重心を最優先</a:t>
            </a:r>
            <a:endParaRPr lang="en-US" sz="1400" dirty="0"/>
          </a:p>
        </p:txBody>
      </p:sp>
      <p:sp>
        <p:nvSpPr>
          <p:cNvPr id="8" name="arrow-31"/>
          <p:cNvSpPr/>
          <p:nvPr/>
        </p:nvSpPr>
        <p:spPr>
          <a:xfrm>
            <a:off x="2926080" y="1828800"/>
            <a:ext cx="320040" cy="914"/>
          </a:xfrm>
          <a:prstGeom prst="line">
            <a:avLst/>
          </a:prstGeom>
          <a:noFill/>
          <a:ln w="19050">
            <a:solidFill>
              <a:srgbClr val="5B6577"/>
            </a:solidFill>
            <a:prstDash val="solid"/>
            <a:tailEnd type="triangle"/>
          </a:ln>
        </p:spPr>
      </p:sp>
      <p:sp>
        <p:nvSpPr>
          <p:cNvPr id="9" name="arrow-32"/>
          <p:cNvSpPr/>
          <p:nvPr/>
        </p:nvSpPr>
        <p:spPr>
          <a:xfrm>
            <a:off x="5806440" y="1828800"/>
            <a:ext cx="320040" cy="914"/>
          </a:xfrm>
          <a:prstGeom prst="line">
            <a:avLst/>
          </a:prstGeom>
          <a:noFill/>
          <a:ln w="19050">
            <a:solidFill>
              <a:srgbClr val="5B6577"/>
            </a:solidFill>
            <a:prstDash val="solid"/>
            <a:tailEnd type="triangle"/>
          </a:ln>
        </p:spPr>
      </p:sp>
      <p:sp>
        <p:nvSpPr>
          <p:cNvPr id="10" name="arrow-33"/>
          <p:cNvSpPr/>
          <p:nvPr/>
        </p:nvSpPr>
        <p:spPr>
          <a:xfrm>
            <a:off x="8686800" y="1828800"/>
            <a:ext cx="320040" cy="914"/>
          </a:xfrm>
          <a:prstGeom prst="line">
            <a:avLst/>
          </a:prstGeom>
          <a:noFill/>
          <a:ln w="19050">
            <a:solidFill>
              <a:srgbClr val="5B6577"/>
            </a:solidFill>
            <a:prstDash val="solid"/>
            <a:tailEnd type="triangle"/>
          </a:ln>
        </p:spPr>
      </p:sp>
      <p:sp>
        <p:nvSpPr>
          <p:cNvPr id="11" name="code-34"/>
          <p:cNvSpPr txBox="1"/>
          <p:nvPr/>
        </p:nvSpPr>
        <p:spPr>
          <a:xfrm>
            <a:off x="548640" y="2697480"/>
            <a:ext cx="6035040" cy="1783080"/>
          </a:xfrm>
          <a:prstGeom prst="roundRect">
            <a:avLst>
              <a:gd name="adj" fmla="val 3077"/>
            </a:avLst>
          </a:prstGeom>
          <a:solidFill>
            <a:srgbClr val="1B2433"/>
          </a:solidFill>
          <a:ln/>
        </p:spPr>
        <p:txBody>
          <a:bodyPr wrap="square" lIns="1905" tIns="1905" rIns="1905" bIns="1905" rtlCol="0" anchor="t"/>
          <a:lstStyle/>
          <a:p>
            <a:pPr indent="0" marL="0">
              <a:buNone/>
            </a:pPr>
            <a:r>
              <a:rPr lang="en-US" sz="1100" dirty="0">
                <a:solidFill>
                  <a:srgbClr val="E8ECF3"/>
                </a:solidFill>
                <a:latin typeface="BIZ UDGothic" pitchFamily="34" charset="0"/>
                <a:ea typeface="BIZ UDGothic" pitchFamily="34" charset="-122"/>
                <a:cs typeface="BIZ UDGothic" pitchFamily="34" charset="-120"/>
              </a:rPr>
              <a:t>int wbqp_mpc_step(WbQP *h, int i,</a:t>
            </a:r>
            <a:endParaRPr lang="en-US" sz="1100" dirty="0"/>
          </a:p>
          <a:p>
            <a:pPr indent="0" marL="0">
              <a:buNone/>
            </a:pPr>
            <a:r>
              <a:rPr lang="en-US" sz="1100" dirty="0">
                <a:solidFill>
                  <a:srgbClr val="E8ECF3"/>
                </a:solidFill>
                <a:latin typeface="BIZ UDGothic" pitchFamily="34" charset="0"/>
                <a:ea typeface="BIZ UDGothic" pitchFamily="34" charset="-122"/>
                <a:cs typeface="BIZ UDGothic" pitchFamily="34" charset="-120"/>
              </a:rPr>
              <a:t>                  const double *q_meas, const double root_meas[12],</a:t>
            </a:r>
            <a:endParaRPr lang="en-US" sz="1100" dirty="0"/>
          </a:p>
          <a:p>
            <a:pPr indent="0" marL="0">
              <a:buNone/>
            </a:pPr>
            <a:r>
              <a:rPr lang="en-US" sz="1100" dirty="0">
                <a:solidFill>
                  <a:srgbClr val="E8ECF3"/>
                </a:solidFill>
                <a:latin typeface="BIZ UDGothic" pitchFamily="34" charset="0"/>
                <a:ea typeface="BIZ UDGothic" pitchFamily="34" charset="-122"/>
                <a:cs typeface="BIZ UDGothic" pitchFamily="34" charset="-120"/>
              </a:rPr>
              <a:t>                  const double *q_plan, const double root_plan[12],</a:t>
            </a:r>
            <a:endParaRPr lang="en-US" sz="1100" dirty="0"/>
          </a:p>
          <a:p>
            <a:pPr indent="0" marL="0">
              <a:buNone/>
            </a:pPr>
            <a:r>
              <a:rPr lang="en-US" sz="1100" dirty="0">
                <a:solidFill>
                  <a:srgbClr val="E8ECF3"/>
                </a:solidFill>
                <a:latin typeface="BIZ UDGothic" pitchFamily="34" charset="0"/>
                <a:ea typeface="BIZ UDGothic" pitchFamily="34" charset="-122"/>
                <a:cs typeface="BIZ UDGothic" pitchFamily="34" charset="-120"/>
              </a:rPr>
              <a:t>                  double *q_out, double info[8]);</a:t>
            </a:r>
            <a:endParaRPr lang="en-US" sz="1100" dirty="0"/>
          </a:p>
          <a:p>
            <a:pPr indent="0" marL="0">
              <a:buNone/>
            </a:pPr>
            <a:r>
              <a:rPr lang="en-US" sz="1100" dirty="0">
                <a:solidFill>
                  <a:srgbClr val="E8ECF3"/>
                </a:solidFill>
                <a:latin typeface="BIZ UDGothic" pitchFamily="34" charset="0"/>
                <a:ea typeface="BIZ UDGothic" pitchFamily="34" charset="-122"/>
                <a:cs typeface="BIZ UDGothic" pitchFamily="34" charset="-120"/>
              </a:rPr>
              <a:t>// 先に wbqp_plan_balance で計画を作っておく</a:t>
            </a:r>
            <a:endParaRPr lang="en-US" sz="1100" dirty="0"/>
          </a:p>
          <a:p>
            <a:pPr indent="0" marL="0">
              <a:buNone/>
            </a:pPr>
            <a:r>
              <a:rPr lang="en-US" sz="1100" dirty="0">
                <a:solidFill>
                  <a:srgbClr val="E8ECF3"/>
                </a:solidFill>
                <a:latin typeface="BIZ UDGothic" pitchFamily="34" charset="0"/>
                <a:ea typeface="BIZ UDGothic" pitchFamily="34" charset="-122"/>
                <a:cs typeface="BIZ UDGothic" pitchFamily="34" charset="-120"/>
              </a:rPr>
              <a:t>// info: 今の重心, 狙う重心, ずれ, ZMP の緩め, MPC の状態</a:t>
            </a:r>
            <a:endParaRPr lang="en-US" sz="1100" dirty="0"/>
          </a:p>
        </p:txBody>
      </p:sp>
      <p:sp>
        <p:nvSpPr>
          <p:cNvPr id="12" name="bullets-35"/>
          <p:cNvSpPr txBox="1"/>
          <p:nvPr/>
        </p:nvSpPr>
        <p:spPr>
          <a:xfrm>
            <a:off x="6812280" y="2697480"/>
            <a:ext cx="4846320" cy="36118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初めの版は平行移動だけで合わせていた。物理は機体の正面、計画はモーションキャプチャの向きから始まるので、計画の重心・支持多角形が違う向きに置かれていた → 向きも合わせた</a:t>
            </a:r>
            <a:endParaRPr lang="en-US" sz="1200" dirty="0"/>
          </a:p>
          <a:p>
            <a:pPr marL="342900" indent="-342900">
              <a:spcAft>
                <a:spcPts val="500"/>
              </a:spcAft>
              <a:buSzPct val="100000"/>
              <a:buChar char="•"/>
            </a:pPr>
            <a:r>
              <a:rPr lang="en-US" sz="1200" dirty="0">
                <a:solidFill>
                  <a:schemeClr val="tx1"/>
                </a:solidFill>
              </a:rPr>
              <a:t>サーボ（速度 = kp ×（目標 − 今）, kp 10〜30）は 30〜100 ms 遅れるので、0.05 秒先の重心を狙う（mpc_lead）</a:t>
            </a:r>
            <a:endParaRPr lang="en-US" sz="1200" dirty="0"/>
          </a:p>
          <a:p>
            <a:pPr marL="342900" indent="-342900">
              <a:spcAft>
                <a:spcPts val="500"/>
              </a:spcAft>
              <a:buSzPct val="100000"/>
              <a:buChar char="•"/>
            </a:pPr>
            <a:r>
              <a:rPr lang="en-US" sz="1200" dirty="0">
                <a:solidFill>
                  <a:schemeClr val="tx1"/>
                </a:solidFill>
              </a:rPr>
              <a:t>足の置き場所は計画のまま（変えない）。押されて重心が足から出たときに、踏み出して立て直すことはできない</a:t>
            </a:r>
            <a:endParaRPr lang="en-US" sz="1200" dirty="0"/>
          </a:p>
        </p:txBody>
      </p:sp>
      <p:sp>
        <p:nvSpPr>
          <p:cNvPr id="13" name="text-36"/>
          <p:cNvSpPr txBox="1"/>
          <p:nvPr/>
        </p:nvSpPr>
        <p:spPr>
          <a:xfrm>
            <a:off x="548640" y="4663440"/>
            <a:ext cx="6035040" cy="914400"/>
          </a:xfrm>
          <a:prstGeom prst="rect">
            <a:avLst/>
          </a:prstGeom>
          <a:noFill/>
          <a:ln/>
        </p:spPr>
        <p:txBody>
          <a:bodyPr wrap="square" lIns="0" tIns="0" rIns="0" bIns="0" rtlCol="0" anchor="t"/>
          <a:lstStyle/>
          <a:p>
            <a:pPr indent="0" marL="0">
              <a:buNone/>
            </a:pPr>
            <a:r>
              <a:rPr lang="en-US" sz="1250" dirty="0">
                <a:solidFill>
                  <a:schemeClr val="accent1"/>
                </a:solidFill>
              </a:rPr>
              <a:t>結果（30 秒まで）: aiming1 × KXR は倒れない（GMR は 5.1 秒）。aiming1 × KHR 24.4 秒、walk1 × KHR 6.7 秒、walk1 × KXR 6.5 秒で倒れる。</a:t>
            </a:r>
            <a:endParaRPr lang="en-US" sz="125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キャプチャポイントで足の置き場所を変える</a:t>
            </a:r>
            <a:endParaRPr lang="en-US" sz="2800" dirty="0"/>
          </a:p>
        </p:txBody>
      </p:sp>
      <p:sp>
        <p:nvSpPr>
          <p:cNvPr id="4" name="code-37"/>
          <p:cNvSpPr txBox="1"/>
          <p:nvPr/>
        </p:nvSpPr>
        <p:spPr>
          <a:xfrm>
            <a:off x="548640" y="1188720"/>
            <a:ext cx="6766560" cy="1600200"/>
          </a:xfrm>
          <a:prstGeom prst="roundRect">
            <a:avLst>
              <a:gd name="adj" fmla="val 3429"/>
            </a:avLst>
          </a:prstGeom>
          <a:solidFill>
            <a:srgbClr val="1B2433"/>
          </a:solidFill>
          <a:ln/>
        </p:spPr>
        <p:txBody>
          <a:bodyPr wrap="square" lIns="1905" tIns="1905" rIns="1905" bIns="1905" rtlCol="0" anchor="t"/>
          <a:lstStyle/>
          <a:p>
            <a:pPr indent="0" marL="0">
              <a:buNone/>
            </a:pPr>
            <a:r>
              <a:rPr lang="en-US" sz="1150" dirty="0">
                <a:solidFill>
                  <a:srgbClr val="E8ECF3"/>
                </a:solidFill>
                <a:latin typeface="BIZ UDGothic" pitchFamily="34" charset="0"/>
                <a:ea typeface="BIZ UDGothic" pitchFamily="34" charset="-122"/>
                <a:cs typeface="BIZ UDGothic" pitchFamily="34" charset="-120"/>
              </a:rPr>
              <a:t>キャプチャポイント   ξ = c + c' / ω          （止まるために足を置く点）</a:t>
            </a:r>
            <a:endParaRPr lang="en-US" sz="1150" dirty="0"/>
          </a:p>
          <a:p>
            <a:pPr indent="0" marL="0">
              <a:buNone/>
            </a:pPr>
            <a:r>
              <a:rPr lang="en-US" sz="1150" dirty="0">
                <a:solidFill>
                  <a:srgbClr val="E8ECF3"/>
                </a:solidFill>
                <a:latin typeface="BIZ UDGothic" pitchFamily="34" charset="0"/>
                <a:ea typeface="BIZ UDGothic" pitchFamily="34" charset="-122"/>
                <a:cs typeface="BIZ UDGothic" pitchFamily="34" charset="-120"/>
              </a:rPr>
              <a:t>ずれ                 e = ξ_今 − ξ_計画</a:t>
            </a:r>
            <a:endParaRPr lang="en-US" sz="1150" dirty="0"/>
          </a:p>
          <a:p>
            <a:pPr indent="0" marL="0">
              <a:buNone/>
            </a:pPr>
            <a:r>
              <a:rPr lang="en-US" sz="1150" dirty="0">
                <a:solidFill>
                  <a:srgbClr val="E8ECF3"/>
                </a:solidFill>
                <a:latin typeface="BIZ UDGothic" pitchFamily="34" charset="0"/>
                <a:ea typeface="BIZ UDGothic" pitchFamily="34" charset="-122"/>
                <a:cs typeface="BIZ UDGothic" pitchFamily="34" charset="-120"/>
              </a:rPr>
              <a:t>着地のずらし         Δ = cp_gain · e · e^{ω T}   T = 着地までの時間</a:t>
            </a:r>
            <a:endParaRPr lang="en-US" sz="1150" dirty="0"/>
          </a:p>
          <a:p>
            <a:pPr indent="0" marL="0">
              <a:buNone/>
            </a:pPr>
            <a:r>
              <a:rPr lang="en-US" sz="1150" dirty="0">
                <a:solidFill>
                  <a:srgbClr val="E8ECF3"/>
                </a:solidFill>
                <a:latin typeface="BIZ UDGothic" pitchFamily="34" charset="0"/>
                <a:ea typeface="BIZ UDGothic" pitchFamily="34" charset="-122"/>
                <a:cs typeface="BIZ UDGothic" pitchFamily="34" charset="-120"/>
              </a:rPr>
              <a:t>                     |Δ| ≤ cp_max · L,  前の値となめらかに</a:t>
            </a:r>
            <a:endParaRPr lang="en-US" sz="1150" dirty="0"/>
          </a:p>
          <a:p>
            <a:pPr indent="0" marL="0">
              <a:buNone/>
            </a:pPr>
            <a:r>
              <a:rPr lang="en-US" sz="1150" dirty="0">
                <a:solidFill>
                  <a:srgbClr val="E8ECF3"/>
                </a:solidFill>
                <a:latin typeface="BIZ UDGothic" pitchFamily="34" charset="0"/>
                <a:ea typeface="BIZ UDGothic" pitchFamily="34" charset="-122"/>
                <a:cs typeface="BIZ UDGothic" pitchFamily="34" charset="-120"/>
              </a:rPr>
              <a:t>振り出し中の足       目標 = 計画 + (離したときのずらし → Δ) を位相で</a:t>
            </a:r>
            <a:endParaRPr lang="en-US" sz="1150" dirty="0"/>
          </a:p>
          <a:p>
            <a:pPr indent="0" marL="0">
              <a:buNone/>
            </a:pPr>
            <a:r>
              <a:rPr lang="en-US" sz="1150" dirty="0">
                <a:solidFill>
                  <a:srgbClr val="E8ECF3"/>
                </a:solidFill>
                <a:latin typeface="BIZ UDGothic" pitchFamily="34" charset="0"/>
                <a:ea typeface="BIZ UDGothic" pitchFamily="34" charset="-122"/>
                <a:cs typeface="BIZ UDGothic" pitchFamily="34" charset="-120"/>
              </a:rPr>
              <a:t>MPC の支持多角形     ずらした足の裏で作り直し, 重心の参照もずらす</a:t>
            </a:r>
            <a:endParaRPr lang="en-US" sz="1150" dirty="0"/>
          </a:p>
        </p:txBody>
      </p:sp>
      <p:sp>
        <p:nvSpPr>
          <p:cNvPr id="5" name="bullets-38"/>
          <p:cNvSpPr txBox="1"/>
          <p:nvPr/>
        </p:nvSpPr>
        <p:spPr>
          <a:xfrm>
            <a:off x="548640" y="2971800"/>
            <a:ext cx="6766560" cy="33375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初めの版は、両足の平均で計画と物理の座標を合わせていた。足がずらした目標まで届かないと、その差が座標合わせに入り「ずれ → さらにずらす」が繰り返された（ずれ 0.1〜0.2 m, ずらしが上限に張り付く）</a:t>
            </a:r>
            <a:endParaRPr lang="en-US" sz="1200" dirty="0"/>
          </a:p>
          <a:p>
            <a:pPr marL="342900" indent="-342900">
              <a:spcAft>
                <a:spcPts val="500"/>
              </a:spcAft>
              <a:buSzPct val="100000"/>
              <a:buChar char="•"/>
            </a:pPr>
            <a:r>
              <a:rPr lang="en-US" sz="1200" dirty="0">
                <a:solidFill>
                  <a:schemeClr val="tx1"/>
                </a:solidFill>
              </a:rPr>
              <a:t>→ 座標は先に着いていた 1 本の足で合わせ、もう片方は実際に着いた位置をずらしとして覚える</a:t>
            </a:r>
            <a:endParaRPr lang="en-US" sz="1200" dirty="0"/>
          </a:p>
          <a:p>
            <a:pPr marL="342900" indent="-342900">
              <a:spcAft>
                <a:spcPts val="500"/>
              </a:spcAft>
              <a:buSzPct val="100000"/>
              <a:buChar char="•"/>
            </a:pPr>
            <a:r>
              <a:rPr lang="en-US" sz="1200" dirty="0">
                <a:solidFill>
                  <a:schemeClr val="tx1"/>
                </a:solidFill>
              </a:rPr>
              <a:t>毎コマ今の姿勢から解くので、脚の関節の目標が 1 コマで 10〜26° 振動していた → 1 コマ 0.06 rad まで、前の目標から 3 割ずつ近づける</a:t>
            </a:r>
            <a:endParaRPr lang="en-US" sz="1200" dirty="0"/>
          </a:p>
          <a:p>
            <a:pPr marL="342900" indent="-342900">
              <a:spcAft>
                <a:spcPts val="500"/>
              </a:spcAft>
              <a:buSzPct val="100000"/>
              <a:buChar char="•"/>
            </a:pPr>
            <a:r>
              <a:rPr lang="en-US" sz="1200" dirty="0">
                <a:solidFill>
                  <a:schemeClr val="tx1"/>
                </a:solidFill>
              </a:rPr>
              <a:t>踏み出す予定のない両足立ちのときは、足の置き場所を変えない（押されたときの踏み出しはまだ）</a:t>
            </a:r>
            <a:endParaRPr lang="en-US" sz="1200" dirty="0"/>
          </a:p>
        </p:txBody>
      </p:sp>
      <p:graphicFrame>
        <p:nvGraphicFramePr>
          <p:cNvPr id="9" name="table-39"/>
          <p:cNvGraphicFramePr>
            <a:graphicFrameLocks noGrp="1"/>
          </p:cNvGraphicFramePr>
          <p:nvPr>
            <p:extLst>
              <p:ext uri="{D42A27DB-BD31-4B8C-83A1-F6EECF244321}">
                <p14:modId xmlns:p14="http://schemas.microsoft.com/office/powerpoint/2010/main" val="1579011935"/>
              </p:ext>
            </p:extLst>
          </p:nvPr>
        </p:nvGraphicFramePr>
        <p:xfrm>
          <a:off x="7498080" y="1188720"/>
          <a:ext cx="4160520" cy="914400"/>
        </p:xfrm>
        <a:graphic>
          <a:graphicData uri="http://schemas.openxmlformats.org/drawingml/2006/table">
            <a:tbl>
              <a:tblPr/>
              <a:tblGrid>
                <a:gridCol w="1234440"/>
                <a:gridCol w="685800"/>
                <a:gridCol w="777240"/>
                <a:gridCol w="731520"/>
                <a:gridCol w="731520"/>
              </a:tblGrid>
              <a:tr h="438912">
                <a:tc>
                  <a:txBody>
                    <a:bodyPr/>
                    <a:lstStyle/>
                    <a:p>
                      <a:pPr indent="0" marL="0">
                        <a:buNone/>
                      </a:pPr>
                      <a:r>
                        <a:rPr lang="en-US" sz="1050" b="1" dirty="0">
                          <a:solidFill>
                            <a:srgbClr val="FFFFFF"/>
                          </a:solidFill>
                        </a:rPr>
                        <a:t>30 秒まで</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rPr>
                        <a:t>MPC</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rPr>
                        <a:t>+ キャプチャ</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rPr>
                        <a:t>+ なめらか</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rPr>
                        <a:t>+ 移動 0.25</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38912">
                <a:tc>
                  <a:txBody>
                    <a:bodyPr/>
                    <a:lstStyle/>
                    <a:p>
                      <a:pPr indent="0" marL="0">
                        <a:buNone/>
                      </a:pPr>
                      <a:r>
                        <a:rPr lang="en-US" sz="1050" dirty="0">
                          <a:solidFill>
                            <a:srgbClr val="14213D"/>
                          </a:solidFill>
                        </a:rPr>
                        <a:t>walk1 × KHR</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6.3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7.4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15.0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b="1" dirty="0">
                          <a:solidFill>
                            <a:srgbClr val="E4572E"/>
                          </a:solidFill>
                        </a:rPr>
                        <a:t>26.6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r>
              <a:tr h="438912">
                <a:tc>
                  <a:txBody>
                    <a:bodyPr/>
                    <a:lstStyle/>
                    <a:p>
                      <a:pPr indent="0" marL="0">
                        <a:buNone/>
                      </a:pPr>
                      <a:r>
                        <a:rPr lang="en-US" sz="1050" dirty="0">
                          <a:solidFill>
                            <a:srgbClr val="14213D"/>
                          </a:solidFill>
                        </a:rPr>
                        <a:t>aiming1 × KHR</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rPr>
                        <a:t>24.3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b="1" dirty="0">
                          <a:solidFill>
                            <a:srgbClr val="E4572E"/>
                          </a:solidFill>
                        </a:rPr>
                        <a:t>倒れない</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c>
                  <a:txBody>
                    <a:bodyPr/>
                    <a:lstStyle/>
                    <a:p>
                      <a:pPr indent="0" marL="0">
                        <a:buNone/>
                      </a:pPr>
                      <a:r>
                        <a:rPr lang="en-US" sz="1050" dirty="0">
                          <a:solidFill>
                            <a:srgbClr val="14213D"/>
                          </a:solidFill>
                        </a:rPr>
                        <a:t>20.5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rPr>
                        <a:t>20.8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38912">
                <a:tc>
                  <a:txBody>
                    <a:bodyPr/>
                    <a:lstStyle/>
                    <a:p>
                      <a:pPr indent="0" marL="0">
                        <a:buNone/>
                      </a:pPr>
                      <a:r>
                        <a:rPr lang="en-US" sz="1050" dirty="0">
                          <a:solidFill>
                            <a:srgbClr val="14213D"/>
                          </a:solidFill>
                        </a:rPr>
                        <a:t>walk1 × KXR</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6.0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6.4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6.8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9.2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38912">
                <a:tc>
                  <a:txBody>
                    <a:bodyPr/>
                    <a:lstStyle/>
                    <a:p>
                      <a:pPr indent="0" marL="0">
                        <a:buNone/>
                      </a:pPr>
                      <a:r>
                        <a:rPr lang="en-US" sz="1050" dirty="0">
                          <a:solidFill>
                            <a:srgbClr val="14213D"/>
                          </a:solidFill>
                        </a:rPr>
                        <a:t>aiming1 × KXR</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b="1" dirty="0">
                          <a:solidFill>
                            <a:srgbClr val="E4572E"/>
                          </a:solidFill>
                        </a:rPr>
                        <a:t>倒れない</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c>
                  <a:txBody>
                    <a:bodyPr/>
                    <a:lstStyle/>
                    <a:p>
                      <a:pPr indent="0" marL="0">
                        <a:buNone/>
                      </a:pPr>
                      <a:r>
                        <a:rPr lang="en-US" sz="1050" b="1" dirty="0">
                          <a:solidFill>
                            <a:srgbClr val="E4572E"/>
                          </a:solidFill>
                        </a:rPr>
                        <a:t>倒れない</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c>
                  <a:txBody>
                    <a:bodyPr/>
                    <a:lstStyle/>
                    <a:p>
                      <a:pPr indent="0" marL="0">
                        <a:buNone/>
                      </a:pPr>
                      <a:r>
                        <a:rPr lang="en-US" sz="1050" dirty="0">
                          <a:solidFill>
                            <a:srgbClr val="14213D"/>
                          </a:solidFill>
                        </a:rPr>
                        <a:t>23.4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b="1" dirty="0">
                          <a:solidFill>
                            <a:srgbClr val="E4572E"/>
                          </a:solidFill>
                        </a:rPr>
                        <a:t>倒れない</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r>
            </a:tbl>
          </a:graphicData>
        </a:graphic>
      </p:graphicFrame>
      <p:sp>
        <p:nvSpPr>
          <p:cNvPr id="7" name="bullets-40"/>
          <p:cNvSpPr txBox="1"/>
          <p:nvPr/>
        </p:nvSpPr>
        <p:spPr>
          <a:xfrm>
            <a:off x="7498080" y="3611880"/>
            <a:ext cx="4160520" cy="269748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tx1"/>
                </a:solidFill>
              </a:rPr>
              <a:t>左から順に足していったもの（qptest, Mac）</a:t>
            </a:r>
            <a:endParaRPr lang="en-US" sz="1150" dirty="0"/>
          </a:p>
          <a:p>
            <a:pPr marL="342900" indent="-342900">
              <a:spcAft>
                <a:spcPts val="500"/>
              </a:spcAft>
              <a:buSzPct val="100000"/>
              <a:buChar char="•"/>
            </a:pPr>
            <a:r>
              <a:rPr lang="en-US" sz="1150" dirty="0">
                <a:solidFill>
                  <a:schemeClr val="tx1"/>
                </a:solidFill>
              </a:rPr>
              <a:t>設定を少し変えるだけで倒れる時刻が大きく変わる（歩行はまだ安定していない）</a:t>
            </a:r>
            <a:endParaRPr lang="en-US" sz="1150" dirty="0"/>
          </a:p>
          <a:p>
            <a:pPr marL="342900" indent="-342900">
              <a:spcAft>
                <a:spcPts val="500"/>
              </a:spcAft>
              <a:buSzPct val="100000"/>
              <a:buChar char="•"/>
            </a:pPr>
            <a:r>
              <a:rPr lang="en-US" sz="1150" dirty="0">
                <a:solidFill>
                  <a:schemeClr val="tx1"/>
                </a:solidFill>
              </a:rPr>
              <a:t>4 本の合計（30 秒で打ち切り）は 「+ 移動 0.25」が最長（86.6 秒 / 120 秒）</a:t>
            </a:r>
            <a:endParaRPr lang="en-US" sz="115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足首の安定化と、起き上がり</a:t>
            </a:r>
            <a:endParaRPr lang="en-US" sz="2800" dirty="0"/>
          </a:p>
        </p:txBody>
      </p:sp>
      <p:sp>
        <p:nvSpPr>
          <p:cNvPr id="4" name="tile-41"/>
          <p:cNvSpPr txBox="1"/>
          <p:nvPr/>
        </p:nvSpPr>
        <p:spPr>
          <a:xfrm>
            <a:off x="548640" y="1188720"/>
            <a:ext cx="384048" cy="384048"/>
          </a:xfrm>
          <a:prstGeom prst="roundRect">
            <a:avLst>
              <a:gd name="adj" fmla="val 14286"/>
            </a:avLst>
          </a:prstGeom>
          <a:solidFill>
            <a:schemeClr val="accent2"/>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5" name="head-42"/>
          <p:cNvSpPr txBox="1"/>
          <p:nvPr/>
        </p:nvSpPr>
        <p:spPr>
          <a:xfrm>
            <a:off x="1051560" y="1188720"/>
            <a:ext cx="4983480" cy="384048"/>
          </a:xfrm>
          <a:prstGeom prst="rect">
            <a:avLst/>
          </a:prstGeom>
          <a:noFill/>
          <a:ln/>
        </p:spPr>
        <p:txBody>
          <a:bodyPr wrap="square" lIns="0" tIns="0" rIns="0" bIns="0" rtlCol="0" anchor="ctr"/>
          <a:lstStyle/>
          <a:p>
            <a:pPr indent="0" marL="0">
              <a:buNone/>
            </a:pPr>
            <a:r>
              <a:rPr lang="en-US" sz="1700" b="1" dirty="0">
                <a:solidFill>
                  <a:schemeClr val="tx1"/>
                </a:solidFill>
              </a:rPr>
              <a:t>足首の安定化（QP + バランスの再生）</a:t>
            </a:r>
            <a:endParaRPr lang="en-US" sz="1700" dirty="0"/>
          </a:p>
        </p:txBody>
      </p:sp>
      <p:sp>
        <p:nvSpPr>
          <p:cNvPr id="6" name="bullets-43"/>
          <p:cNvSpPr txBox="1"/>
          <p:nvPr/>
        </p:nvSpPr>
        <p:spPr>
          <a:xfrm>
            <a:off x="548640" y="1645920"/>
            <a:ext cx="5486400" cy="36576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w = 物理の体の上向き → 計画の体の上向き の回転ベクトル</a:t>
            </a:r>
            <a:endParaRPr lang="en-US" sz="1200" dirty="0"/>
          </a:p>
          <a:p>
            <a:pPr marL="342900" indent="-342900">
              <a:spcAft>
                <a:spcPts val="500"/>
              </a:spcAft>
              <a:buSzPct val="100000"/>
              <a:buChar char="•"/>
            </a:pPr>
            <a:r>
              <a:rPr lang="en-US" sz="1200" dirty="0">
                <a:solidFill>
                  <a:schemeClr val="tx1"/>
                </a:solidFill>
              </a:rPr>
              <a:t>着いている足の足首の関節（足のリンクから根元へ回転関節 2 つ）を Δq = 0.5 (a · w) 回す（a = 関節の軸, 物理の今の姿勢から）</a:t>
            </a:r>
            <a:endParaRPr lang="en-US" sz="1200" dirty="0"/>
          </a:p>
          <a:p>
            <a:pPr marL="342900" indent="-342900">
              <a:spcAft>
                <a:spcPts val="500"/>
              </a:spcAft>
              <a:buSzPct val="100000"/>
              <a:buChar char="•"/>
            </a:pPr>
            <a:r>
              <a:rPr lang="en-US" sz="1200" dirty="0">
                <a:solidFill>
                  <a:schemeClr val="tx1"/>
                </a:solidFill>
              </a:rPr>
              <a:t>±20° で切る。実機のジャイロの安定化と同じ考え</a:t>
            </a:r>
            <a:endParaRPr lang="en-US" sz="1200" dirty="0"/>
          </a:p>
          <a:p>
            <a:pPr marL="342900" indent="-342900">
              <a:spcAft>
                <a:spcPts val="500"/>
              </a:spcAft>
              <a:buSzPct val="100000"/>
              <a:buChar char="•"/>
            </a:pPr>
            <a:r>
              <a:rPr lang="en-US" sz="1200" dirty="0">
                <a:solidFill>
                  <a:schemeClr val="tx1"/>
                </a:solidFill>
              </a:rPr>
              <a:t>walk1 × KHR: 安定化なし 7.7 秒 → あり 19.7 秒で倒れる（qptest）。Kotlin では 7.7 → 20.0 秒</a:t>
            </a:r>
            <a:endParaRPr lang="en-US" sz="1200" dirty="0"/>
          </a:p>
          <a:p>
            <a:pPr marL="342900" indent="-342900">
              <a:spcAft>
                <a:spcPts val="500"/>
              </a:spcAft>
              <a:buSzPct val="100000"/>
              <a:buChar char="•"/>
            </a:pPr>
            <a:r>
              <a:rPr lang="en-US" sz="1200" dirty="0">
                <a:solidFill>
                  <a:schemeClr val="tx1"/>
                </a:solidFill>
              </a:rPr>
              <a:t>符号を逆（−0.5）にすると 6 秒前後で倒れる</a:t>
            </a:r>
            <a:endParaRPr lang="en-US" sz="1200" dirty="0"/>
          </a:p>
        </p:txBody>
      </p:sp>
      <p:sp>
        <p:nvSpPr>
          <p:cNvPr id="7" name="tile-44"/>
          <p:cNvSpPr txBox="1"/>
          <p:nvPr/>
        </p:nvSpPr>
        <p:spPr>
          <a:xfrm>
            <a:off x="6263640" y="1188720"/>
            <a:ext cx="384048" cy="384048"/>
          </a:xfrm>
          <a:prstGeom prst="roundRect">
            <a:avLst>
              <a:gd name="adj" fmla="val 14286"/>
            </a:avLst>
          </a:prstGeom>
          <a:solidFill>
            <a:schemeClr val="accent5"/>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8" name="head-45"/>
          <p:cNvSpPr txBox="1"/>
          <p:nvPr/>
        </p:nvSpPr>
        <p:spPr>
          <a:xfrm>
            <a:off x="6766560" y="1188720"/>
            <a:ext cx="4892040" cy="384048"/>
          </a:xfrm>
          <a:prstGeom prst="rect">
            <a:avLst/>
          </a:prstGeom>
          <a:noFill/>
          <a:ln/>
        </p:spPr>
        <p:txBody>
          <a:bodyPr wrap="square" lIns="0" tIns="0" rIns="0" bIns="0" rtlCol="0" anchor="ctr"/>
          <a:lstStyle/>
          <a:p>
            <a:pPr indent="0" marL="0">
              <a:buNone/>
            </a:pPr>
            <a:r>
              <a:rPr lang="en-US" sz="1700" b="1" dirty="0">
                <a:solidFill>
                  <a:schemeClr val="tx1"/>
                </a:solidFill>
              </a:rPr>
              <a:t>倒れたら起き上がって続ける</a:t>
            </a:r>
            <a:endParaRPr lang="en-US" sz="1700" dirty="0"/>
          </a:p>
        </p:txBody>
      </p:sp>
      <p:sp>
        <p:nvSpPr>
          <p:cNvPr id="9" name="bullets-46"/>
          <p:cNvSpPr txBox="1"/>
          <p:nvPr/>
        </p:nvSpPr>
        <p:spPr>
          <a:xfrm>
            <a:off x="6263640" y="1645920"/>
            <a:ext cx="5394960" cy="36576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腰の上向きが 60° より 0.3 秒傾いたら倒れた → 動作の時間を止める</a:t>
            </a:r>
            <a:endParaRPr lang="en-US" sz="1200" dirty="0"/>
          </a:p>
          <a:p>
            <a:pPr marL="342900" indent="-342900">
              <a:spcAft>
                <a:spcPts val="500"/>
              </a:spcAft>
              <a:buSzPct val="100000"/>
              <a:buChar char="•"/>
            </a:pPr>
            <a:r>
              <a:rPr lang="en-US" sz="1200" dirty="0">
                <a:solidFill>
                  <a:schemeClr val="tx1"/>
                </a:solidFill>
              </a:rPr>
              <a:t>体の前が下ならうつ伏せ、上なら仰向けの起き上がりの動作（RCB4 のプロジェクト, ロボットの JSON の動作）をサーボの目標に</a:t>
            </a:r>
            <a:endParaRPr lang="en-US" sz="1200" dirty="0"/>
          </a:p>
          <a:p>
            <a:pPr marL="342900" indent="-342900">
              <a:spcAft>
                <a:spcPts val="500"/>
              </a:spcAft>
              <a:buSzPct val="100000"/>
              <a:buChar char="•"/>
            </a:pPr>
            <a:r>
              <a:rPr lang="en-US" sz="1200" dirty="0">
                <a:solidFill>
                  <a:schemeClr val="tx1"/>
                </a:solidFill>
              </a:rPr>
              <a:t>終わってから 1 秒以内に傾き 25° 未満なら、0.6 秒かけて倒れたコマの姿勢へ移り、そこから続ける。立てなければもう一度（2 回まで）、だめなら置き直す</a:t>
            </a:r>
            <a:endParaRPr lang="en-US" sz="1200" dirty="0"/>
          </a:p>
          <a:p>
            <a:pPr marL="342900" indent="-342900">
              <a:spcAft>
                <a:spcPts val="500"/>
              </a:spcAft>
              <a:buSzPct val="100000"/>
              <a:buChar char="•"/>
            </a:pPr>
            <a:r>
              <a:rPr lang="en-US" sz="1200" dirty="0">
                <a:solidFill>
                  <a:schemeClr val="tx1"/>
                </a:solidFill>
              </a:rPr>
              <a:t>起き上がりの動作がある: KXR 27 / 36 体, KHR 43 / 43 体（ないロボットは置き直す）</a:t>
            </a:r>
            <a:endParaRPr lang="en-US" sz="1200" dirty="0"/>
          </a:p>
        </p:txBody>
      </p:sp>
      <p:sp>
        <p:nvSpPr>
          <p:cNvPr id="10" name="text-47"/>
          <p:cNvSpPr txBox="1"/>
          <p:nvPr/>
        </p:nvSpPr>
        <p:spPr>
          <a:xfrm>
            <a:off x="548640" y="5669280"/>
            <a:ext cx="11109960" cy="548640"/>
          </a:xfrm>
          <a:prstGeom prst="rect">
            <a:avLst/>
          </a:prstGeom>
          <a:noFill/>
          <a:ln/>
        </p:spPr>
        <p:txBody>
          <a:bodyPr wrap="square" lIns="0" tIns="0" rIns="0" bIns="0" rtlCol="0" anchor="t"/>
          <a:lstStyle/>
          <a:p>
            <a:pPr indent="0" marL="0">
              <a:buNone/>
            </a:pPr>
            <a:r>
              <a:rPr lang="en-US" sz="1150" dirty="0">
                <a:solidFill>
                  <a:schemeClr val="accent6"/>
                </a:solidFill>
              </a:rPr>
              <a:t>名前の例: KHR「HLO014_起きあがり(うつぶせ)」「HLO015_起きあがり(仰向け)」, KXR「XL2G_116_起き上がり（うつ伏せ）」「XL2G_115_起き上がり（仰向け）」</a:t>
            </a:r>
            <a:endParaRPr lang="en-US" sz="115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2377440" y="2514600"/>
            <a:ext cx="9144000" cy="914400"/>
          </a:xfrm>
          <a:prstGeom prst="rect">
            <a:avLst/>
          </a:prstGeom>
          <a:noFill/>
          <a:ln/>
        </p:spPr>
        <p:txBody>
          <a:bodyPr wrap="square" lIns="0" tIns="0" rIns="0" bIns="0" rtlCol="0" anchor="b"/>
          <a:lstStyle/>
          <a:p>
            <a:pPr algn="l" indent="0" marL="0">
              <a:buNone/>
            </a:pPr>
            <a:r>
              <a:rPr lang="en-US" sz="3600" b="1" dirty="0">
                <a:solidFill>
                  <a:schemeClr val="bg1"/>
                </a:solidFill>
              </a:rPr>
              <a:t>2. 物理（ODE）で倒れるか</a:t>
            </a:r>
            <a:endParaRPr lang="en-US" sz="3600" dirty="0"/>
          </a:p>
        </p:txBody>
      </p:sp>
      <p:sp>
        <p:nvSpPr>
          <p:cNvPr id="3" name="Text 0"/>
          <p:cNvSpPr/>
          <p:nvPr>
            <p:ph idx="101" type="body" hasCustomPrompt="1"/>
          </p:nvPr>
        </p:nvSpPr>
        <p:spPr>
          <a:xfrm>
            <a:off x="2377440" y="3566160"/>
            <a:ext cx="9144000" cy="1097280"/>
          </a:xfrm>
          <a:prstGeom prst="rect">
            <a:avLst/>
          </a:prstGeom>
          <a:noFill/>
          <a:ln/>
        </p:spPr>
        <p:txBody>
          <a:bodyPr wrap="square" lIns="0" tIns="0" rIns="0" bIns="0" rtlCol="0" anchor="t"/>
          <a:lstStyle/>
          <a:p>
            <a:pPr algn="l" indent="0" marL="0">
              <a:buNone/>
            </a:pPr>
            <a:r>
              <a:rPr lang="en-US" sz="1600" dirty="0">
                <a:solidFill>
                  <a:srgbClr val="CADCFC"/>
                </a:solidFill>
              </a:rPr>
              <a:t>Mac の qptest（アプリと同じ Swift・C++ のコード）。関節角をサーボの目標にして 1 コマ 1/30 秒で進める</a:t>
            </a:r>
            <a:endParaRPr lang="en-US" sz="1600" dirty="0"/>
          </a:p>
        </p:txBody>
      </p:sp>
      <p:sp>
        <p:nvSpPr>
          <p:cNvPr id="4" name="tile-48"/>
          <p:cNvSpPr txBox="1"/>
          <p:nvPr/>
        </p:nvSpPr>
        <p:spPr>
          <a:xfrm>
            <a:off x="822960" y="2514600"/>
            <a:ext cx="1097280" cy="1097280"/>
          </a:xfrm>
          <a:prstGeom prst="roundRect">
            <a:avLst>
              <a:gd name="adj" fmla="val 5000"/>
            </a:avLst>
          </a:prstGeom>
          <a:solidFill>
            <a:schemeClr val="accent4"/>
          </a:solidFill>
          <a:ln/>
        </p:spPr>
        <p:txBody>
          <a:bodyPr wrap="square" lIns="0" tIns="0" rIns="0" bIns="0" rtlCol="0" anchor="ctr"/>
          <a:lstStyle/>
          <a:p>
            <a:pPr algn="ctr" indent="0" marL="0">
              <a:buNone/>
            </a:pPr>
            <a:r>
              <a:rPr lang="en-US" sz="2800" b="1" dirty="0">
                <a:solidFill>
                  <a:schemeClr val="bg1"/>
                </a:solidFill>
              </a:rPr>
              <a:t>2</a:t>
            </a:r>
            <a:endParaRPr lang="en-US" sz="2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90B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30 秒まで — 倒れるまでの時間</a:t>
            </a:r>
            <a:endParaRPr lang="en-US" sz="2800" dirty="0"/>
          </a:p>
        </p:txBody>
      </p:sp>
      <p:graphicFrame>
        <p:nvGraphicFramePr>
          <p:cNvPr id="12" name="table-49"/>
          <p:cNvGraphicFramePr>
            <a:graphicFrameLocks noGrp="1"/>
          </p:cNvGraphicFramePr>
          <p:nvPr>
            <p:extLst>
              <p:ext uri="{D42A27DB-BD31-4B8C-83A1-F6EECF244321}">
                <p14:modId xmlns:p14="http://schemas.microsoft.com/office/powerpoint/2010/main" val="1579011935"/>
              </p:ext>
            </p:extLst>
          </p:nvPr>
        </p:nvGraphicFramePr>
        <p:xfrm>
          <a:off x="548640" y="1188720"/>
          <a:ext cx="6766560" cy="914400"/>
        </p:xfrm>
        <a:graphic>
          <a:graphicData uri="http://schemas.openxmlformats.org/drawingml/2006/table">
            <a:tbl>
              <a:tblPr/>
              <a:tblGrid>
                <a:gridCol w="2377440"/>
                <a:gridCol w="1005840"/>
                <a:gridCol w="1097280"/>
                <a:gridCol w="1188720"/>
                <a:gridCol w="1097280"/>
              </a:tblGrid>
              <a:tr h="457200">
                <a:tc>
                  <a:txBody>
                    <a:bodyPr/>
                    <a:lstStyle/>
                    <a:p>
                      <a:pPr indent="0" marL="0">
                        <a:buNone/>
                      </a:pPr>
                      <a:r>
                        <a:rPr lang="en-US" sz="1200" b="1" dirty="0">
                          <a:solidFill>
                            <a:srgbClr val="FFFFFF"/>
                          </a:solidFill>
                        </a:rPr>
                        <a:t>BVH × ロボット</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GMR</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GMR + QP</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QP + バランス</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GMR + MPC</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57200">
                <a:tc>
                  <a:txBody>
                    <a:bodyPr/>
                    <a:lstStyle/>
                    <a:p>
                      <a:pPr indent="0" marL="0">
                        <a:buNone/>
                      </a:pPr>
                      <a:r>
                        <a:rPr lang="en-US" sz="1200" dirty="0">
                          <a:solidFill>
                            <a:srgbClr val="14213D"/>
                          </a:solidFill>
                        </a:rPr>
                        <a:t>aiming1 × KHR（khr20h2）</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200" dirty="0">
                          <a:solidFill>
                            <a:srgbClr val="14213D"/>
                          </a:solidFill>
                        </a:rPr>
                        <a:t>19.0 秒</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200" b="1" dirty="0">
                          <a:solidFill>
                            <a:srgbClr val="E4572E"/>
                          </a:solidFill>
                        </a:rPr>
                        <a:t>倒れない</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c>
                  <a:txBody>
                    <a:bodyPr/>
                    <a:lstStyle/>
                    <a:p>
                      <a:pPr indent="0" marL="0">
                        <a:buNone/>
                      </a:pPr>
                      <a:r>
                        <a:rPr lang="en-US" sz="1200" b="1" dirty="0">
                          <a:solidFill>
                            <a:srgbClr val="E4572E"/>
                          </a:solidFill>
                        </a:rPr>
                        <a:t>倒れない</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c>
                  <a:txBody>
                    <a:bodyPr/>
                    <a:lstStyle/>
                    <a:p>
                      <a:pPr indent="0" marL="0">
                        <a:buNone/>
                      </a:pPr>
                      <a:r>
                        <a:rPr lang="en-US" sz="1200" dirty="0">
                          <a:solidFill>
                            <a:srgbClr val="14213D"/>
                          </a:solidFill>
                        </a:rPr>
                        <a:t>24.4 秒</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indent="0" marL="0">
                        <a:buNone/>
                      </a:pPr>
                      <a:r>
                        <a:rPr lang="en-US" sz="1200" dirty="0">
                          <a:solidFill>
                            <a:srgbClr val="14213D"/>
                          </a:solidFill>
                        </a:rPr>
                        <a:t>aiming1 × KXR（kxrl2l6a6h2）</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5.1 秒</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b="1" dirty="0">
                          <a:solidFill>
                            <a:srgbClr val="E4572E"/>
                          </a:solidFill>
                        </a:rPr>
                        <a:t>倒れない</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c>
                  <a:txBody>
                    <a:bodyPr/>
                    <a:lstStyle/>
                    <a:p>
                      <a:pPr indent="0" marL="0">
                        <a:buNone/>
                      </a:pPr>
                      <a:r>
                        <a:rPr lang="en-US" sz="1200" dirty="0">
                          <a:solidFill>
                            <a:srgbClr val="14213D"/>
                          </a:solidFill>
                        </a:rPr>
                        <a:t>24.5 秒</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b="1" dirty="0">
                          <a:solidFill>
                            <a:srgbClr val="E4572E"/>
                          </a:solidFill>
                        </a:rPr>
                        <a:t>倒れない</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r>
              <a:tr h="457200">
                <a:tc>
                  <a:txBody>
                    <a:bodyPr/>
                    <a:lstStyle/>
                    <a:p>
                      <a:pPr indent="0" marL="0">
                        <a:buNone/>
                      </a:pPr>
                      <a:r>
                        <a:rPr lang="en-US" sz="1200" dirty="0">
                          <a:solidFill>
                            <a:srgbClr val="14213D"/>
                          </a:solidFill>
                        </a:rPr>
                        <a:t>walk1 × KHR</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200" dirty="0">
                          <a:solidFill>
                            <a:srgbClr val="14213D"/>
                          </a:solidFill>
                        </a:rPr>
                        <a:t>5.3 秒</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200" dirty="0">
                          <a:solidFill>
                            <a:srgbClr val="14213D"/>
                          </a:solidFill>
                        </a:rPr>
                        <a:t>6.8 秒</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200" b="1" dirty="0">
                          <a:solidFill>
                            <a:srgbClr val="E4572E"/>
                          </a:solidFill>
                        </a:rPr>
                        <a:t>19.7 秒</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c>
                  <a:txBody>
                    <a:bodyPr/>
                    <a:lstStyle/>
                    <a:p>
                      <a:pPr indent="0" marL="0">
                        <a:buNone/>
                      </a:pPr>
                      <a:r>
                        <a:rPr lang="en-US" sz="1200" dirty="0">
                          <a:solidFill>
                            <a:srgbClr val="14213D"/>
                          </a:solidFill>
                        </a:rPr>
                        <a:t>6.7 秒</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indent="0" marL="0">
                        <a:buNone/>
                      </a:pPr>
                      <a:r>
                        <a:rPr lang="en-US" sz="1200" dirty="0">
                          <a:solidFill>
                            <a:srgbClr val="14213D"/>
                          </a:solidFill>
                        </a:rPr>
                        <a:t>walk1 × KXR</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5.0 秒</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6.5 秒</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7.0 秒</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6.5 秒</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graphicFrame>
        <p:nvGraphicFramePr>
          <p:cNvPr id="5" name="chart-50" descr=""/>
          <p:cNvGraphicFramePr/>
          <p:nvPr/>
        </p:nvGraphicFramePr>
        <p:xfrm>
          <a:off x="7498080" y="1097280"/>
          <a:ext cx="4206240" cy="3291840"/>
        </p:xfrm>
        <a:graphic xmlns:a="http://schemas.openxmlformats.org/drawingml/2006/main">
          <a:graphicData uri="http://schemas.openxmlformats.org/drawingml/2006/chart">
            <c:chart xmlns:c="http://schemas.openxmlformats.org/drawingml/2006/chart" r:id="rId1"/>
          </a:graphicData>
        </a:graphic>
      </p:graphicFrame>
      <p:sp>
        <p:nvSpPr>
          <p:cNvPr id="6" name="bullets-51"/>
          <p:cNvSpPr txBox="1"/>
          <p:nvPr/>
        </p:nvSpPr>
        <p:spPr>
          <a:xfrm>
            <a:off x="548640" y="3703320"/>
            <a:ext cx="6766560" cy="26060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Android・デスクトップ（Kotlin + JNI）でも同じ値: walk1 × KHR の GMR+QP 6.8 秒、QP+バランス 20.0 秒、aiming1 は 2 つとも倒れない</a:t>
            </a:r>
            <a:endParaRPr lang="en-US" sz="1200" dirty="0"/>
          </a:p>
          <a:p>
            <a:pPr marL="342900" indent="-342900">
              <a:spcAft>
                <a:spcPts val="500"/>
              </a:spcAft>
              <a:buSzPct val="100000"/>
              <a:buChar char="•"/>
            </a:pPr>
            <a:r>
              <a:rPr lang="en-US" sz="1200" dirty="0">
                <a:solidFill>
                  <a:schemeClr val="tx1"/>
                </a:solidFill>
              </a:rPr>
              <a:t>KXR の GMR+QP は、初めは再生してすぐ倒れていた。左右の股のカプセルが太めで「当たっている」と判定され、脚を開いてしゃがむ答えになっていた → 標準の姿勢で 0.03 L より近い組は調べない（exclude_dist）</a:t>
            </a:r>
            <a:endParaRPr lang="en-US" sz="1200" dirty="0"/>
          </a:p>
          <a:p>
            <a:pPr marL="342900" indent="-342900">
              <a:spcAft>
                <a:spcPts val="500"/>
              </a:spcAft>
              <a:buSzPct val="100000"/>
              <a:buChar char="•"/>
            </a:pPr>
            <a:r>
              <a:rPr lang="en-US" sz="1200" dirty="0">
                <a:solidFill>
                  <a:schemeClr val="tx1"/>
                </a:solidFill>
              </a:rPr>
              <a:t>lafan1 を最後まで（1 本 2〜4 分）: GMR・GMR+QP とも 77 本 × 2 体 すべて倒れる（倒れるまでの中央値 KHR: GMR 5.6 秒, GMR+QP 8.0 秒）</a:t>
            </a:r>
            <a:endParaRPr lang="en-US" sz="1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起き上がりつき — walk1 の 60 秒ぶん（1800 コマ）</a:t>
            </a:r>
            <a:endParaRPr lang="en-US" sz="2800" dirty="0"/>
          </a:p>
        </p:txBody>
      </p:sp>
      <p:graphicFrame>
        <p:nvGraphicFramePr>
          <p:cNvPr id="13" name="table-52"/>
          <p:cNvGraphicFramePr>
            <a:graphicFrameLocks noGrp="1"/>
          </p:cNvGraphicFramePr>
          <p:nvPr>
            <p:extLst>
              <p:ext uri="{D42A27DB-BD31-4B8C-83A1-F6EECF244321}">
                <p14:modId xmlns:p14="http://schemas.microsoft.com/office/powerpoint/2010/main" val="1579011935"/>
              </p:ext>
            </p:extLst>
          </p:nvPr>
        </p:nvGraphicFramePr>
        <p:xfrm>
          <a:off x="548640" y="1188720"/>
          <a:ext cx="7315200" cy="914400"/>
        </p:xfrm>
        <a:graphic>
          <a:graphicData uri="http://schemas.openxmlformats.org/drawingml/2006/table">
            <a:tbl>
              <a:tblPr/>
              <a:tblGrid>
                <a:gridCol w="2377440"/>
                <a:gridCol w="914400"/>
                <a:gridCol w="1097280"/>
                <a:gridCol w="1005840"/>
                <a:gridCol w="1920240"/>
              </a:tblGrid>
              <a:tr h="457200">
                <a:tc>
                  <a:txBody>
                    <a:bodyPr/>
                    <a:lstStyle/>
                    <a:p>
                      <a:pPr indent="0" marL="0">
                        <a:buNone/>
                      </a:pPr>
                      <a:r>
                        <a:rPr lang="en-US" sz="1200" b="1" dirty="0">
                          <a:solidFill>
                            <a:srgbClr val="FFFFFF"/>
                          </a:solidFill>
                        </a:rPr>
                        <a:t>ロボット × 方法</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倒れた</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起き上がり</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置き直し</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再生できたコマ（240 秒で）</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57200">
                <a:tc>
                  <a:txBody>
                    <a:bodyPr/>
                    <a:lstStyle/>
                    <a:p>
                      <a:pPr indent="0" marL="0">
                        <a:buNone/>
                      </a:pPr>
                      <a:r>
                        <a:rPr lang="en-US" sz="1200" dirty="0">
                          <a:solidFill>
                            <a:srgbClr val="14213D"/>
                          </a:solidFill>
                        </a:rPr>
                        <a:t>KHR × GMR + QP</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200" dirty="0">
                          <a:solidFill>
                            <a:srgbClr val="14213D"/>
                          </a:solidFill>
                        </a:rPr>
                        <a:t>29 回</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200" dirty="0">
                          <a:solidFill>
                            <a:srgbClr val="14213D"/>
                          </a:solidFill>
                        </a:rPr>
                        <a:t>28 回</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200" dirty="0">
                          <a:solidFill>
                            <a:srgbClr val="14213D"/>
                          </a:solidFill>
                        </a:rPr>
                        <a:t>1 回</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200" dirty="0">
                          <a:solidFill>
                            <a:srgbClr val="14213D"/>
                          </a:solidFill>
                        </a:rPr>
                        <a:t>1261 / 1800</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indent="0" marL="0">
                        <a:buNone/>
                      </a:pPr>
                      <a:r>
                        <a:rPr lang="en-US" sz="1200" dirty="0">
                          <a:solidFill>
                            <a:srgbClr val="14213D"/>
                          </a:solidFill>
                        </a:rPr>
                        <a:t>KHR × QP + バランス</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37 回</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37 回</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0</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1661 / 1800</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4213D"/>
                          </a:solidFill>
                        </a:rPr>
                        <a:t>KHR × GMR + MPC</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200" dirty="0">
                          <a:solidFill>
                            <a:srgbClr val="14213D"/>
                          </a:solidFill>
                        </a:rPr>
                        <a:t>39 回</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200" b="1" dirty="0">
                          <a:solidFill>
                            <a:srgbClr val="E4572E"/>
                          </a:solidFill>
                        </a:rPr>
                        <a:t>38 回</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c>
                  <a:txBody>
                    <a:bodyPr/>
                    <a:lstStyle/>
                    <a:p>
                      <a:pPr indent="0" marL="0">
                        <a:buNone/>
                      </a:pPr>
                      <a:r>
                        <a:rPr lang="en-US" sz="1200" dirty="0">
                          <a:solidFill>
                            <a:srgbClr val="14213D"/>
                          </a:solidFill>
                        </a:rPr>
                        <a:t>0</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200" b="1" dirty="0">
                          <a:solidFill>
                            <a:srgbClr val="E4572E"/>
                          </a:solidFill>
                        </a:rPr>
                        <a:t>1726 / 1800</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r>
              <a:tr h="457200">
                <a:tc>
                  <a:txBody>
                    <a:bodyPr/>
                    <a:lstStyle/>
                    <a:p>
                      <a:pPr indent="0" marL="0">
                        <a:buNone/>
                      </a:pPr>
                      <a:r>
                        <a:rPr lang="en-US" sz="1200" dirty="0">
                          <a:solidFill>
                            <a:srgbClr val="14213D"/>
                          </a:solidFill>
                        </a:rPr>
                        <a:t>KXR × GMR + QP</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32 回</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18 回</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13 回</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1297 / 1800</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4213D"/>
                          </a:solidFill>
                        </a:rPr>
                        <a:t>KXR × QP + バランス</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200" dirty="0">
                          <a:solidFill>
                            <a:srgbClr val="14213D"/>
                          </a:solidFill>
                        </a:rPr>
                        <a:t>26 回</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200" dirty="0">
                          <a:solidFill>
                            <a:srgbClr val="14213D"/>
                          </a:solidFill>
                        </a:rPr>
                        <a:t>4 回</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200" dirty="0">
                          <a:solidFill>
                            <a:srgbClr val="14213D"/>
                          </a:solidFill>
                        </a:rPr>
                        <a:t>21 回</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200" dirty="0">
                          <a:solidFill>
                            <a:srgbClr val="14213D"/>
                          </a:solidFill>
                        </a:rPr>
                        <a:t>1507 / 1800</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indent="0" marL="0">
                        <a:buNone/>
                      </a:pPr>
                      <a:r>
                        <a:rPr lang="en-US" sz="1200" dirty="0">
                          <a:solidFill>
                            <a:srgbClr val="14213D"/>
                          </a:solidFill>
                        </a:rPr>
                        <a:t>KXR × GMR + MPC</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30 回</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11 回</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18 回</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1222 / 1800</a:t>
                      </a:r>
                      <a:endParaRPr lang="en-US" sz="12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5" name="bullets-53"/>
          <p:cNvSpPr txBox="1"/>
          <p:nvPr/>
        </p:nvSpPr>
        <p:spPr>
          <a:xfrm>
            <a:off x="8092440" y="1188720"/>
            <a:ext cx="3566160" cy="51206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1"/>
                </a:solidFill>
              </a:rPr>
              <a:t>KHR はほぼ毎回、起き上がりの動作で立てる</a:t>
            </a:r>
            <a:endParaRPr lang="en-US" sz="1250" dirty="0"/>
          </a:p>
          <a:p>
            <a:pPr marL="342900" indent="-342900">
              <a:spcAft>
                <a:spcPts val="500"/>
              </a:spcAft>
              <a:buSzPct val="100000"/>
              <a:buChar char="•"/>
            </a:pPr>
            <a:r>
              <a:rPr lang="en-US" sz="1250" dirty="0">
                <a:solidFill>
                  <a:schemeClr val="tx1"/>
                </a:solidFill>
              </a:rPr>
              <a:t>KXR は起き上がりの動作のあと 25° 未満にならないことが多く、置き直しになる</a:t>
            </a:r>
            <a:endParaRPr lang="en-US" sz="1250" dirty="0"/>
          </a:p>
          <a:p>
            <a:pPr marL="342900" indent="-342900">
              <a:spcAft>
                <a:spcPts val="500"/>
              </a:spcAft>
              <a:buSzPct val="100000"/>
              <a:buChar char="•"/>
            </a:pPr>
            <a:r>
              <a:rPr lang="en-US" sz="1250" dirty="0">
                <a:solidFill>
                  <a:schemeClr val="tx1"/>
                </a:solidFill>
              </a:rPr>
              <a:t>続きを再生するとまたすぐ倒れる（同じコマから同じ速い動き）。起き上がりは「倒れたまま進む」のをなくすが、倒れにくくはしない</a:t>
            </a:r>
            <a:endParaRPr lang="en-US" sz="125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アプリの画面 — 物理で比べる</a:t>
            </a:r>
            <a:endParaRPr lang="en-US" sz="2800" dirty="0"/>
          </a:p>
        </p:txBody>
      </p:sp>
      <p:pic>
        <p:nvPicPr>
          <p:cNvPr id="4" name="shot-desk_balance_walk-54" descr="/Users/inaba/kxreus/eusview/docs/eusview_media/shots/desk_balance_walk.png">    </p:cNvPr>
          <p:cNvPicPr>
            <a:picLocks noChangeAspect="1"/>
          </p:cNvPicPr>
          <p:nvPr/>
        </p:nvPicPr>
        <p:blipFill>
          <a:blip r:embed="rId1"/>
          <a:stretch>
            <a:fillRect/>
          </a:stretch>
        </p:blipFill>
        <p:spPr>
          <a:xfrm>
            <a:off x="548640" y="1188720"/>
            <a:ext cx="5440680" cy="3417427"/>
          </a:xfrm>
          <a:prstGeom prst="rect">
            <a:avLst/>
          </a:prstGeom>
        </p:spPr>
      </p:pic>
      <p:sp>
        <p:nvSpPr>
          <p:cNvPr id="5" name="text-55"/>
          <p:cNvSpPr txBox="1"/>
          <p:nvPr/>
        </p:nvSpPr>
        <p:spPr>
          <a:xfrm>
            <a:off x="548640" y="4651867"/>
            <a:ext cx="5440680" cy="338328"/>
          </a:xfrm>
          <a:prstGeom prst="rect">
            <a:avLst/>
          </a:prstGeom>
          <a:noFill/>
          <a:ln/>
        </p:spPr>
        <p:txBody>
          <a:bodyPr wrap="square" lIns="0" tIns="0" rIns="0" bIns="0" rtlCol="0" anchor="t"/>
          <a:lstStyle/>
          <a:p>
            <a:pPr algn="ctr" indent="0" marL="0">
              <a:buNone/>
            </a:pPr>
            <a:r>
              <a:rPr lang="en-US" sz="1050" dirty="0">
                <a:solidFill>
                  <a:schemeClr val="accent6"/>
                </a:solidFill>
              </a:rPr>
              <a:t>lafan1 walk1 × khr20h2, 物理 11.9 秒。GMR+QP は 6.8 秒で倒れて起き上がり中（左, 起きあがり(仰向け)）, QP+バランス（足首で安定化）は立って歩いている（20.0 秒で倒れる）</a:t>
            </a:r>
            <a:endParaRPr lang="en-US" sz="1050" dirty="0"/>
          </a:p>
        </p:txBody>
      </p:sp>
      <p:pic>
        <p:nvPicPr>
          <p:cNvPr id="6" name="shot-desk_recover-56" descr="/Users/inaba/kxreus/eusview/docs/eusview_media/shots/desk_recover.png">    </p:cNvPr>
          <p:cNvPicPr>
            <a:picLocks noChangeAspect="1"/>
          </p:cNvPicPr>
          <p:nvPr/>
        </p:nvPicPr>
        <p:blipFill>
          <a:blip r:embed="rId2"/>
          <a:stretch>
            <a:fillRect/>
          </a:stretch>
        </p:blipFill>
        <p:spPr>
          <a:xfrm>
            <a:off x="6217920" y="1188720"/>
            <a:ext cx="5440680" cy="3417427"/>
          </a:xfrm>
          <a:prstGeom prst="rect">
            <a:avLst/>
          </a:prstGeom>
        </p:spPr>
      </p:pic>
      <p:sp>
        <p:nvSpPr>
          <p:cNvPr id="7" name="text-57"/>
          <p:cNvSpPr txBox="1"/>
          <p:nvPr/>
        </p:nvSpPr>
        <p:spPr>
          <a:xfrm>
            <a:off x="6217920" y="4651867"/>
            <a:ext cx="5440680" cy="338328"/>
          </a:xfrm>
          <a:prstGeom prst="rect">
            <a:avLst/>
          </a:prstGeom>
          <a:noFill/>
          <a:ln/>
        </p:spPr>
        <p:txBody>
          <a:bodyPr wrap="square" lIns="0" tIns="0" rIns="0" bIns="0" rtlCol="0" anchor="t"/>
          <a:lstStyle/>
          <a:p>
            <a:pPr algn="ctr" indent="0" marL="0">
              <a:buNone/>
            </a:pPr>
            <a:r>
              <a:rPr lang="en-US" sz="1050" dirty="0">
                <a:solidFill>
                  <a:schemeClr val="accent6"/>
                </a:solidFill>
              </a:rPr>
              <a:t>物理 24.7 秒: 2 体とも倒れたあと起き上がりの動作で立ち、倒れたコマから walk1 を続けている（GMR+QP 倒れた 2 回・起き上がり 2 回, QP+バランス 1 回・1 回）</a:t>
            </a:r>
            <a:endParaRPr lang="en-US" sz="105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アプリの画面 — iPhone と Android</a:t>
            </a:r>
            <a:endParaRPr lang="en-US" sz="2800" dirty="0"/>
          </a:p>
        </p:txBody>
      </p:sp>
      <p:pic>
        <p:nvPicPr>
          <p:cNvPr id="4" name="shot-sim_balance_aiming-58" descr="/Users/inaba/kxreus/eusview/docs/eusview_media/shots/sim_balance_aiming.png">    </p:cNvPr>
          <p:cNvPicPr>
            <a:picLocks noChangeAspect="1"/>
          </p:cNvPicPr>
          <p:nvPr/>
        </p:nvPicPr>
        <p:blipFill>
          <a:blip r:embed="rId1"/>
          <a:stretch>
            <a:fillRect/>
          </a:stretch>
        </p:blipFill>
        <p:spPr>
          <a:xfrm>
            <a:off x="785212" y="1188720"/>
            <a:ext cx="2178616" cy="4736592"/>
          </a:xfrm>
          <a:prstGeom prst="rect">
            <a:avLst/>
          </a:prstGeom>
        </p:spPr>
      </p:pic>
      <p:sp>
        <p:nvSpPr>
          <p:cNvPr id="5" name="text-59"/>
          <p:cNvSpPr txBox="1"/>
          <p:nvPr/>
        </p:nvSpPr>
        <p:spPr>
          <a:xfrm>
            <a:off x="548640" y="5971032"/>
            <a:ext cx="2651760" cy="338328"/>
          </a:xfrm>
          <a:prstGeom prst="rect">
            <a:avLst/>
          </a:prstGeom>
          <a:noFill/>
          <a:ln/>
        </p:spPr>
        <p:txBody>
          <a:bodyPr wrap="square" lIns="0" tIns="0" rIns="0" bIns="0" rtlCol="0" anchor="t"/>
          <a:lstStyle/>
          <a:p>
            <a:pPr algn="ctr" indent="0" marL="0">
              <a:buNone/>
            </a:pPr>
            <a:r>
              <a:rPr lang="en-US" sz="1050" dirty="0">
                <a:solidFill>
                  <a:schemeClr val="accent6"/>
                </a:solidFill>
              </a:rPr>
              <a:t>iPhone: aiming1, 30.7 秒で 2 体とも立っている</a:t>
            </a:r>
            <a:endParaRPr lang="en-US" sz="1050" dirty="0"/>
          </a:p>
        </p:txBody>
      </p:sp>
      <p:pic>
        <p:nvPicPr>
          <p:cNvPr id="6" name="shot-sim_balance_walk-60" descr="/Users/inaba/kxreus/eusview/docs/eusview_media/shots/sim_balance_walk.png">    </p:cNvPr>
          <p:cNvPicPr>
            <a:picLocks noChangeAspect="1"/>
          </p:cNvPicPr>
          <p:nvPr/>
        </p:nvPicPr>
        <p:blipFill>
          <a:blip r:embed="rId2"/>
          <a:stretch>
            <a:fillRect/>
          </a:stretch>
        </p:blipFill>
        <p:spPr>
          <a:xfrm>
            <a:off x="3574132" y="1188720"/>
            <a:ext cx="2178616" cy="4736592"/>
          </a:xfrm>
          <a:prstGeom prst="rect">
            <a:avLst/>
          </a:prstGeom>
        </p:spPr>
      </p:pic>
      <p:sp>
        <p:nvSpPr>
          <p:cNvPr id="7" name="text-61"/>
          <p:cNvSpPr txBox="1"/>
          <p:nvPr/>
        </p:nvSpPr>
        <p:spPr>
          <a:xfrm>
            <a:off x="3337560" y="5971032"/>
            <a:ext cx="2651760" cy="338328"/>
          </a:xfrm>
          <a:prstGeom prst="rect">
            <a:avLst/>
          </a:prstGeom>
          <a:noFill/>
          <a:ln/>
        </p:spPr>
        <p:txBody>
          <a:bodyPr wrap="square" lIns="0" tIns="0" rIns="0" bIns="0" rtlCol="0" anchor="t"/>
          <a:lstStyle/>
          <a:p>
            <a:pPr algn="ctr" indent="0" marL="0">
              <a:buNone/>
            </a:pPr>
            <a:r>
              <a:rPr lang="en-US" sz="1050" dirty="0">
                <a:solidFill>
                  <a:schemeClr val="accent6"/>
                </a:solidFill>
              </a:rPr>
              <a:t>iPhone: walk1, GMR+QP は 6.8 秒で倒れて起き上がり中</a:t>
            </a:r>
            <a:endParaRPr lang="en-US" sz="1050" dirty="0"/>
          </a:p>
        </p:txBody>
      </p:sp>
      <p:pic>
        <p:nvPicPr>
          <p:cNvPr id="8" name="shot-sim_recover-62" descr="/Users/inaba/kxreus/eusview/docs/eusview_media/shots/sim_recover.png">    </p:cNvPr>
          <p:cNvPicPr>
            <a:picLocks noChangeAspect="1"/>
          </p:cNvPicPr>
          <p:nvPr/>
        </p:nvPicPr>
        <p:blipFill>
          <a:blip r:embed="rId3"/>
          <a:stretch>
            <a:fillRect/>
          </a:stretch>
        </p:blipFill>
        <p:spPr>
          <a:xfrm>
            <a:off x="6363052" y="1188720"/>
            <a:ext cx="2178616" cy="4736592"/>
          </a:xfrm>
          <a:prstGeom prst="rect">
            <a:avLst/>
          </a:prstGeom>
        </p:spPr>
      </p:pic>
      <p:sp>
        <p:nvSpPr>
          <p:cNvPr id="9" name="text-63"/>
          <p:cNvSpPr txBox="1"/>
          <p:nvPr/>
        </p:nvSpPr>
        <p:spPr>
          <a:xfrm>
            <a:off x="6126480" y="5971032"/>
            <a:ext cx="2651760" cy="338328"/>
          </a:xfrm>
          <a:prstGeom prst="rect">
            <a:avLst/>
          </a:prstGeom>
          <a:noFill/>
          <a:ln/>
        </p:spPr>
        <p:txBody>
          <a:bodyPr wrap="square" lIns="0" tIns="0" rIns="0" bIns="0" rtlCol="0" anchor="t"/>
          <a:lstStyle/>
          <a:p>
            <a:pPr algn="ctr" indent="0" marL="0">
              <a:buNone/>
            </a:pPr>
            <a:r>
              <a:rPr lang="en-US" sz="1050" dirty="0">
                <a:solidFill>
                  <a:schemeClr val="accent6"/>
                </a:solidFill>
              </a:rPr>
              <a:t>iPhone: 47 秒, 4 回倒れて 4 回起き上がり続きを再生</a:t>
            </a:r>
            <a:endParaRPr lang="en-US" sz="1050" dirty="0"/>
          </a:p>
        </p:txBody>
      </p:sp>
      <p:pic>
        <p:nvPicPr>
          <p:cNvPr id="10" name="shot-and_balance-64" descr="/Users/inaba/kxreus/eusview/docs/eusview_media/shots/and_balance.png">    </p:cNvPr>
          <p:cNvPicPr>
            <a:picLocks noChangeAspect="1"/>
          </p:cNvPicPr>
          <p:nvPr/>
        </p:nvPicPr>
        <p:blipFill>
          <a:blip r:embed="rId4"/>
          <a:stretch>
            <a:fillRect/>
          </a:stretch>
        </p:blipFill>
        <p:spPr>
          <a:xfrm>
            <a:off x="9266987" y="1188720"/>
            <a:ext cx="2131466" cy="4736592"/>
          </a:xfrm>
          <a:prstGeom prst="rect">
            <a:avLst/>
          </a:prstGeom>
        </p:spPr>
      </p:pic>
      <p:sp>
        <p:nvSpPr>
          <p:cNvPr id="11" name="text-65"/>
          <p:cNvSpPr txBox="1"/>
          <p:nvPr/>
        </p:nvSpPr>
        <p:spPr>
          <a:xfrm>
            <a:off x="9006840" y="5971032"/>
            <a:ext cx="2651760" cy="338328"/>
          </a:xfrm>
          <a:prstGeom prst="rect">
            <a:avLst/>
          </a:prstGeom>
          <a:noFill/>
          <a:ln/>
        </p:spPr>
        <p:txBody>
          <a:bodyPr wrap="square" lIns="0" tIns="0" rIns="0" bIns="0" rtlCol="0" anchor="t"/>
          <a:lstStyle/>
          <a:p>
            <a:pPr algn="ctr" indent="0" marL="0">
              <a:buNone/>
            </a:pPr>
            <a:r>
              <a:rPr lang="en-US" sz="1050" dirty="0">
                <a:solidFill>
                  <a:schemeClr val="accent6"/>
                </a:solidFill>
              </a:rPr>
              <a:t>Pixel 7a: 22.1 秒, GMR+QP は 2 回倒れて 2 回起き上がり</a:t>
            </a:r>
            <a:endParaRPr lang="en-US" sz="105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アプリの画面 — GMR+MPC も物理で比べる</a:t>
            </a:r>
            <a:endParaRPr lang="en-US" sz="2800" dirty="0"/>
          </a:p>
        </p:txBody>
      </p:sp>
      <p:pic>
        <p:nvPicPr>
          <p:cNvPr id="4" name="shot-desk_mpc_walk-66" descr="/Users/inaba/kxreus/eusview/docs/eusview_media/shots/desk_mpc_walk.png">    </p:cNvPr>
          <p:cNvPicPr>
            <a:picLocks noChangeAspect="1"/>
          </p:cNvPicPr>
          <p:nvPr/>
        </p:nvPicPr>
        <p:blipFill>
          <a:blip r:embed="rId1"/>
          <a:stretch>
            <a:fillRect/>
          </a:stretch>
        </p:blipFill>
        <p:spPr>
          <a:xfrm>
            <a:off x="548640" y="1188720"/>
            <a:ext cx="5120640" cy="3219602"/>
          </a:xfrm>
          <a:prstGeom prst="rect">
            <a:avLst/>
          </a:prstGeom>
        </p:spPr>
      </p:pic>
      <p:sp>
        <p:nvSpPr>
          <p:cNvPr id="5" name="text-67"/>
          <p:cNvSpPr txBox="1"/>
          <p:nvPr/>
        </p:nvSpPr>
        <p:spPr>
          <a:xfrm>
            <a:off x="548640" y="4454042"/>
            <a:ext cx="5120640" cy="338328"/>
          </a:xfrm>
          <a:prstGeom prst="rect">
            <a:avLst/>
          </a:prstGeom>
          <a:noFill/>
          <a:ln/>
        </p:spPr>
        <p:txBody>
          <a:bodyPr wrap="square" lIns="0" tIns="0" rIns="0" bIns="0" rtlCol="0" anchor="t"/>
          <a:lstStyle/>
          <a:p>
            <a:pPr algn="ctr" indent="0" marL="0">
              <a:buNone/>
            </a:pPr>
            <a:r>
              <a:rPr lang="en-US" sz="1050" dirty="0">
                <a:solidFill>
                  <a:schemeClr val="accent6"/>
                </a:solidFill>
              </a:rPr>
              <a:t>デスクトップ: walk1 × khr20h2, 物理 19.8 秒。GMR+QP 6.8 秒・GMR+MPC 8.9 秒で倒れて起き上がり、QP+バランスは立っている</a:t>
            </a:r>
            <a:endParaRPr lang="en-US" sz="1050" dirty="0"/>
          </a:p>
        </p:txBody>
      </p:sp>
      <p:pic>
        <p:nvPicPr>
          <p:cNvPr id="6" name="shot-sim_mpc_walk-68" descr="/Users/inaba/kxreus/eusview/docs/eusview_media/shots/sim_mpc_walk.png">    </p:cNvPr>
          <p:cNvPicPr>
            <a:picLocks noChangeAspect="1"/>
          </p:cNvPicPr>
          <p:nvPr/>
        </p:nvPicPr>
        <p:blipFill>
          <a:blip r:embed="rId2"/>
          <a:stretch>
            <a:fillRect/>
          </a:stretch>
        </p:blipFill>
        <p:spPr>
          <a:xfrm>
            <a:off x="6088732" y="1188720"/>
            <a:ext cx="2178616" cy="4736592"/>
          </a:xfrm>
          <a:prstGeom prst="rect">
            <a:avLst/>
          </a:prstGeom>
        </p:spPr>
      </p:pic>
      <p:sp>
        <p:nvSpPr>
          <p:cNvPr id="7" name="text-69"/>
          <p:cNvSpPr txBox="1"/>
          <p:nvPr/>
        </p:nvSpPr>
        <p:spPr>
          <a:xfrm>
            <a:off x="5852160" y="5971032"/>
            <a:ext cx="2651760" cy="338328"/>
          </a:xfrm>
          <a:prstGeom prst="rect">
            <a:avLst/>
          </a:prstGeom>
          <a:noFill/>
          <a:ln/>
        </p:spPr>
        <p:txBody>
          <a:bodyPr wrap="square" lIns="0" tIns="0" rIns="0" bIns="0" rtlCol="0" anchor="t"/>
          <a:lstStyle/>
          <a:p>
            <a:pPr algn="ctr" indent="0" marL="0">
              <a:buNone/>
            </a:pPr>
            <a:r>
              <a:rPr lang="en-US" sz="1050" dirty="0">
                <a:solidFill>
                  <a:schemeClr val="accent6"/>
                </a:solidFill>
              </a:rPr>
              <a:t>iPhone: 13.7 秒, GMR+QP は起き上がり中</a:t>
            </a:r>
            <a:endParaRPr lang="en-US" sz="1050" dirty="0"/>
          </a:p>
        </p:txBody>
      </p:sp>
      <p:pic>
        <p:nvPicPr>
          <p:cNvPr id="8" name="shot-and_mpc_walk-70" descr="/Users/inaba/kxreus/eusview/docs/eusview_media/shots/and_mpc_walk.png">    </p:cNvPr>
          <p:cNvPicPr>
            <a:picLocks noChangeAspect="1"/>
          </p:cNvPicPr>
          <p:nvPr/>
        </p:nvPicPr>
        <p:blipFill>
          <a:blip r:embed="rId3"/>
          <a:stretch>
            <a:fillRect/>
          </a:stretch>
        </p:blipFill>
        <p:spPr>
          <a:xfrm>
            <a:off x="9266987" y="1188720"/>
            <a:ext cx="2131466" cy="4736592"/>
          </a:xfrm>
          <a:prstGeom prst="rect">
            <a:avLst/>
          </a:prstGeom>
        </p:spPr>
      </p:pic>
      <p:sp>
        <p:nvSpPr>
          <p:cNvPr id="9" name="text-71"/>
          <p:cNvSpPr txBox="1"/>
          <p:nvPr/>
        </p:nvSpPr>
        <p:spPr>
          <a:xfrm>
            <a:off x="9006840" y="5971032"/>
            <a:ext cx="2651760" cy="338328"/>
          </a:xfrm>
          <a:prstGeom prst="rect">
            <a:avLst/>
          </a:prstGeom>
          <a:noFill/>
          <a:ln/>
        </p:spPr>
        <p:txBody>
          <a:bodyPr wrap="square" lIns="0" tIns="0" rIns="0" bIns="0" rtlCol="0" anchor="t"/>
          <a:lstStyle/>
          <a:p>
            <a:pPr algn="ctr" indent="0" marL="0">
              <a:buNone/>
            </a:pPr>
            <a:r>
              <a:rPr lang="en-US" sz="1050" dirty="0">
                <a:solidFill>
                  <a:schemeClr val="accent6"/>
                </a:solidFill>
              </a:rPr>
              <a:t>Pixel 7a: 24.4 秒, GMR+MPC 8.9 秒</a:t>
            </a:r>
            <a:endParaRPr lang="en-US" sz="1050" dirty="0"/>
          </a:p>
        </p:txBody>
      </p:sp>
      <p:graphicFrame>
        <p:nvGraphicFramePr>
          <p:cNvPr id="16" name="table-72"/>
          <p:cNvGraphicFramePr>
            <a:graphicFrameLocks noGrp="1"/>
          </p:cNvGraphicFramePr>
          <p:nvPr>
            <p:extLst>
              <p:ext uri="{D42A27DB-BD31-4B8C-83A1-F6EECF244321}">
                <p14:modId xmlns:p14="http://schemas.microsoft.com/office/powerpoint/2010/main" val="1579011935"/>
              </p:ext>
            </p:extLst>
          </p:nvPr>
        </p:nvGraphicFramePr>
        <p:xfrm>
          <a:off x="548640" y="4846320"/>
          <a:ext cx="5120640" cy="914400"/>
        </p:xfrm>
        <a:graphic>
          <a:graphicData uri="http://schemas.openxmlformats.org/drawingml/2006/table">
            <a:tbl>
              <a:tblPr/>
              <a:tblGrid>
                <a:gridCol w="2103120"/>
                <a:gridCol w="914400"/>
                <a:gridCol w="1051560"/>
                <a:gridCol w="1051560"/>
              </a:tblGrid>
              <a:tr h="301752">
                <a:tc>
                  <a:txBody>
                    <a:bodyPr/>
                    <a:lstStyle/>
                    <a:p>
                      <a:pPr indent="0" marL="0">
                        <a:buNone/>
                      </a:pPr>
                      <a:r>
                        <a:rPr lang="en-US" sz="1050" b="1" dirty="0">
                          <a:solidFill>
                            <a:srgbClr val="FFFFFF"/>
                          </a:solidFill>
                        </a:rPr>
                        <a:t>walk1 × KHR</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rPr>
                        <a:t>GMR+QP</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rPr>
                        <a:t>QP+バランス</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rPr>
                        <a:t>GMR+MPC</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01752">
                <a:tc>
                  <a:txBody>
                    <a:bodyPr/>
                    <a:lstStyle/>
                    <a:p>
                      <a:pPr indent="0" marL="0">
                        <a:buNone/>
                      </a:pPr>
                      <a:r>
                        <a:rPr lang="en-US" sz="1050" dirty="0">
                          <a:solidFill>
                            <a:srgbClr val="14213D"/>
                          </a:solidFill>
                        </a:rPr>
                        <a:t>iPhone（Swift）・qptest</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6.8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19.7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15.0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01752">
                <a:tc>
                  <a:txBody>
                    <a:bodyPr/>
                    <a:lstStyle/>
                    <a:p>
                      <a:pPr indent="0" marL="0">
                        <a:buNone/>
                      </a:pPr>
                      <a:r>
                        <a:rPr lang="en-US" sz="1050" dirty="0">
                          <a:solidFill>
                            <a:srgbClr val="14213D"/>
                          </a:solidFill>
                        </a:rPr>
                        <a:t>Android・デスクトップ</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rPr>
                        <a:t>6.8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rPr>
                        <a:t>20.0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b="1" dirty="0">
                          <a:solidFill>
                            <a:srgbClr val="E4572E"/>
                          </a:solidFill>
                        </a:rPr>
                        <a:t>8.9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r>
            </a:tbl>
          </a:graphicData>
        </a:graphic>
      </p:graphicFrame>
      <p:sp>
        <p:nvSpPr>
          <p:cNvPr id="11" name="text-73"/>
          <p:cNvSpPr txBox="1"/>
          <p:nvPr/>
        </p:nvSpPr>
        <p:spPr>
          <a:xfrm>
            <a:off x="548640" y="5852160"/>
            <a:ext cx="5120640" cy="502920"/>
          </a:xfrm>
          <a:prstGeom prst="rect">
            <a:avLst/>
          </a:prstGeom>
          <a:noFill/>
          <a:ln/>
        </p:spPr>
        <p:txBody>
          <a:bodyPr wrap="square" lIns="0" tIns="0" rIns="0" bIns="0" rtlCol="0" anchor="t"/>
          <a:lstStyle/>
          <a:p>
            <a:pPr indent="0" marL="0">
              <a:buNone/>
            </a:pPr>
            <a:r>
              <a:rPr lang="en-US" sz="950" dirty="0">
                <a:solidFill>
                  <a:schemeClr val="accent6"/>
                </a:solidFill>
              </a:rPr>
              <a:t>Kotlin と Swift の MPC の目標は 150 コマまで 0.0003° 以内で一致し、209 コマで 0.1°, 260 コマで 10° と離れる（物理の小さな差が広がる）。aiming1 は両方 20.5 秒。</a:t>
            </a:r>
            <a:endParaRPr lang="en-US" sz="95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2377440" y="2514600"/>
            <a:ext cx="9144000" cy="914400"/>
          </a:xfrm>
          <a:prstGeom prst="rect">
            <a:avLst/>
          </a:prstGeom>
          <a:noFill/>
          <a:ln/>
        </p:spPr>
        <p:txBody>
          <a:bodyPr wrap="square" lIns="0" tIns="0" rIns="0" bIns="0" rtlCol="0" anchor="b"/>
          <a:lstStyle/>
          <a:p>
            <a:pPr algn="l" indent="0" marL="0">
              <a:buNone/>
            </a:pPr>
            <a:r>
              <a:rPr lang="en-US" sz="3600" b="1" dirty="0">
                <a:solidFill>
                  <a:schemeClr val="bg1"/>
                </a:solidFill>
              </a:rPr>
              <a:t>3. 全体の何割で倒れるか</a:t>
            </a:r>
            <a:endParaRPr lang="en-US" sz="3600" dirty="0"/>
          </a:p>
        </p:txBody>
      </p:sp>
      <p:sp>
        <p:nvSpPr>
          <p:cNvPr id="3" name="Text 0"/>
          <p:cNvSpPr/>
          <p:nvPr>
            <p:ph idx="101" type="body" hasCustomPrompt="1"/>
          </p:nvPr>
        </p:nvSpPr>
        <p:spPr>
          <a:xfrm>
            <a:off x="2377440" y="3566160"/>
            <a:ext cx="9144000" cy="1097280"/>
          </a:xfrm>
          <a:prstGeom prst="rect">
            <a:avLst/>
          </a:prstGeom>
          <a:noFill/>
          <a:ln/>
        </p:spPr>
        <p:txBody>
          <a:bodyPr wrap="square" lIns="0" tIns="0" rIns="0" bIns="0" rtlCol="0" anchor="t"/>
          <a:lstStyle/>
          <a:p>
            <a:pPr algn="l" indent="0" marL="0">
              <a:buNone/>
            </a:pPr>
            <a:r>
              <a:rPr lang="en-US" sz="1600" dirty="0">
                <a:solidFill>
                  <a:srgbClr val="CADCFC"/>
                </a:solidFill>
              </a:rPr>
              <a:t>lafan1 の 77 本（1 本 1.7〜5 分）を最後まで再生し、初めて倒れた時刻 ÷ 動作の長さ。KHR（khr20h2）と KXR（kxrl2l6a6h2）</a:t>
            </a:r>
            <a:endParaRPr lang="en-US" sz="1600" dirty="0"/>
          </a:p>
        </p:txBody>
      </p:sp>
      <p:sp>
        <p:nvSpPr>
          <p:cNvPr id="4" name="tile-74"/>
          <p:cNvSpPr txBox="1"/>
          <p:nvPr/>
        </p:nvSpPr>
        <p:spPr>
          <a:xfrm>
            <a:off x="822960" y="2514600"/>
            <a:ext cx="1097280" cy="1097280"/>
          </a:xfrm>
          <a:prstGeom prst="roundRect">
            <a:avLst>
              <a:gd name="adj" fmla="val 5000"/>
            </a:avLst>
          </a:prstGeom>
          <a:solidFill>
            <a:schemeClr val="accent5"/>
          </a:solidFill>
          <a:ln/>
        </p:spPr>
        <p:txBody>
          <a:bodyPr wrap="square" lIns="0" tIns="0" rIns="0" bIns="0" rtlCol="0" anchor="ctr"/>
          <a:lstStyle/>
          <a:p>
            <a:pPr algn="ctr" indent="0" marL="0">
              <a:buNone/>
            </a:pPr>
            <a:r>
              <a:rPr lang="en-US" sz="2800" b="1" dirty="0">
                <a:solidFill>
                  <a:schemeClr val="bg1"/>
                </a:solidFill>
              </a:rPr>
              <a:t>3</a:t>
            </a:r>
            <a:endParaRPr lang="en-US" sz="2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90B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倒れるまでの割合 — 4 つの方法</a:t>
            </a:r>
            <a:endParaRPr lang="en-US" sz="2800" dirty="0"/>
          </a:p>
        </p:txBody>
      </p:sp>
      <p:graphicFrame>
        <p:nvGraphicFramePr>
          <p:cNvPr id="18" name="table-75"/>
          <p:cNvGraphicFramePr>
            <a:graphicFrameLocks noGrp="1"/>
          </p:cNvGraphicFramePr>
          <p:nvPr>
            <p:extLst>
              <p:ext uri="{D42A27DB-BD31-4B8C-83A1-F6EECF244321}">
                <p14:modId xmlns:p14="http://schemas.microsoft.com/office/powerpoint/2010/main" val="1579011935"/>
              </p:ext>
            </p:extLst>
          </p:nvPr>
        </p:nvGraphicFramePr>
        <p:xfrm>
          <a:off x="548640" y="1188720"/>
          <a:ext cx="6949440" cy="914400"/>
        </p:xfrm>
        <a:graphic>
          <a:graphicData uri="http://schemas.openxmlformats.org/drawingml/2006/table">
            <a:tbl>
              <a:tblPr/>
              <a:tblGrid>
                <a:gridCol w="2011680"/>
                <a:gridCol w="1143000"/>
                <a:gridCol w="914400"/>
                <a:gridCol w="777240"/>
                <a:gridCol w="731520"/>
                <a:gridCol w="731520"/>
                <a:gridCol w="640080"/>
              </a:tblGrid>
              <a:tr h="356616">
                <a:tc>
                  <a:txBody>
                    <a:bodyPr/>
                    <a:lstStyle/>
                    <a:p>
                      <a:pPr indent="0" marL="0">
                        <a:buNone/>
                      </a:pPr>
                      <a:r>
                        <a:rPr lang="en-US" sz="1050" b="1" dirty="0">
                          <a:solidFill>
                            <a:srgbClr val="FFFFFF"/>
                          </a:solidFill>
                        </a:rPr>
                        <a:t>ロボット × 方法</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rPr>
                        <a:t>倒れるまで（中央値）</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rPr>
                        <a:t>割合（中央値）</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rPr>
                        <a:t>割合（最大）</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rPr>
                        <a:t>10% より後</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rPr>
                        <a:t>25% より後</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rPr>
                        <a:t>最後まで</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56616">
                <a:tc>
                  <a:txBody>
                    <a:bodyPr/>
                    <a:lstStyle/>
                    <a:p>
                      <a:pPr indent="0" marL="0">
                        <a:buNone/>
                      </a:pPr>
                      <a:r>
                        <a:rPr lang="en-US" sz="1050" dirty="0">
                          <a:solidFill>
                            <a:srgbClr val="14213D"/>
                          </a:solidFill>
                        </a:rPr>
                        <a:t>KHR × GMR</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5.6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2.9%</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24.2%</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3 本</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0 本</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0 本</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56616">
                <a:tc>
                  <a:txBody>
                    <a:bodyPr/>
                    <a:lstStyle/>
                    <a:p>
                      <a:pPr indent="0" marL="0">
                        <a:buNone/>
                      </a:pPr>
                      <a:r>
                        <a:rPr lang="en-US" sz="1050" dirty="0">
                          <a:solidFill>
                            <a:srgbClr val="14213D"/>
                          </a:solidFill>
                        </a:rPr>
                        <a:t>KHR × GMR+QP</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rPr>
                        <a:t>8.4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rPr>
                        <a:t>4.3%</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rPr>
                        <a:t>33.5%</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rPr>
                        <a:t>13 本</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rPr>
                        <a:t>1 本</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rPr>
                        <a:t>0 本</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56616">
                <a:tc>
                  <a:txBody>
                    <a:bodyPr/>
                    <a:lstStyle/>
                    <a:p>
                      <a:pPr indent="0" marL="0">
                        <a:buNone/>
                      </a:pPr>
                      <a:r>
                        <a:rPr lang="en-US" sz="1050" dirty="0">
                          <a:solidFill>
                            <a:srgbClr val="14213D"/>
                          </a:solidFill>
                        </a:rPr>
                        <a:t>KHR × QP+バランス</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9.4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4.7%</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98.0%</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17 本</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4 本</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0 本</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56616">
                <a:tc>
                  <a:txBody>
                    <a:bodyPr/>
                    <a:lstStyle/>
                    <a:p>
                      <a:pPr indent="0" marL="0">
                        <a:buNone/>
                      </a:pPr>
                      <a:r>
                        <a:rPr lang="en-US" sz="1050" b="1" dirty="0">
                          <a:solidFill>
                            <a:srgbClr val="E4572E"/>
                          </a:solidFill>
                        </a:rPr>
                        <a:t>KHR × GMR+MPC</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c>
                  <a:txBody>
                    <a:bodyPr/>
                    <a:lstStyle/>
                    <a:p>
                      <a:pPr indent="0" marL="0">
                        <a:buNone/>
                      </a:pPr>
                      <a:r>
                        <a:rPr lang="en-US" sz="1050" b="1" dirty="0">
                          <a:solidFill>
                            <a:srgbClr val="E4572E"/>
                          </a:solidFill>
                        </a:rPr>
                        <a:t>7.9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c>
                  <a:txBody>
                    <a:bodyPr/>
                    <a:lstStyle/>
                    <a:p>
                      <a:pPr indent="0" marL="0">
                        <a:buNone/>
                      </a:pPr>
                      <a:r>
                        <a:rPr lang="en-US" sz="1050" b="1" dirty="0">
                          <a:solidFill>
                            <a:srgbClr val="E4572E"/>
                          </a:solidFill>
                        </a:rPr>
                        <a:t>4.5%</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c>
                  <a:txBody>
                    <a:bodyPr/>
                    <a:lstStyle/>
                    <a:p>
                      <a:pPr indent="0" marL="0">
                        <a:buNone/>
                      </a:pPr>
                      <a:r>
                        <a:rPr lang="en-US" sz="1050" b="1" dirty="0">
                          <a:solidFill>
                            <a:srgbClr val="E4572E"/>
                          </a:solidFill>
                        </a:rPr>
                        <a:t>32.7%</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c>
                  <a:txBody>
                    <a:bodyPr/>
                    <a:lstStyle/>
                    <a:p>
                      <a:pPr indent="0" marL="0">
                        <a:buNone/>
                      </a:pPr>
                      <a:r>
                        <a:rPr lang="en-US" sz="1050" b="1" dirty="0">
                          <a:solidFill>
                            <a:srgbClr val="E4572E"/>
                          </a:solidFill>
                        </a:rPr>
                        <a:t>11 本</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c>
                  <a:txBody>
                    <a:bodyPr/>
                    <a:lstStyle/>
                    <a:p>
                      <a:pPr indent="0" marL="0">
                        <a:buNone/>
                      </a:pPr>
                      <a:r>
                        <a:rPr lang="en-US" sz="1050" b="1" dirty="0">
                          <a:solidFill>
                            <a:srgbClr val="E4572E"/>
                          </a:solidFill>
                        </a:rPr>
                        <a:t>1 本</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c>
                  <a:txBody>
                    <a:bodyPr/>
                    <a:lstStyle/>
                    <a:p>
                      <a:pPr indent="0" marL="0">
                        <a:buNone/>
                      </a:pPr>
                      <a:r>
                        <a:rPr lang="en-US" sz="1050" b="1" dirty="0">
                          <a:solidFill>
                            <a:srgbClr val="E4572E"/>
                          </a:solidFill>
                        </a:rPr>
                        <a:t>0 本</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r>
              <a:tr h="356616">
                <a:tc>
                  <a:txBody>
                    <a:bodyPr/>
                    <a:lstStyle/>
                    <a:p>
                      <a:pPr indent="0" marL="0">
                        <a:buNone/>
                      </a:pPr>
                      <a:r>
                        <a:rPr lang="en-US" sz="1050" dirty="0">
                          <a:solidFill>
                            <a:srgbClr val="14213D"/>
                          </a:solidFill>
                        </a:rPr>
                        <a:t>KXR × GMR</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5.7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2.8%</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23.8%</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3 本</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0 本</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0 本</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56616">
                <a:tc>
                  <a:txBody>
                    <a:bodyPr/>
                    <a:lstStyle/>
                    <a:p>
                      <a:pPr indent="0" marL="0">
                        <a:buNone/>
                      </a:pPr>
                      <a:r>
                        <a:rPr lang="en-US" sz="1050" dirty="0">
                          <a:solidFill>
                            <a:srgbClr val="14213D"/>
                          </a:solidFill>
                        </a:rPr>
                        <a:t>KXR × GMR+QP</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rPr>
                        <a:t>10.0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rPr>
                        <a:t>5.4%</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rPr>
                        <a:t>98.0%</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rPr>
                        <a:t>15 本</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rPr>
                        <a:t>5 本</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rPr>
                        <a:t>0 本</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56616">
                <a:tc>
                  <a:txBody>
                    <a:bodyPr/>
                    <a:lstStyle/>
                    <a:p>
                      <a:pPr indent="0" marL="0">
                        <a:buNone/>
                      </a:pPr>
                      <a:r>
                        <a:rPr lang="en-US" sz="1050" dirty="0">
                          <a:solidFill>
                            <a:srgbClr val="14213D"/>
                          </a:solidFill>
                        </a:rPr>
                        <a:t>KXR × QP+バランス</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8.3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4.3%</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98.4%</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13 本</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3 本</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50" dirty="0">
                          <a:solidFill>
                            <a:srgbClr val="14213D"/>
                          </a:solidFill>
                        </a:rPr>
                        <a:t>0 本</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56616">
                <a:tc>
                  <a:txBody>
                    <a:bodyPr/>
                    <a:lstStyle/>
                    <a:p>
                      <a:pPr indent="0" marL="0">
                        <a:buNone/>
                      </a:pPr>
                      <a:r>
                        <a:rPr lang="en-US" sz="1050" b="1" dirty="0">
                          <a:solidFill>
                            <a:srgbClr val="E4572E"/>
                          </a:solidFill>
                        </a:rPr>
                        <a:t>KXR × GMR+MPC</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c>
                  <a:txBody>
                    <a:bodyPr/>
                    <a:lstStyle/>
                    <a:p>
                      <a:pPr indent="0" marL="0">
                        <a:buNone/>
                      </a:pPr>
                      <a:r>
                        <a:rPr lang="en-US" sz="1050" b="1" dirty="0">
                          <a:solidFill>
                            <a:srgbClr val="E4572E"/>
                          </a:solidFill>
                        </a:rPr>
                        <a:t>9.4 秒</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c>
                  <a:txBody>
                    <a:bodyPr/>
                    <a:lstStyle/>
                    <a:p>
                      <a:pPr indent="0" marL="0">
                        <a:buNone/>
                      </a:pPr>
                      <a:r>
                        <a:rPr lang="en-US" sz="1050" b="1" dirty="0">
                          <a:solidFill>
                            <a:srgbClr val="E4572E"/>
                          </a:solidFill>
                        </a:rPr>
                        <a:t>4.4%</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c>
                  <a:txBody>
                    <a:bodyPr/>
                    <a:lstStyle/>
                    <a:p>
                      <a:pPr indent="0" marL="0">
                        <a:buNone/>
                      </a:pPr>
                      <a:r>
                        <a:rPr lang="en-US" sz="1050" b="1" dirty="0">
                          <a:solidFill>
                            <a:srgbClr val="E4572E"/>
                          </a:solidFill>
                        </a:rPr>
                        <a:t>33.8%</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c>
                  <a:txBody>
                    <a:bodyPr/>
                    <a:lstStyle/>
                    <a:p>
                      <a:pPr indent="0" marL="0">
                        <a:buNone/>
                      </a:pPr>
                      <a:r>
                        <a:rPr lang="en-US" sz="1050" b="1" dirty="0">
                          <a:solidFill>
                            <a:srgbClr val="E4572E"/>
                          </a:solidFill>
                        </a:rPr>
                        <a:t>15 本</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c>
                  <a:txBody>
                    <a:bodyPr/>
                    <a:lstStyle/>
                    <a:p>
                      <a:pPr indent="0" marL="0">
                        <a:buNone/>
                      </a:pPr>
                      <a:r>
                        <a:rPr lang="en-US" sz="1050" b="1" dirty="0">
                          <a:solidFill>
                            <a:srgbClr val="E4572E"/>
                          </a:solidFill>
                        </a:rPr>
                        <a:t>4 本</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c>
                  <a:txBody>
                    <a:bodyPr/>
                    <a:lstStyle/>
                    <a:p>
                      <a:pPr indent="0" marL="0">
                        <a:buNone/>
                      </a:pPr>
                      <a:r>
                        <a:rPr lang="en-US" sz="1050" b="1" dirty="0">
                          <a:solidFill>
                            <a:srgbClr val="E4572E"/>
                          </a:solidFill>
                        </a:rPr>
                        <a:t>0 本</a:t>
                      </a:r>
                      <a:endParaRPr lang="en-US" sz="105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DECE7"/>
                    </a:solidFill>
                  </a:tcPr>
                </a:tc>
              </a:tr>
            </a:tbl>
          </a:graphicData>
        </a:graphic>
      </p:graphicFrame>
      <p:graphicFrame>
        <p:nvGraphicFramePr>
          <p:cNvPr id="5" name="chart-76" descr=""/>
          <p:cNvGraphicFramePr/>
          <p:nvPr/>
        </p:nvGraphicFramePr>
        <p:xfrm>
          <a:off x="7680960" y="1143000"/>
          <a:ext cx="4023360" cy="3566160"/>
        </p:xfrm>
        <a:graphic xmlns:a="http://schemas.openxmlformats.org/drawingml/2006/main">
          <a:graphicData uri="http://schemas.openxmlformats.org/drawingml/2006/chart">
            <c:chart xmlns:c="http://schemas.openxmlformats.org/drawingml/2006/chart" r:id="rId1"/>
          </a:graphicData>
        </a:graphic>
      </p:graphicFrame>
      <p:sp>
        <p:nvSpPr>
          <p:cNvPr id="6" name="bullets-77"/>
          <p:cNvSpPr txBox="1"/>
          <p:nvPr/>
        </p:nvSpPr>
        <p:spPr>
          <a:xfrm>
            <a:off x="548640" y="4754880"/>
            <a:ext cx="11155680" cy="15544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どの方法でも、最後まで倒れずに再生できた動作は 0 本。GMR+MPC は動作の中央値 4〜5%（7.9〜9.4 秒）で倒れる</a:t>
            </a:r>
            <a:endParaRPr lang="en-US" sz="1200" dirty="0"/>
          </a:p>
          <a:p>
            <a:pPr marL="342900" indent="-342900">
              <a:spcAft>
                <a:spcPts val="500"/>
              </a:spcAft>
              <a:buSzPct val="100000"/>
              <a:buChar char="•"/>
            </a:pPr>
            <a:r>
              <a:rPr lang="en-US" sz="1200" dirty="0">
                <a:solidFill>
                  <a:schemeClr val="tx1"/>
                </a:solidFill>
              </a:rPr>
              <a:t>GMR と比べると倒れるまでが 1.4〜1.7 倍に延びるが、1 本 2〜4 分の動作に対しては最初の 1 割で倒れるものがほとんど</a:t>
            </a:r>
            <a:endParaRPr lang="en-US" sz="1200" dirty="0"/>
          </a:p>
          <a:p>
            <a:pPr marL="342900" indent="-342900">
              <a:spcAft>
                <a:spcPts val="500"/>
              </a:spcAft>
              <a:buSzPct val="100000"/>
              <a:buChar char="•"/>
            </a:pPr>
            <a:r>
              <a:rPr lang="en-US" sz="1200" dirty="0">
                <a:solidFill>
                  <a:schemeClr val="tx1"/>
                </a:solidFill>
              </a:rPr>
              <a:t>割合の最大 98% は ground1（床で過ごす動作。参照が立っている間しか倒れを数えないので大きく出る）。GMR+MPC の最大は 33〜34%</a:t>
            </a:r>
            <a:endParaRPr lang="en-US" sz="1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動作の種類ごと — GMR+MPC が何割で倒れるか</a:t>
            </a:r>
            <a:endParaRPr lang="en-US" sz="2800" dirty="0"/>
          </a:p>
        </p:txBody>
      </p:sp>
      <p:graphicFrame>
        <p:nvGraphicFramePr>
          <p:cNvPr id="19" name="table-78"/>
          <p:cNvGraphicFramePr>
            <a:graphicFrameLocks noGrp="1"/>
          </p:cNvGraphicFramePr>
          <p:nvPr>
            <p:extLst>
              <p:ext uri="{D42A27DB-BD31-4B8C-83A1-F6EECF244321}">
                <p14:modId xmlns:p14="http://schemas.microsoft.com/office/powerpoint/2010/main" val="1579011935"/>
              </p:ext>
            </p:extLst>
          </p:nvPr>
        </p:nvGraphicFramePr>
        <p:xfrm>
          <a:off x="548640" y="1188720"/>
          <a:ext cx="7863840" cy="914400"/>
        </p:xfrm>
        <a:graphic>
          <a:graphicData uri="http://schemas.openxmlformats.org/drawingml/2006/table">
            <a:tbl>
              <a:tblPr/>
              <a:tblGrid>
                <a:gridCol w="1783080"/>
                <a:gridCol w="548640"/>
                <a:gridCol w="731520"/>
                <a:gridCol w="1051560"/>
                <a:gridCol w="868680"/>
                <a:gridCol w="1051560"/>
                <a:gridCol w="868680"/>
                <a:gridCol w="960120"/>
              </a:tblGrid>
              <a:tr h="301752">
                <a:tc>
                  <a:txBody>
                    <a:bodyPr/>
                    <a:lstStyle/>
                    <a:p>
                      <a:pPr indent="0" marL="0">
                        <a:buNone/>
                      </a:pPr>
                      <a:r>
                        <a:rPr lang="en-US" sz="1000" b="1" dirty="0">
                          <a:solidFill>
                            <a:srgbClr val="FFFFFF"/>
                          </a:solidFill>
                        </a:rPr>
                        <a:t>動作の種類</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rPr>
                        <a:t>本数</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rPr>
                        <a:t>長さ</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rPr>
                        <a:t>KHR 倒れるまで</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rPr>
                        <a:t>KHR 割合</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rPr>
                        <a:t>KXR 倒れるまで</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rPr>
                        <a:t>KXR 割合</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rPr>
                        <a:t>KHR GMR+QP</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01752">
                <a:tc>
                  <a:txBody>
                    <a:bodyPr/>
                    <a:lstStyle/>
                    <a:p>
                      <a:pPr indent="0" marL="0">
                        <a:buNone/>
                      </a:pPr>
                      <a:r>
                        <a:rPr lang="en-US" sz="1000" dirty="0">
                          <a:solidFill>
                            <a:srgbClr val="14213D"/>
                          </a:solidFill>
                        </a:rPr>
                        <a:t>dance</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8</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226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21.9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10.9%</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21.1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11.1%</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22.3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01752">
                <a:tc>
                  <a:txBody>
                    <a:bodyPr/>
                    <a:lstStyle/>
                    <a:p>
                      <a:pPr indent="0" marL="0">
                        <a:buNone/>
                      </a:pPr>
                      <a:r>
                        <a:rPr lang="en-US" sz="1000" dirty="0">
                          <a:solidFill>
                            <a:srgbClr val="14213D"/>
                          </a:solidFill>
                        </a:rPr>
                        <a:t>pushAndStumble</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3</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227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16.2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7.1%</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13.4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5.9%</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18.4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14213D"/>
                          </a:solidFill>
                        </a:rPr>
                        <a:t>multipleActions</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4</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153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9.9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6.5%</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7.5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4.9%</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9.9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01752">
                <a:tc>
                  <a:txBody>
                    <a:bodyPr/>
                    <a:lstStyle/>
                    <a:p>
                      <a:pPr indent="0" marL="0">
                        <a:buNone/>
                      </a:pPr>
                      <a:r>
                        <a:rPr lang="en-US" sz="1000" dirty="0">
                          <a:solidFill>
                            <a:srgbClr val="14213D"/>
                          </a:solidFill>
                        </a:rPr>
                        <a:t>push</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1</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102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5.3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5.2%</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34.5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33.8%</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21.3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14213D"/>
                          </a:solidFill>
                        </a:rPr>
                        <a:t>ground（手）</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5</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158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7.9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5.0%</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13.5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7.3%</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6.6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01752">
                <a:tc>
                  <a:txBody>
                    <a:bodyPr/>
                    <a:lstStyle/>
                    <a:p>
                      <a:pPr indent="0" marL="0">
                        <a:buNone/>
                      </a:pPr>
                      <a:r>
                        <a:rPr lang="en-US" sz="1000" dirty="0">
                          <a:solidFill>
                            <a:srgbClr val="14213D"/>
                          </a:solidFill>
                        </a:rPr>
                        <a:t>walk</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12</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247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11.4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4.8%</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11.1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4.6%</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10.4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14213D"/>
                          </a:solidFill>
                        </a:rPr>
                        <a:t>fallAndGetUp（手）</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6</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166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6.3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4.8%</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6.3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4.7%</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6.8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01752">
                <a:tc>
                  <a:txBody>
                    <a:bodyPr/>
                    <a:lstStyle/>
                    <a:p>
                      <a:pPr indent="0" marL="0">
                        <a:buNone/>
                      </a:pPr>
                      <a:r>
                        <a:rPr lang="en-US" sz="1000" dirty="0">
                          <a:solidFill>
                            <a:srgbClr val="14213D"/>
                          </a:solidFill>
                        </a:rPr>
                        <a:t>pushAndFall（手）</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2</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165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7.5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4.6%</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11.8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7.2%</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8.6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14213D"/>
                          </a:solidFill>
                        </a:rPr>
                        <a:t>jumps</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3</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244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10.9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4.4%</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9.2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3.8%</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7.7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01752">
                <a:tc>
                  <a:txBody>
                    <a:bodyPr/>
                    <a:lstStyle/>
                    <a:p>
                      <a:pPr indent="0" marL="0">
                        <a:buNone/>
                      </a:pPr>
                      <a:r>
                        <a:rPr lang="en-US" sz="1000" dirty="0">
                          <a:solidFill>
                            <a:srgbClr val="14213D"/>
                          </a:solidFill>
                        </a:rPr>
                        <a:t>obstacles</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17</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246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7.3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3.7%</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7.9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3.8%</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8.4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14213D"/>
                          </a:solidFill>
                        </a:rPr>
                        <a:t>aiming</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5</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306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11.2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3.7%</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11.0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3.6%</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11.9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01752">
                <a:tc>
                  <a:txBody>
                    <a:bodyPr/>
                    <a:lstStyle/>
                    <a:p>
                      <a:pPr indent="0" marL="0">
                        <a:buNone/>
                      </a:pPr>
                      <a:r>
                        <a:rPr lang="en-US" sz="1000" dirty="0">
                          <a:solidFill>
                            <a:srgbClr val="14213D"/>
                          </a:solidFill>
                        </a:rPr>
                        <a:t>run</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4</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241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6.9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2.9%</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8.1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3.4%</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6.8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14213D"/>
                          </a:solidFill>
                        </a:rPr>
                        <a:t>fightAndSports</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2</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245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5.9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2.4%</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8.5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3.5%</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10.0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01752">
                <a:tc>
                  <a:txBody>
                    <a:bodyPr/>
                    <a:lstStyle/>
                    <a:p>
                      <a:pPr indent="0" marL="0">
                        <a:buNone/>
                      </a:pPr>
                      <a:r>
                        <a:rPr lang="en-US" sz="1000" dirty="0">
                          <a:solidFill>
                            <a:srgbClr val="14213D"/>
                          </a:solidFill>
                        </a:rPr>
                        <a:t>sprint</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2</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273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6.3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2.3%</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11.0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4.0%</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rPr>
                        <a:t>5.4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14213D"/>
                          </a:solidFill>
                        </a:rPr>
                        <a:t>fight</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3</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245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4.8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2.0%</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5.8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2.4%</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indent="0" marL="0">
                        <a:buNone/>
                      </a:pPr>
                      <a:r>
                        <a:rPr lang="en-US" sz="1000" dirty="0">
                          <a:solidFill>
                            <a:srgbClr val="14213D"/>
                          </a:solidFill>
                        </a:rPr>
                        <a:t>4.6 秒</a:t>
                      </a:r>
                      <a:endParaRPr lang="en-US" sz="1000" dirty="0"/>
                    </a:p>
                  </a:txBody>
                  <a:tcPr marL="76200" marR="762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5" name="bullets-79"/>
          <p:cNvSpPr txBox="1"/>
          <p:nvPr/>
        </p:nvSpPr>
        <p:spPr>
          <a:xfrm>
            <a:off x="8641080" y="1188720"/>
            <a:ext cx="3017520" cy="512064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tx1"/>
                </a:solidFill>
              </a:rPr>
              <a:t>いちばん長く立つのは踊り（dance）: 約 22 秒・全体の 11%。上体の動きが中心で足の踏み替えが少ない</a:t>
            </a:r>
            <a:endParaRPr lang="en-US" sz="1150" dirty="0"/>
          </a:p>
          <a:p>
            <a:pPr marL="342900" indent="-342900">
              <a:spcAft>
                <a:spcPts val="500"/>
              </a:spcAft>
              <a:buSzPct val="100000"/>
              <a:buChar char="•"/>
            </a:pPr>
            <a:r>
              <a:rPr lang="en-US" sz="1150" dirty="0">
                <a:solidFill>
                  <a:schemeClr val="tx1"/>
                </a:solidFill>
              </a:rPr>
              <a:t>戦う・走る・全力で走る（fight, run, sprint）は 2〜4%（5〜11 秒）で倒れる</a:t>
            </a:r>
            <a:endParaRPr lang="en-US" sz="1150" dirty="0"/>
          </a:p>
          <a:p>
            <a:pPr marL="342900" indent="-342900">
              <a:spcAft>
                <a:spcPts val="500"/>
              </a:spcAft>
              <a:buSzPct val="100000"/>
              <a:buChar char="•"/>
            </a:pPr>
            <a:r>
              <a:rPr lang="en-US" sz="1150" dirty="0">
                <a:solidFill>
                  <a:schemeClr val="tx1"/>
                </a:solidFill>
              </a:rPr>
              <a:t>歩く（walk）は 11 秒前後・5% 弱。障害物を越える（obstacles, 17 本）も 4% 前後</a:t>
            </a:r>
            <a:endParaRPr lang="en-US" sz="1150" dirty="0"/>
          </a:p>
          <a:p>
            <a:pPr marL="342900" indent="-342900">
              <a:spcAft>
                <a:spcPts val="500"/>
              </a:spcAft>
              <a:buSzPct val="100000"/>
              <a:buChar char="•"/>
            </a:pPr>
            <a:r>
              <a:rPr lang="en-US" sz="1150" dirty="0">
                <a:solidFill>
                  <a:schemeClr val="tx1"/>
                </a:solidFill>
              </a:rPr>
              <a:t>床に手をつく動作（手）も同じくらいの所で倒れる（倒れる判定は参照が立っている間だけ）</a:t>
            </a:r>
            <a:endParaRPr lang="en-US" sz="115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1 本ずつ — GMR+MPC が倒れた位置（全体に対する割合）</a:t>
            </a:r>
            <a:endParaRPr lang="en-US" sz="2800" dirty="0"/>
          </a:p>
        </p:txBody>
      </p:sp>
      <p:graphicFrame>
        <p:nvGraphicFramePr>
          <p:cNvPr id="4" name="chart-80" descr=""/>
          <p:cNvGraphicFramePr/>
          <p:nvPr/>
        </p:nvGraphicFramePr>
        <p:xfrm>
          <a:off x="457200" y="1097280"/>
          <a:ext cx="11247120" cy="52578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限界と、次にやること</a:t>
            </a:r>
            <a:endParaRPr lang="en-US" sz="2800" dirty="0"/>
          </a:p>
        </p:txBody>
      </p:sp>
      <p:sp>
        <p:nvSpPr>
          <p:cNvPr id="3" name="tile-81"/>
          <p:cNvSpPr txBox="1"/>
          <p:nvPr/>
        </p:nvSpPr>
        <p:spPr>
          <a:xfrm>
            <a:off x="548640" y="1188720"/>
            <a:ext cx="384048"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4" name="head-82"/>
          <p:cNvSpPr txBox="1"/>
          <p:nvPr/>
        </p:nvSpPr>
        <p:spPr>
          <a:xfrm>
            <a:off x="1051560" y="1188720"/>
            <a:ext cx="4983480" cy="384048"/>
          </a:xfrm>
          <a:prstGeom prst="rect">
            <a:avLst/>
          </a:prstGeom>
          <a:noFill/>
          <a:ln/>
        </p:spPr>
        <p:txBody>
          <a:bodyPr wrap="square" lIns="0" tIns="0" rIns="0" bIns="0" rtlCol="0" anchor="ctr"/>
          <a:lstStyle/>
          <a:p>
            <a:pPr indent="0" marL="0">
              <a:buNone/>
            </a:pPr>
            <a:r>
              <a:rPr lang="en-US" sz="1700" b="1" dirty="0">
                <a:solidFill>
                  <a:schemeClr val="tx1"/>
                </a:solidFill>
              </a:rPr>
              <a:t>なぜ歩く・走るで倒れるか</a:t>
            </a:r>
            <a:endParaRPr lang="en-US" sz="1700" dirty="0"/>
          </a:p>
        </p:txBody>
      </p:sp>
      <p:sp>
        <p:nvSpPr>
          <p:cNvPr id="5" name="bullets-83"/>
          <p:cNvSpPr txBox="1"/>
          <p:nvPr/>
        </p:nvSpPr>
        <p:spPr>
          <a:xfrm>
            <a:off x="548640" y="1645920"/>
            <a:ext cx="5486400" cy="411480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1"/>
                </a:solidFill>
              </a:rPr>
              <a:t>人の歩く速さを脚の長さで縮めても、片足で支える時間は約 0.2 秒。KHR・KXR には速すぎる</a:t>
            </a:r>
            <a:endParaRPr lang="en-US" sz="1250" dirty="0"/>
          </a:p>
          <a:p>
            <a:pPr marL="342900" indent="-342900">
              <a:spcAft>
                <a:spcPts val="500"/>
              </a:spcAft>
              <a:buSzPct val="100000"/>
              <a:buChar char="•"/>
            </a:pPr>
            <a:r>
              <a:rPr lang="en-US" sz="1250" dirty="0">
                <a:solidFill>
                  <a:schemeClr val="tx1"/>
                </a:solidFill>
              </a:rPr>
              <a:t>着地はキャプチャポイントでずらすが、届く範囲（0.3 L）と振り出しの時間（約 0.2 秒）が足りない</a:t>
            </a:r>
            <a:endParaRPr lang="en-US" sz="1250" dirty="0"/>
          </a:p>
          <a:p>
            <a:pPr marL="342900" indent="-342900">
              <a:spcAft>
                <a:spcPts val="500"/>
              </a:spcAft>
              <a:buSzPct val="100000"/>
              <a:buChar char="•"/>
            </a:pPr>
            <a:r>
              <a:rPr lang="en-US" sz="1250" dirty="0">
                <a:solidFill>
                  <a:schemeClr val="tx1"/>
                </a:solidFill>
              </a:rPr>
              <a:t>台車の模型は腕・胴の角運動量を見ていない。サーボの遅れも MPC の外</a:t>
            </a:r>
            <a:endParaRPr lang="en-US" sz="1250" dirty="0"/>
          </a:p>
          <a:p>
            <a:pPr marL="342900" indent="-342900">
              <a:spcAft>
                <a:spcPts val="500"/>
              </a:spcAft>
              <a:buSzPct val="100000"/>
              <a:buChar char="•"/>
            </a:pPr>
            <a:r>
              <a:rPr lang="en-US" sz="1250" dirty="0">
                <a:solidFill>
                  <a:schemeClr val="tx1"/>
                </a:solidFill>
              </a:rPr>
              <a:t>物理なしで再生すると、計画した動き自体は立って歩けている</a:t>
            </a:r>
            <a:endParaRPr lang="en-US" sz="1250" dirty="0"/>
          </a:p>
        </p:txBody>
      </p:sp>
      <p:sp>
        <p:nvSpPr>
          <p:cNvPr id="6" name="tile-84"/>
          <p:cNvSpPr txBox="1"/>
          <p:nvPr/>
        </p:nvSpPr>
        <p:spPr>
          <a:xfrm>
            <a:off x="6263640" y="1188720"/>
            <a:ext cx="384048" cy="384048"/>
          </a:xfrm>
          <a:prstGeom prst="roundRect">
            <a:avLst>
              <a:gd name="adj" fmla="val 14286"/>
            </a:avLst>
          </a:prstGeom>
          <a:solidFill>
            <a:schemeClr val="accent4"/>
          </a:solid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7" name="head-85"/>
          <p:cNvSpPr txBox="1"/>
          <p:nvPr/>
        </p:nvSpPr>
        <p:spPr>
          <a:xfrm>
            <a:off x="6766560" y="1188720"/>
            <a:ext cx="4892040" cy="384048"/>
          </a:xfrm>
          <a:prstGeom prst="rect">
            <a:avLst/>
          </a:prstGeom>
          <a:noFill/>
          <a:ln/>
        </p:spPr>
        <p:txBody>
          <a:bodyPr wrap="square" lIns="0" tIns="0" rIns="0" bIns="0" rtlCol="0" anchor="ctr"/>
          <a:lstStyle/>
          <a:p>
            <a:pPr indent="0" marL="0">
              <a:buNone/>
            </a:pPr>
            <a:r>
              <a:rPr lang="en-US" sz="1700" b="1" dirty="0">
                <a:solidFill>
                  <a:schemeClr val="tx1"/>
                </a:solidFill>
              </a:rPr>
              <a:t>次</a:t>
            </a:r>
            <a:endParaRPr lang="en-US" sz="1700" dirty="0"/>
          </a:p>
        </p:txBody>
      </p:sp>
      <p:sp>
        <p:nvSpPr>
          <p:cNvPr id="8" name="bullets-86"/>
          <p:cNvSpPr txBox="1"/>
          <p:nvPr/>
        </p:nvSpPr>
        <p:spPr>
          <a:xfrm>
            <a:off x="6263640" y="1645920"/>
            <a:ext cx="5394960" cy="411480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1"/>
                </a:solidFill>
              </a:rPr>
              <a:t>両足立ちで押されたときの踏み出し（予定にない一歩）を足す</a:t>
            </a:r>
            <a:endParaRPr lang="en-US" sz="1250" dirty="0"/>
          </a:p>
          <a:p>
            <a:pPr marL="342900" indent="-342900">
              <a:spcAft>
                <a:spcPts val="500"/>
              </a:spcAft>
              <a:buSzPct val="100000"/>
              <a:buChar char="•"/>
            </a:pPr>
            <a:r>
              <a:rPr lang="en-US" sz="1250" dirty="0">
                <a:solidFill>
                  <a:schemeClr val="tx1"/>
                </a:solidFill>
              </a:rPr>
              <a:t>MPC の模型にサーボの遅れと角運動量を入れる</a:t>
            </a:r>
            <a:endParaRPr lang="en-US" sz="1250" dirty="0"/>
          </a:p>
          <a:p>
            <a:pPr marL="342900" indent="-342900">
              <a:spcAft>
                <a:spcPts val="500"/>
              </a:spcAft>
              <a:buSzPct val="100000"/>
              <a:buChar char="•"/>
            </a:pPr>
            <a:r>
              <a:rPr lang="en-US" sz="1250" dirty="0">
                <a:solidFill>
                  <a:schemeClr val="tx1"/>
                </a:solidFill>
              </a:rPr>
              <a:t>歩く速さを、ロボットの速さの上限に合わせて落とす（遅れを許す）</a:t>
            </a:r>
            <a:endParaRPr lang="en-US" sz="1250" dirty="0"/>
          </a:p>
          <a:p>
            <a:pPr marL="342900" indent="-342900">
              <a:spcAft>
                <a:spcPts val="500"/>
              </a:spcAft>
              <a:buSzPct val="100000"/>
              <a:buChar char="•"/>
            </a:pPr>
            <a:r>
              <a:rPr lang="en-US" sz="1250" dirty="0">
                <a:solidFill>
                  <a:schemeClr val="tx1"/>
                </a:solidFill>
              </a:rPr>
              <a:t>学習した追従の方策（GMR の論文と同じ, 規模が大きい）</a:t>
            </a:r>
            <a:endParaRPr lang="en-US" sz="1250" dirty="0"/>
          </a:p>
          <a:p>
            <a:pPr marL="342900" indent="-342900">
              <a:spcAft>
                <a:spcPts val="500"/>
              </a:spcAft>
              <a:buSzPct val="100000"/>
              <a:buChar char="•"/>
            </a:pPr>
            <a:r>
              <a:rPr lang="en-US" sz="1250" dirty="0">
                <a:solidFill>
                  <a:schemeClr val="tx1"/>
                </a:solidFill>
              </a:rPr>
              <a:t>lafan1 の 77 本 × 2 体を、方法ごと・起き上がりつきで最後まで測る</a:t>
            </a:r>
            <a:endParaRPr lang="en-US" sz="125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463040"/>
          </a:xfrm>
          <a:prstGeom prst="rect">
            <a:avLst/>
          </a:prstGeom>
          <a:noFill/>
          <a:ln/>
        </p:spPr>
        <p:txBody>
          <a:bodyPr wrap="square" lIns="0" tIns="0" rIns="0" bIns="0" rtlCol="0" anchor="b"/>
          <a:lstStyle/>
          <a:p>
            <a:pPr algn="l" indent="0" marL="0">
              <a:buNone/>
            </a:pPr>
            <a:r>
              <a:rPr lang="en-US" sz="3400" b="1" dirty="0">
                <a:solidFill>
                  <a:schemeClr val="bg1"/>
                </a:solidFill>
              </a:rPr>
              <a:t>まとめ</a:t>
            </a:r>
            <a:endParaRPr lang="en-US" sz="3400" dirty="0"/>
          </a:p>
        </p:txBody>
      </p:sp>
      <p:sp>
        <p:nvSpPr>
          <p:cNvPr id="3" name="conclusion"/>
          <p:cNvSpPr txBox="1"/>
          <p:nvPr/>
        </p:nvSpPr>
        <p:spPr>
          <a:xfrm>
            <a:off x="731520" y="3520440"/>
            <a:ext cx="10698480" cy="2880360"/>
          </a:xfrm>
          <a:prstGeom prst="rect">
            <a:avLst/>
          </a:prstGeom>
          <a:noFill/>
          <a:ln/>
        </p:spPr>
        <p:txBody>
          <a:bodyPr wrap="square" lIns="0" tIns="0" rIns="0" bIns="0" rtlCol="0" anchor="t"/>
          <a:lstStyle/>
          <a:p>
            <a:pPr marL="342900" indent="-342900">
              <a:spcAft>
                <a:spcPts val="600"/>
              </a:spcAft>
              <a:buSzPct val="100000"/>
              <a:buChar char="•"/>
            </a:pPr>
            <a:r>
              <a:rPr lang="en-US" sz="1550" dirty="0">
                <a:solidFill>
                  <a:srgbClr val="CADCFC"/>
                </a:solidFill>
              </a:rPr>
              <a:t>倒れないための制約を、静的な重心（GMR+QP）→ ZMP の MPC で計画した重心を最優先（QP+バランス）→ 物理の今の状態から毎コマ解き直す（GMR+MPC）と強めた</a:t>
            </a:r>
            <a:endParaRPr lang="en-US" sz="1550" dirty="0"/>
          </a:p>
          <a:p>
            <a:pPr marL="342900" indent="-342900">
              <a:spcAft>
                <a:spcPts val="600"/>
              </a:spcAft>
              <a:buSzPct val="100000"/>
              <a:buChar char="•"/>
            </a:pPr>
            <a:r>
              <a:rPr lang="en-US" sz="1550" dirty="0">
                <a:solidFill>
                  <a:srgbClr val="CADCFC"/>
                </a:solidFill>
              </a:rPr>
              <a:t>立って腕を動かす動きは倒れなくなった。歩行は QP+バランスで倒れるまでが 6.8 → 19.7 秒に延びたが、まだ倒れる</a:t>
            </a:r>
            <a:endParaRPr lang="en-US" sz="1550" dirty="0"/>
          </a:p>
          <a:p>
            <a:pPr marL="342900" indent="-342900">
              <a:spcAft>
                <a:spcPts val="600"/>
              </a:spcAft>
              <a:buSzPct val="100000"/>
              <a:buChar char="•"/>
            </a:pPr>
            <a:r>
              <a:rPr lang="en-US" sz="1550" dirty="0">
                <a:solidFill>
                  <a:srgbClr val="CADCFC"/>
                </a:solidFill>
              </a:rPr>
              <a:t>倒れたら起き上がりの動作をして、倒れたコマから BVH を続ける（KHR はほぼ毎回起き上がれる）</a:t>
            </a:r>
            <a:endParaRPr lang="en-US" sz="1550" dirty="0"/>
          </a:p>
          <a:p>
            <a:pPr marL="342900" indent="-342900">
              <a:spcAft>
                <a:spcPts val="600"/>
              </a:spcAft>
              <a:buSzPct val="100000"/>
              <a:buChar char="•"/>
            </a:pPr>
            <a:r>
              <a:rPr lang="en-US" sz="1550" dirty="0">
                <a:solidFill>
                  <a:srgbClr val="CADCFC"/>
                </a:solidFill>
              </a:rPr>
              <a:t>iPhone・Mac・Android・デスクトップで同じ C++ を使い、ボタンで比べられる</a:t>
            </a:r>
            <a:endParaRPr lang="en-US" sz="1550" dirty="0"/>
          </a:p>
        </p:txBody>
      </p:sp>
      <p:sp>
        <p:nvSpPr>
          <p:cNvPr id="4" name="Text 0"/>
          <p:cNvSpPr/>
          <p:nvPr>
            <p:ph idx="101" type="body" hasCustomPrompt="1"/>
          </p:nvPr>
        </p:nvSpPr>
        <p:spPr>
          <a:xfrm>
            <a:off x="731520" y="3566160"/>
            <a:ext cx="10698480" cy="146304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theme/theme1.xml><?xml version="1.0" encoding="utf-8"?>
<a:theme xmlns:a="http://schemas.openxmlformats.org/drawingml/2006/main" name="MNIST Ink">
  <a:themeElements>
    <a:clrScheme name="MNIST Ink">
      <a:dk1>
        <a:srgbClr val="14213D"/>
      </a:dk1>
      <a:lt1>
        <a:srgbClr val="FFFFFF"/>
      </a:lt1>
      <a:dk2>
        <a:srgbClr val="2B3A55"/>
      </a:dk2>
      <a:lt2>
        <a:srgbClr val="EEF1F6"/>
      </a:lt2>
      <a:accent1>
        <a:srgbClr val="E4572E"/>
      </a:accent1>
      <a:accent2>
        <a:srgbClr val="3A6EA5"/>
      </a:accent2>
      <a:accent3>
        <a:srgbClr val="F2A541"/>
      </a:accent3>
      <a:accent4>
        <a:srgbClr val="5B8C5A"/>
      </a:accent4>
      <a:accent5>
        <a:srgbClr val="8E7DBE"/>
      </a:accent5>
      <a:accent6>
        <a:srgbClr val="5B6577"/>
      </a:accent6>
      <a:hlink>
        <a:srgbClr val="3A6EA5"/>
      </a:hlink>
      <a:folHlink>
        <a:srgbClr val="8E7DBE"/>
      </a:folHlink>
    </a:clrScheme>
    <a:fontScheme name="MNIST Ink">
      <a:majorFont>
        <a:latin typeface="BIZ UDPGothic"/>
        <a:ea typeface="BIZ UDP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Gothic"/>
        <a:ea typeface="BIZ UDP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GMR + MPC — BVH の動作をロボットで倒れずに再生する</dc:title>
  <dc:subject>GMR retargeting + whole-body QP + ZMP MPC (closed loop) + fall recovery in EusView</dc:subject>
  <dc:creator>Masayuki Inaba</dc:creator>
  <cp:lastModifiedBy>Masayuki Inaba</cp:lastModifiedBy>
  <cp:revision>1</cp:revision>
  <dcterms:created xsi:type="dcterms:W3CDTF">2026-10-06T12:32:43Z</dcterms:created>
  <dcterms:modified xsi:type="dcterms:W3CDTF">2026-10-06T12:32:43Z</dcterms:modified>
</cp:coreProperties>
</file>