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media/image56.png" ContentType="image/png"/>
  <Override PartName="/ppt/media/image55.png" ContentType="image/png"/>
  <Override PartName="/ppt/media/image54.png" ContentType="image/png"/>
  <Override PartName="/ppt/media/image53.png" ContentType="image/png"/>
  <Override PartName="/ppt/media/image52.png" ContentType="image/png"/>
  <Override PartName="/ppt/media/image50.png" ContentType="image/png"/>
  <Override PartName="/ppt/media/image49.png" ContentType="image/png"/>
  <Override PartName="/ppt/media/image47.png" ContentType="image/png"/>
  <Override PartName="/ppt/media/image46.png" ContentType="image/png"/>
  <Override PartName="/ppt/media/image15.jpeg" ContentType="image/jpeg"/>
  <Override PartName="/ppt/media/image64.png" ContentType="image/png"/>
  <Override PartName="/ppt/media/image51.png" ContentType="image/png"/>
  <Override PartName="/ppt/media/image61.png" ContentType="image/png"/>
  <Override PartName="/ppt/media/image21.png" ContentType="image/png"/>
  <Override PartName="/ppt/media/image58.png" ContentType="image/png"/>
  <Override PartName="/ppt/media/image60.png" ContentType="image/png"/>
  <Override PartName="/ppt/media/image20.png" ContentType="image/png"/>
  <Override PartName="/ppt/media/image57.png" ContentType="image/png"/>
  <Override PartName="/ppt/media/image68.png" ContentType="image/png"/>
  <Override PartName="/ppt/media/image31.png" ContentType="image/png"/>
  <Override PartName="/ppt/media/image67.png" ContentType="image/png"/>
  <Override PartName="/ppt/media/image30.png" ContentType="image/png"/>
  <Override PartName="/ppt/media/image18.png" ContentType="image/png"/>
  <Override PartName="/ppt/media/image3.gif" ContentType="image/gif"/>
  <Override PartName="/ppt/media/image26.png" ContentType="image/png"/>
  <Override PartName="/ppt/media/image66.png" ContentType="image/png"/>
  <Override PartName="/ppt/media/image14.gif" ContentType="image/gif"/>
  <Override PartName="/ppt/media/image2.gif" ContentType="image/gif"/>
  <Override PartName="/ppt/media/image25.png" ContentType="image/png"/>
  <Override PartName="/ppt/media/image65.png" ContentType="image/png"/>
  <Override PartName="/ppt/media/image27.png" ContentType="image/png"/>
  <Override PartName="/ppt/media/image16.gif" ContentType="image/gif"/>
  <Override PartName="/ppt/media/image19.png" ContentType="image/png"/>
  <Override PartName="/ppt/media/image4.gif" ContentType="image/gif"/>
  <Override PartName="/ppt/media/image17.jpeg" ContentType="image/jpeg"/>
  <Override PartName="/ppt/media/image63.png" ContentType="image/png"/>
  <Override PartName="/ppt/media/image62.png" ContentType="image/png"/>
  <Override PartName="/ppt/media/image59.png" ContentType="image/png"/>
  <Override PartName="/ppt/media/image22.png" ContentType="image/png"/>
  <Override PartName="/ppt/media/image24.png" ContentType="image/png"/>
  <Override PartName="/ppt/media/image23.png" ContentType="image/png"/>
  <Override PartName="/ppt/media/image12.jpeg" ContentType="image/jpeg"/>
  <Override PartName="/ppt/media/image34.png" ContentType="image/png"/>
  <Override PartName="/ppt/media/image29.png" ContentType="image/png"/>
  <Override PartName="/ppt/media/image6.gif" ContentType="image/gif"/>
  <Override PartName="/ppt/media/image5.gif" ContentType="image/gif"/>
  <Override PartName="/ppt/media/image28.png" ContentType="image/png"/>
  <Override PartName="/ppt/media/image10.jpeg" ContentType="image/jpeg"/>
  <Override PartName="/ppt/media/image11.gif" ContentType="image/gif"/>
  <Override PartName="/ppt/media/image7.gif" ContentType="image/gif"/>
  <Override PartName="/ppt/media/image8.gif" ContentType="image/gif"/>
  <Override PartName="/ppt/media/image1.gif" ContentType="image/gif"/>
  <Override PartName="/ppt/media/image13.gif" ContentType="image/gif"/>
  <Override PartName="/ppt/media/image48.png" ContentType="image/png"/>
  <Override PartName="/ppt/media/image32.png" ContentType="image/png"/>
  <Override PartName="/ppt/media/image33.png" ContentType="image/png"/>
  <Override PartName="/ppt/media/image35.png" ContentType="image/png"/>
  <Override PartName="/ppt/media/image9.jpeg" ContentType="image/jpeg"/>
  <Override PartName="/ppt/media/image36.png" ContentType="image/png"/>
  <Override PartName="/ppt/media/image37.png" ContentType="image/png"/>
  <Override PartName="/ppt/media/image38.png" ContentType="image/png"/>
  <Override PartName="/ppt/media/image39.png" ContentType="image/png"/>
  <Override PartName="/ppt/media/image40.png" ContentType="image/png"/>
  <Override PartName="/ppt/media/image41.png" ContentType="image/png"/>
  <Override PartName="/ppt/media/image42.png" ContentType="image/png"/>
  <Override PartName="/ppt/media/image43.png" ContentType="image/png"/>
  <Override PartName="/ppt/media/image44.png" ContentType="image/png"/>
  <Override PartName="/ppt/media/image45.png" ContentType="image/png"/>
  <Override PartName="/ppt/slides/slide29.xml" ContentType="application/vnd.openxmlformats-officedocument.presentationml.slide+xml"/>
  <Override PartName="/ppt/slides/slide28.xml" ContentType="application/vnd.openxmlformats-officedocument.presentationml.slide+xml"/>
  <Override PartName="/ppt/slides/slide27.xml" ContentType="application/vnd.openxmlformats-officedocument.presentationml.slide+xml"/>
  <Override PartName="/ppt/slides/slide26.xml" ContentType="application/vnd.openxmlformats-officedocument.presentationml.slide+xml"/>
  <Override PartName="/ppt/slides/slide25.xml" ContentType="application/vnd.openxmlformats-officedocument.presentationml.slide+xml"/>
  <Override PartName="/ppt/slides/slide24.xml" ContentType="application/vnd.openxmlformats-officedocument.presentationml.slide+xml"/>
  <Override PartName="/ppt/slides/slide23.xml" ContentType="application/vnd.openxmlformats-officedocument.presentationml.slide+xml"/>
  <Override PartName="/ppt/slides/slide22.xml" ContentType="application/vnd.openxmlformats-officedocument.presentationml.slide+xml"/>
  <Override PartName="/ppt/slides/slide21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18.xml" ContentType="application/vnd.openxmlformats-officedocument.presentationml.slide+xml"/>
  <Override PartName="/ppt/slides/_rels/slide17.xml.rels" ContentType="application/vnd.openxmlformats-package.relationships+xml"/>
  <Override PartName="/ppt/slides/_rels/slide11.xml.rels" ContentType="application/vnd.openxmlformats-package.relationships+xml"/>
  <Override PartName="/ppt/slides/_rels/slide26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40.xml.rels" ContentType="application/vnd.openxmlformats-package.relationships+xml"/>
  <Override PartName="/ppt/slides/_rels/slide33.xml.rels" ContentType="application/vnd.openxmlformats-package.relationships+xml"/>
  <Override PartName="/ppt/slides/_rels/slide6.xml.rels" ContentType="application/vnd.openxmlformats-package.relationships+xml"/>
  <Override PartName="/ppt/slides/_rels/slide41.xml.rels" ContentType="application/vnd.openxmlformats-package.relationships+xml"/>
  <Override PartName="/ppt/slides/_rels/slide34.xml.rels" ContentType="application/vnd.openxmlformats-package.relationships+xml"/>
  <Override PartName="/ppt/slides/_rels/slide29.xml.rels" ContentType="application/vnd.openxmlformats-package.relationships+xml"/>
  <Override PartName="/ppt/slides/_rels/slide14.xml.rels" ContentType="application/vnd.openxmlformats-package.relationships+xml"/>
  <Override PartName="/ppt/slides/_rels/slide30.xml.rels" ContentType="application/vnd.openxmlformats-package.relationships+xml"/>
  <Override PartName="/ppt/slides/_rels/slide23.xml.rels" ContentType="application/vnd.openxmlformats-package.relationships+xml"/>
  <Override PartName="/ppt/slides/_rels/slide38.xml.rels" ContentType="application/vnd.openxmlformats-package.relationships+xml"/>
  <Override PartName="/ppt/slides/_rels/slide18.xml.rels" ContentType="application/vnd.openxmlformats-package.relationships+xml"/>
  <Override PartName="/ppt/slides/_rels/slide12.xml.rels" ContentType="application/vnd.openxmlformats-package.relationships+xml"/>
  <Override PartName="/ppt/slides/_rels/slide37.xml.rels" ContentType="application/vnd.openxmlformats-package.relationships+xml"/>
  <Override PartName="/ppt/slides/_rels/slide22.xml.rels" ContentType="application/vnd.openxmlformats-package.relationships+xml"/>
  <Override PartName="/ppt/slides/_rels/slide3.xml.rels" ContentType="application/vnd.openxmlformats-package.relationships+xml"/>
  <Override PartName="/ppt/slides/_rels/slide9.xml.rels" ContentType="application/vnd.openxmlformats-package.relationships+xml"/>
  <Override PartName="/ppt/slides/_rels/slide28.xml.rels" ContentType="application/vnd.openxmlformats-package.relationships+xml"/>
  <Override PartName="/ppt/slides/_rels/slide19.xml.rels" ContentType="application/vnd.openxmlformats-package.relationships+xml"/>
  <Override PartName="/ppt/slides/_rels/slide13.xml.rels" ContentType="application/vnd.openxmlformats-package.relationships+xml"/>
  <Override PartName="/ppt/slides/_rels/slide24.xml.rels" ContentType="application/vnd.openxmlformats-package.relationships+xml"/>
  <Override PartName="/ppt/slides/_rels/slide39.xml.rels" ContentType="application/vnd.openxmlformats-package.relationships+xml"/>
  <Override PartName="/ppt/slides/_rels/slide31.xml.rels" ContentType="application/vnd.openxmlformats-package.relationships+xml"/>
  <Override PartName="/ppt/slides/_rels/slide15.xml.rels" ContentType="application/vnd.openxmlformats-package.relationships+xml"/>
  <Override PartName="/ppt/slides/_rels/slide21.xml.rels" ContentType="application/vnd.openxmlformats-package.relationships+xml"/>
  <Override PartName="/ppt/slides/_rels/slide36.xml.rels" ContentType="application/vnd.openxmlformats-package.relationships+xml"/>
  <Override PartName="/ppt/slides/_rels/slide27.xml.rels" ContentType="application/vnd.openxmlformats-package.relationships+xml"/>
  <Override PartName="/ppt/slides/_rels/slide2.xml.rels" ContentType="application/vnd.openxmlformats-package.relationships+xml"/>
  <Override PartName="/ppt/slides/_rels/slide8.xml.rels" ContentType="application/vnd.openxmlformats-package.relationships+xml"/>
  <Override PartName="/ppt/slides/_rels/slide25.xml.rels" ContentType="application/vnd.openxmlformats-package.relationships+xml"/>
  <Override PartName="/ppt/slides/_rels/slide10.xml.rels" ContentType="application/vnd.openxmlformats-package.relationships+xml"/>
  <Override PartName="/ppt/slides/_rels/slide32.xml.rels" ContentType="application/vnd.openxmlformats-package.relationships+xml"/>
  <Override PartName="/ppt/slides/_rels/slide16.xml.rels" ContentType="application/vnd.openxmlformats-package.relationships+xml"/>
  <Override PartName="/ppt/slides/_rels/slide7.xml.rels" ContentType="application/vnd.openxmlformats-package.relationships+xml"/>
  <Override PartName="/ppt/slides/_rels/slide35.xml.rels" ContentType="application/vnd.openxmlformats-package.relationships+xml"/>
  <Override PartName="/ppt/slides/_rels/slide20.xml.rels" ContentType="application/vnd.openxmlformats-package.relationships+xml"/>
  <Override PartName="/ppt/slides/_rels/slide1.xml.rels" ContentType="application/vnd.openxmlformats-package.relationships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13.xml" ContentType="application/vnd.openxmlformats-officedocument.presentationml.slide+xml"/>
  <Override PartName="/ppt/slides/slide37.xml" ContentType="application/vnd.openxmlformats-officedocument.presentationml.slide+xml"/>
  <Override PartName="/ppt/slides/slide1.xml" ContentType="application/vnd.openxmlformats-officedocument.presentationml.slide+xml"/>
  <Override PartName="/ppt/slides/slide38.xml" ContentType="application/vnd.openxmlformats-officedocument.presentationml.slide+xml"/>
  <Override PartName="/ppt/slides/slide2.xml" ContentType="application/vnd.openxmlformats-officedocument.presentationml.slide+xml"/>
  <Override PartName="/ppt/slides/slide39.xml" ContentType="application/vnd.openxmlformats-officedocument.presentationml.slide+xml"/>
  <Override PartName="/ppt/slides/slide3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7.xml" ContentType="application/vnd.openxmlformats-officedocument.presentationml.slide+xml"/>
  <Override PartName="/ppt/slides/slide41.xml" ContentType="application/vnd.openxmlformats-officedocument.presentationml.slide+xml"/>
  <Override PartName="/ppt/slides/slide6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4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83" r:id="rId30"/>
    <p:sldId id="284" r:id="rId31"/>
    <p:sldId id="285" r:id="rId32"/>
    <p:sldId id="286" r:id="rId33"/>
    <p:sldId id="287" r:id="rId34"/>
    <p:sldId id="288" r:id="rId35"/>
    <p:sldId id="289" r:id="rId36"/>
    <p:sldId id="290" r:id="rId37"/>
    <p:sldId id="291" r:id="rId38"/>
    <p:sldId id="292" r:id="rId39"/>
    <p:sldId id="293" r:id="rId40"/>
    <p:sldId id="294" r:id="rId41"/>
    <p:sldId id="295" r:id="rId42"/>
    <p:sldId id="296" r:id="rId43"/>
  </p:sldIdLst>
  <p:sldSz cx="12192000" cy="6858000"/>
  <p:notesSz cx="7559675" cy="10691812"/>
</p:presentation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slide" Target="slides/slide22.xml"/><Relationship Id="rId25" Type="http://schemas.openxmlformats.org/officeDocument/2006/relationships/slide" Target="slides/slide23.xml"/><Relationship Id="rId26" Type="http://schemas.openxmlformats.org/officeDocument/2006/relationships/slide" Target="slides/slide24.xml"/><Relationship Id="rId27" Type="http://schemas.openxmlformats.org/officeDocument/2006/relationships/slide" Target="slides/slide25.xml"/><Relationship Id="rId28" Type="http://schemas.openxmlformats.org/officeDocument/2006/relationships/slide" Target="slides/slide26.xml"/><Relationship Id="rId29" Type="http://schemas.openxmlformats.org/officeDocument/2006/relationships/slide" Target="slides/slide27.xml"/><Relationship Id="rId30" Type="http://schemas.openxmlformats.org/officeDocument/2006/relationships/slide" Target="slides/slide28.xml"/><Relationship Id="rId31" Type="http://schemas.openxmlformats.org/officeDocument/2006/relationships/slide" Target="slides/slide29.xml"/><Relationship Id="rId32" Type="http://schemas.openxmlformats.org/officeDocument/2006/relationships/slide" Target="slides/slide30.xml"/><Relationship Id="rId33" Type="http://schemas.openxmlformats.org/officeDocument/2006/relationships/slide" Target="slides/slide31.xml"/><Relationship Id="rId34" Type="http://schemas.openxmlformats.org/officeDocument/2006/relationships/slide" Target="slides/slide32.xml"/><Relationship Id="rId35" Type="http://schemas.openxmlformats.org/officeDocument/2006/relationships/slide" Target="slides/slide33.xml"/><Relationship Id="rId36" Type="http://schemas.openxmlformats.org/officeDocument/2006/relationships/slide" Target="slides/slide34.xml"/><Relationship Id="rId37" Type="http://schemas.openxmlformats.org/officeDocument/2006/relationships/slide" Target="slides/slide35.xml"/><Relationship Id="rId38" Type="http://schemas.openxmlformats.org/officeDocument/2006/relationships/slide" Target="slides/slide36.xml"/><Relationship Id="rId39" Type="http://schemas.openxmlformats.org/officeDocument/2006/relationships/slide" Target="slides/slide37.xml"/><Relationship Id="rId40" Type="http://schemas.openxmlformats.org/officeDocument/2006/relationships/slide" Target="slides/slide38.xml"/><Relationship Id="rId41" Type="http://schemas.openxmlformats.org/officeDocument/2006/relationships/slide" Target="slides/slide39.xml"/><Relationship Id="rId42" Type="http://schemas.openxmlformats.org/officeDocument/2006/relationships/slide" Target="slides/slide40.xml"/><Relationship Id="rId43" Type="http://schemas.openxmlformats.org/officeDocument/2006/relationships/slide" Target="slides/slide41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080" cy="397728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72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080" cy="53078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109720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609480" y="3682080"/>
            <a:ext cx="109720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35326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 type="body"/>
          </p:nvPr>
        </p:nvSpPr>
        <p:spPr>
          <a:xfrm>
            <a:off x="4319280" y="1604520"/>
            <a:ext cx="35326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 type="body"/>
          </p:nvPr>
        </p:nvSpPr>
        <p:spPr>
          <a:xfrm>
            <a:off x="8028720" y="1604520"/>
            <a:ext cx="35326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 type="body"/>
          </p:nvPr>
        </p:nvSpPr>
        <p:spPr>
          <a:xfrm>
            <a:off x="609480" y="3682080"/>
            <a:ext cx="35326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 type="body"/>
          </p:nvPr>
        </p:nvSpPr>
        <p:spPr>
          <a:xfrm>
            <a:off x="4319280" y="3682080"/>
            <a:ext cx="35326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 type="body"/>
          </p:nvPr>
        </p:nvSpPr>
        <p:spPr>
          <a:xfrm>
            <a:off x="8028720" y="3682080"/>
            <a:ext cx="35326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dt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</p:spPr>
        <p:txBody>
          <a:bodyPr anchor="ctr">
            <a:noAutofit/>
          </a:bodyPr>
          <a:p>
            <a:pPr>
              <a:lnSpc>
                <a:spcPct val="100000"/>
              </a:lnSpc>
            </a:pPr>
            <a:fld id="{3E61679D-1F9B-49CE-89C4-B5AFEB2BC78B}" type="datetime">
              <a:rPr b="0" lang="en-US" sz="1200" spc="-1" strike="noStrike">
                <a:solidFill>
                  <a:srgbClr val="8b8b8b"/>
                </a:solidFill>
                <a:latin typeface="Calibri"/>
              </a:rPr>
              <a:t>9/26/26</a:t>
            </a:fld>
            <a:endParaRPr b="0" lang="en-US" sz="1200" spc="-1" strike="noStrike"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ftr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</p:spPr>
        <p:txBody>
          <a:bodyPr anchor="ctr">
            <a:noAutofit/>
          </a:bodyPr>
          <a:p>
            <a:endParaRPr b="0" lang="en-US" sz="2400" spc="-1" strike="noStrike"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sldNum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</p:spPr>
        <p:txBody>
          <a:bodyPr anchor="ctr">
            <a:noAutofit/>
          </a:bodyPr>
          <a:p>
            <a:pPr algn="r">
              <a:lnSpc>
                <a:spcPct val="100000"/>
              </a:lnSpc>
            </a:pPr>
            <a:fld id="{A2AB86FD-36A4-407B-A459-542065DE0EAA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72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Calibri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rgbClr val="000000"/>
                </a:solidFill>
                <a:latin typeface="Calibri"/>
              </a:rPr>
              <a:t>Second Outline Level</a:t>
            </a:r>
            <a:endParaRPr b="0" lang="en-US" sz="2400" spc="-1" strike="noStrike">
              <a:solidFill>
                <a:srgbClr val="000000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Third Outline Level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gif"/><Relationship Id="rId2" Type="http://schemas.openxmlformats.org/officeDocument/2006/relationships/image" Target="../media/image2.gif"/><Relationship Id="rId3" Type="http://schemas.openxmlformats.org/officeDocument/2006/relationships/image" Target="../media/image3.gif"/><Relationship Id="rId4" Type="http://schemas.openxmlformats.org/officeDocument/2006/relationships/image" Target="../media/image4.gif"/><Relationship Id="rId5" Type="http://schemas.openxmlformats.org/officeDocument/2006/relationships/image" Target="../media/image5.gif"/><Relationship Id="rId6" Type="http://schemas.openxmlformats.org/officeDocument/2006/relationships/image" Target="../media/image6.gif"/><Relationship Id="rId7" Type="http://schemas.openxmlformats.org/officeDocument/2006/relationships/image" Target="../media/image7.gif"/><Relationship Id="rId8" Type="http://schemas.openxmlformats.org/officeDocument/2006/relationships/image" Target="../media/image8.gif"/><Relationship Id="rId9" Type="http://schemas.openxmlformats.org/officeDocument/2006/relationships/image" Target="../media/image9.jpeg"/><Relationship Id="rId10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0.jpeg"/><Relationship Id="rId2" Type="http://schemas.openxmlformats.org/officeDocument/2006/relationships/image" Target="../media/image11.gif"/><Relationship Id="rId3" Type="http://schemas.openxmlformats.org/officeDocument/2006/relationships/image" Target="../media/image12.jpeg"/><Relationship Id="rId4" Type="http://schemas.openxmlformats.org/officeDocument/2006/relationships/image" Target="../media/image13.gif"/><Relationship Id="rId5" Type="http://schemas.openxmlformats.org/officeDocument/2006/relationships/image" Target="../media/image14.gif"/><Relationship Id="rId6" Type="http://schemas.openxmlformats.org/officeDocument/2006/relationships/image" Target="../media/image15.jpeg"/><Relationship Id="rId7" Type="http://schemas.openxmlformats.org/officeDocument/2006/relationships/image" Target="../media/image16.gif"/><Relationship Id="rId8" Type="http://schemas.openxmlformats.org/officeDocument/2006/relationships/image" Target="../media/image17.jpeg"/><Relationship Id="rId9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18.png"/><Relationship Id="rId2" Type="http://schemas.openxmlformats.org/officeDocument/2006/relationships/image" Target="../media/image19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22.png"/><Relationship Id="rId2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23.png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image" Target="../media/image27.png"/><Relationship Id="rId6" Type="http://schemas.openxmlformats.org/officeDocument/2006/relationships/image" Target="../media/image28.png"/><Relationship Id="rId7" Type="http://schemas.openxmlformats.org/officeDocument/2006/relationships/image" Target="../media/image29.png"/><Relationship Id="rId8" Type="http://schemas.openxmlformats.org/officeDocument/2006/relationships/image" Target="../media/image30.png"/><Relationship Id="rId9" Type="http://schemas.openxmlformats.org/officeDocument/2006/relationships/image" Target="../media/image31.png"/><Relationship Id="rId10" Type="http://schemas.openxmlformats.org/officeDocument/2006/relationships/image" Target="../media/image32.png"/><Relationship Id="rId11" Type="http://schemas.openxmlformats.org/officeDocument/2006/relationships/image" Target="../media/image33.png"/><Relationship Id="rId12" Type="http://schemas.openxmlformats.org/officeDocument/2006/relationships/image" Target="../media/image34.png"/><Relationship Id="rId13" Type="http://schemas.openxmlformats.org/officeDocument/2006/relationships/image" Target="../media/image35.png"/><Relationship Id="rId14" Type="http://schemas.openxmlformats.org/officeDocument/2006/relationships/image" Target="../media/image36.png"/><Relationship Id="rId15" Type="http://schemas.openxmlformats.org/officeDocument/2006/relationships/slideLayout" Target="../slideLayouts/slideLayout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37.png"/><Relationship Id="rId2" Type="http://schemas.openxmlformats.org/officeDocument/2006/relationships/image" Target="../media/image38.png"/><Relationship Id="rId3" Type="http://schemas.openxmlformats.org/officeDocument/2006/relationships/image" Target="../media/image39.png"/><Relationship Id="rId4" Type="http://schemas.openxmlformats.org/officeDocument/2006/relationships/image" Target="../media/image40.png"/><Relationship Id="rId5" Type="http://schemas.openxmlformats.org/officeDocument/2006/relationships/image" Target="../media/image41.png"/><Relationship Id="rId6" Type="http://schemas.openxmlformats.org/officeDocument/2006/relationships/image" Target="../media/image42.png"/><Relationship Id="rId7" Type="http://schemas.openxmlformats.org/officeDocument/2006/relationships/slideLayout" Target="../slideLayouts/slideLayout1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image" Target="../media/image43.png"/><Relationship Id="rId2" Type="http://schemas.openxmlformats.org/officeDocument/2006/relationships/image" Target="../media/image44.png"/><Relationship Id="rId3" Type="http://schemas.openxmlformats.org/officeDocument/2006/relationships/image" Target="../media/image45.png"/><Relationship Id="rId4" Type="http://schemas.openxmlformats.org/officeDocument/2006/relationships/image" Target="../media/image46.png"/><Relationship Id="rId5" Type="http://schemas.openxmlformats.org/officeDocument/2006/relationships/image" Target="../media/image47.png"/><Relationship Id="rId6" Type="http://schemas.openxmlformats.org/officeDocument/2006/relationships/image" Target="../media/image48.png"/><Relationship Id="rId7" Type="http://schemas.openxmlformats.org/officeDocument/2006/relationships/image" Target="../media/image49.png"/><Relationship Id="rId8" Type="http://schemas.openxmlformats.org/officeDocument/2006/relationships/image" Target="../media/image50.png"/><Relationship Id="rId9" Type="http://schemas.openxmlformats.org/officeDocument/2006/relationships/image" Target="../media/image51.png"/><Relationship Id="rId10" Type="http://schemas.openxmlformats.org/officeDocument/2006/relationships/image" Target="../media/image52.png"/><Relationship Id="rId11" Type="http://schemas.openxmlformats.org/officeDocument/2006/relationships/image" Target="../media/image53.png"/><Relationship Id="rId12" Type="http://schemas.openxmlformats.org/officeDocument/2006/relationships/image" Target="../media/image54.png"/><Relationship Id="rId13" Type="http://schemas.openxmlformats.org/officeDocument/2006/relationships/slideLayout" Target="../slideLayouts/slideLayout1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3.xml.rels><?xml version="1.0" encoding="UTF-8"?>
<Relationships xmlns="http://schemas.openxmlformats.org/package/2006/relationships"><Relationship Id="rId1" Type="http://schemas.openxmlformats.org/officeDocument/2006/relationships/image" Target="../media/image55.png"/><Relationship Id="rId2" Type="http://schemas.openxmlformats.org/officeDocument/2006/relationships/image" Target="../media/image56.png"/><Relationship Id="rId3" Type="http://schemas.openxmlformats.org/officeDocument/2006/relationships/image" Target="../media/image57.png"/><Relationship Id="rId4" Type="http://schemas.openxmlformats.org/officeDocument/2006/relationships/image" Target="../media/image58.png"/><Relationship Id="rId5" Type="http://schemas.openxmlformats.org/officeDocument/2006/relationships/image" Target="../media/image59.png"/><Relationship Id="rId6" Type="http://schemas.openxmlformats.org/officeDocument/2006/relationships/image" Target="../media/image60.png"/><Relationship Id="rId7" Type="http://schemas.openxmlformats.org/officeDocument/2006/relationships/image" Target="../media/image61.png"/><Relationship Id="rId8" Type="http://schemas.openxmlformats.org/officeDocument/2006/relationships/image" Target="../media/image62.png"/><Relationship Id="rId9" Type="http://schemas.openxmlformats.org/officeDocument/2006/relationships/slideLayout" Target="../slideLayouts/slideLayout1.xml"/>
</Relationships>
</file>

<file path=ppt/slides/_rels/slide34.xml.rels><?xml version="1.0" encoding="UTF-8"?>
<Relationships xmlns="http://schemas.openxmlformats.org/package/2006/relationships"><Relationship Id="rId1" Type="http://schemas.openxmlformats.org/officeDocument/2006/relationships/image" Target="../media/image63.png"/><Relationship Id="rId2" Type="http://schemas.openxmlformats.org/officeDocument/2006/relationships/image" Target="../media/image64.png"/><Relationship Id="rId3" Type="http://schemas.openxmlformats.org/officeDocument/2006/relationships/image" Target="../media/image65.png"/><Relationship Id="rId4" Type="http://schemas.openxmlformats.org/officeDocument/2006/relationships/image" Target="../media/image66.png"/><Relationship Id="rId5" Type="http://schemas.openxmlformats.org/officeDocument/2006/relationships/image" Target="../media/image67.png"/><Relationship Id="rId6" Type="http://schemas.openxmlformats.org/officeDocument/2006/relationships/image" Target="../media/image68.png"/><Relationship Id="rId7" Type="http://schemas.openxmlformats.org/officeDocument/2006/relationships/slideLayout" Target="../slideLayouts/slideLayout1.xml"/>
</Relationships>
</file>

<file path=ppt/slides/_rels/slide3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f2a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CustomShape 1"/>
          <p:cNvSpPr/>
          <p:nvPr/>
        </p:nvSpPr>
        <p:spPr>
          <a:xfrm>
            <a:off x="914400" y="2194560"/>
            <a:ext cx="10332360" cy="6998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4000" spc="-1" strike="noStrike">
                <a:solidFill>
                  <a:srgbClr val="ffffff"/>
                </a:solidFill>
                <a:latin typeface="Yu Gothic"/>
              </a:rPr>
              <a:t>kxr5s </a:t>
            </a:r>
            <a:r>
              <a:rPr b="1" lang="zh-CN" sz="4000" spc="-1" strike="noStrike">
                <a:solidFill>
                  <a:srgbClr val="ffffff"/>
                </a:solidFill>
                <a:latin typeface="Yu Gothic"/>
              </a:rPr>
              <a:t>から </a:t>
            </a:r>
            <a:r>
              <a:rPr b="1" lang="en-US" sz="4000" spc="-1" strike="noStrike">
                <a:solidFill>
                  <a:srgbClr val="ffffff"/>
                </a:solidFill>
                <a:latin typeface="Yu Gothic"/>
              </a:rPr>
              <a:t>500 </a:t>
            </a:r>
            <a:r>
              <a:rPr b="1" lang="zh-CN" sz="4000" spc="-1" strike="noStrike">
                <a:solidFill>
                  <a:srgbClr val="ffffff"/>
                </a:solidFill>
                <a:latin typeface="Yu Gothic"/>
              </a:rPr>
              <a:t>種類のロボットへ</a:t>
            </a:r>
            <a:endParaRPr b="0" lang="en-US" sz="4000" spc="-1" strike="noStrike">
              <a:latin typeface="Arial"/>
            </a:endParaRPr>
          </a:p>
        </p:txBody>
      </p:sp>
      <p:sp>
        <p:nvSpPr>
          <p:cNvPr id="42" name="CustomShape 2"/>
          <p:cNvSpPr/>
          <p:nvPr/>
        </p:nvSpPr>
        <p:spPr>
          <a:xfrm>
            <a:off x="914400" y="3291840"/>
            <a:ext cx="10332360" cy="3952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zh-CN" sz="2000" spc="-1" strike="noStrike">
                <a:solidFill>
                  <a:srgbClr val="c9d6ea"/>
                </a:solidFill>
                <a:latin typeface="Yu Gothic"/>
              </a:rPr>
              <a:t>コンパイル済み</a:t>
            </a:r>
            <a:r>
              <a:rPr b="0" lang="en-US" sz="2000" spc="-1" strike="noStrike">
                <a:solidFill>
                  <a:srgbClr val="c9d6ea"/>
                </a:solidFill>
                <a:latin typeface="Yu Gothic"/>
              </a:rPr>
              <a:t>5</a:t>
            </a:r>
            <a:r>
              <a:rPr b="0" lang="zh-CN" sz="2000" spc="-1" strike="noStrike">
                <a:solidFill>
                  <a:srgbClr val="c9d6ea"/>
                </a:solidFill>
                <a:latin typeface="Yu Gothic"/>
              </a:rPr>
              <a:t>体構成から、データ駆動の汎用ロボットプラットフォームへ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43" name="CustomShape 3"/>
          <p:cNvSpPr/>
          <p:nvPr/>
        </p:nvSpPr>
        <p:spPr>
          <a:xfrm>
            <a:off x="914400" y="6035040"/>
            <a:ext cx="10058040" cy="2883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rgbClr val="8c9bc0"/>
                </a:solidFill>
                <a:latin typeface="Yu Gothic"/>
              </a:rPr>
              <a:t>kxreus </a:t>
            </a:r>
            <a:r>
              <a:rPr b="0" lang="zh-CN" sz="1300" spc="-1" strike="noStrike">
                <a:solidFill>
                  <a:srgbClr val="8c9bc0"/>
                </a:solidFill>
                <a:latin typeface="Yu Gothic"/>
              </a:rPr>
              <a:t>プロジェクト </a:t>
            </a:r>
            <a:r>
              <a:rPr b="0" lang="en-US" sz="1300" spc="-1" strike="noStrike">
                <a:solidFill>
                  <a:srgbClr val="8c9bc0"/>
                </a:solidFill>
                <a:latin typeface="Yu Gothic"/>
              </a:rPr>
              <a:t>-- </a:t>
            </a:r>
            <a:r>
              <a:rPr b="0" lang="zh-CN" sz="1300" spc="-1" strike="noStrike">
                <a:solidFill>
                  <a:srgbClr val="8c9bc0"/>
                </a:solidFill>
                <a:latin typeface="Yu Gothic"/>
              </a:rPr>
              <a:t>ファームウェア・アーキテクチャ検討資料</a:t>
            </a:r>
            <a:endParaRPr b="0" lang="en-US" sz="13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CustomShape 1"/>
          <p:cNvSpPr/>
          <p:nvPr/>
        </p:nvSpPr>
        <p:spPr>
          <a:xfrm>
            <a:off x="548640" y="320040"/>
            <a:ext cx="7314840" cy="3337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rgbClr val="2e6fc7"/>
                </a:solidFill>
                <a:latin typeface="Yu Gothic"/>
              </a:rPr>
              <a:t>AGENDA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45" name="CustomShape 2"/>
          <p:cNvSpPr/>
          <p:nvPr/>
        </p:nvSpPr>
        <p:spPr>
          <a:xfrm>
            <a:off x="548640" y="685800"/>
            <a:ext cx="10515240" cy="5472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zh-CN" sz="3000" spc="-1" strike="noStrike">
                <a:solidFill>
                  <a:srgbClr val="1f2a44"/>
                </a:solidFill>
                <a:latin typeface="Yu Gothic"/>
              </a:rPr>
              <a:t>本資料の構成</a:t>
            </a:r>
            <a:endParaRPr b="0" lang="en-US" sz="3000" spc="-1" strike="noStrike">
              <a:latin typeface="Arial"/>
            </a:endParaRPr>
          </a:p>
        </p:txBody>
      </p:sp>
      <p:sp>
        <p:nvSpPr>
          <p:cNvPr id="46" name="CustomShape 3"/>
          <p:cNvSpPr/>
          <p:nvPr/>
        </p:nvSpPr>
        <p:spPr>
          <a:xfrm>
            <a:off x="914400" y="1600200"/>
            <a:ext cx="10058040" cy="3798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222222"/>
                </a:solidFill>
                <a:latin typeface="Yu Gothic"/>
              </a:rPr>
              <a:t>0. </a:t>
            </a:r>
            <a:r>
              <a:rPr b="0" lang="zh-CN" sz="1900" spc="-1" strike="noStrike">
                <a:solidFill>
                  <a:srgbClr val="222222"/>
                </a:solidFill>
                <a:latin typeface="Yu Gothic"/>
              </a:rPr>
              <a:t>源流</a:t>
            </a:r>
            <a:r>
              <a:rPr b="0" lang="en-US" sz="1900" spc="-1" strike="noStrike">
                <a:solidFill>
                  <a:srgbClr val="222222"/>
                </a:solidFill>
                <a:latin typeface="Yu Gothic"/>
              </a:rPr>
              <a:t>: 1990</a:t>
            </a:r>
            <a:r>
              <a:rPr b="0" lang="zh-CN" sz="1900" spc="-1" strike="noStrike">
                <a:solidFill>
                  <a:srgbClr val="222222"/>
                </a:solidFill>
                <a:latin typeface="Yu Gothic"/>
              </a:rPr>
              <a:t>年代のリモートブレインロボット研究</a:t>
            </a:r>
            <a:endParaRPr b="0" lang="en-US" sz="1900" spc="-1" strike="noStrike">
              <a:latin typeface="Arial"/>
            </a:endParaRPr>
          </a:p>
        </p:txBody>
      </p:sp>
      <p:sp>
        <p:nvSpPr>
          <p:cNvPr id="47" name="CustomShape 4"/>
          <p:cNvSpPr/>
          <p:nvPr/>
        </p:nvSpPr>
        <p:spPr>
          <a:xfrm>
            <a:off x="914400" y="2221920"/>
            <a:ext cx="10058040" cy="3798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222222"/>
                </a:solidFill>
                <a:latin typeface="Yu Gothic"/>
              </a:rPr>
              <a:t>1. </a:t>
            </a:r>
            <a:r>
              <a:rPr b="0" lang="zh-CN" sz="1900" spc="-1" strike="noStrike">
                <a:solidFill>
                  <a:srgbClr val="222222"/>
                </a:solidFill>
                <a:latin typeface="Yu Gothic"/>
              </a:rPr>
              <a:t>現状</a:t>
            </a:r>
            <a:r>
              <a:rPr b="0" lang="en-US" sz="1900" spc="-1" strike="noStrike">
                <a:solidFill>
                  <a:srgbClr val="222222"/>
                </a:solidFill>
                <a:latin typeface="Yu Gothic"/>
              </a:rPr>
              <a:t>: kxr5s </a:t>
            </a:r>
            <a:r>
              <a:rPr b="0" lang="zh-CN" sz="1900" spc="-1" strike="noStrike">
                <a:solidFill>
                  <a:srgbClr val="222222"/>
                </a:solidFill>
                <a:latin typeface="Yu Gothic"/>
              </a:rPr>
              <a:t>は何ができていて、何が限界か</a:t>
            </a:r>
            <a:endParaRPr b="0" lang="en-US" sz="1900" spc="-1" strike="noStrike">
              <a:latin typeface="Arial"/>
            </a:endParaRPr>
          </a:p>
        </p:txBody>
      </p:sp>
      <p:sp>
        <p:nvSpPr>
          <p:cNvPr id="48" name="CustomShape 5"/>
          <p:cNvSpPr/>
          <p:nvPr/>
        </p:nvSpPr>
        <p:spPr>
          <a:xfrm>
            <a:off x="914400" y="2843640"/>
            <a:ext cx="10058040" cy="3798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222222"/>
                </a:solidFill>
                <a:latin typeface="Yu Gothic"/>
              </a:rPr>
              <a:t>2. </a:t>
            </a:r>
            <a:r>
              <a:rPr b="0" lang="zh-CN" sz="1900" spc="-1" strike="noStrike">
                <a:solidFill>
                  <a:srgbClr val="222222"/>
                </a:solidFill>
                <a:latin typeface="Yu Gothic"/>
              </a:rPr>
              <a:t>対象ロボットたち </a:t>
            </a:r>
            <a:r>
              <a:rPr b="0" lang="en-US" sz="1900" spc="-1" strike="noStrike">
                <a:solidFill>
                  <a:srgbClr val="222222"/>
                </a:solidFill>
                <a:latin typeface="Yu Gothic"/>
              </a:rPr>
              <a:t>-- kxrl4t / kxrl4d / kxrl6 / kxrl2g</a:t>
            </a:r>
            <a:endParaRPr b="0" lang="en-US" sz="1900" spc="-1" strike="noStrike">
              <a:latin typeface="Arial"/>
            </a:endParaRPr>
          </a:p>
        </p:txBody>
      </p:sp>
      <p:sp>
        <p:nvSpPr>
          <p:cNvPr id="49" name="CustomShape 6"/>
          <p:cNvSpPr/>
          <p:nvPr/>
        </p:nvSpPr>
        <p:spPr>
          <a:xfrm>
            <a:off x="914400" y="3465720"/>
            <a:ext cx="10058040" cy="3798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222222"/>
                </a:solidFill>
                <a:latin typeface="Yu Gothic"/>
              </a:rPr>
              <a:t>3. </a:t>
            </a:r>
            <a:r>
              <a:rPr b="0" lang="zh-CN" sz="1900" spc="-1" strike="noStrike">
                <a:solidFill>
                  <a:srgbClr val="222222"/>
                </a:solidFill>
                <a:latin typeface="Yu Gothic"/>
              </a:rPr>
              <a:t>なぜ「コンパイルして詰め込む」方式は</a:t>
            </a:r>
            <a:r>
              <a:rPr b="0" lang="en-US" sz="1900" spc="-1" strike="noStrike">
                <a:solidFill>
                  <a:srgbClr val="222222"/>
                </a:solidFill>
                <a:latin typeface="Yu Gothic"/>
              </a:rPr>
              <a:t>500</a:t>
            </a:r>
            <a:r>
              <a:rPr b="0" lang="zh-CN" sz="1900" spc="-1" strike="noStrike">
                <a:solidFill>
                  <a:srgbClr val="222222"/>
                </a:solidFill>
                <a:latin typeface="Yu Gothic"/>
              </a:rPr>
              <a:t>種類に届かないのか</a:t>
            </a:r>
            <a:endParaRPr b="0" lang="en-US" sz="1900" spc="-1" strike="noStrike">
              <a:latin typeface="Arial"/>
            </a:endParaRPr>
          </a:p>
        </p:txBody>
      </p:sp>
      <p:sp>
        <p:nvSpPr>
          <p:cNvPr id="50" name="CustomShape 7"/>
          <p:cNvSpPr/>
          <p:nvPr/>
        </p:nvSpPr>
        <p:spPr>
          <a:xfrm>
            <a:off x="914400" y="4087440"/>
            <a:ext cx="10058040" cy="3798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222222"/>
                </a:solidFill>
                <a:latin typeface="Yu Gothic"/>
              </a:rPr>
              <a:t>4. </a:t>
            </a:r>
            <a:r>
              <a:rPr b="0" lang="zh-CN" sz="1900" spc="-1" strike="noStrike">
                <a:solidFill>
                  <a:srgbClr val="222222"/>
                </a:solidFill>
                <a:latin typeface="Yu Gothic"/>
              </a:rPr>
              <a:t>目指す姿</a:t>
            </a:r>
            <a:r>
              <a:rPr b="0" lang="en-US" sz="1900" spc="-1" strike="noStrike">
                <a:solidFill>
                  <a:srgbClr val="222222"/>
                </a:solidFill>
                <a:latin typeface="Yu Gothic"/>
              </a:rPr>
              <a:t>: </a:t>
            </a:r>
            <a:r>
              <a:rPr b="0" lang="zh-CN" sz="1900" spc="-1" strike="noStrike">
                <a:solidFill>
                  <a:srgbClr val="222222"/>
                </a:solidFill>
                <a:latin typeface="Yu Gothic"/>
              </a:rPr>
              <a:t>ロボット非依存の汎用インタプリタ </a:t>
            </a:r>
            <a:r>
              <a:rPr b="0" lang="en-US" sz="1900" spc="-1" strike="noStrike">
                <a:solidFill>
                  <a:srgbClr val="222222"/>
                </a:solidFill>
                <a:latin typeface="Yu Gothic"/>
              </a:rPr>
              <a:t>+ </a:t>
            </a:r>
            <a:r>
              <a:rPr b="0" lang="zh-CN" sz="1900" spc="-1" strike="noStrike">
                <a:solidFill>
                  <a:srgbClr val="222222"/>
                </a:solidFill>
                <a:latin typeface="Yu Gothic"/>
              </a:rPr>
              <a:t>データ配信</a:t>
            </a:r>
            <a:endParaRPr b="0" lang="en-US" sz="1900" spc="-1" strike="noStrike">
              <a:latin typeface="Arial"/>
            </a:endParaRPr>
          </a:p>
        </p:txBody>
      </p:sp>
      <p:sp>
        <p:nvSpPr>
          <p:cNvPr id="51" name="CustomShape 8"/>
          <p:cNvSpPr/>
          <p:nvPr/>
        </p:nvSpPr>
        <p:spPr>
          <a:xfrm>
            <a:off x="914400" y="4709160"/>
            <a:ext cx="10058040" cy="3798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222222"/>
                </a:solidFill>
                <a:latin typeface="Yu Gothic"/>
              </a:rPr>
              <a:t>5. </a:t>
            </a:r>
            <a:r>
              <a:rPr b="0" lang="zh-CN" sz="1900" spc="-1" strike="noStrike">
                <a:solidFill>
                  <a:srgbClr val="222222"/>
                </a:solidFill>
                <a:latin typeface="Yu Gothic"/>
              </a:rPr>
              <a:t>サーボ</a:t>
            </a:r>
            <a:r>
              <a:rPr b="0" lang="en-US" sz="1900" spc="-1" strike="noStrike">
                <a:solidFill>
                  <a:srgbClr val="222222"/>
                </a:solidFill>
                <a:latin typeface="Yu Gothic"/>
              </a:rPr>
              <a:t>ID</a:t>
            </a:r>
            <a:r>
              <a:rPr b="0" lang="zh-CN" sz="1900" spc="-1" strike="noStrike">
                <a:solidFill>
                  <a:srgbClr val="222222"/>
                </a:solidFill>
                <a:latin typeface="Yu Gothic"/>
              </a:rPr>
              <a:t>自動検出 </a:t>
            </a:r>
            <a:r>
              <a:rPr b="0" lang="en-US" sz="1900" spc="-1" strike="noStrike">
                <a:solidFill>
                  <a:srgbClr val="222222"/>
                </a:solidFill>
                <a:latin typeface="Yu Gothic"/>
              </a:rPr>
              <a:t>x 3D</a:t>
            </a:r>
            <a:r>
              <a:rPr b="0" lang="zh-CN" sz="1900" spc="-1" strike="noStrike">
                <a:solidFill>
                  <a:srgbClr val="222222"/>
                </a:solidFill>
                <a:latin typeface="Yu Gothic"/>
              </a:rPr>
              <a:t>モデル選択の</a:t>
            </a:r>
            <a:r>
              <a:rPr b="0" lang="en-US" sz="1900" spc="-1" strike="noStrike">
                <a:solidFill>
                  <a:srgbClr val="222222"/>
                </a:solidFill>
                <a:latin typeface="Yu Gothic"/>
              </a:rPr>
              <a:t>UX</a:t>
            </a:r>
            <a:endParaRPr b="0" lang="en-US" sz="1900" spc="-1" strike="noStrike">
              <a:latin typeface="Arial"/>
            </a:endParaRPr>
          </a:p>
        </p:txBody>
      </p:sp>
      <p:sp>
        <p:nvSpPr>
          <p:cNvPr id="52" name="CustomShape 9"/>
          <p:cNvSpPr/>
          <p:nvPr/>
        </p:nvSpPr>
        <p:spPr>
          <a:xfrm>
            <a:off x="914400" y="5330880"/>
            <a:ext cx="10058040" cy="3798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222222"/>
                </a:solidFill>
                <a:latin typeface="Yu Gothic"/>
              </a:rPr>
              <a:t>6. </a:t>
            </a:r>
            <a:r>
              <a:rPr b="0" lang="zh-CN" sz="1900" spc="-1" strike="noStrike">
                <a:solidFill>
                  <a:srgbClr val="222222"/>
                </a:solidFill>
                <a:latin typeface="Yu Gothic"/>
              </a:rPr>
              <a:t>段階的ロードマップ</a:t>
            </a:r>
            <a:r>
              <a:rPr b="0" lang="en-US" sz="1900" spc="-1" strike="noStrike">
                <a:solidFill>
                  <a:srgbClr val="222222"/>
                </a:solidFill>
                <a:latin typeface="Yu Gothic"/>
              </a:rPr>
              <a:t>(</a:t>
            </a:r>
            <a:r>
              <a:rPr b="0" lang="zh-CN" sz="1900" spc="-1" strike="noStrike">
                <a:solidFill>
                  <a:srgbClr val="222222"/>
                </a:solidFill>
                <a:latin typeface="Yu Gothic"/>
              </a:rPr>
              <a:t>フェーズ</a:t>
            </a:r>
            <a:r>
              <a:rPr b="0" lang="en-US" sz="1900" spc="-1" strike="noStrike">
                <a:solidFill>
                  <a:srgbClr val="222222"/>
                </a:solidFill>
                <a:latin typeface="Yu Gothic"/>
              </a:rPr>
              <a:t>1</a:t>
            </a:r>
            <a:r>
              <a:rPr b="0" lang="zh-CN" sz="1900" spc="-1" strike="noStrike">
                <a:solidFill>
                  <a:srgbClr val="222222"/>
                </a:solidFill>
                <a:latin typeface="Yu Gothic"/>
              </a:rPr>
              <a:t>〜</a:t>
            </a:r>
            <a:r>
              <a:rPr b="0" lang="en-US" sz="1900" spc="-1" strike="noStrike">
                <a:solidFill>
                  <a:srgbClr val="222222"/>
                </a:solidFill>
                <a:latin typeface="Yu Gothic"/>
              </a:rPr>
              <a:t>5)</a:t>
            </a:r>
            <a:endParaRPr b="0" lang="en-US" sz="19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CustomShape 1"/>
          <p:cNvSpPr/>
          <p:nvPr/>
        </p:nvSpPr>
        <p:spPr>
          <a:xfrm>
            <a:off x="548640" y="320040"/>
            <a:ext cx="7314840" cy="3337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rgbClr val="2e6fc7"/>
                </a:solidFill>
                <a:latin typeface="Yu Gothic"/>
              </a:rPr>
              <a:t>ORIGINS -- 1990s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54" name="CustomShape 2"/>
          <p:cNvSpPr/>
          <p:nvPr/>
        </p:nvSpPr>
        <p:spPr>
          <a:xfrm>
            <a:off x="548640" y="685800"/>
            <a:ext cx="10515240" cy="5472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zh-CN" sz="3000" spc="-1" strike="noStrike">
                <a:solidFill>
                  <a:srgbClr val="1f2a44"/>
                </a:solidFill>
                <a:latin typeface="Yu Gothic"/>
              </a:rPr>
              <a:t>源流</a:t>
            </a:r>
            <a:r>
              <a:rPr b="1" lang="en-US" sz="3000" spc="-1" strike="noStrike">
                <a:solidFill>
                  <a:srgbClr val="1f2a44"/>
                </a:solidFill>
                <a:latin typeface="Yu Gothic"/>
              </a:rPr>
              <a:t>: </a:t>
            </a:r>
            <a:r>
              <a:rPr b="1" lang="zh-CN" sz="3000" spc="-1" strike="noStrike">
                <a:solidFill>
                  <a:srgbClr val="1f2a44"/>
                </a:solidFill>
                <a:latin typeface="Yu Gothic"/>
              </a:rPr>
              <a:t>リモートブレインロボット研究</a:t>
            </a:r>
            <a:r>
              <a:rPr b="1" lang="en-US" sz="3000" spc="-1" strike="noStrike">
                <a:solidFill>
                  <a:srgbClr val="1f2a44"/>
                </a:solidFill>
                <a:latin typeface="Yu Gothic"/>
              </a:rPr>
              <a:t>(1990</a:t>
            </a:r>
            <a:r>
              <a:rPr b="1" lang="zh-CN" sz="3000" spc="-1" strike="noStrike">
                <a:solidFill>
                  <a:srgbClr val="1f2a44"/>
                </a:solidFill>
                <a:latin typeface="Yu Gothic"/>
              </a:rPr>
              <a:t>年代</a:t>
            </a:r>
            <a:r>
              <a:rPr b="1" lang="en-US" sz="3000" spc="-1" strike="noStrike">
                <a:solidFill>
                  <a:srgbClr val="1f2a44"/>
                </a:solidFill>
                <a:latin typeface="Yu Gothic"/>
              </a:rPr>
              <a:t>)</a:t>
            </a:r>
            <a:endParaRPr b="0" lang="en-US" sz="3000" spc="-1" strike="noStrike">
              <a:latin typeface="Arial"/>
            </a:endParaRPr>
          </a:p>
        </p:txBody>
      </p:sp>
      <p:sp>
        <p:nvSpPr>
          <p:cNvPr id="55" name="CustomShape 3"/>
          <p:cNvSpPr/>
          <p:nvPr/>
        </p:nvSpPr>
        <p:spPr>
          <a:xfrm>
            <a:off x="548640" y="1371600"/>
            <a:ext cx="11063880" cy="8035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25000"/>
              </a:lnSpc>
            </a:pPr>
            <a:r>
              <a:rPr b="0" lang="zh-CN" sz="1250" spc="-1" strike="noStrike">
                <a:solidFill>
                  <a:srgbClr val="222222"/>
                </a:solidFill>
                <a:latin typeface="Yu Gothic"/>
              </a:rPr>
              <a:t>「脳」はトランスピュータ数十個</a:t>
            </a:r>
            <a:r>
              <a:rPr b="0" lang="en-US" sz="1250" spc="-1" strike="noStrike">
                <a:solidFill>
                  <a:srgbClr val="222222"/>
                </a:solidFill>
                <a:latin typeface="Yu Gothic"/>
              </a:rPr>
              <a:t>+MEP</a:t>
            </a:r>
            <a:r>
              <a:rPr b="0" lang="zh-CN" sz="1250" spc="-1" strike="noStrike">
                <a:solidFill>
                  <a:srgbClr val="222222"/>
                </a:solidFill>
                <a:latin typeface="Yu Gothic"/>
              </a:rPr>
              <a:t>搭載の視覚処理タワー </a:t>
            </a:r>
            <a:r>
              <a:rPr b="0" lang="en-US" sz="1250" spc="-1" strike="noStrike">
                <a:solidFill>
                  <a:srgbClr val="222222"/>
                </a:solidFill>
                <a:latin typeface="Yu Gothic"/>
              </a:rPr>
              <a:t>+ Sun</a:t>
            </a:r>
            <a:r>
              <a:rPr b="0" lang="zh-CN" sz="1250" spc="-1" strike="noStrike">
                <a:solidFill>
                  <a:srgbClr val="222222"/>
                </a:solidFill>
                <a:latin typeface="Yu Gothic"/>
              </a:rPr>
              <a:t>ワークステーション</a:t>
            </a:r>
            <a:r>
              <a:rPr b="0" lang="en-US" sz="1250" spc="-1" strike="noStrike">
                <a:solidFill>
                  <a:srgbClr val="222222"/>
                </a:solidFill>
                <a:latin typeface="Yu Gothic"/>
              </a:rPr>
              <a:t>(</a:t>
            </a:r>
            <a:r>
              <a:rPr b="0" lang="zh-CN" sz="1250" spc="-1" strike="noStrike">
                <a:solidFill>
                  <a:srgbClr val="222222"/>
                </a:solidFill>
                <a:latin typeface="Yu Gothic"/>
              </a:rPr>
              <a:t>学生間でソフト共有</a:t>
            </a:r>
            <a:r>
              <a:rPr b="0" lang="en-US" sz="1250" spc="-1" strike="noStrike">
                <a:solidFill>
                  <a:srgbClr val="222222"/>
                </a:solidFill>
                <a:latin typeface="Yu Gothic"/>
              </a:rPr>
              <a:t>)</a:t>
            </a:r>
            <a:r>
              <a:rPr b="0" lang="zh-CN" sz="1250" spc="-1" strike="noStrike">
                <a:solidFill>
                  <a:srgbClr val="222222"/>
                </a:solidFill>
                <a:latin typeface="Yu Gothic"/>
              </a:rPr>
              <a:t>。</a:t>
            </a:r>
            <a:endParaRPr b="0" lang="en-US" sz="1250" spc="-1" strike="noStrike">
              <a:latin typeface="Arial"/>
            </a:endParaRPr>
          </a:p>
          <a:p>
            <a:pPr>
              <a:lnSpc>
                <a:spcPct val="125000"/>
              </a:lnSpc>
            </a:pPr>
            <a:r>
              <a:rPr b="0" lang="zh-CN" sz="1250" spc="-1" strike="noStrike">
                <a:solidFill>
                  <a:srgbClr val="222222"/>
                </a:solidFill>
                <a:latin typeface="Yu Gothic"/>
              </a:rPr>
              <a:t>「身体」は</a:t>
            </a:r>
            <a:r>
              <a:rPr b="0" lang="en-US" sz="1250" spc="-1" strike="noStrike">
                <a:solidFill>
                  <a:srgbClr val="222222"/>
                </a:solidFill>
                <a:latin typeface="Yu Gothic"/>
              </a:rPr>
              <a:t>RC</a:t>
            </a:r>
            <a:r>
              <a:rPr b="0" lang="zh-CN" sz="1250" spc="-1" strike="noStrike">
                <a:solidFill>
                  <a:srgbClr val="222222"/>
                </a:solidFill>
                <a:latin typeface="Yu Gothic"/>
              </a:rPr>
              <a:t>用アクチュエータ</a:t>
            </a:r>
            <a:r>
              <a:rPr b="0" lang="en-US" sz="1250" spc="-1" strike="noStrike">
                <a:solidFill>
                  <a:srgbClr val="222222"/>
                </a:solidFill>
                <a:latin typeface="Yu Gothic"/>
              </a:rPr>
              <a:t>+</a:t>
            </a:r>
            <a:r>
              <a:rPr b="0" lang="zh-CN" sz="1250" spc="-1" strike="noStrike">
                <a:solidFill>
                  <a:srgbClr val="222222"/>
                </a:solidFill>
                <a:latin typeface="Yu Gothic"/>
              </a:rPr>
              <a:t>受信モジュール</a:t>
            </a:r>
            <a:r>
              <a:rPr b="0" lang="en-US" sz="1250" spc="-1" strike="noStrike">
                <a:solidFill>
                  <a:srgbClr val="222222"/>
                </a:solidFill>
                <a:latin typeface="Yu Gothic"/>
              </a:rPr>
              <a:t>+</a:t>
            </a:r>
            <a:r>
              <a:rPr b="0" lang="zh-CN" sz="1250" spc="-1" strike="noStrike">
                <a:solidFill>
                  <a:srgbClr val="222222"/>
                </a:solidFill>
                <a:latin typeface="Yu Gothic"/>
              </a:rPr>
              <a:t>カメラ</a:t>
            </a:r>
            <a:r>
              <a:rPr b="0" lang="en-US" sz="1250" spc="-1" strike="noStrike">
                <a:solidFill>
                  <a:srgbClr val="222222"/>
                </a:solidFill>
                <a:latin typeface="Yu Gothic"/>
              </a:rPr>
              <a:t>+</a:t>
            </a:r>
            <a:r>
              <a:rPr b="0" lang="zh-CN" sz="1250" spc="-1" strike="noStrike">
                <a:solidFill>
                  <a:srgbClr val="222222"/>
                </a:solidFill>
                <a:latin typeface="Yu Gothic"/>
              </a:rPr>
              <a:t>映像送信機のみの軽量構成 </a:t>
            </a:r>
            <a:r>
              <a:rPr b="0" lang="en-US" sz="1250" spc="-1" strike="noStrike">
                <a:solidFill>
                  <a:srgbClr val="222222"/>
                </a:solidFill>
                <a:latin typeface="Yu Gothic"/>
              </a:rPr>
              <a:t>-- </a:t>
            </a:r>
            <a:r>
              <a:rPr b="0" lang="zh-CN" sz="1250" spc="-1" strike="noStrike">
                <a:solidFill>
                  <a:srgbClr val="222222"/>
                </a:solidFill>
                <a:latin typeface="Yu Gothic"/>
              </a:rPr>
              <a:t>同じタワーに、</a:t>
            </a:r>
            <a:endParaRPr b="0" lang="en-US" sz="1250" spc="-1" strike="noStrike">
              <a:latin typeface="Arial"/>
            </a:endParaRPr>
          </a:p>
          <a:p>
            <a:pPr>
              <a:lnSpc>
                <a:spcPct val="125000"/>
              </a:lnSpc>
            </a:pPr>
            <a:r>
              <a:rPr b="0" lang="zh-CN" sz="1250" spc="-1" strike="noStrike">
                <a:solidFill>
                  <a:srgbClr val="222222"/>
                </a:solidFill>
                <a:latin typeface="Yu Gothic"/>
              </a:rPr>
              <a:t>形態の異なる様々なロボット身体をつないで全身行動を実装した</a:t>
            </a:r>
            <a:r>
              <a:rPr b="0" lang="en-US" sz="1250" spc="-1" strike="noStrike">
                <a:solidFill>
                  <a:srgbClr val="222222"/>
                </a:solidFill>
                <a:latin typeface="Yu Gothic"/>
              </a:rPr>
              <a:t>(</a:t>
            </a:r>
            <a:r>
              <a:rPr b="0" lang="zh-CN" sz="1250" spc="-1" strike="noStrike">
                <a:solidFill>
                  <a:srgbClr val="222222"/>
                </a:solidFill>
                <a:latin typeface="Yu Gothic"/>
              </a:rPr>
              <a:t>出典</a:t>
            </a:r>
            <a:r>
              <a:rPr b="0" lang="en-US" sz="1250" spc="-1" strike="noStrike">
                <a:solidFill>
                  <a:srgbClr val="222222"/>
                </a:solidFill>
                <a:latin typeface="Yu Gothic"/>
              </a:rPr>
              <a:t>: JSK Remote-Brained Robotics)</a:t>
            </a:r>
            <a:r>
              <a:rPr b="0" lang="zh-CN" sz="1250" spc="-1" strike="noStrike">
                <a:solidFill>
                  <a:srgbClr val="222222"/>
                </a:solidFill>
                <a:latin typeface="Yu Gothic"/>
              </a:rPr>
              <a:t>。</a:t>
            </a:r>
            <a:endParaRPr b="0" lang="en-US" sz="1250" spc="-1" strike="noStrike">
              <a:latin typeface="Arial"/>
            </a:endParaRPr>
          </a:p>
        </p:txBody>
      </p:sp>
      <p:sp>
        <p:nvSpPr>
          <p:cNvPr id="56" name="CustomShape 4"/>
          <p:cNvSpPr/>
          <p:nvPr/>
        </p:nvSpPr>
        <p:spPr>
          <a:xfrm>
            <a:off x="548640" y="2286000"/>
            <a:ext cx="3611520" cy="411120"/>
          </a:xfrm>
          <a:prstGeom prst="roundRect">
            <a:avLst>
              <a:gd name="adj" fmla="val 16667"/>
            </a:avLst>
          </a:prstGeom>
          <a:solidFill>
            <a:srgbClr val="2e6fc7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zh-CN" sz="1300" spc="-1" strike="noStrike">
                <a:solidFill>
                  <a:srgbClr val="ffffff"/>
                </a:solidFill>
                <a:latin typeface="Yu Gothic"/>
              </a:rPr>
              <a:t>車輪型</a:t>
            </a:r>
            <a:r>
              <a:rPr b="1" lang="en-US" sz="1300" spc="-1" strike="noStrike">
                <a:solidFill>
                  <a:srgbClr val="ffffff"/>
                </a:solidFill>
                <a:latin typeface="Yu Gothic"/>
              </a:rPr>
              <a:t>(Wheeled)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57" name="CustomShape 5"/>
          <p:cNvSpPr/>
          <p:nvPr/>
        </p:nvSpPr>
        <p:spPr>
          <a:xfrm>
            <a:off x="640080" y="2834640"/>
            <a:ext cx="1096920" cy="1051200"/>
          </a:xfrm>
          <a:prstGeom prst="rect">
            <a:avLst/>
          </a:prstGeom>
          <a:solidFill>
            <a:srgbClr val="f2f4f8"/>
          </a:solidFill>
          <a:ln w="12600">
            <a:solidFill>
              <a:srgbClr val="6b7280"/>
            </a:solidFill>
            <a:round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pic>
        <p:nvPicPr>
          <p:cNvPr id="58" name="Picture 6" descr="sumo_small.gif"/>
          <p:cNvPicPr/>
          <p:nvPr/>
        </p:nvPicPr>
        <p:blipFill>
          <a:blip r:embed="rId1"/>
          <a:stretch/>
        </p:blipFill>
        <p:spPr>
          <a:xfrm>
            <a:off x="676800" y="2940480"/>
            <a:ext cx="1023840" cy="839880"/>
          </a:xfrm>
          <a:prstGeom prst="rect">
            <a:avLst/>
          </a:prstGeom>
          <a:ln>
            <a:noFill/>
          </a:ln>
        </p:spPr>
      </p:pic>
      <p:sp>
        <p:nvSpPr>
          <p:cNvPr id="59" name="CustomShape 6"/>
          <p:cNvSpPr/>
          <p:nvPr/>
        </p:nvSpPr>
        <p:spPr>
          <a:xfrm>
            <a:off x="640080" y="3904560"/>
            <a:ext cx="1096920" cy="2275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222222"/>
                </a:solidFill>
                <a:latin typeface="Yu Gothic"/>
              </a:rPr>
              <a:t>Sumo Robot</a:t>
            </a:r>
            <a:endParaRPr b="0" lang="en-US" sz="900" spc="-1" strike="noStrike">
              <a:latin typeface="Arial"/>
            </a:endParaRPr>
          </a:p>
        </p:txBody>
      </p:sp>
      <p:sp>
        <p:nvSpPr>
          <p:cNvPr id="60" name="CustomShape 7"/>
          <p:cNvSpPr/>
          <p:nvPr/>
        </p:nvSpPr>
        <p:spPr>
          <a:xfrm>
            <a:off x="1828800" y="2834640"/>
            <a:ext cx="1096920" cy="1051200"/>
          </a:xfrm>
          <a:prstGeom prst="rect">
            <a:avLst/>
          </a:prstGeom>
          <a:solidFill>
            <a:srgbClr val="f2f4f8"/>
          </a:solidFill>
          <a:ln w="12600">
            <a:solidFill>
              <a:srgbClr val="6b7280"/>
            </a:solidFill>
            <a:round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pic>
        <p:nvPicPr>
          <p:cNvPr id="61" name="Picture 9" descr="distributed_small.gif"/>
          <p:cNvPicPr/>
          <p:nvPr/>
        </p:nvPicPr>
        <p:blipFill>
          <a:blip r:embed="rId2"/>
          <a:stretch/>
        </p:blipFill>
        <p:spPr>
          <a:xfrm>
            <a:off x="1865520" y="2982600"/>
            <a:ext cx="1023840" cy="755640"/>
          </a:xfrm>
          <a:prstGeom prst="rect">
            <a:avLst/>
          </a:prstGeom>
          <a:ln>
            <a:noFill/>
          </a:ln>
        </p:spPr>
      </p:pic>
      <p:sp>
        <p:nvSpPr>
          <p:cNvPr id="62" name="CustomShape 8"/>
          <p:cNvSpPr/>
          <p:nvPr/>
        </p:nvSpPr>
        <p:spPr>
          <a:xfrm>
            <a:off x="1828800" y="3904560"/>
            <a:ext cx="1096920" cy="3646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222222"/>
                </a:solidFill>
                <a:latin typeface="Yu Gothic"/>
              </a:rPr>
              <a:t>Distributed</a:t>
            </a:r>
            <a:endParaRPr b="0" lang="en-US" sz="9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222222"/>
                </a:solidFill>
                <a:latin typeface="Yu Gothic"/>
              </a:rPr>
              <a:t>Modular</a:t>
            </a:r>
            <a:endParaRPr b="0" lang="en-US" sz="900" spc="-1" strike="noStrike">
              <a:latin typeface="Arial"/>
            </a:endParaRPr>
          </a:p>
        </p:txBody>
      </p:sp>
      <p:sp>
        <p:nvSpPr>
          <p:cNvPr id="63" name="CustomShape 9"/>
          <p:cNvSpPr/>
          <p:nvPr/>
        </p:nvSpPr>
        <p:spPr>
          <a:xfrm>
            <a:off x="3017520" y="2834640"/>
            <a:ext cx="1096920" cy="1051200"/>
          </a:xfrm>
          <a:prstGeom prst="rect">
            <a:avLst/>
          </a:prstGeom>
          <a:solidFill>
            <a:srgbClr val="f2f4f8"/>
          </a:solidFill>
          <a:ln w="12600">
            <a:solidFill>
              <a:srgbClr val="6b7280"/>
            </a:solidFill>
            <a:round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pic>
        <p:nvPicPr>
          <p:cNvPr id="64" name="Picture 12" descr="nomoid_small.gif"/>
          <p:cNvPicPr/>
          <p:nvPr/>
        </p:nvPicPr>
        <p:blipFill>
          <a:blip r:embed="rId3"/>
          <a:stretch/>
        </p:blipFill>
        <p:spPr>
          <a:xfrm>
            <a:off x="3054240" y="2985840"/>
            <a:ext cx="1023840" cy="749160"/>
          </a:xfrm>
          <a:prstGeom prst="rect">
            <a:avLst/>
          </a:prstGeom>
          <a:ln>
            <a:noFill/>
          </a:ln>
        </p:spPr>
      </p:pic>
      <p:sp>
        <p:nvSpPr>
          <p:cNvPr id="65" name="CustomShape 10"/>
          <p:cNvSpPr/>
          <p:nvPr/>
        </p:nvSpPr>
        <p:spPr>
          <a:xfrm>
            <a:off x="3017520" y="3904560"/>
            <a:ext cx="1096920" cy="2275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222222"/>
                </a:solidFill>
                <a:latin typeface="Yu Gothic"/>
              </a:rPr>
              <a:t>Nomoid</a:t>
            </a:r>
            <a:endParaRPr b="0" lang="en-US" sz="900" spc="-1" strike="noStrike">
              <a:latin typeface="Arial"/>
            </a:endParaRPr>
          </a:p>
        </p:txBody>
      </p:sp>
      <p:sp>
        <p:nvSpPr>
          <p:cNvPr id="66" name="CustomShape 11"/>
          <p:cNvSpPr/>
          <p:nvPr/>
        </p:nvSpPr>
        <p:spPr>
          <a:xfrm>
            <a:off x="4297680" y="2286000"/>
            <a:ext cx="3611520" cy="411120"/>
          </a:xfrm>
          <a:prstGeom prst="roundRect">
            <a:avLst>
              <a:gd name="adj" fmla="val 16667"/>
            </a:avLst>
          </a:prstGeom>
          <a:solidFill>
            <a:srgbClr val="2ea059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Yu Gothic"/>
              </a:rPr>
              <a:t>4</a:t>
            </a:r>
            <a:r>
              <a:rPr b="1" lang="zh-CN" sz="1300" spc="-1" strike="noStrike">
                <a:solidFill>
                  <a:srgbClr val="ffffff"/>
                </a:solidFill>
                <a:latin typeface="Yu Gothic"/>
              </a:rPr>
              <a:t>脚型</a:t>
            </a:r>
            <a:r>
              <a:rPr b="1" lang="en-US" sz="1300" spc="-1" strike="noStrike">
                <a:solidFill>
                  <a:srgbClr val="ffffff"/>
                </a:solidFill>
                <a:latin typeface="Yu Gothic"/>
              </a:rPr>
              <a:t>(Quadruped)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67" name="CustomShape 12"/>
          <p:cNvSpPr/>
          <p:nvPr/>
        </p:nvSpPr>
        <p:spPr>
          <a:xfrm>
            <a:off x="4389120" y="2834640"/>
            <a:ext cx="1096920" cy="1051200"/>
          </a:xfrm>
          <a:prstGeom prst="rect">
            <a:avLst/>
          </a:prstGeom>
          <a:solidFill>
            <a:srgbClr val="f2f4f8"/>
          </a:solidFill>
          <a:ln w="12600">
            <a:solidFill>
              <a:srgbClr val="6b7280"/>
            </a:solidFill>
            <a:round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pic>
        <p:nvPicPr>
          <p:cNvPr id="68" name="Picture 16" descr="goemon_small.gif"/>
          <p:cNvPicPr/>
          <p:nvPr/>
        </p:nvPicPr>
        <p:blipFill>
          <a:blip r:embed="rId4"/>
          <a:stretch/>
        </p:blipFill>
        <p:spPr>
          <a:xfrm>
            <a:off x="4425840" y="2975400"/>
            <a:ext cx="1023840" cy="769680"/>
          </a:xfrm>
          <a:prstGeom prst="rect">
            <a:avLst/>
          </a:prstGeom>
          <a:ln>
            <a:noFill/>
          </a:ln>
        </p:spPr>
      </p:pic>
      <p:sp>
        <p:nvSpPr>
          <p:cNvPr id="69" name="CustomShape 13"/>
          <p:cNvSpPr/>
          <p:nvPr/>
        </p:nvSpPr>
        <p:spPr>
          <a:xfrm>
            <a:off x="4389120" y="3904560"/>
            <a:ext cx="1096920" cy="2275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222222"/>
                </a:solidFill>
                <a:latin typeface="Yu Gothic"/>
              </a:rPr>
              <a:t>Goemon</a:t>
            </a:r>
            <a:endParaRPr b="0" lang="en-US" sz="900" spc="-1" strike="noStrike">
              <a:latin typeface="Arial"/>
            </a:endParaRPr>
          </a:p>
        </p:txBody>
      </p:sp>
      <p:sp>
        <p:nvSpPr>
          <p:cNvPr id="70" name="CustomShape 14"/>
          <p:cNvSpPr/>
          <p:nvPr/>
        </p:nvSpPr>
        <p:spPr>
          <a:xfrm>
            <a:off x="5577840" y="2834640"/>
            <a:ext cx="1096920" cy="1051200"/>
          </a:xfrm>
          <a:prstGeom prst="rect">
            <a:avLst/>
          </a:prstGeom>
          <a:solidFill>
            <a:srgbClr val="f2f4f8"/>
          </a:solidFill>
          <a:ln w="12600">
            <a:solidFill>
              <a:srgbClr val="6b7280"/>
            </a:solidFill>
            <a:round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pic>
        <p:nvPicPr>
          <p:cNvPr id="71" name="Picture 19" descr="tama_small.gif"/>
          <p:cNvPicPr/>
          <p:nvPr/>
        </p:nvPicPr>
        <p:blipFill>
          <a:blip r:embed="rId5"/>
          <a:stretch/>
        </p:blipFill>
        <p:spPr>
          <a:xfrm>
            <a:off x="5614560" y="3020400"/>
            <a:ext cx="1023840" cy="680040"/>
          </a:xfrm>
          <a:prstGeom prst="rect">
            <a:avLst/>
          </a:prstGeom>
          <a:ln>
            <a:noFill/>
          </a:ln>
        </p:spPr>
      </p:pic>
      <p:sp>
        <p:nvSpPr>
          <p:cNvPr id="72" name="CustomShape 15"/>
          <p:cNvSpPr/>
          <p:nvPr/>
        </p:nvSpPr>
        <p:spPr>
          <a:xfrm>
            <a:off x="5577840" y="3904560"/>
            <a:ext cx="1096920" cy="2275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222222"/>
                </a:solidFill>
                <a:latin typeface="Yu Gothic"/>
              </a:rPr>
              <a:t>Tama</a:t>
            </a:r>
            <a:endParaRPr b="0" lang="en-US" sz="900" spc="-1" strike="noStrike">
              <a:latin typeface="Arial"/>
            </a:endParaRPr>
          </a:p>
        </p:txBody>
      </p:sp>
      <p:sp>
        <p:nvSpPr>
          <p:cNvPr id="73" name="CustomShape 16"/>
          <p:cNvSpPr/>
          <p:nvPr/>
        </p:nvSpPr>
        <p:spPr>
          <a:xfrm>
            <a:off x="6766560" y="2834640"/>
            <a:ext cx="1096920" cy="1051200"/>
          </a:xfrm>
          <a:prstGeom prst="rect">
            <a:avLst/>
          </a:prstGeom>
          <a:solidFill>
            <a:srgbClr val="f2f4f8"/>
          </a:solidFill>
          <a:ln w="12600">
            <a:solidFill>
              <a:srgbClr val="6b7280"/>
            </a:solidFill>
            <a:round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pic>
        <p:nvPicPr>
          <p:cNvPr id="74" name="Picture 22" descr="kama3_small.gif"/>
          <p:cNvPicPr/>
          <p:nvPr/>
        </p:nvPicPr>
        <p:blipFill>
          <a:blip r:embed="rId6"/>
          <a:stretch/>
        </p:blipFill>
        <p:spPr>
          <a:xfrm>
            <a:off x="6822000" y="2871360"/>
            <a:ext cx="986400" cy="978120"/>
          </a:xfrm>
          <a:prstGeom prst="rect">
            <a:avLst/>
          </a:prstGeom>
          <a:ln>
            <a:noFill/>
          </a:ln>
        </p:spPr>
      </p:pic>
      <p:sp>
        <p:nvSpPr>
          <p:cNvPr id="75" name="CustomShape 17"/>
          <p:cNvSpPr/>
          <p:nvPr/>
        </p:nvSpPr>
        <p:spPr>
          <a:xfrm>
            <a:off x="6766560" y="3904560"/>
            <a:ext cx="1096920" cy="2275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222222"/>
                </a:solidFill>
                <a:latin typeface="Yu Gothic"/>
              </a:rPr>
              <a:t>Kamakiri</a:t>
            </a:r>
            <a:endParaRPr b="0" lang="en-US" sz="900" spc="-1" strike="noStrike">
              <a:latin typeface="Arial"/>
            </a:endParaRPr>
          </a:p>
        </p:txBody>
      </p:sp>
      <p:sp>
        <p:nvSpPr>
          <p:cNvPr id="76" name="CustomShape 18"/>
          <p:cNvSpPr/>
          <p:nvPr/>
        </p:nvSpPr>
        <p:spPr>
          <a:xfrm>
            <a:off x="8046720" y="2286000"/>
            <a:ext cx="3611520" cy="411120"/>
          </a:xfrm>
          <a:prstGeom prst="roundRect">
            <a:avLst>
              <a:gd name="adj" fmla="val 16667"/>
            </a:avLst>
          </a:prstGeom>
          <a:solidFill>
            <a:srgbClr val="b03030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zh-CN" sz="1300" spc="-1" strike="noStrike">
                <a:solidFill>
                  <a:srgbClr val="ffffff"/>
                </a:solidFill>
                <a:latin typeface="Yu Gothic"/>
              </a:rPr>
              <a:t>ヒューマノイド型</a:t>
            </a:r>
            <a:r>
              <a:rPr b="1" lang="en-US" sz="1300" spc="-1" strike="noStrike">
                <a:solidFill>
                  <a:srgbClr val="ffffff"/>
                </a:solidFill>
                <a:latin typeface="Yu Gothic"/>
              </a:rPr>
              <a:t>(Humanoid)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77" name="CustomShape 19"/>
          <p:cNvSpPr/>
          <p:nvPr/>
        </p:nvSpPr>
        <p:spPr>
          <a:xfrm>
            <a:off x="8138160" y="2834640"/>
            <a:ext cx="1096920" cy="1051200"/>
          </a:xfrm>
          <a:prstGeom prst="rect">
            <a:avLst/>
          </a:prstGeom>
          <a:solidFill>
            <a:srgbClr val="f2f4f8"/>
          </a:solidFill>
          <a:ln w="12600">
            <a:solidFill>
              <a:srgbClr val="6b7280"/>
            </a:solidFill>
            <a:round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pic>
        <p:nvPicPr>
          <p:cNvPr id="78" name="Picture 26" descr="hanzou_small.gif"/>
          <p:cNvPicPr/>
          <p:nvPr/>
        </p:nvPicPr>
        <p:blipFill>
          <a:blip r:embed="rId7"/>
          <a:stretch/>
        </p:blipFill>
        <p:spPr>
          <a:xfrm>
            <a:off x="8393760" y="2871360"/>
            <a:ext cx="585720" cy="978120"/>
          </a:xfrm>
          <a:prstGeom prst="rect">
            <a:avLst/>
          </a:prstGeom>
          <a:ln>
            <a:noFill/>
          </a:ln>
        </p:spPr>
      </p:pic>
      <p:sp>
        <p:nvSpPr>
          <p:cNvPr id="79" name="CustomShape 20"/>
          <p:cNvSpPr/>
          <p:nvPr/>
        </p:nvSpPr>
        <p:spPr>
          <a:xfrm>
            <a:off x="8138160" y="3904560"/>
            <a:ext cx="1096920" cy="2275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222222"/>
                </a:solidFill>
                <a:latin typeface="Yu Gothic"/>
              </a:rPr>
              <a:t>Hanzou</a:t>
            </a:r>
            <a:endParaRPr b="0" lang="en-US" sz="900" spc="-1" strike="noStrike">
              <a:latin typeface="Arial"/>
            </a:endParaRPr>
          </a:p>
        </p:txBody>
      </p:sp>
      <p:sp>
        <p:nvSpPr>
          <p:cNvPr id="80" name="CustomShape 21"/>
          <p:cNvSpPr/>
          <p:nvPr/>
        </p:nvSpPr>
        <p:spPr>
          <a:xfrm>
            <a:off x="9326880" y="2834640"/>
            <a:ext cx="1096920" cy="1051200"/>
          </a:xfrm>
          <a:prstGeom prst="rect">
            <a:avLst/>
          </a:prstGeom>
          <a:solidFill>
            <a:srgbClr val="f2f4f8"/>
          </a:solidFill>
          <a:ln w="12600">
            <a:solidFill>
              <a:srgbClr val="6b7280"/>
            </a:solidFill>
            <a:round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pic>
        <p:nvPicPr>
          <p:cNvPr id="81" name="Picture 29" descr="akira-small.gif"/>
          <p:cNvPicPr/>
          <p:nvPr/>
        </p:nvPicPr>
        <p:blipFill>
          <a:blip r:embed="rId8"/>
          <a:stretch/>
        </p:blipFill>
        <p:spPr>
          <a:xfrm>
            <a:off x="9487440" y="2871360"/>
            <a:ext cx="775800" cy="978120"/>
          </a:xfrm>
          <a:prstGeom prst="rect">
            <a:avLst/>
          </a:prstGeom>
          <a:ln>
            <a:noFill/>
          </a:ln>
        </p:spPr>
      </p:pic>
      <p:sp>
        <p:nvSpPr>
          <p:cNvPr id="82" name="CustomShape 22"/>
          <p:cNvSpPr/>
          <p:nvPr/>
        </p:nvSpPr>
        <p:spPr>
          <a:xfrm>
            <a:off x="9326880" y="3904560"/>
            <a:ext cx="1096920" cy="2275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222222"/>
                </a:solidFill>
                <a:latin typeface="Yu Gothic"/>
              </a:rPr>
              <a:t>Akira</a:t>
            </a:r>
            <a:endParaRPr b="0" lang="en-US" sz="900" spc="-1" strike="noStrike">
              <a:latin typeface="Arial"/>
            </a:endParaRPr>
          </a:p>
        </p:txBody>
      </p:sp>
      <p:sp>
        <p:nvSpPr>
          <p:cNvPr id="83" name="CustomShape 23"/>
          <p:cNvSpPr/>
          <p:nvPr/>
        </p:nvSpPr>
        <p:spPr>
          <a:xfrm>
            <a:off x="10515600" y="2834640"/>
            <a:ext cx="1096920" cy="1051200"/>
          </a:xfrm>
          <a:prstGeom prst="rect">
            <a:avLst/>
          </a:prstGeom>
          <a:solidFill>
            <a:srgbClr val="f2f4f8"/>
          </a:solidFill>
          <a:ln w="12600">
            <a:solidFill>
              <a:srgbClr val="6b7280"/>
            </a:solidFill>
            <a:round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pic>
        <p:nvPicPr>
          <p:cNvPr id="84" name="Picture 32" descr="kaz.jpg"/>
          <p:cNvPicPr/>
          <p:nvPr/>
        </p:nvPicPr>
        <p:blipFill>
          <a:blip r:embed="rId9"/>
          <a:stretch/>
        </p:blipFill>
        <p:spPr>
          <a:xfrm>
            <a:off x="10553400" y="2871360"/>
            <a:ext cx="1021320" cy="978120"/>
          </a:xfrm>
          <a:prstGeom prst="rect">
            <a:avLst/>
          </a:prstGeom>
          <a:ln>
            <a:noFill/>
          </a:ln>
        </p:spPr>
      </p:pic>
      <p:sp>
        <p:nvSpPr>
          <p:cNvPr id="85" name="CustomShape 24"/>
          <p:cNvSpPr/>
          <p:nvPr/>
        </p:nvSpPr>
        <p:spPr>
          <a:xfrm>
            <a:off x="10515600" y="3904560"/>
            <a:ext cx="1096920" cy="2275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222222"/>
                </a:solidFill>
                <a:latin typeface="Yu Gothic"/>
              </a:rPr>
              <a:t>Kaz</a:t>
            </a:r>
            <a:endParaRPr b="0" lang="en-US" sz="900" spc="-1" strike="noStrike">
              <a:latin typeface="Arial"/>
            </a:endParaRPr>
          </a:p>
        </p:txBody>
      </p:sp>
      <p:sp>
        <p:nvSpPr>
          <p:cNvPr id="86" name="CustomShape 25"/>
          <p:cNvSpPr/>
          <p:nvPr/>
        </p:nvSpPr>
        <p:spPr>
          <a:xfrm>
            <a:off x="548640" y="4709160"/>
            <a:ext cx="11063880" cy="12189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30000"/>
              </a:lnSpc>
            </a:pPr>
            <a:r>
              <a:rPr b="0" lang="zh-CN" sz="1300" spc="-1" strike="noStrike">
                <a:solidFill>
                  <a:srgbClr val="222222"/>
                </a:solidFill>
                <a:latin typeface="Yu Gothic"/>
              </a:rPr>
              <a:t>様々な形態のロボットで全身行動を実装し、</a:t>
            </a:r>
            <a:r>
              <a:rPr b="0" lang="en-US" sz="1300" spc="-1" strike="noStrike">
                <a:solidFill>
                  <a:srgbClr val="222222"/>
                </a:solidFill>
                <a:latin typeface="Yu Gothic"/>
              </a:rPr>
              <a:t>ISRR</a:t>
            </a:r>
            <a:r>
              <a:rPr b="0" lang="zh-CN" sz="1300" spc="-1" strike="noStrike">
                <a:solidFill>
                  <a:srgbClr val="222222"/>
                </a:solidFill>
                <a:latin typeface="Yu Gothic"/>
              </a:rPr>
              <a:t>・</a:t>
            </a:r>
            <a:r>
              <a:rPr b="0" lang="en-US" sz="1300" spc="-1" strike="noStrike">
                <a:solidFill>
                  <a:srgbClr val="222222"/>
                </a:solidFill>
                <a:latin typeface="Yu Gothic"/>
              </a:rPr>
              <a:t>RSJ</a:t>
            </a:r>
            <a:r>
              <a:rPr b="0" lang="zh-CN" sz="1300" spc="-1" strike="noStrike">
                <a:solidFill>
                  <a:srgbClr val="222222"/>
                </a:solidFill>
                <a:latin typeface="Yu Gothic"/>
              </a:rPr>
              <a:t>で発表 </a:t>
            </a:r>
            <a:r>
              <a:rPr b="0" lang="en-US" sz="1300" spc="-1" strike="noStrike">
                <a:solidFill>
                  <a:srgbClr val="222222"/>
                </a:solidFill>
                <a:latin typeface="Yu Gothic"/>
              </a:rPr>
              <a:t>-- </a:t>
            </a:r>
            <a:r>
              <a:rPr b="0" lang="zh-CN" sz="1300" spc="-1" strike="noStrike">
                <a:solidFill>
                  <a:srgbClr val="222222"/>
                </a:solidFill>
                <a:latin typeface="Yu Gothic"/>
              </a:rPr>
              <a:t>多数の博士論文もここから生まれた。</a:t>
            </a:r>
            <a:endParaRPr b="0" lang="en-US" sz="1300" spc="-1" strike="noStrike">
              <a:latin typeface="Arial"/>
            </a:endParaRPr>
          </a:p>
          <a:p>
            <a:pPr>
              <a:lnSpc>
                <a:spcPct val="130000"/>
              </a:lnSpc>
            </a:pPr>
            <a:endParaRPr b="0" lang="en-US" sz="1300" spc="-1" strike="noStrike">
              <a:latin typeface="Arial"/>
            </a:endParaRPr>
          </a:p>
          <a:p>
            <a:pPr>
              <a:lnSpc>
                <a:spcPct val="130000"/>
              </a:lnSpc>
            </a:pPr>
            <a:r>
              <a:rPr b="0" lang="en-US" sz="1300" spc="-1" strike="noStrike">
                <a:solidFill>
                  <a:srgbClr val="222222"/>
                </a:solidFill>
                <a:latin typeface="Yu Gothic"/>
              </a:rPr>
              <a:t>KXR</a:t>
            </a:r>
            <a:r>
              <a:rPr b="0" lang="zh-CN" sz="1300" spc="-1" strike="noStrike">
                <a:solidFill>
                  <a:srgbClr val="222222"/>
                </a:solidFill>
                <a:latin typeface="Yu Gothic"/>
              </a:rPr>
              <a:t>のように、同じタワー</a:t>
            </a:r>
            <a:r>
              <a:rPr b="0" lang="en-US" sz="1300" spc="-1" strike="noStrike">
                <a:solidFill>
                  <a:srgbClr val="222222"/>
                </a:solidFill>
                <a:latin typeface="Yu Gothic"/>
              </a:rPr>
              <a:t>/</a:t>
            </a:r>
            <a:r>
              <a:rPr b="0" lang="zh-CN" sz="1300" spc="-1" strike="noStrike">
                <a:solidFill>
                  <a:srgbClr val="222222"/>
                </a:solidFill>
                <a:latin typeface="Yu Gothic"/>
              </a:rPr>
              <a:t>制御方式のまま様々な形態のロボット本体に載せ替えて動かす、という発想は</a:t>
            </a:r>
            <a:endParaRPr b="0" lang="en-US" sz="1300" spc="-1" strike="noStrike">
              <a:latin typeface="Arial"/>
            </a:endParaRPr>
          </a:p>
          <a:p>
            <a:pPr>
              <a:lnSpc>
                <a:spcPct val="130000"/>
              </a:lnSpc>
            </a:pPr>
            <a:r>
              <a:rPr b="0" lang="zh-CN" sz="1300" spc="-1" strike="noStrike">
                <a:solidFill>
                  <a:srgbClr val="222222"/>
                </a:solidFill>
                <a:latin typeface="Yu Gothic"/>
              </a:rPr>
              <a:t>この「タワー</a:t>
            </a:r>
            <a:r>
              <a:rPr b="0" lang="en-US" sz="1300" spc="-1" strike="noStrike">
                <a:solidFill>
                  <a:srgbClr val="222222"/>
                </a:solidFill>
                <a:latin typeface="Yu Gothic"/>
              </a:rPr>
              <a:t>(</a:t>
            </a:r>
            <a:r>
              <a:rPr b="0" lang="zh-CN" sz="1300" spc="-1" strike="noStrike">
                <a:solidFill>
                  <a:srgbClr val="222222"/>
                </a:solidFill>
                <a:latin typeface="Yu Gothic"/>
              </a:rPr>
              <a:t>脳</a:t>
            </a:r>
            <a:r>
              <a:rPr b="0" lang="en-US" sz="1300" spc="-1" strike="noStrike">
                <a:solidFill>
                  <a:srgbClr val="222222"/>
                </a:solidFill>
                <a:latin typeface="Yu Gothic"/>
              </a:rPr>
              <a:t>)</a:t>
            </a:r>
            <a:r>
              <a:rPr b="0" lang="zh-CN" sz="1300" spc="-1" strike="noStrike">
                <a:solidFill>
                  <a:srgbClr val="222222"/>
                </a:solidFill>
                <a:latin typeface="Yu Gothic"/>
              </a:rPr>
              <a:t>は共通、身体は交換可能」という考え方に直接つながっている。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87" name="CustomShape 26"/>
          <p:cNvSpPr/>
          <p:nvPr/>
        </p:nvSpPr>
        <p:spPr>
          <a:xfrm>
            <a:off x="548640" y="6537960"/>
            <a:ext cx="11063880" cy="2275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zh-CN" sz="900" spc="-1" strike="noStrike">
                <a:solidFill>
                  <a:srgbClr val="6b7280"/>
                </a:solidFill>
                <a:latin typeface="Yu Gothic"/>
              </a:rPr>
              <a:t>画像出典</a:t>
            </a:r>
            <a:r>
              <a:rPr b="0" lang="en-US" sz="900" spc="-1" strike="noStrike">
                <a:solidFill>
                  <a:srgbClr val="6b7280"/>
                </a:solidFill>
                <a:latin typeface="Yu Gothic"/>
              </a:rPr>
              <a:t>: JSK (</a:t>
            </a:r>
            <a:r>
              <a:rPr b="0" lang="zh-CN" sz="900" spc="-1" strike="noStrike">
                <a:solidFill>
                  <a:srgbClr val="6b7280"/>
                </a:solidFill>
                <a:latin typeface="Yu Gothic"/>
              </a:rPr>
              <a:t>東京大学 情報システム工学研究室</a:t>
            </a:r>
            <a:r>
              <a:rPr b="0" lang="en-US" sz="900" spc="-1" strike="noStrike">
                <a:solidFill>
                  <a:srgbClr val="6b7280"/>
                </a:solidFill>
                <a:latin typeface="Yu Gothic"/>
              </a:rPr>
              <a:t>) Remote-Brained Robotics </a:t>
            </a:r>
            <a:r>
              <a:rPr b="0" lang="zh-CN" sz="900" spc="-1" strike="noStrike">
                <a:solidFill>
                  <a:srgbClr val="6b7280"/>
                </a:solidFill>
                <a:latin typeface="Yu Gothic"/>
              </a:rPr>
              <a:t>ページ </a:t>
            </a:r>
            <a:r>
              <a:rPr b="0" lang="en-US" sz="900" spc="-1" strike="noStrike">
                <a:solidFill>
                  <a:srgbClr val="6b7280"/>
                </a:solidFill>
                <a:latin typeface="Yu Gothic"/>
              </a:rPr>
              <a:t>(jsk.t.u-tokyo.ac.jp/research/rbr/)</a:t>
            </a:r>
            <a:endParaRPr b="0" lang="en-US" sz="9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CustomShape 1"/>
          <p:cNvSpPr/>
          <p:nvPr/>
        </p:nvSpPr>
        <p:spPr>
          <a:xfrm>
            <a:off x="548640" y="320040"/>
            <a:ext cx="7314840" cy="3337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rgbClr val="2e6fc7"/>
                </a:solidFill>
                <a:latin typeface="Yu Gothic"/>
              </a:rPr>
              <a:t>ORIGINS -- 1990s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89" name="CustomShape 2"/>
          <p:cNvSpPr/>
          <p:nvPr/>
        </p:nvSpPr>
        <p:spPr>
          <a:xfrm>
            <a:off x="548640" y="685800"/>
            <a:ext cx="10515240" cy="5472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zh-CN" sz="3000" spc="-1" strike="noStrike">
                <a:solidFill>
                  <a:srgbClr val="1f2a44"/>
                </a:solidFill>
                <a:latin typeface="Yu Gothic"/>
              </a:rPr>
              <a:t>実装された全身行動ロボットの例</a:t>
            </a:r>
            <a:endParaRPr b="0" lang="en-US" sz="3000" spc="-1" strike="noStrike">
              <a:latin typeface="Arial"/>
            </a:endParaRPr>
          </a:p>
        </p:txBody>
      </p:sp>
      <p:sp>
        <p:nvSpPr>
          <p:cNvPr id="90" name="CustomShape 3"/>
          <p:cNvSpPr/>
          <p:nvPr/>
        </p:nvSpPr>
        <p:spPr>
          <a:xfrm>
            <a:off x="548640" y="1508760"/>
            <a:ext cx="2651400" cy="1416960"/>
          </a:xfrm>
          <a:prstGeom prst="rect">
            <a:avLst/>
          </a:prstGeom>
          <a:solidFill>
            <a:srgbClr val="f2f4f8"/>
          </a:solidFill>
          <a:ln w="12600">
            <a:solidFill>
              <a:srgbClr val="6b7280"/>
            </a:solidFill>
            <a:round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pic>
        <p:nvPicPr>
          <p:cNvPr id="91" name="Picture 4" descr="chibikaz-rope.jpg"/>
          <p:cNvPicPr/>
          <p:nvPr/>
        </p:nvPicPr>
        <p:blipFill>
          <a:blip r:embed="rId1"/>
          <a:stretch/>
        </p:blipFill>
        <p:spPr>
          <a:xfrm>
            <a:off x="978480" y="1545480"/>
            <a:ext cx="1791720" cy="1343880"/>
          </a:xfrm>
          <a:prstGeom prst="rect">
            <a:avLst/>
          </a:prstGeom>
          <a:ln>
            <a:noFill/>
          </a:ln>
        </p:spPr>
      </p:pic>
      <p:sp>
        <p:nvSpPr>
          <p:cNvPr id="92" name="CustomShape 4"/>
          <p:cNvSpPr/>
          <p:nvPr/>
        </p:nvSpPr>
        <p:spPr>
          <a:xfrm>
            <a:off x="548640" y="2944440"/>
            <a:ext cx="2651400" cy="2581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ctr">
              <a:lnSpc>
                <a:spcPct val="105000"/>
              </a:lnSpc>
            </a:pPr>
            <a:r>
              <a:rPr b="1" lang="zh-CN" sz="1050" spc="-1" strike="noStrike">
                <a:solidFill>
                  <a:srgbClr val="1f2a44"/>
                </a:solidFill>
                <a:latin typeface="Yu Gothic"/>
              </a:rPr>
              <a:t>ブランコ運動</a:t>
            </a:r>
            <a:endParaRPr b="0" lang="en-US" sz="1050" spc="-1" strike="noStrike">
              <a:latin typeface="Arial"/>
            </a:endParaRPr>
          </a:p>
        </p:txBody>
      </p:sp>
      <p:sp>
        <p:nvSpPr>
          <p:cNvPr id="93" name="CustomShape 5"/>
          <p:cNvSpPr/>
          <p:nvPr/>
        </p:nvSpPr>
        <p:spPr>
          <a:xfrm>
            <a:off x="3383280" y="1508760"/>
            <a:ext cx="2651400" cy="1416960"/>
          </a:xfrm>
          <a:prstGeom prst="rect">
            <a:avLst/>
          </a:prstGeom>
          <a:solidFill>
            <a:srgbClr val="f2f4f8"/>
          </a:solidFill>
          <a:ln w="12600">
            <a:solidFill>
              <a:srgbClr val="6b7280"/>
            </a:solidFill>
            <a:round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pic>
        <p:nvPicPr>
          <p:cNvPr id="94" name="Picture 7" descr="kama4_small.gif"/>
          <p:cNvPicPr/>
          <p:nvPr/>
        </p:nvPicPr>
        <p:blipFill>
          <a:blip r:embed="rId2"/>
          <a:stretch/>
        </p:blipFill>
        <p:spPr>
          <a:xfrm>
            <a:off x="4042800" y="1545480"/>
            <a:ext cx="1332360" cy="1343880"/>
          </a:xfrm>
          <a:prstGeom prst="rect">
            <a:avLst/>
          </a:prstGeom>
          <a:ln>
            <a:noFill/>
          </a:ln>
        </p:spPr>
      </p:pic>
      <p:sp>
        <p:nvSpPr>
          <p:cNvPr id="95" name="CustomShape 6"/>
          <p:cNvSpPr/>
          <p:nvPr/>
        </p:nvSpPr>
        <p:spPr>
          <a:xfrm>
            <a:off x="3383280" y="2944440"/>
            <a:ext cx="2651400" cy="2581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ctr">
              <a:lnSpc>
                <a:spcPct val="105000"/>
              </a:lnSpc>
            </a:pPr>
            <a:r>
              <a:rPr b="1" lang="zh-CN" sz="1050" spc="-1" strike="noStrike">
                <a:solidFill>
                  <a:srgbClr val="1f2a44"/>
                </a:solidFill>
                <a:latin typeface="Yu Gothic"/>
              </a:rPr>
              <a:t>４脚２腕かまきり型</a:t>
            </a:r>
            <a:endParaRPr b="0" lang="en-US" sz="1050" spc="-1" strike="noStrike">
              <a:latin typeface="Arial"/>
            </a:endParaRPr>
          </a:p>
        </p:txBody>
      </p:sp>
      <p:sp>
        <p:nvSpPr>
          <p:cNvPr id="96" name="CustomShape 7"/>
          <p:cNvSpPr/>
          <p:nvPr/>
        </p:nvSpPr>
        <p:spPr>
          <a:xfrm>
            <a:off x="6217920" y="1508760"/>
            <a:ext cx="2651400" cy="1416960"/>
          </a:xfrm>
          <a:prstGeom prst="rect">
            <a:avLst/>
          </a:prstGeom>
          <a:solidFill>
            <a:srgbClr val="f2f4f8"/>
          </a:solidFill>
          <a:ln w="12600">
            <a:solidFill>
              <a:srgbClr val="6b7280"/>
            </a:solidFill>
            <a:round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pic>
        <p:nvPicPr>
          <p:cNvPr id="97" name="Picture 10" descr="kaz-walk-catch-robot.jpg"/>
          <p:cNvPicPr/>
          <p:nvPr/>
        </p:nvPicPr>
        <p:blipFill>
          <a:blip r:embed="rId3"/>
          <a:stretch/>
        </p:blipFill>
        <p:spPr>
          <a:xfrm>
            <a:off x="6566400" y="1545480"/>
            <a:ext cx="1954800" cy="1343880"/>
          </a:xfrm>
          <a:prstGeom prst="rect">
            <a:avLst/>
          </a:prstGeom>
          <a:ln>
            <a:noFill/>
          </a:ln>
        </p:spPr>
      </p:pic>
      <p:sp>
        <p:nvSpPr>
          <p:cNvPr id="98" name="CustomShape 8"/>
          <p:cNvSpPr/>
          <p:nvPr/>
        </p:nvSpPr>
        <p:spPr>
          <a:xfrm>
            <a:off x="6217920" y="2944440"/>
            <a:ext cx="2651400" cy="2581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ctr">
              <a:lnSpc>
                <a:spcPct val="105000"/>
              </a:lnSpc>
            </a:pPr>
            <a:r>
              <a:rPr b="1" lang="zh-CN" sz="1050" spc="-1" strike="noStrike">
                <a:solidFill>
                  <a:srgbClr val="1f2a44"/>
                </a:solidFill>
                <a:latin typeface="Yu Gothic"/>
              </a:rPr>
              <a:t>ボールを探して拾ってくる</a:t>
            </a:r>
            <a:endParaRPr b="0" lang="en-US" sz="1050" spc="-1" strike="noStrike">
              <a:latin typeface="Arial"/>
            </a:endParaRPr>
          </a:p>
        </p:txBody>
      </p:sp>
      <p:sp>
        <p:nvSpPr>
          <p:cNvPr id="99" name="CustomShape 9"/>
          <p:cNvSpPr/>
          <p:nvPr/>
        </p:nvSpPr>
        <p:spPr>
          <a:xfrm>
            <a:off x="9052560" y="1508760"/>
            <a:ext cx="2651400" cy="1416960"/>
          </a:xfrm>
          <a:prstGeom prst="rect">
            <a:avLst/>
          </a:prstGeom>
          <a:solidFill>
            <a:srgbClr val="f2f4f8"/>
          </a:solidFill>
          <a:ln w="12600">
            <a:solidFill>
              <a:srgbClr val="6b7280"/>
            </a:solidFill>
            <a:round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pic>
        <p:nvPicPr>
          <p:cNvPr id="100" name="Picture 13" descr="akira-small.gif"/>
          <p:cNvPicPr/>
          <p:nvPr/>
        </p:nvPicPr>
        <p:blipFill>
          <a:blip r:embed="rId4"/>
          <a:stretch/>
        </p:blipFill>
        <p:spPr>
          <a:xfrm>
            <a:off x="9845280" y="1545480"/>
            <a:ext cx="1065960" cy="1343880"/>
          </a:xfrm>
          <a:prstGeom prst="rect">
            <a:avLst/>
          </a:prstGeom>
          <a:ln>
            <a:noFill/>
          </a:ln>
        </p:spPr>
      </p:pic>
      <p:sp>
        <p:nvSpPr>
          <p:cNvPr id="101" name="CustomShape 10"/>
          <p:cNvSpPr/>
          <p:nvPr/>
        </p:nvSpPr>
        <p:spPr>
          <a:xfrm>
            <a:off x="9052560" y="2944440"/>
            <a:ext cx="2651400" cy="4258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ctr">
              <a:lnSpc>
                <a:spcPct val="105000"/>
              </a:lnSpc>
            </a:pPr>
            <a:r>
              <a:rPr b="1" lang="zh-CN" sz="1050" spc="-1" strike="noStrike">
                <a:solidFill>
                  <a:srgbClr val="1f2a44"/>
                </a:solidFill>
                <a:latin typeface="Yu Gothic"/>
              </a:rPr>
              <a:t>板の上でバランスをとる</a:t>
            </a:r>
            <a:endParaRPr b="0" lang="en-US" sz="1050" spc="-1" strike="noStrike">
              <a:latin typeface="Arial"/>
            </a:endParaRPr>
          </a:p>
          <a:p>
            <a:pPr algn="ctr">
              <a:lnSpc>
                <a:spcPct val="105000"/>
              </a:lnSpc>
            </a:pPr>
            <a:r>
              <a:rPr b="1" lang="zh-CN" sz="1050" spc="-1" strike="noStrike">
                <a:solidFill>
                  <a:srgbClr val="1f2a44"/>
                </a:solidFill>
                <a:latin typeface="Yu Gothic"/>
              </a:rPr>
              <a:t>小型ヒューマノイド</a:t>
            </a:r>
            <a:endParaRPr b="0" lang="en-US" sz="1050" spc="-1" strike="noStrike">
              <a:latin typeface="Arial"/>
            </a:endParaRPr>
          </a:p>
        </p:txBody>
      </p:sp>
      <p:sp>
        <p:nvSpPr>
          <p:cNvPr id="102" name="CustomShape 11"/>
          <p:cNvSpPr/>
          <p:nvPr/>
        </p:nvSpPr>
        <p:spPr>
          <a:xfrm>
            <a:off x="548640" y="3657600"/>
            <a:ext cx="2651400" cy="1416960"/>
          </a:xfrm>
          <a:prstGeom prst="rect">
            <a:avLst/>
          </a:prstGeom>
          <a:solidFill>
            <a:srgbClr val="f2f4f8"/>
          </a:solidFill>
          <a:ln w="12600">
            <a:solidFill>
              <a:srgbClr val="6b7280"/>
            </a:solidFill>
            <a:round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pic>
        <p:nvPicPr>
          <p:cNvPr id="103" name="Picture 16" descr="haru-give1_small.gif"/>
          <p:cNvPicPr/>
          <p:nvPr/>
        </p:nvPicPr>
        <p:blipFill>
          <a:blip r:embed="rId5"/>
          <a:stretch/>
        </p:blipFill>
        <p:spPr>
          <a:xfrm>
            <a:off x="978480" y="3694320"/>
            <a:ext cx="1791720" cy="1343880"/>
          </a:xfrm>
          <a:prstGeom prst="rect">
            <a:avLst/>
          </a:prstGeom>
          <a:ln>
            <a:noFill/>
          </a:ln>
        </p:spPr>
      </p:pic>
      <p:sp>
        <p:nvSpPr>
          <p:cNvPr id="104" name="CustomShape 12"/>
          <p:cNvSpPr/>
          <p:nvPr/>
        </p:nvSpPr>
        <p:spPr>
          <a:xfrm>
            <a:off x="548640" y="5093280"/>
            <a:ext cx="2651400" cy="2581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ctr">
              <a:lnSpc>
                <a:spcPct val="105000"/>
              </a:lnSpc>
            </a:pPr>
            <a:r>
              <a:rPr b="1" lang="en-US" sz="1050" spc="-1" strike="noStrike">
                <a:solidFill>
                  <a:srgbClr val="1f2a44"/>
                </a:solidFill>
                <a:latin typeface="Yu Gothic"/>
              </a:rPr>
              <a:t>2</a:t>
            </a:r>
            <a:r>
              <a:rPr b="1" lang="zh-CN" sz="1050" spc="-1" strike="noStrike">
                <a:solidFill>
                  <a:srgbClr val="1f2a44"/>
                </a:solidFill>
                <a:latin typeface="Yu Gothic"/>
              </a:rPr>
              <a:t>台の小型ヒューマノイド</a:t>
            </a:r>
            <a:endParaRPr b="0" lang="en-US" sz="1050" spc="-1" strike="noStrike">
              <a:latin typeface="Arial"/>
            </a:endParaRPr>
          </a:p>
        </p:txBody>
      </p:sp>
      <p:sp>
        <p:nvSpPr>
          <p:cNvPr id="105" name="CustomShape 13"/>
          <p:cNvSpPr/>
          <p:nvPr/>
        </p:nvSpPr>
        <p:spPr>
          <a:xfrm>
            <a:off x="3383280" y="3657600"/>
            <a:ext cx="2651400" cy="1416960"/>
          </a:xfrm>
          <a:prstGeom prst="rect">
            <a:avLst/>
          </a:prstGeom>
          <a:solidFill>
            <a:srgbClr val="f2f4f8"/>
          </a:solidFill>
          <a:ln w="12600">
            <a:solidFill>
              <a:srgbClr val="6b7280"/>
            </a:solidFill>
            <a:round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pic>
        <p:nvPicPr>
          <p:cNvPr id="106" name="Picture 19" descr="kaz-seri-ladder.jpg"/>
          <p:cNvPicPr/>
          <p:nvPr/>
        </p:nvPicPr>
        <p:blipFill>
          <a:blip r:embed="rId6"/>
          <a:stretch/>
        </p:blipFill>
        <p:spPr>
          <a:xfrm>
            <a:off x="3813120" y="3694320"/>
            <a:ext cx="1791720" cy="1343880"/>
          </a:xfrm>
          <a:prstGeom prst="rect">
            <a:avLst/>
          </a:prstGeom>
          <a:ln>
            <a:noFill/>
          </a:ln>
        </p:spPr>
      </p:pic>
      <p:sp>
        <p:nvSpPr>
          <p:cNvPr id="107" name="CustomShape 14"/>
          <p:cNvSpPr/>
          <p:nvPr/>
        </p:nvSpPr>
        <p:spPr>
          <a:xfrm>
            <a:off x="3383280" y="5093280"/>
            <a:ext cx="2651400" cy="2581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ctr">
              <a:lnSpc>
                <a:spcPct val="105000"/>
              </a:lnSpc>
            </a:pPr>
            <a:r>
              <a:rPr b="1" lang="zh-CN" sz="1050" spc="-1" strike="noStrike">
                <a:solidFill>
                  <a:srgbClr val="1f2a44"/>
                </a:solidFill>
                <a:latin typeface="Yu Gothic"/>
              </a:rPr>
              <a:t>はしごを上る</a:t>
            </a:r>
            <a:endParaRPr b="0" lang="en-US" sz="1050" spc="-1" strike="noStrike">
              <a:latin typeface="Arial"/>
            </a:endParaRPr>
          </a:p>
        </p:txBody>
      </p:sp>
      <p:sp>
        <p:nvSpPr>
          <p:cNvPr id="108" name="CustomShape 15"/>
          <p:cNvSpPr/>
          <p:nvPr/>
        </p:nvSpPr>
        <p:spPr>
          <a:xfrm>
            <a:off x="6217920" y="3657600"/>
            <a:ext cx="2651400" cy="1416960"/>
          </a:xfrm>
          <a:prstGeom prst="rect">
            <a:avLst/>
          </a:prstGeom>
          <a:solidFill>
            <a:srgbClr val="f2f4f8"/>
          </a:solidFill>
          <a:ln w="12600">
            <a:solidFill>
              <a:srgbClr val="6b7280"/>
            </a:solidFill>
            <a:round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pic>
        <p:nvPicPr>
          <p:cNvPr id="109" name="Picture 22" descr="sumo_small.gif"/>
          <p:cNvPicPr/>
          <p:nvPr/>
        </p:nvPicPr>
        <p:blipFill>
          <a:blip r:embed="rId7"/>
          <a:stretch/>
        </p:blipFill>
        <p:spPr>
          <a:xfrm>
            <a:off x="6724440" y="3694320"/>
            <a:ext cx="1638360" cy="1343880"/>
          </a:xfrm>
          <a:prstGeom prst="rect">
            <a:avLst/>
          </a:prstGeom>
          <a:ln>
            <a:noFill/>
          </a:ln>
        </p:spPr>
      </p:pic>
      <p:sp>
        <p:nvSpPr>
          <p:cNvPr id="110" name="CustomShape 16"/>
          <p:cNvSpPr/>
          <p:nvPr/>
        </p:nvSpPr>
        <p:spPr>
          <a:xfrm>
            <a:off x="6217920" y="5093280"/>
            <a:ext cx="2651400" cy="2581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ctr">
              <a:lnSpc>
                <a:spcPct val="105000"/>
              </a:lnSpc>
            </a:pPr>
            <a:r>
              <a:rPr b="1" lang="zh-CN" sz="1050" spc="-1" strike="noStrike">
                <a:solidFill>
                  <a:srgbClr val="1f2a44"/>
                </a:solidFill>
                <a:latin typeface="Yu Gothic"/>
              </a:rPr>
              <a:t>相撲ロボット</a:t>
            </a:r>
            <a:endParaRPr b="0" lang="en-US" sz="1050" spc="-1" strike="noStrike">
              <a:latin typeface="Arial"/>
            </a:endParaRPr>
          </a:p>
        </p:txBody>
      </p:sp>
      <p:sp>
        <p:nvSpPr>
          <p:cNvPr id="111" name="CustomShape 17"/>
          <p:cNvSpPr/>
          <p:nvPr/>
        </p:nvSpPr>
        <p:spPr>
          <a:xfrm>
            <a:off x="9052560" y="3657600"/>
            <a:ext cx="2651400" cy="1416960"/>
          </a:xfrm>
          <a:prstGeom prst="rect">
            <a:avLst/>
          </a:prstGeom>
          <a:solidFill>
            <a:srgbClr val="f2f4f8"/>
          </a:solidFill>
          <a:ln w="12600">
            <a:solidFill>
              <a:srgbClr val="6b7280"/>
            </a:solidFill>
            <a:round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pic>
        <p:nvPicPr>
          <p:cNvPr id="112" name="Picture 25" descr="chibikaz.jpg"/>
          <p:cNvPicPr/>
          <p:nvPr/>
        </p:nvPicPr>
        <p:blipFill>
          <a:blip r:embed="rId8"/>
          <a:stretch/>
        </p:blipFill>
        <p:spPr>
          <a:xfrm>
            <a:off x="9482400" y="3694320"/>
            <a:ext cx="1791720" cy="1343880"/>
          </a:xfrm>
          <a:prstGeom prst="rect">
            <a:avLst/>
          </a:prstGeom>
          <a:ln>
            <a:noFill/>
          </a:ln>
        </p:spPr>
      </p:pic>
      <p:sp>
        <p:nvSpPr>
          <p:cNvPr id="113" name="CustomShape 18"/>
          <p:cNvSpPr/>
          <p:nvPr/>
        </p:nvSpPr>
        <p:spPr>
          <a:xfrm>
            <a:off x="9052560" y="5093280"/>
            <a:ext cx="2651400" cy="2581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ctr">
              <a:lnSpc>
                <a:spcPct val="105000"/>
              </a:lnSpc>
            </a:pPr>
            <a:r>
              <a:rPr b="1" lang="zh-CN" sz="1050" spc="-1" strike="noStrike">
                <a:solidFill>
                  <a:srgbClr val="1f2a44"/>
                </a:solidFill>
                <a:latin typeface="Yu Gothic"/>
              </a:rPr>
              <a:t>手のひらに載る小型サイズ</a:t>
            </a:r>
            <a:endParaRPr b="0" lang="en-US" sz="1050" spc="-1" strike="noStrike">
              <a:latin typeface="Arial"/>
            </a:endParaRPr>
          </a:p>
        </p:txBody>
      </p:sp>
      <p:sp>
        <p:nvSpPr>
          <p:cNvPr id="114" name="CustomShape 19"/>
          <p:cNvSpPr/>
          <p:nvPr/>
        </p:nvSpPr>
        <p:spPr>
          <a:xfrm>
            <a:off x="548640" y="6080760"/>
            <a:ext cx="11063880" cy="4726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20000"/>
              </a:lnSpc>
            </a:pPr>
            <a:r>
              <a:rPr b="0" lang="zh-CN" sz="1050" spc="-1" strike="noStrike">
                <a:solidFill>
                  <a:srgbClr val="6b7280"/>
                </a:solidFill>
                <a:latin typeface="Yu Gothic"/>
              </a:rPr>
              <a:t>いずれも「軽量な身体</a:t>
            </a:r>
            <a:r>
              <a:rPr b="0" lang="en-US" sz="1050" spc="-1" strike="noStrike">
                <a:solidFill>
                  <a:srgbClr val="6b7280"/>
                </a:solidFill>
                <a:latin typeface="Yu Gothic"/>
              </a:rPr>
              <a:t>+</a:t>
            </a:r>
            <a:r>
              <a:rPr b="0" lang="zh-CN" sz="1050" spc="-1" strike="noStrike">
                <a:solidFill>
                  <a:srgbClr val="6b7280"/>
                </a:solidFill>
                <a:latin typeface="Yu Gothic"/>
              </a:rPr>
              <a:t>無線</a:t>
            </a:r>
            <a:r>
              <a:rPr b="0" lang="en-US" sz="1050" spc="-1" strike="noStrike">
                <a:solidFill>
                  <a:srgbClr val="6b7280"/>
                </a:solidFill>
                <a:latin typeface="Yu Gothic"/>
              </a:rPr>
              <a:t>+</a:t>
            </a:r>
            <a:r>
              <a:rPr b="0" lang="zh-CN" sz="1050" spc="-1" strike="noStrike">
                <a:solidFill>
                  <a:srgbClr val="6b7280"/>
                </a:solidFill>
                <a:latin typeface="Yu Gothic"/>
              </a:rPr>
              <a:t>外部の強力な計算機」という同じ構成のまま様々な動作を実装した成果</a:t>
            </a:r>
            <a:endParaRPr b="0" lang="en-US" sz="1050" spc="-1" strike="noStrike">
              <a:latin typeface="Arial"/>
            </a:endParaRPr>
          </a:p>
          <a:p>
            <a:pPr>
              <a:lnSpc>
                <a:spcPct val="120000"/>
              </a:lnSpc>
            </a:pPr>
            <a:r>
              <a:rPr b="0" lang="en-US" sz="1050" spc="-1" strike="noStrike">
                <a:solidFill>
                  <a:srgbClr val="6b7280"/>
                </a:solidFill>
                <a:latin typeface="Yu Gothic"/>
              </a:rPr>
              <a:t>(</a:t>
            </a:r>
            <a:r>
              <a:rPr b="0" lang="zh-CN" sz="1050" spc="-1" strike="noStrike">
                <a:solidFill>
                  <a:srgbClr val="6b7280"/>
                </a:solidFill>
                <a:latin typeface="Yu Gothic"/>
              </a:rPr>
              <a:t>写真は</a:t>
            </a:r>
            <a:r>
              <a:rPr b="0" lang="en-US" sz="1050" spc="-1" strike="noStrike">
                <a:solidFill>
                  <a:srgbClr val="6b7280"/>
                </a:solidFill>
                <a:latin typeface="Yu Gothic"/>
              </a:rPr>
              <a:t>JSK Remote-Brained Robotics</a:t>
            </a:r>
            <a:r>
              <a:rPr b="0" lang="zh-CN" sz="1050" spc="-1" strike="noStrike">
                <a:solidFill>
                  <a:srgbClr val="6b7280"/>
                </a:solidFill>
                <a:latin typeface="Yu Gothic"/>
              </a:rPr>
              <a:t>より。個別動作の厳密な記録写真ではなく代表画像</a:t>
            </a:r>
            <a:r>
              <a:rPr b="0" lang="en-US" sz="1050" spc="-1" strike="noStrike">
                <a:solidFill>
                  <a:srgbClr val="6b7280"/>
                </a:solidFill>
                <a:latin typeface="Yu Gothic"/>
              </a:rPr>
              <a:t>)</a:t>
            </a:r>
            <a:r>
              <a:rPr b="0" lang="zh-CN" sz="1050" spc="-1" strike="noStrike">
                <a:solidFill>
                  <a:srgbClr val="6b7280"/>
                </a:solidFill>
                <a:latin typeface="Yu Gothic"/>
              </a:rPr>
              <a:t>。</a:t>
            </a:r>
            <a:endParaRPr b="0" lang="en-US" sz="105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CustomShape 1"/>
          <p:cNvSpPr/>
          <p:nvPr/>
        </p:nvSpPr>
        <p:spPr>
          <a:xfrm>
            <a:off x="548640" y="320040"/>
            <a:ext cx="7314840" cy="3337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rgbClr val="2e6fc7"/>
                </a:solidFill>
                <a:latin typeface="Yu Gothic"/>
              </a:rPr>
              <a:t>ORIGINS -- THEN vs NOW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116" name="CustomShape 2"/>
          <p:cNvSpPr/>
          <p:nvPr/>
        </p:nvSpPr>
        <p:spPr>
          <a:xfrm>
            <a:off x="548640" y="685800"/>
            <a:ext cx="10515240" cy="5472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zh-CN" sz="3000" spc="-1" strike="noStrike">
                <a:solidFill>
                  <a:srgbClr val="1f2a44"/>
                </a:solidFill>
                <a:latin typeface="Yu Gothic"/>
              </a:rPr>
              <a:t>当時と現在の計算機環境の比較</a:t>
            </a:r>
            <a:endParaRPr b="0" lang="en-US" sz="3000" spc="-1" strike="noStrike">
              <a:latin typeface="Arial"/>
            </a:endParaRPr>
          </a:p>
        </p:txBody>
      </p:sp>
      <p:sp>
        <p:nvSpPr>
          <p:cNvPr id="117" name="CustomShape 3"/>
          <p:cNvSpPr/>
          <p:nvPr/>
        </p:nvSpPr>
        <p:spPr>
          <a:xfrm>
            <a:off x="548640" y="1463040"/>
            <a:ext cx="2468520" cy="502560"/>
          </a:xfrm>
          <a:prstGeom prst="roundRect">
            <a:avLst>
              <a:gd name="adj" fmla="val 16667"/>
            </a:avLst>
          </a:prstGeom>
          <a:solidFill>
            <a:srgbClr val="1f2a44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zh-CN" sz="1300" spc="-1" strike="noStrike">
                <a:solidFill>
                  <a:srgbClr val="ffffff"/>
                </a:solidFill>
                <a:latin typeface="Yu Gothic"/>
              </a:rPr>
              <a:t>項目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118" name="CustomShape 4"/>
          <p:cNvSpPr/>
          <p:nvPr/>
        </p:nvSpPr>
        <p:spPr>
          <a:xfrm>
            <a:off x="3108960" y="1463040"/>
            <a:ext cx="4388760" cy="502560"/>
          </a:xfrm>
          <a:prstGeom prst="roundRect">
            <a:avLst>
              <a:gd name="adj" fmla="val 16667"/>
            </a:avLst>
          </a:prstGeom>
          <a:solidFill>
            <a:srgbClr val="1f2a44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Yu Gothic"/>
              </a:rPr>
              <a:t>1990</a:t>
            </a:r>
            <a:r>
              <a:rPr b="1" lang="zh-CN" sz="1300" spc="-1" strike="noStrike">
                <a:solidFill>
                  <a:srgbClr val="ffffff"/>
                </a:solidFill>
                <a:latin typeface="Yu Gothic"/>
              </a:rPr>
              <a:t>年代</a:t>
            </a:r>
            <a:r>
              <a:rPr b="1" lang="en-US" sz="1300" spc="-1" strike="noStrike">
                <a:solidFill>
                  <a:srgbClr val="ffffff"/>
                </a:solidFill>
                <a:latin typeface="Yu Gothic"/>
              </a:rPr>
              <a:t>(</a:t>
            </a:r>
            <a:r>
              <a:rPr b="1" lang="zh-CN" sz="1300" spc="-1" strike="noStrike">
                <a:solidFill>
                  <a:srgbClr val="ffffff"/>
                </a:solidFill>
                <a:latin typeface="Yu Gothic"/>
              </a:rPr>
              <a:t>トランスピュータタワー</a:t>
            </a:r>
            <a:r>
              <a:rPr b="1" lang="en-US" sz="1300" spc="-1" strike="noStrike">
                <a:solidFill>
                  <a:srgbClr val="ffffff"/>
                </a:solidFill>
                <a:latin typeface="Yu Gothic"/>
              </a:rPr>
              <a:t>)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119" name="CustomShape 5"/>
          <p:cNvSpPr/>
          <p:nvPr/>
        </p:nvSpPr>
        <p:spPr>
          <a:xfrm>
            <a:off x="7589520" y="1463040"/>
            <a:ext cx="3657240" cy="502560"/>
          </a:xfrm>
          <a:prstGeom prst="roundRect">
            <a:avLst>
              <a:gd name="adj" fmla="val 16667"/>
            </a:avLst>
          </a:prstGeom>
          <a:solidFill>
            <a:srgbClr val="1f2a44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zh-CN" sz="1300" spc="-1" strike="noStrike">
                <a:solidFill>
                  <a:srgbClr val="ffffff"/>
                </a:solidFill>
                <a:latin typeface="Yu Gothic"/>
              </a:rPr>
              <a:t>現在</a:t>
            </a:r>
            <a:r>
              <a:rPr b="1" lang="en-US" sz="1300" spc="-1" strike="noStrike">
                <a:solidFill>
                  <a:srgbClr val="ffffff"/>
                </a:solidFill>
                <a:latin typeface="Yu Gothic"/>
              </a:rPr>
              <a:t>(kxr)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120" name="CustomShape 6"/>
          <p:cNvSpPr/>
          <p:nvPr/>
        </p:nvSpPr>
        <p:spPr>
          <a:xfrm>
            <a:off x="548640" y="2057400"/>
            <a:ext cx="2468520" cy="658080"/>
          </a:xfrm>
          <a:prstGeom prst="roundRect">
            <a:avLst>
              <a:gd name="adj" fmla="val 16667"/>
            </a:avLst>
          </a:prstGeom>
          <a:solidFill>
            <a:srgbClr val="6b7280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zh-CN" sz="1100" spc="-1" strike="noStrike">
                <a:solidFill>
                  <a:srgbClr val="ffffff"/>
                </a:solidFill>
                <a:latin typeface="Yu Gothic"/>
              </a:rPr>
              <a:t>「脳」側の計算機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121" name="CustomShape 7"/>
          <p:cNvSpPr/>
          <p:nvPr/>
        </p:nvSpPr>
        <p:spPr>
          <a:xfrm>
            <a:off x="3182040" y="2094120"/>
            <a:ext cx="4242600" cy="4258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5000"/>
              </a:lnSpc>
            </a:pPr>
            <a:r>
              <a:rPr b="0" lang="zh-CN" sz="1050" spc="-1" strike="noStrike">
                <a:solidFill>
                  <a:srgbClr val="222222"/>
                </a:solidFill>
                <a:latin typeface="Yu Gothic"/>
              </a:rPr>
              <a:t>トランスピュータ数十個</a:t>
            </a:r>
            <a:r>
              <a:rPr b="0" lang="en-US" sz="1050" spc="-1" strike="noStrike">
                <a:solidFill>
                  <a:srgbClr val="222222"/>
                </a:solidFill>
                <a:latin typeface="Yu Gothic"/>
              </a:rPr>
              <a:t>+MEP(</a:t>
            </a:r>
            <a:r>
              <a:rPr b="0" lang="zh-CN" sz="1050" spc="-1" strike="noStrike">
                <a:solidFill>
                  <a:srgbClr val="222222"/>
                </a:solidFill>
                <a:latin typeface="Yu Gothic"/>
              </a:rPr>
              <a:t>視覚処理</a:t>
            </a:r>
            <a:r>
              <a:rPr b="0" lang="en-US" sz="1050" spc="-1" strike="noStrike">
                <a:solidFill>
                  <a:srgbClr val="222222"/>
                </a:solidFill>
                <a:latin typeface="Yu Gothic"/>
              </a:rPr>
              <a:t>)</a:t>
            </a:r>
            <a:endParaRPr b="0" lang="en-US" sz="1050" spc="-1" strike="noStrike">
              <a:latin typeface="Arial"/>
            </a:endParaRPr>
          </a:p>
          <a:p>
            <a:pPr>
              <a:lnSpc>
                <a:spcPct val="105000"/>
              </a:lnSpc>
            </a:pPr>
            <a:r>
              <a:rPr b="0" lang="en-US" sz="1050" spc="-1" strike="noStrike">
                <a:solidFill>
                  <a:srgbClr val="222222"/>
                </a:solidFill>
                <a:latin typeface="Yu Gothic"/>
              </a:rPr>
              <a:t>+ Sun </a:t>
            </a:r>
            <a:r>
              <a:rPr b="0" lang="zh-CN" sz="1050" spc="-1" strike="noStrike">
                <a:solidFill>
                  <a:srgbClr val="222222"/>
                </a:solidFill>
                <a:latin typeface="Yu Gothic"/>
              </a:rPr>
              <a:t>ワークステーション</a:t>
            </a:r>
            <a:r>
              <a:rPr b="0" lang="en-US" sz="1050" spc="-1" strike="noStrike">
                <a:solidFill>
                  <a:srgbClr val="222222"/>
                </a:solidFill>
                <a:latin typeface="Yu Gothic"/>
              </a:rPr>
              <a:t>(</a:t>
            </a:r>
            <a:r>
              <a:rPr b="0" lang="zh-CN" sz="1050" spc="-1" strike="noStrike">
                <a:solidFill>
                  <a:srgbClr val="222222"/>
                </a:solidFill>
                <a:latin typeface="Yu Gothic"/>
              </a:rPr>
              <a:t>ソフト共有</a:t>
            </a:r>
            <a:r>
              <a:rPr b="0" lang="en-US" sz="1050" spc="-1" strike="noStrike">
                <a:solidFill>
                  <a:srgbClr val="222222"/>
                </a:solidFill>
                <a:latin typeface="Yu Gothic"/>
              </a:rPr>
              <a:t>)</a:t>
            </a:r>
            <a:endParaRPr b="0" lang="en-US" sz="1050" spc="-1" strike="noStrike">
              <a:latin typeface="Arial"/>
            </a:endParaRPr>
          </a:p>
        </p:txBody>
      </p:sp>
      <p:sp>
        <p:nvSpPr>
          <p:cNvPr id="122" name="CustomShape 8"/>
          <p:cNvSpPr/>
          <p:nvPr/>
        </p:nvSpPr>
        <p:spPr>
          <a:xfrm>
            <a:off x="7662600" y="2094120"/>
            <a:ext cx="3511080" cy="4258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5000"/>
              </a:lnSpc>
            </a:pPr>
            <a:r>
              <a:rPr b="0" lang="zh-CN" sz="1050" spc="-1" strike="noStrike">
                <a:solidFill>
                  <a:srgbClr val="222222"/>
                </a:solidFill>
                <a:latin typeface="Yu Gothic"/>
              </a:rPr>
              <a:t>スマホ・</a:t>
            </a:r>
            <a:r>
              <a:rPr b="0" lang="en-US" sz="1050" spc="-1" strike="noStrike">
                <a:solidFill>
                  <a:srgbClr val="222222"/>
                </a:solidFill>
                <a:latin typeface="Yu Gothic"/>
              </a:rPr>
              <a:t>PC</a:t>
            </a:r>
            <a:r>
              <a:rPr b="0" lang="zh-CN" sz="1050" spc="-1" strike="noStrike">
                <a:solidFill>
                  <a:srgbClr val="222222"/>
                </a:solidFill>
                <a:latin typeface="Yu Gothic"/>
              </a:rPr>
              <a:t>・</a:t>
            </a:r>
            <a:r>
              <a:rPr b="0" lang="en-US" sz="1050" spc="-1" strike="noStrike">
                <a:solidFill>
                  <a:srgbClr val="222222"/>
                </a:solidFill>
                <a:latin typeface="Yu Gothic"/>
              </a:rPr>
              <a:t>GitHub(</a:t>
            </a:r>
            <a:r>
              <a:rPr b="0" lang="zh-CN" sz="1050" spc="-1" strike="noStrike">
                <a:solidFill>
                  <a:srgbClr val="222222"/>
                </a:solidFill>
                <a:latin typeface="Yu Gothic"/>
              </a:rPr>
              <a:t>データ配信</a:t>
            </a:r>
            <a:r>
              <a:rPr b="0" lang="en-US" sz="1050" spc="-1" strike="noStrike">
                <a:solidFill>
                  <a:srgbClr val="222222"/>
                </a:solidFill>
                <a:latin typeface="Yu Gothic"/>
              </a:rPr>
              <a:t>)</a:t>
            </a:r>
            <a:endParaRPr b="0" lang="en-US" sz="1050" spc="-1" strike="noStrike">
              <a:latin typeface="Arial"/>
            </a:endParaRPr>
          </a:p>
          <a:p>
            <a:pPr>
              <a:lnSpc>
                <a:spcPct val="105000"/>
              </a:lnSpc>
            </a:pPr>
            <a:r>
              <a:rPr b="0" lang="en-US" sz="1050" spc="-1" strike="noStrike">
                <a:solidFill>
                  <a:srgbClr val="222222"/>
                </a:solidFill>
                <a:latin typeface="Yu Gothic"/>
              </a:rPr>
              <a:t>+ GPU</a:t>
            </a:r>
            <a:r>
              <a:rPr b="0" lang="zh-CN" sz="1050" spc="-1" strike="noStrike">
                <a:solidFill>
                  <a:srgbClr val="222222"/>
                </a:solidFill>
                <a:latin typeface="Yu Gothic"/>
              </a:rPr>
              <a:t>サーバ</a:t>
            </a:r>
            <a:r>
              <a:rPr b="0" lang="en-US" sz="1050" spc="-1" strike="noStrike">
                <a:solidFill>
                  <a:srgbClr val="222222"/>
                </a:solidFill>
                <a:latin typeface="Yu Gothic"/>
              </a:rPr>
              <a:t>(hatori/pro1, </a:t>
            </a:r>
            <a:r>
              <a:rPr b="0" lang="zh-CN" sz="1050" spc="-1" strike="noStrike">
                <a:solidFill>
                  <a:srgbClr val="222222"/>
                </a:solidFill>
                <a:latin typeface="Yu Gothic"/>
              </a:rPr>
              <a:t>学習用</a:t>
            </a:r>
            <a:r>
              <a:rPr b="0" lang="en-US" sz="1050" spc="-1" strike="noStrike">
                <a:solidFill>
                  <a:srgbClr val="222222"/>
                </a:solidFill>
                <a:latin typeface="Yu Gothic"/>
              </a:rPr>
              <a:t>)</a:t>
            </a:r>
            <a:endParaRPr b="0" lang="en-US" sz="1050" spc="-1" strike="noStrike">
              <a:latin typeface="Arial"/>
            </a:endParaRPr>
          </a:p>
        </p:txBody>
      </p:sp>
      <p:sp>
        <p:nvSpPr>
          <p:cNvPr id="123" name="CustomShape 9"/>
          <p:cNvSpPr/>
          <p:nvPr/>
        </p:nvSpPr>
        <p:spPr>
          <a:xfrm>
            <a:off x="548640" y="2770560"/>
            <a:ext cx="2468520" cy="658080"/>
          </a:xfrm>
          <a:prstGeom prst="roundRect">
            <a:avLst>
              <a:gd name="adj" fmla="val 16667"/>
            </a:avLst>
          </a:prstGeom>
          <a:solidFill>
            <a:srgbClr val="6b7280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zh-CN" sz="1100" spc="-1" strike="noStrike">
                <a:solidFill>
                  <a:srgbClr val="ffffff"/>
                </a:solidFill>
                <a:latin typeface="Yu Gothic"/>
              </a:rPr>
              <a:t>ロボット身体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124" name="CustomShape 10"/>
          <p:cNvSpPr/>
          <p:nvPr/>
        </p:nvSpPr>
        <p:spPr>
          <a:xfrm>
            <a:off x="3182040" y="2807280"/>
            <a:ext cx="4242600" cy="4258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5000"/>
              </a:lnSpc>
            </a:pPr>
            <a:r>
              <a:rPr b="0" lang="en-US" sz="1050" spc="-1" strike="noStrike">
                <a:solidFill>
                  <a:srgbClr val="222222"/>
                </a:solidFill>
                <a:latin typeface="Yu Gothic"/>
              </a:rPr>
              <a:t>RC</a:t>
            </a:r>
            <a:r>
              <a:rPr b="0" lang="zh-CN" sz="1050" spc="-1" strike="noStrike">
                <a:solidFill>
                  <a:srgbClr val="222222"/>
                </a:solidFill>
                <a:latin typeface="Yu Gothic"/>
              </a:rPr>
              <a:t>用小型アクチュエータ</a:t>
            </a:r>
            <a:r>
              <a:rPr b="0" lang="en-US" sz="1050" spc="-1" strike="noStrike">
                <a:solidFill>
                  <a:srgbClr val="222222"/>
                </a:solidFill>
                <a:latin typeface="Yu Gothic"/>
              </a:rPr>
              <a:t>+</a:t>
            </a:r>
            <a:r>
              <a:rPr b="0" lang="zh-CN" sz="1050" spc="-1" strike="noStrike">
                <a:solidFill>
                  <a:srgbClr val="222222"/>
                </a:solidFill>
                <a:latin typeface="Yu Gothic"/>
              </a:rPr>
              <a:t>受信モジュール</a:t>
            </a:r>
            <a:endParaRPr b="0" lang="en-US" sz="1050" spc="-1" strike="noStrike">
              <a:latin typeface="Arial"/>
            </a:endParaRPr>
          </a:p>
          <a:p>
            <a:pPr>
              <a:lnSpc>
                <a:spcPct val="105000"/>
              </a:lnSpc>
            </a:pPr>
            <a:r>
              <a:rPr b="0" lang="en-US" sz="1050" spc="-1" strike="noStrike">
                <a:solidFill>
                  <a:srgbClr val="222222"/>
                </a:solidFill>
                <a:latin typeface="Yu Gothic"/>
              </a:rPr>
              <a:t>+ </a:t>
            </a:r>
            <a:r>
              <a:rPr b="0" lang="zh-CN" sz="1050" spc="-1" strike="noStrike">
                <a:solidFill>
                  <a:srgbClr val="222222"/>
                </a:solidFill>
                <a:latin typeface="Yu Gothic"/>
              </a:rPr>
              <a:t>カメラ </a:t>
            </a:r>
            <a:r>
              <a:rPr b="0" lang="en-US" sz="1050" spc="-1" strike="noStrike">
                <a:solidFill>
                  <a:srgbClr val="222222"/>
                </a:solidFill>
                <a:latin typeface="Yu Gothic"/>
              </a:rPr>
              <a:t>+ </a:t>
            </a:r>
            <a:r>
              <a:rPr b="0" lang="zh-CN" sz="1050" spc="-1" strike="noStrike">
                <a:solidFill>
                  <a:srgbClr val="222222"/>
                </a:solidFill>
                <a:latin typeface="Yu Gothic"/>
              </a:rPr>
              <a:t>映像送信機</a:t>
            </a:r>
            <a:endParaRPr b="0" lang="en-US" sz="1050" spc="-1" strike="noStrike">
              <a:latin typeface="Arial"/>
            </a:endParaRPr>
          </a:p>
        </p:txBody>
      </p:sp>
      <p:sp>
        <p:nvSpPr>
          <p:cNvPr id="125" name="CustomShape 11"/>
          <p:cNvSpPr/>
          <p:nvPr/>
        </p:nvSpPr>
        <p:spPr>
          <a:xfrm>
            <a:off x="7662600" y="2807280"/>
            <a:ext cx="3511080" cy="4258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5000"/>
              </a:lnSpc>
            </a:pPr>
            <a:r>
              <a:rPr b="0" lang="en-US" sz="1050" spc="-1" strike="noStrike">
                <a:solidFill>
                  <a:srgbClr val="222222"/>
                </a:solidFill>
                <a:latin typeface="Yu Gothic"/>
              </a:rPr>
              <a:t>RCB-4 + </a:t>
            </a:r>
            <a:r>
              <a:rPr b="0" lang="zh-CN" sz="1050" spc="-1" strike="noStrike">
                <a:solidFill>
                  <a:srgbClr val="222222"/>
                </a:solidFill>
                <a:latin typeface="Yu Gothic"/>
              </a:rPr>
              <a:t>サーボ </a:t>
            </a:r>
            <a:r>
              <a:rPr b="0" lang="en-US" sz="1050" spc="-1" strike="noStrike">
                <a:solidFill>
                  <a:srgbClr val="222222"/>
                </a:solidFill>
                <a:latin typeface="Yu Gothic"/>
              </a:rPr>
              <a:t>+ M5StickV(</a:t>
            </a:r>
            <a:r>
              <a:rPr b="0" lang="zh-CN" sz="1050" spc="-1" strike="noStrike">
                <a:solidFill>
                  <a:srgbClr val="222222"/>
                </a:solidFill>
                <a:latin typeface="Yu Gothic"/>
              </a:rPr>
              <a:t>カメラ</a:t>
            </a:r>
            <a:r>
              <a:rPr b="0" lang="en-US" sz="1050" spc="-1" strike="noStrike">
                <a:solidFill>
                  <a:srgbClr val="222222"/>
                </a:solidFill>
                <a:latin typeface="Yu Gothic"/>
              </a:rPr>
              <a:t>)</a:t>
            </a:r>
            <a:endParaRPr b="0" lang="en-US" sz="1050" spc="-1" strike="noStrike">
              <a:latin typeface="Arial"/>
            </a:endParaRPr>
          </a:p>
          <a:p>
            <a:pPr>
              <a:lnSpc>
                <a:spcPct val="105000"/>
              </a:lnSpc>
            </a:pPr>
            <a:r>
              <a:rPr b="0" lang="en-US" sz="1050" spc="-1" strike="noStrike">
                <a:solidFill>
                  <a:srgbClr val="222222"/>
                </a:solidFill>
                <a:latin typeface="Yu Gothic"/>
              </a:rPr>
              <a:t>+ AtomS3/M5StickC(WiFi)</a:t>
            </a:r>
            <a:endParaRPr b="0" lang="en-US" sz="1050" spc="-1" strike="noStrike">
              <a:latin typeface="Arial"/>
            </a:endParaRPr>
          </a:p>
        </p:txBody>
      </p:sp>
      <p:sp>
        <p:nvSpPr>
          <p:cNvPr id="126" name="CustomShape 12"/>
          <p:cNvSpPr/>
          <p:nvPr/>
        </p:nvSpPr>
        <p:spPr>
          <a:xfrm>
            <a:off x="548640" y="3483720"/>
            <a:ext cx="2468520" cy="658080"/>
          </a:xfrm>
          <a:prstGeom prst="roundRect">
            <a:avLst>
              <a:gd name="adj" fmla="val 16667"/>
            </a:avLst>
          </a:prstGeom>
          <a:solidFill>
            <a:srgbClr val="6b7280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zh-CN" sz="1100" spc="-1" strike="noStrike">
                <a:solidFill>
                  <a:srgbClr val="ffffff"/>
                </a:solidFill>
                <a:latin typeface="Yu Gothic"/>
              </a:rPr>
              <a:t>通信方式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127" name="CustomShape 13"/>
          <p:cNvSpPr/>
          <p:nvPr/>
        </p:nvSpPr>
        <p:spPr>
          <a:xfrm>
            <a:off x="3182040" y="3520440"/>
            <a:ext cx="4242600" cy="2581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5000"/>
              </a:lnSpc>
            </a:pPr>
            <a:r>
              <a:rPr b="0" lang="en-US" sz="1050" spc="-1" strike="noStrike">
                <a:solidFill>
                  <a:srgbClr val="222222"/>
                </a:solidFill>
                <a:latin typeface="Yu Gothic"/>
              </a:rPr>
              <a:t>UHF</a:t>
            </a:r>
            <a:r>
              <a:rPr b="0" lang="zh-CN" sz="1050" spc="-1" strike="noStrike">
                <a:solidFill>
                  <a:srgbClr val="222222"/>
                </a:solidFill>
                <a:latin typeface="Yu Gothic"/>
              </a:rPr>
              <a:t>無線</a:t>
            </a:r>
            <a:r>
              <a:rPr b="0" lang="en-US" sz="1050" spc="-1" strike="noStrike">
                <a:solidFill>
                  <a:srgbClr val="222222"/>
                </a:solidFill>
                <a:latin typeface="Yu Gothic"/>
              </a:rPr>
              <a:t>(</a:t>
            </a:r>
            <a:r>
              <a:rPr b="0" lang="zh-CN" sz="1050" spc="-1" strike="noStrike">
                <a:solidFill>
                  <a:srgbClr val="222222"/>
                </a:solidFill>
                <a:latin typeface="Yu Gothic"/>
              </a:rPr>
              <a:t>映像</a:t>
            </a:r>
            <a:r>
              <a:rPr b="0" lang="en-US" sz="1050" spc="-1" strike="noStrike">
                <a:solidFill>
                  <a:srgbClr val="222222"/>
                </a:solidFill>
                <a:latin typeface="Yu Gothic"/>
              </a:rPr>
              <a:t>)+ RC</a:t>
            </a:r>
            <a:r>
              <a:rPr b="0" lang="zh-CN" sz="1050" spc="-1" strike="noStrike">
                <a:solidFill>
                  <a:srgbClr val="222222"/>
                </a:solidFill>
                <a:latin typeface="Yu Gothic"/>
              </a:rPr>
              <a:t>無線</a:t>
            </a:r>
            <a:r>
              <a:rPr b="0" lang="en-US" sz="1050" spc="-1" strike="noStrike">
                <a:solidFill>
                  <a:srgbClr val="222222"/>
                </a:solidFill>
                <a:latin typeface="Yu Gothic"/>
              </a:rPr>
              <a:t>(</a:t>
            </a:r>
            <a:r>
              <a:rPr b="0" lang="zh-CN" sz="1050" spc="-1" strike="noStrike">
                <a:solidFill>
                  <a:srgbClr val="222222"/>
                </a:solidFill>
                <a:latin typeface="Yu Gothic"/>
              </a:rPr>
              <a:t>サーボ指令</a:t>
            </a:r>
            <a:r>
              <a:rPr b="0" lang="en-US" sz="1050" spc="-1" strike="noStrike">
                <a:solidFill>
                  <a:srgbClr val="222222"/>
                </a:solidFill>
                <a:latin typeface="Yu Gothic"/>
              </a:rPr>
              <a:t>)</a:t>
            </a:r>
            <a:endParaRPr b="0" lang="en-US" sz="1050" spc="-1" strike="noStrike">
              <a:latin typeface="Arial"/>
            </a:endParaRPr>
          </a:p>
        </p:txBody>
      </p:sp>
      <p:sp>
        <p:nvSpPr>
          <p:cNvPr id="128" name="CustomShape 14"/>
          <p:cNvSpPr/>
          <p:nvPr/>
        </p:nvSpPr>
        <p:spPr>
          <a:xfrm>
            <a:off x="7662600" y="3520440"/>
            <a:ext cx="3511080" cy="4258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5000"/>
              </a:lnSpc>
            </a:pPr>
            <a:r>
              <a:rPr b="0" lang="en-US" sz="1050" spc="-1" strike="noStrike">
                <a:solidFill>
                  <a:srgbClr val="222222"/>
                </a:solidFill>
                <a:latin typeface="Yu Gothic"/>
              </a:rPr>
              <a:t>WiFi(HTTPS/POST)+ ESP-NOW</a:t>
            </a:r>
            <a:endParaRPr b="0" lang="en-US" sz="1050" spc="-1" strike="noStrike">
              <a:latin typeface="Arial"/>
            </a:endParaRPr>
          </a:p>
          <a:p>
            <a:pPr>
              <a:lnSpc>
                <a:spcPct val="105000"/>
              </a:lnSpc>
            </a:pPr>
            <a:r>
              <a:rPr b="0" lang="en-US" sz="1050" spc="-1" strike="noStrike">
                <a:solidFill>
                  <a:srgbClr val="222222"/>
                </a:solidFill>
                <a:latin typeface="Yu Gothic"/>
              </a:rPr>
              <a:t>+ UART(RCB-4, 1.25Mbps/625kbps)</a:t>
            </a:r>
            <a:endParaRPr b="0" lang="en-US" sz="1050" spc="-1" strike="noStrike">
              <a:latin typeface="Arial"/>
            </a:endParaRPr>
          </a:p>
        </p:txBody>
      </p:sp>
      <p:sp>
        <p:nvSpPr>
          <p:cNvPr id="129" name="CustomShape 15"/>
          <p:cNvSpPr/>
          <p:nvPr/>
        </p:nvSpPr>
        <p:spPr>
          <a:xfrm>
            <a:off x="548640" y="4197240"/>
            <a:ext cx="2468520" cy="658080"/>
          </a:xfrm>
          <a:prstGeom prst="roundRect">
            <a:avLst>
              <a:gd name="adj" fmla="val 16667"/>
            </a:avLst>
          </a:prstGeom>
          <a:solidFill>
            <a:srgbClr val="6b7280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100" spc="-1" strike="noStrike">
                <a:solidFill>
                  <a:srgbClr val="ffffff"/>
                </a:solidFill>
                <a:latin typeface="Yu Gothic"/>
              </a:rPr>
              <a:t>1</a:t>
            </a:r>
            <a:r>
              <a:rPr b="1" lang="zh-CN" sz="1100" spc="-1" strike="noStrike">
                <a:solidFill>
                  <a:srgbClr val="ffffff"/>
                </a:solidFill>
                <a:latin typeface="Yu Gothic"/>
              </a:rPr>
              <a:t>系統が制御するサーボ数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130" name="CustomShape 16"/>
          <p:cNvSpPr/>
          <p:nvPr/>
        </p:nvSpPr>
        <p:spPr>
          <a:xfrm>
            <a:off x="3182040" y="4233600"/>
            <a:ext cx="4242600" cy="2581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5000"/>
              </a:lnSpc>
            </a:pPr>
            <a:r>
              <a:rPr b="0" lang="en-US" sz="1050" spc="-1" strike="noStrike">
                <a:solidFill>
                  <a:srgbClr val="222222"/>
                </a:solidFill>
                <a:latin typeface="Yu Gothic"/>
              </a:rPr>
              <a:t>20</a:t>
            </a:r>
            <a:r>
              <a:rPr b="0" lang="zh-CN" sz="1050" spc="-1" strike="noStrike">
                <a:solidFill>
                  <a:srgbClr val="222222"/>
                </a:solidFill>
                <a:latin typeface="Yu Gothic"/>
              </a:rPr>
              <a:t>〜</a:t>
            </a:r>
            <a:r>
              <a:rPr b="0" lang="en-US" sz="1050" spc="-1" strike="noStrike">
                <a:solidFill>
                  <a:srgbClr val="222222"/>
                </a:solidFill>
                <a:latin typeface="Yu Gothic"/>
              </a:rPr>
              <a:t>40</a:t>
            </a:r>
            <a:r>
              <a:rPr b="0" lang="zh-CN" sz="1050" spc="-1" strike="noStrike">
                <a:solidFill>
                  <a:srgbClr val="222222"/>
                </a:solidFill>
                <a:latin typeface="Yu Gothic"/>
              </a:rPr>
              <a:t>個</a:t>
            </a:r>
            <a:r>
              <a:rPr b="0" lang="en-US" sz="1050" spc="-1" strike="noStrike">
                <a:solidFill>
                  <a:srgbClr val="222222"/>
                </a:solidFill>
                <a:latin typeface="Yu Gothic"/>
              </a:rPr>
              <a:t>(</a:t>
            </a:r>
            <a:r>
              <a:rPr b="0" lang="zh-CN" sz="1050" spc="-1" strike="noStrike">
                <a:solidFill>
                  <a:srgbClr val="222222"/>
                </a:solidFill>
                <a:latin typeface="Yu Gothic"/>
              </a:rPr>
              <a:t>ロボット形態により様々</a:t>
            </a:r>
            <a:r>
              <a:rPr b="0" lang="en-US" sz="1050" spc="-1" strike="noStrike">
                <a:solidFill>
                  <a:srgbClr val="222222"/>
                </a:solidFill>
                <a:latin typeface="Yu Gothic"/>
              </a:rPr>
              <a:t>)</a:t>
            </a:r>
            <a:endParaRPr b="0" lang="en-US" sz="1050" spc="-1" strike="noStrike">
              <a:latin typeface="Arial"/>
            </a:endParaRPr>
          </a:p>
        </p:txBody>
      </p:sp>
      <p:sp>
        <p:nvSpPr>
          <p:cNvPr id="131" name="CustomShape 17"/>
          <p:cNvSpPr/>
          <p:nvPr/>
        </p:nvSpPr>
        <p:spPr>
          <a:xfrm>
            <a:off x="7662600" y="4233600"/>
            <a:ext cx="3511080" cy="4258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5000"/>
              </a:lnSpc>
            </a:pPr>
            <a:r>
              <a:rPr b="0" lang="zh-CN" sz="1050" spc="-1" strike="noStrike">
                <a:solidFill>
                  <a:srgbClr val="222222"/>
                </a:solidFill>
                <a:latin typeface="Yu Gothic"/>
              </a:rPr>
              <a:t>同程度の規模</a:t>
            </a:r>
            <a:endParaRPr b="0" lang="en-US" sz="1050" spc="-1" strike="noStrike">
              <a:latin typeface="Arial"/>
            </a:endParaRPr>
          </a:p>
          <a:p>
            <a:pPr>
              <a:lnSpc>
                <a:spcPct val="105000"/>
              </a:lnSpc>
            </a:pPr>
            <a:r>
              <a:rPr b="0" lang="en-US" sz="1050" spc="-1" strike="noStrike">
                <a:solidFill>
                  <a:srgbClr val="222222"/>
                </a:solidFill>
                <a:latin typeface="Yu Gothic"/>
              </a:rPr>
              <a:t>(rcb4robotconfig.l</a:t>
            </a:r>
            <a:r>
              <a:rPr b="0" lang="zh-CN" sz="1050" spc="-1" strike="noStrike">
                <a:solidFill>
                  <a:srgbClr val="222222"/>
                </a:solidFill>
                <a:latin typeface="Yu Gothic"/>
              </a:rPr>
              <a:t>の軸の組合せ</a:t>
            </a:r>
            <a:r>
              <a:rPr b="0" lang="en-US" sz="1050" spc="-1" strike="noStrike">
                <a:solidFill>
                  <a:srgbClr val="222222"/>
                </a:solidFill>
                <a:latin typeface="Yu Gothic"/>
              </a:rPr>
              <a:t>)</a:t>
            </a:r>
            <a:endParaRPr b="0" lang="en-US" sz="1050" spc="-1" strike="noStrike">
              <a:latin typeface="Arial"/>
            </a:endParaRPr>
          </a:p>
        </p:txBody>
      </p:sp>
      <p:sp>
        <p:nvSpPr>
          <p:cNvPr id="132" name="CustomShape 18"/>
          <p:cNvSpPr/>
          <p:nvPr/>
        </p:nvSpPr>
        <p:spPr>
          <a:xfrm>
            <a:off x="548640" y="4910400"/>
            <a:ext cx="2468520" cy="658080"/>
          </a:xfrm>
          <a:prstGeom prst="roundRect">
            <a:avLst>
              <a:gd name="adj" fmla="val 16667"/>
            </a:avLst>
          </a:prstGeom>
          <a:solidFill>
            <a:srgbClr val="6b7280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zh-CN" sz="1100" spc="-1" strike="noStrike">
                <a:solidFill>
                  <a:srgbClr val="ffffff"/>
                </a:solidFill>
                <a:latin typeface="Yu Gothic"/>
              </a:rPr>
              <a:t>ソフトウェアの共有方法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133" name="CustomShape 19"/>
          <p:cNvSpPr/>
          <p:nvPr/>
        </p:nvSpPr>
        <p:spPr>
          <a:xfrm>
            <a:off x="3182040" y="4946760"/>
            <a:ext cx="4242600" cy="4258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5000"/>
              </a:lnSpc>
            </a:pPr>
            <a:r>
              <a:rPr b="0" lang="en-US" sz="1050" spc="-1" strike="noStrike">
                <a:solidFill>
                  <a:srgbClr val="222222"/>
                </a:solidFill>
                <a:latin typeface="Yu Gothic"/>
              </a:rPr>
              <a:t>Sun </a:t>
            </a:r>
            <a:r>
              <a:rPr b="0" lang="zh-CN" sz="1050" spc="-1" strike="noStrike">
                <a:solidFill>
                  <a:srgbClr val="222222"/>
                </a:solidFill>
                <a:latin typeface="Yu Gothic"/>
              </a:rPr>
              <a:t>ワークステーション上で</a:t>
            </a:r>
            <a:endParaRPr b="0" lang="en-US" sz="1050" spc="-1" strike="noStrike">
              <a:latin typeface="Arial"/>
            </a:endParaRPr>
          </a:p>
          <a:p>
            <a:pPr>
              <a:lnSpc>
                <a:spcPct val="105000"/>
              </a:lnSpc>
            </a:pPr>
            <a:r>
              <a:rPr b="0" lang="zh-CN" sz="1050" spc="-1" strike="noStrike">
                <a:solidFill>
                  <a:srgbClr val="222222"/>
                </a:solidFill>
                <a:latin typeface="Yu Gothic"/>
              </a:rPr>
              <a:t>学生間が直接共有・継承</a:t>
            </a:r>
            <a:endParaRPr b="0" lang="en-US" sz="1050" spc="-1" strike="noStrike">
              <a:latin typeface="Arial"/>
            </a:endParaRPr>
          </a:p>
        </p:txBody>
      </p:sp>
      <p:sp>
        <p:nvSpPr>
          <p:cNvPr id="134" name="CustomShape 20"/>
          <p:cNvSpPr/>
          <p:nvPr/>
        </p:nvSpPr>
        <p:spPr>
          <a:xfrm>
            <a:off x="7662600" y="4946760"/>
            <a:ext cx="3511080" cy="4258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5000"/>
              </a:lnSpc>
            </a:pPr>
            <a:r>
              <a:rPr b="0" lang="en-US" sz="1050" spc="-1" strike="noStrike">
                <a:solidFill>
                  <a:srgbClr val="222222"/>
                </a:solidFill>
                <a:latin typeface="Yu Gothic"/>
              </a:rPr>
              <a:t>GitHub(downloadable_policies/,</a:t>
            </a:r>
            <a:endParaRPr b="0" lang="en-US" sz="1050" spc="-1" strike="noStrike">
              <a:latin typeface="Arial"/>
            </a:endParaRPr>
          </a:p>
          <a:p>
            <a:pPr>
              <a:lnSpc>
                <a:spcPct val="105000"/>
              </a:lnSpc>
            </a:pPr>
            <a:r>
              <a:rPr b="0" lang="en-US" sz="1050" spc="-1" strike="noStrike">
                <a:solidFill>
                  <a:srgbClr val="222222"/>
                </a:solidFill>
                <a:latin typeface="Yu Gothic"/>
              </a:rPr>
              <a:t>urdf_viewer/)</a:t>
            </a:r>
            <a:r>
              <a:rPr b="0" lang="zh-CN" sz="1050" spc="-1" strike="noStrike">
                <a:solidFill>
                  <a:srgbClr val="222222"/>
                </a:solidFill>
                <a:latin typeface="Yu Gothic"/>
              </a:rPr>
              <a:t>でクラウド共有</a:t>
            </a:r>
            <a:endParaRPr b="0" lang="en-US" sz="1050" spc="-1" strike="noStrike">
              <a:latin typeface="Arial"/>
            </a:endParaRPr>
          </a:p>
        </p:txBody>
      </p:sp>
      <p:sp>
        <p:nvSpPr>
          <p:cNvPr id="135" name="CustomShape 21"/>
          <p:cNvSpPr/>
          <p:nvPr/>
        </p:nvSpPr>
        <p:spPr>
          <a:xfrm>
            <a:off x="548640" y="5623560"/>
            <a:ext cx="2468520" cy="658080"/>
          </a:xfrm>
          <a:prstGeom prst="roundRect">
            <a:avLst>
              <a:gd name="adj" fmla="val 16667"/>
            </a:avLst>
          </a:prstGeom>
          <a:solidFill>
            <a:srgbClr val="6b7280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zh-CN" sz="1100" spc="-1" strike="noStrike">
                <a:solidFill>
                  <a:srgbClr val="ffffff"/>
                </a:solidFill>
                <a:latin typeface="Yu Gothic"/>
              </a:rPr>
              <a:t>知能の実体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136" name="CustomShape 22"/>
          <p:cNvSpPr/>
          <p:nvPr/>
        </p:nvSpPr>
        <p:spPr>
          <a:xfrm>
            <a:off x="3182040" y="5660280"/>
            <a:ext cx="4242600" cy="4258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5000"/>
              </a:lnSpc>
            </a:pPr>
            <a:r>
              <a:rPr b="0" lang="zh-CN" sz="1050" spc="-1" strike="noStrike">
                <a:solidFill>
                  <a:srgbClr val="222222"/>
                </a:solidFill>
                <a:latin typeface="Yu Gothic"/>
              </a:rPr>
              <a:t>各自が書いた行動プログラム</a:t>
            </a:r>
            <a:endParaRPr b="0" lang="en-US" sz="1050" spc="-1" strike="noStrike">
              <a:latin typeface="Arial"/>
            </a:endParaRPr>
          </a:p>
          <a:p>
            <a:pPr>
              <a:lnSpc>
                <a:spcPct val="105000"/>
              </a:lnSpc>
            </a:pPr>
            <a:r>
              <a:rPr b="0" lang="en-US" sz="1050" spc="-1" strike="noStrike">
                <a:solidFill>
                  <a:srgbClr val="222222"/>
                </a:solidFill>
                <a:latin typeface="Yu Gothic"/>
              </a:rPr>
              <a:t>(Transputer occam</a:t>
            </a:r>
            <a:r>
              <a:rPr b="0" lang="zh-CN" sz="1050" spc="-1" strike="noStrike">
                <a:solidFill>
                  <a:srgbClr val="222222"/>
                </a:solidFill>
                <a:latin typeface="Yu Gothic"/>
              </a:rPr>
              <a:t>等</a:t>
            </a:r>
            <a:r>
              <a:rPr b="0" lang="en-US" sz="1050" spc="-1" strike="noStrike">
                <a:solidFill>
                  <a:srgbClr val="222222"/>
                </a:solidFill>
                <a:latin typeface="Yu Gothic"/>
              </a:rPr>
              <a:t>)</a:t>
            </a:r>
            <a:endParaRPr b="0" lang="en-US" sz="1050" spc="-1" strike="noStrike">
              <a:latin typeface="Arial"/>
            </a:endParaRPr>
          </a:p>
        </p:txBody>
      </p:sp>
      <p:sp>
        <p:nvSpPr>
          <p:cNvPr id="137" name="CustomShape 23"/>
          <p:cNvSpPr/>
          <p:nvPr/>
        </p:nvSpPr>
        <p:spPr>
          <a:xfrm>
            <a:off x="7662600" y="5660280"/>
            <a:ext cx="3511080" cy="4258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5000"/>
              </a:lnSpc>
            </a:pPr>
            <a:r>
              <a:rPr b="0" lang="zh-CN" sz="1050" spc="-1" strike="noStrike">
                <a:solidFill>
                  <a:srgbClr val="222222"/>
                </a:solidFill>
                <a:latin typeface="Yu Gothic"/>
              </a:rPr>
              <a:t>学習済み</a:t>
            </a:r>
            <a:r>
              <a:rPr b="0" lang="en-US" sz="1050" spc="-1" strike="noStrike">
                <a:solidFill>
                  <a:srgbClr val="222222"/>
                </a:solidFill>
                <a:latin typeface="Yu Gothic"/>
              </a:rPr>
              <a:t>NN</a:t>
            </a:r>
            <a:r>
              <a:rPr b="0" lang="zh-CN" sz="1050" spc="-1" strike="noStrike">
                <a:solidFill>
                  <a:srgbClr val="222222"/>
                </a:solidFill>
                <a:latin typeface="Yu Gothic"/>
              </a:rPr>
              <a:t>方策</a:t>
            </a:r>
            <a:endParaRPr b="0" lang="en-US" sz="1050" spc="-1" strike="noStrike">
              <a:latin typeface="Arial"/>
            </a:endParaRPr>
          </a:p>
          <a:p>
            <a:pPr>
              <a:lnSpc>
                <a:spcPct val="105000"/>
              </a:lnSpc>
            </a:pPr>
            <a:r>
              <a:rPr b="0" lang="en-US" sz="1050" spc="-1" strike="noStrike">
                <a:solidFill>
                  <a:srgbClr val="222222"/>
                </a:solidFill>
                <a:latin typeface="Yu Gothic"/>
              </a:rPr>
              <a:t>(int16</a:t>
            </a:r>
            <a:r>
              <a:rPr b="0" lang="zh-CN" sz="1050" spc="-1" strike="noStrike">
                <a:solidFill>
                  <a:srgbClr val="222222"/>
                </a:solidFill>
                <a:latin typeface="Yu Gothic"/>
              </a:rPr>
              <a:t>量子化、将来はデータ駆動化</a:t>
            </a:r>
            <a:r>
              <a:rPr b="0" lang="en-US" sz="1050" spc="-1" strike="noStrike">
                <a:solidFill>
                  <a:srgbClr val="222222"/>
                </a:solidFill>
                <a:latin typeface="Yu Gothic"/>
              </a:rPr>
              <a:t>)</a:t>
            </a:r>
            <a:endParaRPr b="0" lang="en-US" sz="1050" spc="-1" strike="noStrike">
              <a:latin typeface="Arial"/>
            </a:endParaRPr>
          </a:p>
        </p:txBody>
      </p:sp>
      <p:sp>
        <p:nvSpPr>
          <p:cNvPr id="138" name="CustomShape 24"/>
          <p:cNvSpPr/>
          <p:nvPr/>
        </p:nvSpPr>
        <p:spPr>
          <a:xfrm>
            <a:off x="548640" y="6355080"/>
            <a:ext cx="11063880" cy="5101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20000"/>
              </a:lnSpc>
            </a:pPr>
            <a:r>
              <a:rPr b="1" lang="zh-CN" sz="1150" spc="-1" strike="noStrike">
                <a:solidFill>
                  <a:srgbClr val="b03030"/>
                </a:solidFill>
                <a:latin typeface="Yu Gothic"/>
              </a:rPr>
              <a:t>変わったのは計算機の規模と共有手段</a:t>
            </a:r>
            <a:r>
              <a:rPr b="1" lang="en-US" sz="1150" spc="-1" strike="noStrike">
                <a:solidFill>
                  <a:srgbClr val="b03030"/>
                </a:solidFill>
                <a:latin typeface="Yu Gothic"/>
              </a:rPr>
              <a:t>(</a:t>
            </a:r>
            <a:r>
              <a:rPr b="1" lang="zh-CN" sz="1150" spc="-1" strike="noStrike">
                <a:solidFill>
                  <a:srgbClr val="b03030"/>
                </a:solidFill>
                <a:latin typeface="Yu Gothic"/>
              </a:rPr>
              <a:t>専用タワー→クラウド</a:t>
            </a:r>
            <a:r>
              <a:rPr b="1" lang="en-US" sz="1150" spc="-1" strike="noStrike">
                <a:solidFill>
                  <a:srgbClr val="b03030"/>
                </a:solidFill>
                <a:latin typeface="Yu Gothic"/>
              </a:rPr>
              <a:t>)-- </a:t>
            </a:r>
            <a:r>
              <a:rPr b="1" lang="zh-CN" sz="1150" spc="-1" strike="noStrike">
                <a:solidFill>
                  <a:srgbClr val="b03030"/>
                </a:solidFill>
                <a:latin typeface="Yu Gothic"/>
              </a:rPr>
              <a:t>「脳は外、身体は軽量・交換可能」という</a:t>
            </a:r>
            <a:endParaRPr b="0" lang="en-US" sz="1150" spc="-1" strike="noStrike">
              <a:latin typeface="Arial"/>
            </a:endParaRPr>
          </a:p>
          <a:p>
            <a:pPr>
              <a:lnSpc>
                <a:spcPct val="120000"/>
              </a:lnSpc>
            </a:pPr>
            <a:r>
              <a:rPr b="1" lang="zh-CN" sz="1150" spc="-1" strike="noStrike">
                <a:solidFill>
                  <a:srgbClr val="b03030"/>
                </a:solidFill>
                <a:latin typeface="Yu Gothic"/>
              </a:rPr>
              <a:t>思想そのものは、</a:t>
            </a:r>
            <a:r>
              <a:rPr b="1" lang="en-US" sz="1150" spc="-1" strike="noStrike">
                <a:solidFill>
                  <a:srgbClr val="b03030"/>
                </a:solidFill>
                <a:latin typeface="Yu Gothic"/>
              </a:rPr>
              <a:t>1990</a:t>
            </a:r>
            <a:r>
              <a:rPr b="1" lang="zh-CN" sz="1150" spc="-1" strike="noStrike">
                <a:solidFill>
                  <a:srgbClr val="b03030"/>
                </a:solidFill>
                <a:latin typeface="Yu Gothic"/>
              </a:rPr>
              <a:t>年代のリモートブレインロボットから</a:t>
            </a:r>
            <a:r>
              <a:rPr b="1" lang="en-US" sz="1150" spc="-1" strike="noStrike">
                <a:solidFill>
                  <a:srgbClr val="b03030"/>
                </a:solidFill>
                <a:latin typeface="Yu Gothic"/>
              </a:rPr>
              <a:t>kxr</a:t>
            </a:r>
            <a:r>
              <a:rPr b="1" lang="zh-CN" sz="1150" spc="-1" strike="noStrike">
                <a:solidFill>
                  <a:srgbClr val="b03030"/>
                </a:solidFill>
                <a:latin typeface="Yu Gothic"/>
              </a:rPr>
              <a:t>まで一貫して受け継がれている。</a:t>
            </a:r>
            <a:endParaRPr b="0" lang="en-US" sz="115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CustomShape 1"/>
          <p:cNvSpPr/>
          <p:nvPr/>
        </p:nvSpPr>
        <p:spPr>
          <a:xfrm>
            <a:off x="548640" y="320040"/>
            <a:ext cx="7314840" cy="3337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rgbClr val="2e6fc7"/>
                </a:solidFill>
                <a:latin typeface="Yu Gothic"/>
              </a:rPr>
              <a:t>CURRENT STATE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140" name="CustomShape 2"/>
          <p:cNvSpPr/>
          <p:nvPr/>
        </p:nvSpPr>
        <p:spPr>
          <a:xfrm>
            <a:off x="548640" y="685800"/>
            <a:ext cx="10515240" cy="5472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3000" spc="-1" strike="noStrike">
                <a:solidFill>
                  <a:srgbClr val="1f2a44"/>
                </a:solidFill>
                <a:latin typeface="Yu Gothic"/>
              </a:rPr>
              <a:t>kxr5s: 1</a:t>
            </a:r>
            <a:r>
              <a:rPr b="1" lang="zh-CN" sz="3000" spc="-1" strike="noStrike">
                <a:solidFill>
                  <a:srgbClr val="1f2a44"/>
                </a:solidFill>
                <a:latin typeface="Yu Gothic"/>
              </a:rPr>
              <a:t>つのファームウェアで</a:t>
            </a:r>
            <a:r>
              <a:rPr b="1" lang="en-US" sz="3000" spc="-1" strike="noStrike">
                <a:solidFill>
                  <a:srgbClr val="1f2a44"/>
                </a:solidFill>
                <a:latin typeface="Yu Gothic"/>
              </a:rPr>
              <a:t>5</a:t>
            </a:r>
            <a:r>
              <a:rPr b="1" lang="zh-CN" sz="3000" spc="-1" strike="noStrike">
                <a:solidFill>
                  <a:srgbClr val="1f2a44"/>
                </a:solidFill>
                <a:latin typeface="Yu Gothic"/>
              </a:rPr>
              <a:t>種類のロボットに対応</a:t>
            </a:r>
            <a:endParaRPr b="0" lang="en-US" sz="3000" spc="-1" strike="noStrike">
              <a:latin typeface="Arial"/>
            </a:endParaRPr>
          </a:p>
        </p:txBody>
      </p:sp>
      <p:sp>
        <p:nvSpPr>
          <p:cNvPr id="141" name="CustomShape 3"/>
          <p:cNvSpPr/>
          <p:nvPr/>
        </p:nvSpPr>
        <p:spPr>
          <a:xfrm>
            <a:off x="548640" y="1554480"/>
            <a:ext cx="5760360" cy="27716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25000"/>
              </a:lnSpc>
            </a:pPr>
            <a:r>
              <a:rPr b="0" lang="zh-CN" sz="1500" spc="-1" strike="noStrike">
                <a:solidFill>
                  <a:srgbClr val="222222"/>
                </a:solidFill>
                <a:latin typeface="Yu Gothic"/>
              </a:rPr>
              <a:t>・</a:t>
            </a:r>
            <a:r>
              <a:rPr b="0" lang="en-US" sz="1500" spc="-1" strike="noStrike">
                <a:solidFill>
                  <a:srgbClr val="222222"/>
                </a:solidFill>
                <a:latin typeface="Yu Gothic"/>
              </a:rPr>
              <a:t>atoms3_m5stickv_kxr5s</a:t>
            </a:r>
            <a:endParaRPr b="0" lang="en-US" sz="1500" spc="-1" strike="noStrike">
              <a:latin typeface="Arial"/>
            </a:endParaRPr>
          </a:p>
          <a:p>
            <a:pPr>
              <a:lnSpc>
                <a:spcPct val="125000"/>
              </a:lnSpc>
            </a:pPr>
            <a:r>
              <a:rPr b="0" lang="zh-CN" sz="1500" spc="-1" strike="noStrike">
                <a:solidFill>
                  <a:srgbClr val="222222"/>
                </a:solidFill>
                <a:latin typeface="Yu Gothic"/>
              </a:rPr>
              <a:t>・</a:t>
            </a:r>
            <a:r>
              <a:rPr b="0" lang="en-US" sz="1500" spc="-1" strike="noStrike">
                <a:solidFill>
                  <a:srgbClr val="222222"/>
                </a:solidFill>
                <a:latin typeface="Yu Gothic"/>
              </a:rPr>
              <a:t>m5stickc_m5stickv_kxr5s</a:t>
            </a:r>
            <a:endParaRPr b="0" lang="en-US" sz="1500" spc="-1" strike="noStrike">
              <a:latin typeface="Arial"/>
            </a:endParaRPr>
          </a:p>
          <a:p>
            <a:pPr>
              <a:lnSpc>
                <a:spcPct val="125000"/>
              </a:lnSpc>
            </a:pPr>
            <a:endParaRPr b="0" lang="en-US" sz="1500" spc="-1" strike="noStrike">
              <a:latin typeface="Arial"/>
            </a:endParaRPr>
          </a:p>
          <a:p>
            <a:pPr>
              <a:lnSpc>
                <a:spcPct val="125000"/>
              </a:lnSpc>
            </a:pPr>
            <a:r>
              <a:rPr b="0" lang="zh-CN" sz="1500" spc="-1" strike="noStrike">
                <a:solidFill>
                  <a:srgbClr val="222222"/>
                </a:solidFill>
                <a:latin typeface="Yu Gothic"/>
              </a:rPr>
              <a:t>・</a:t>
            </a:r>
            <a:r>
              <a:rPr b="0" lang="en-US" sz="1500" spc="-1" strike="noStrike">
                <a:solidFill>
                  <a:srgbClr val="222222"/>
                </a:solidFill>
                <a:latin typeface="Yu Gothic"/>
              </a:rPr>
              <a:t>NVS</a:t>
            </a:r>
            <a:r>
              <a:rPr b="0" lang="zh-CN" sz="1500" spc="-1" strike="noStrike">
                <a:solidFill>
                  <a:srgbClr val="222222"/>
                </a:solidFill>
                <a:latin typeface="Yu Gothic"/>
              </a:rPr>
              <a:t>に保存したロボット</a:t>
            </a:r>
            <a:r>
              <a:rPr b="0" lang="en-US" sz="1500" spc="-1" strike="noStrike">
                <a:solidFill>
                  <a:srgbClr val="222222"/>
                </a:solidFill>
                <a:latin typeface="Yu Gothic"/>
              </a:rPr>
              <a:t>ID</a:t>
            </a:r>
            <a:r>
              <a:rPr b="0" lang="zh-CN" sz="1500" spc="-1" strike="noStrike">
                <a:solidFill>
                  <a:srgbClr val="222222"/>
                </a:solidFill>
                <a:latin typeface="Yu Gothic"/>
              </a:rPr>
              <a:t>で、起動時にどのロボット</a:t>
            </a:r>
            <a:endParaRPr b="0" lang="en-US" sz="1500" spc="-1" strike="noStrike">
              <a:latin typeface="Arial"/>
            </a:endParaRPr>
          </a:p>
          <a:p>
            <a:pPr>
              <a:lnSpc>
                <a:spcPct val="125000"/>
              </a:lnSpc>
            </a:pPr>
            <a:r>
              <a:rPr b="0" lang="en-US" sz="1500" spc="-1" strike="noStrike">
                <a:solidFill>
                  <a:srgbClr val="222222"/>
                </a:solidFill>
                <a:latin typeface="Yu Gothic"/>
              </a:rPr>
              <a:t>  </a:t>
            </a:r>
            <a:r>
              <a:rPr b="0" lang="zh-CN" sz="1500" spc="-1" strike="noStrike">
                <a:solidFill>
                  <a:srgbClr val="222222"/>
                </a:solidFill>
                <a:latin typeface="Yu Gothic"/>
              </a:rPr>
              <a:t>として振る舞うか決まる</a:t>
            </a:r>
            <a:endParaRPr b="0" lang="en-US" sz="1500" spc="-1" strike="noStrike">
              <a:latin typeface="Arial"/>
            </a:endParaRPr>
          </a:p>
          <a:p>
            <a:pPr>
              <a:lnSpc>
                <a:spcPct val="125000"/>
              </a:lnSpc>
            </a:pPr>
            <a:r>
              <a:rPr b="0" lang="en-US" sz="1500" spc="-1" strike="noStrike">
                <a:solidFill>
                  <a:srgbClr val="222222"/>
                </a:solidFill>
                <a:latin typeface="Yu Gothic"/>
              </a:rPr>
              <a:t>  </a:t>
            </a:r>
            <a:r>
              <a:rPr b="0" lang="en-US" sz="1500" spc="-1" strike="noStrike">
                <a:solidFill>
                  <a:srgbClr val="222222"/>
                </a:solidFill>
                <a:latin typeface="Yu Gothic"/>
              </a:rPr>
              <a:t>(kxrl4t / kxrl4d / kxrl6 / kxrl2g / kxra6g)</a:t>
            </a:r>
            <a:endParaRPr b="0" lang="en-US" sz="1500" spc="-1" strike="noStrike">
              <a:latin typeface="Arial"/>
            </a:endParaRPr>
          </a:p>
          <a:p>
            <a:pPr>
              <a:lnSpc>
                <a:spcPct val="125000"/>
              </a:lnSpc>
            </a:pPr>
            <a:endParaRPr b="0" lang="en-US" sz="1500" spc="-1" strike="noStrike">
              <a:latin typeface="Arial"/>
            </a:endParaRPr>
          </a:p>
          <a:p>
            <a:pPr>
              <a:lnSpc>
                <a:spcPct val="125000"/>
              </a:lnSpc>
            </a:pPr>
            <a:r>
              <a:rPr b="0" lang="zh-CN" sz="1500" spc="-1" strike="noStrike">
                <a:solidFill>
                  <a:srgbClr val="222222"/>
                </a:solidFill>
                <a:latin typeface="Yu Gothic"/>
              </a:rPr>
              <a:t>・各ロボットの</a:t>
            </a:r>
            <a:r>
              <a:rPr b="0" lang="en-US" sz="1500" spc="-1" strike="noStrike">
                <a:solidFill>
                  <a:srgbClr val="222222"/>
                </a:solidFill>
                <a:latin typeface="Yu Gothic"/>
              </a:rPr>
              <a:t>NN</a:t>
            </a:r>
            <a:r>
              <a:rPr b="0" lang="zh-CN" sz="1500" spc="-1" strike="noStrike">
                <a:solidFill>
                  <a:srgbClr val="222222"/>
                </a:solidFill>
                <a:latin typeface="Yu Gothic"/>
              </a:rPr>
              <a:t>重み・関節定義・モーションテーブルは</a:t>
            </a:r>
            <a:endParaRPr b="0" lang="en-US" sz="1500" spc="-1" strike="noStrike">
              <a:latin typeface="Arial"/>
            </a:endParaRPr>
          </a:p>
          <a:p>
            <a:pPr>
              <a:lnSpc>
                <a:spcPct val="125000"/>
              </a:lnSpc>
            </a:pPr>
            <a:r>
              <a:rPr b="0" lang="en-US" sz="1500" spc="-1" strike="noStrike">
                <a:solidFill>
                  <a:srgbClr val="222222"/>
                </a:solidFill>
                <a:latin typeface="Yu Gothic"/>
              </a:rPr>
              <a:t>  </a:t>
            </a:r>
            <a:r>
              <a:rPr b="0" lang="zh-CN" sz="1500" spc="-1" strike="noStrike">
                <a:solidFill>
                  <a:srgbClr val="222222"/>
                </a:solidFill>
                <a:latin typeface="Yu Gothic"/>
              </a:rPr>
              <a:t>すべてコンパイル時に</a:t>
            </a:r>
            <a:r>
              <a:rPr b="0" lang="en-US" sz="1500" spc="-1" strike="noStrike">
                <a:solidFill>
                  <a:srgbClr val="222222"/>
                </a:solidFill>
                <a:latin typeface="Yu Gothic"/>
              </a:rPr>
              <a:t>Flash</a:t>
            </a:r>
            <a:r>
              <a:rPr b="0" lang="zh-CN" sz="1500" spc="-1" strike="noStrike">
                <a:solidFill>
                  <a:srgbClr val="222222"/>
                </a:solidFill>
                <a:latin typeface="Yu Gothic"/>
              </a:rPr>
              <a:t>へ焼き込み済み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142" name="CustomShape 4"/>
          <p:cNvSpPr/>
          <p:nvPr/>
        </p:nvSpPr>
        <p:spPr>
          <a:xfrm>
            <a:off x="6400800" y="1554480"/>
            <a:ext cx="5211720" cy="3291480"/>
          </a:xfrm>
          <a:prstGeom prst="rect">
            <a:avLst/>
          </a:prstGeom>
          <a:solidFill>
            <a:srgbClr val="f2f4f8"/>
          </a:solidFill>
          <a:ln w="12600">
            <a:solidFill>
              <a:srgbClr val="6b7280"/>
            </a:solidFill>
            <a:round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43" name="CustomShape 5"/>
          <p:cNvSpPr/>
          <p:nvPr/>
        </p:nvSpPr>
        <p:spPr>
          <a:xfrm>
            <a:off x="6583680" y="1645920"/>
            <a:ext cx="4845960" cy="3034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rgbClr val="1f2a44"/>
                </a:solidFill>
                <a:latin typeface="Yu Gothic"/>
              </a:rPr>
              <a:t>1</a:t>
            </a:r>
            <a:r>
              <a:rPr b="1" lang="zh-CN" sz="1400" spc="-1" strike="noStrike">
                <a:solidFill>
                  <a:srgbClr val="1f2a44"/>
                </a:solidFill>
                <a:latin typeface="Yu Gothic"/>
              </a:rPr>
              <a:t>個のファームウェアイメージ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44" name="CustomShape 6"/>
          <p:cNvSpPr/>
          <p:nvPr/>
        </p:nvSpPr>
        <p:spPr>
          <a:xfrm>
            <a:off x="6720840" y="2194560"/>
            <a:ext cx="1554120" cy="776880"/>
          </a:xfrm>
          <a:prstGeom prst="roundRect">
            <a:avLst>
              <a:gd name="adj" fmla="val 16667"/>
            </a:avLst>
          </a:prstGeom>
          <a:solidFill>
            <a:srgbClr val="2e6fc7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500" spc="-1" strike="noStrike">
                <a:solidFill>
                  <a:srgbClr val="ffffff"/>
                </a:solidFill>
                <a:latin typeface="Yu Gothic"/>
              </a:rPr>
              <a:t>kxrl4t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145" name="CustomShape 7"/>
          <p:cNvSpPr/>
          <p:nvPr/>
        </p:nvSpPr>
        <p:spPr>
          <a:xfrm>
            <a:off x="8412480" y="2194560"/>
            <a:ext cx="1554120" cy="776880"/>
          </a:xfrm>
          <a:prstGeom prst="roundRect">
            <a:avLst>
              <a:gd name="adj" fmla="val 16667"/>
            </a:avLst>
          </a:prstGeom>
          <a:solidFill>
            <a:srgbClr val="2e6fc7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500" spc="-1" strike="noStrike">
                <a:solidFill>
                  <a:srgbClr val="ffffff"/>
                </a:solidFill>
                <a:latin typeface="Yu Gothic"/>
              </a:rPr>
              <a:t>kxrl4d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146" name="CustomShape 8"/>
          <p:cNvSpPr/>
          <p:nvPr/>
        </p:nvSpPr>
        <p:spPr>
          <a:xfrm>
            <a:off x="6720840" y="3108960"/>
            <a:ext cx="1554120" cy="776880"/>
          </a:xfrm>
          <a:prstGeom prst="roundRect">
            <a:avLst>
              <a:gd name="adj" fmla="val 16667"/>
            </a:avLst>
          </a:prstGeom>
          <a:solidFill>
            <a:srgbClr val="2e6fc7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500" spc="-1" strike="noStrike">
                <a:solidFill>
                  <a:srgbClr val="ffffff"/>
                </a:solidFill>
                <a:latin typeface="Yu Gothic"/>
              </a:rPr>
              <a:t>kxrl6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147" name="CustomShape 9"/>
          <p:cNvSpPr/>
          <p:nvPr/>
        </p:nvSpPr>
        <p:spPr>
          <a:xfrm>
            <a:off x="8412480" y="3108960"/>
            <a:ext cx="1554120" cy="776880"/>
          </a:xfrm>
          <a:prstGeom prst="roundRect">
            <a:avLst>
              <a:gd name="adj" fmla="val 16667"/>
            </a:avLst>
          </a:prstGeom>
          <a:solidFill>
            <a:srgbClr val="2e6fc7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500" spc="-1" strike="noStrike">
                <a:solidFill>
                  <a:srgbClr val="ffffff"/>
                </a:solidFill>
                <a:latin typeface="Yu Gothic"/>
              </a:rPr>
              <a:t>kxrl2g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148" name="CustomShape 10"/>
          <p:cNvSpPr/>
          <p:nvPr/>
        </p:nvSpPr>
        <p:spPr>
          <a:xfrm>
            <a:off x="7562160" y="4023360"/>
            <a:ext cx="1554120" cy="776880"/>
          </a:xfrm>
          <a:prstGeom prst="roundRect">
            <a:avLst>
              <a:gd name="adj" fmla="val 16667"/>
            </a:avLst>
          </a:prstGeom>
          <a:solidFill>
            <a:srgbClr val="2e6fc7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500" spc="-1" strike="noStrike">
                <a:solidFill>
                  <a:srgbClr val="ffffff"/>
                </a:solidFill>
                <a:latin typeface="Yu Gothic"/>
              </a:rPr>
              <a:t>kxra6g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149" name="CustomShape 11"/>
          <p:cNvSpPr/>
          <p:nvPr/>
        </p:nvSpPr>
        <p:spPr>
          <a:xfrm>
            <a:off x="548640" y="5029200"/>
            <a:ext cx="11063880" cy="11012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30000"/>
              </a:lnSpc>
            </a:pPr>
            <a:r>
              <a:rPr b="1" lang="en-US" sz="1700" spc="-1" strike="noStrike">
                <a:solidFill>
                  <a:srgbClr val="b03030"/>
                </a:solidFill>
                <a:latin typeface="Yu Gothic"/>
              </a:rPr>
              <a:t>Flash</a:t>
            </a:r>
            <a:r>
              <a:rPr b="1" lang="zh-CN" sz="1700" spc="-1" strike="noStrike">
                <a:solidFill>
                  <a:srgbClr val="b03030"/>
                </a:solidFill>
                <a:latin typeface="Yu Gothic"/>
              </a:rPr>
              <a:t>の使用率はすでに </a:t>
            </a:r>
            <a:r>
              <a:rPr b="1" lang="en-US" sz="1700" spc="-1" strike="noStrike">
                <a:solidFill>
                  <a:srgbClr val="b03030"/>
                </a:solidFill>
                <a:latin typeface="Yu Gothic"/>
              </a:rPr>
              <a:t>78</a:t>
            </a:r>
            <a:r>
              <a:rPr b="1" lang="zh-CN" sz="1700" spc="-1" strike="noStrike">
                <a:solidFill>
                  <a:srgbClr val="b03030"/>
                </a:solidFill>
                <a:latin typeface="Yu Gothic"/>
              </a:rPr>
              <a:t>〜</a:t>
            </a:r>
            <a:r>
              <a:rPr b="1" lang="en-US" sz="1700" spc="-1" strike="noStrike">
                <a:solidFill>
                  <a:srgbClr val="b03030"/>
                </a:solidFill>
                <a:latin typeface="Yu Gothic"/>
              </a:rPr>
              <a:t>83%(atoms3 / m5stickc </a:t>
            </a:r>
            <a:r>
              <a:rPr b="1" lang="zh-CN" sz="1700" spc="-1" strike="noStrike">
                <a:solidFill>
                  <a:srgbClr val="b03030"/>
                </a:solidFill>
                <a:latin typeface="Yu Gothic"/>
              </a:rPr>
              <a:t>とも、</a:t>
            </a:r>
            <a:r>
              <a:rPr b="1" lang="en-US" sz="1700" spc="-1" strike="noStrike">
                <a:solidFill>
                  <a:srgbClr val="b03030"/>
                </a:solidFill>
                <a:latin typeface="Yu Gothic"/>
              </a:rPr>
              <a:t>5</a:t>
            </a:r>
            <a:r>
              <a:rPr b="1" lang="zh-CN" sz="1700" spc="-1" strike="noStrike">
                <a:solidFill>
                  <a:srgbClr val="b03030"/>
                </a:solidFill>
                <a:latin typeface="Yu Gothic"/>
              </a:rPr>
              <a:t>種類の時点で</a:t>
            </a:r>
            <a:r>
              <a:rPr b="1" lang="en-US" sz="1700" spc="-1" strike="noStrike">
                <a:solidFill>
                  <a:srgbClr val="b03030"/>
                </a:solidFill>
                <a:latin typeface="Yu Gothic"/>
              </a:rPr>
              <a:t>)</a:t>
            </a:r>
            <a:r>
              <a:rPr b="1" lang="zh-CN" sz="1700" spc="-1" strike="noStrike">
                <a:solidFill>
                  <a:srgbClr val="b03030"/>
                </a:solidFill>
                <a:latin typeface="Yu Gothic"/>
              </a:rPr>
              <a:t>。</a:t>
            </a:r>
            <a:endParaRPr b="0" lang="en-US" sz="1700" spc="-1" strike="noStrike">
              <a:latin typeface="Arial"/>
            </a:endParaRPr>
          </a:p>
          <a:p>
            <a:pPr>
              <a:lnSpc>
                <a:spcPct val="130000"/>
              </a:lnSpc>
            </a:pPr>
            <a:r>
              <a:rPr b="1" lang="zh-CN" sz="1700" spc="-1" strike="noStrike">
                <a:solidFill>
                  <a:srgbClr val="b03030"/>
                </a:solidFill>
                <a:latin typeface="Yu Gothic"/>
              </a:rPr>
              <a:t>各ロボットの</a:t>
            </a:r>
            <a:r>
              <a:rPr b="1" lang="en-US" sz="1700" spc="-1" strike="noStrike">
                <a:solidFill>
                  <a:srgbClr val="b03030"/>
                </a:solidFill>
                <a:latin typeface="Yu Gothic"/>
              </a:rPr>
              <a:t>NN</a:t>
            </a:r>
            <a:r>
              <a:rPr b="1" lang="zh-CN" sz="1700" spc="-1" strike="noStrike">
                <a:solidFill>
                  <a:srgbClr val="b03030"/>
                </a:solidFill>
                <a:latin typeface="Yu Gothic"/>
              </a:rPr>
              <a:t>重み・仕様・モーションテーブルを丸ごとコンパイルする方式は、</a:t>
            </a:r>
            <a:endParaRPr b="0" lang="en-US" sz="1700" spc="-1" strike="noStrike">
              <a:latin typeface="Arial"/>
            </a:endParaRPr>
          </a:p>
          <a:p>
            <a:pPr>
              <a:lnSpc>
                <a:spcPct val="130000"/>
              </a:lnSpc>
            </a:pPr>
            <a:r>
              <a:rPr b="1" lang="zh-CN" sz="1700" spc="-1" strike="noStrike">
                <a:solidFill>
                  <a:srgbClr val="b03030"/>
                </a:solidFill>
                <a:latin typeface="Yu Gothic"/>
              </a:rPr>
              <a:t>台数が増えるほど線形に</a:t>
            </a:r>
            <a:r>
              <a:rPr b="1" lang="en-US" sz="1700" spc="-1" strike="noStrike">
                <a:solidFill>
                  <a:srgbClr val="b03030"/>
                </a:solidFill>
                <a:latin typeface="Yu Gothic"/>
              </a:rPr>
              <a:t>Flash</a:t>
            </a:r>
            <a:r>
              <a:rPr b="1" lang="zh-CN" sz="1700" spc="-1" strike="noStrike">
                <a:solidFill>
                  <a:srgbClr val="b03030"/>
                </a:solidFill>
                <a:latin typeface="Yu Gothic"/>
              </a:rPr>
              <a:t>を消費する </a:t>
            </a:r>
            <a:r>
              <a:rPr b="1" lang="en-US" sz="1700" spc="-1" strike="noStrike">
                <a:solidFill>
                  <a:srgbClr val="b03030"/>
                </a:solidFill>
                <a:latin typeface="Yu Gothic"/>
              </a:rPr>
              <a:t>-- 500</a:t>
            </a:r>
            <a:r>
              <a:rPr b="1" lang="zh-CN" sz="1700" spc="-1" strike="noStrike">
                <a:solidFill>
                  <a:srgbClr val="b03030"/>
                </a:solidFill>
                <a:latin typeface="Yu Gothic"/>
              </a:rPr>
              <a:t>種類には物理的に届かない。</a:t>
            </a:r>
            <a:endParaRPr b="0" lang="en-US" sz="17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CustomShape 1"/>
          <p:cNvSpPr/>
          <p:nvPr/>
        </p:nvSpPr>
        <p:spPr>
          <a:xfrm>
            <a:off x="548640" y="320040"/>
            <a:ext cx="7314840" cy="3337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rgbClr val="2e6fc7"/>
                </a:solidFill>
                <a:latin typeface="Yu Gothic"/>
              </a:rPr>
              <a:t>THE ROBOTS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151" name="CustomShape 2"/>
          <p:cNvSpPr/>
          <p:nvPr/>
        </p:nvSpPr>
        <p:spPr>
          <a:xfrm>
            <a:off x="548640" y="685800"/>
            <a:ext cx="10515240" cy="10033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zh-CN" sz="3000" spc="-1" strike="noStrike">
                <a:solidFill>
                  <a:srgbClr val="1f2a44"/>
                </a:solidFill>
                <a:latin typeface="Yu Gothic"/>
              </a:rPr>
              <a:t>対応する</a:t>
            </a:r>
            <a:r>
              <a:rPr b="1" lang="en-US" sz="3000" spc="-1" strike="noStrike">
                <a:solidFill>
                  <a:srgbClr val="1f2a44"/>
                </a:solidFill>
                <a:latin typeface="Yu Gothic"/>
              </a:rPr>
              <a:t>4</a:t>
            </a:r>
            <a:r>
              <a:rPr b="1" lang="zh-CN" sz="3000" spc="-1" strike="noStrike">
                <a:solidFill>
                  <a:srgbClr val="1f2a44"/>
                </a:solidFill>
                <a:latin typeface="Yu Gothic"/>
              </a:rPr>
              <a:t>体の実機モデル</a:t>
            </a:r>
            <a:r>
              <a:rPr b="1" lang="en-US" sz="3000" spc="-1" strike="noStrike">
                <a:solidFill>
                  <a:srgbClr val="1f2a44"/>
                </a:solidFill>
                <a:latin typeface="Yu Gothic"/>
              </a:rPr>
              <a:t>(URDF+3D</a:t>
            </a:r>
            <a:r>
              <a:rPr b="1" lang="zh-CN" sz="3000" spc="-1" strike="noStrike">
                <a:solidFill>
                  <a:srgbClr val="1f2a44"/>
                </a:solidFill>
                <a:latin typeface="Yu Gothic"/>
              </a:rPr>
              <a:t>メッシュより自動レンダリング</a:t>
            </a:r>
            <a:r>
              <a:rPr b="1" lang="en-US" sz="3000" spc="-1" strike="noStrike">
                <a:solidFill>
                  <a:srgbClr val="1f2a44"/>
                </a:solidFill>
                <a:latin typeface="Yu Gothic"/>
              </a:rPr>
              <a:t>)</a:t>
            </a:r>
            <a:endParaRPr b="0" lang="en-US" sz="3000" spc="-1" strike="noStrike">
              <a:latin typeface="Arial"/>
            </a:endParaRPr>
          </a:p>
        </p:txBody>
      </p:sp>
      <p:sp>
        <p:nvSpPr>
          <p:cNvPr id="152" name="CustomShape 3"/>
          <p:cNvSpPr/>
          <p:nvPr/>
        </p:nvSpPr>
        <p:spPr>
          <a:xfrm>
            <a:off x="640080" y="1645920"/>
            <a:ext cx="2468520" cy="2468520"/>
          </a:xfrm>
          <a:prstGeom prst="rect">
            <a:avLst/>
          </a:prstGeom>
          <a:solidFill>
            <a:srgbClr val="f2f4f8"/>
          </a:solidFill>
          <a:ln w="12600">
            <a:solidFill>
              <a:srgbClr val="6b7280"/>
            </a:solidFill>
            <a:round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pic>
        <p:nvPicPr>
          <p:cNvPr id="153" name="Picture 4" descr="kxrl4t.png"/>
          <p:cNvPicPr/>
          <p:nvPr/>
        </p:nvPicPr>
        <p:blipFill>
          <a:blip r:embed="rId1"/>
          <a:stretch/>
        </p:blipFill>
        <p:spPr>
          <a:xfrm>
            <a:off x="777240" y="1968480"/>
            <a:ext cx="2194200" cy="1823400"/>
          </a:xfrm>
          <a:prstGeom prst="rect">
            <a:avLst/>
          </a:prstGeom>
          <a:ln>
            <a:noFill/>
          </a:ln>
        </p:spPr>
      </p:pic>
      <p:sp>
        <p:nvSpPr>
          <p:cNvPr id="154" name="CustomShape 4"/>
          <p:cNvSpPr/>
          <p:nvPr/>
        </p:nvSpPr>
        <p:spPr>
          <a:xfrm>
            <a:off x="640080" y="4206240"/>
            <a:ext cx="2468520" cy="5922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ctr">
              <a:lnSpc>
                <a:spcPct val="110000"/>
              </a:lnSpc>
            </a:pPr>
            <a:r>
              <a:rPr b="1" lang="en-US" sz="1500" spc="-1" strike="noStrike">
                <a:solidFill>
                  <a:srgbClr val="1f2a44"/>
                </a:solidFill>
                <a:latin typeface="Yu Gothic"/>
              </a:rPr>
              <a:t>kxrl4t</a:t>
            </a:r>
            <a:endParaRPr b="0" lang="en-US" sz="1500" spc="-1" strike="noStrike">
              <a:latin typeface="Arial"/>
            </a:endParaRPr>
          </a:p>
          <a:p>
            <a:pPr algn="ctr">
              <a:lnSpc>
                <a:spcPct val="110000"/>
              </a:lnSpc>
            </a:pPr>
            <a:r>
              <a:rPr b="1" lang="en-US" sz="1500" spc="-1" strike="noStrike">
                <a:solidFill>
                  <a:srgbClr val="1f2a44"/>
                </a:solidFill>
                <a:latin typeface="Yu Gothic"/>
              </a:rPr>
              <a:t>(4</a:t>
            </a:r>
            <a:r>
              <a:rPr b="1" lang="zh-CN" sz="1500" spc="-1" strike="noStrike">
                <a:solidFill>
                  <a:srgbClr val="1f2a44"/>
                </a:solidFill>
                <a:latin typeface="Yu Gothic"/>
              </a:rPr>
              <a:t>脚</a:t>
            </a:r>
            <a:r>
              <a:rPr b="1" lang="en-US" sz="1500" spc="-1" strike="noStrike">
                <a:solidFill>
                  <a:srgbClr val="1f2a44"/>
                </a:solidFill>
                <a:latin typeface="Yu Gothic"/>
              </a:rPr>
              <a:t>, </a:t>
            </a:r>
            <a:r>
              <a:rPr b="1" lang="zh-CN" sz="1500" spc="-1" strike="noStrike">
                <a:solidFill>
                  <a:srgbClr val="1f2a44"/>
                </a:solidFill>
                <a:latin typeface="Yu Gothic"/>
              </a:rPr>
              <a:t>シンプル</a:t>
            </a:r>
            <a:r>
              <a:rPr b="1" lang="en-US" sz="1500" spc="-1" strike="noStrike">
                <a:solidFill>
                  <a:srgbClr val="1f2a44"/>
                </a:solidFill>
                <a:latin typeface="Yu Gothic"/>
              </a:rPr>
              <a:t>)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155" name="CustomShape 5"/>
          <p:cNvSpPr/>
          <p:nvPr/>
        </p:nvSpPr>
        <p:spPr>
          <a:xfrm>
            <a:off x="3246120" y="1645920"/>
            <a:ext cx="2468520" cy="2468520"/>
          </a:xfrm>
          <a:prstGeom prst="rect">
            <a:avLst/>
          </a:prstGeom>
          <a:solidFill>
            <a:srgbClr val="f2f4f8"/>
          </a:solidFill>
          <a:ln w="12600">
            <a:solidFill>
              <a:srgbClr val="6b7280"/>
            </a:solidFill>
            <a:round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pic>
        <p:nvPicPr>
          <p:cNvPr id="156" name="Picture 7" descr="kxrl4d.png"/>
          <p:cNvPicPr/>
          <p:nvPr/>
        </p:nvPicPr>
        <p:blipFill>
          <a:blip r:embed="rId2"/>
          <a:stretch/>
        </p:blipFill>
        <p:spPr>
          <a:xfrm>
            <a:off x="3805200" y="1783080"/>
            <a:ext cx="1350360" cy="2194200"/>
          </a:xfrm>
          <a:prstGeom prst="rect">
            <a:avLst/>
          </a:prstGeom>
          <a:ln>
            <a:noFill/>
          </a:ln>
        </p:spPr>
      </p:pic>
      <p:sp>
        <p:nvSpPr>
          <p:cNvPr id="157" name="CustomShape 6"/>
          <p:cNvSpPr/>
          <p:nvPr/>
        </p:nvSpPr>
        <p:spPr>
          <a:xfrm>
            <a:off x="3246120" y="4206240"/>
            <a:ext cx="2468520" cy="5922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ctr">
              <a:lnSpc>
                <a:spcPct val="110000"/>
              </a:lnSpc>
            </a:pPr>
            <a:r>
              <a:rPr b="1" lang="en-US" sz="1500" spc="-1" strike="noStrike">
                <a:solidFill>
                  <a:srgbClr val="1f2a44"/>
                </a:solidFill>
                <a:latin typeface="Yu Gothic"/>
              </a:rPr>
              <a:t>kxrl4d</a:t>
            </a:r>
            <a:endParaRPr b="0" lang="en-US" sz="1500" spc="-1" strike="noStrike">
              <a:latin typeface="Arial"/>
            </a:endParaRPr>
          </a:p>
          <a:p>
            <a:pPr algn="ctr">
              <a:lnSpc>
                <a:spcPct val="110000"/>
              </a:lnSpc>
            </a:pPr>
            <a:r>
              <a:rPr b="1" lang="en-US" sz="1500" spc="-1" strike="noStrike">
                <a:solidFill>
                  <a:srgbClr val="1f2a44"/>
                </a:solidFill>
                <a:latin typeface="Yu Gothic"/>
              </a:rPr>
              <a:t>(4</a:t>
            </a:r>
            <a:r>
              <a:rPr b="1" lang="zh-CN" sz="1500" spc="-1" strike="noStrike">
                <a:solidFill>
                  <a:srgbClr val="1f2a44"/>
                </a:solidFill>
                <a:latin typeface="Yu Gothic"/>
              </a:rPr>
              <a:t>脚</a:t>
            </a:r>
            <a:r>
              <a:rPr b="1" lang="en-US" sz="1500" spc="-1" strike="noStrike">
                <a:solidFill>
                  <a:srgbClr val="1f2a44"/>
                </a:solidFill>
                <a:latin typeface="Yu Gothic"/>
              </a:rPr>
              <a:t>+</a:t>
            </a:r>
            <a:r>
              <a:rPr b="1" lang="zh-CN" sz="1500" spc="-1" strike="noStrike">
                <a:solidFill>
                  <a:srgbClr val="1f2a44"/>
                </a:solidFill>
                <a:latin typeface="Yu Gothic"/>
              </a:rPr>
              <a:t>グリッパー</a:t>
            </a:r>
            <a:r>
              <a:rPr b="1" lang="en-US" sz="1500" spc="-1" strike="noStrike">
                <a:solidFill>
                  <a:srgbClr val="1f2a44"/>
                </a:solidFill>
                <a:latin typeface="Yu Gothic"/>
              </a:rPr>
              <a:t>)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158" name="CustomShape 7"/>
          <p:cNvSpPr/>
          <p:nvPr/>
        </p:nvSpPr>
        <p:spPr>
          <a:xfrm>
            <a:off x="5852160" y="1645920"/>
            <a:ext cx="2468520" cy="2468520"/>
          </a:xfrm>
          <a:prstGeom prst="rect">
            <a:avLst/>
          </a:prstGeom>
          <a:solidFill>
            <a:srgbClr val="f2f4f8"/>
          </a:solidFill>
          <a:ln w="12600">
            <a:solidFill>
              <a:srgbClr val="6b7280"/>
            </a:solidFill>
            <a:round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pic>
        <p:nvPicPr>
          <p:cNvPr id="159" name="Picture 10" descr="kxrl6.png"/>
          <p:cNvPicPr/>
          <p:nvPr/>
        </p:nvPicPr>
        <p:blipFill>
          <a:blip r:embed="rId3"/>
          <a:stretch/>
        </p:blipFill>
        <p:spPr>
          <a:xfrm>
            <a:off x="5989320" y="2238840"/>
            <a:ext cx="2194200" cy="1283040"/>
          </a:xfrm>
          <a:prstGeom prst="rect">
            <a:avLst/>
          </a:prstGeom>
          <a:ln>
            <a:noFill/>
          </a:ln>
        </p:spPr>
      </p:pic>
      <p:sp>
        <p:nvSpPr>
          <p:cNvPr id="160" name="CustomShape 8"/>
          <p:cNvSpPr/>
          <p:nvPr/>
        </p:nvSpPr>
        <p:spPr>
          <a:xfrm>
            <a:off x="5852160" y="4206240"/>
            <a:ext cx="2468520" cy="5922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ctr">
              <a:lnSpc>
                <a:spcPct val="110000"/>
              </a:lnSpc>
            </a:pPr>
            <a:r>
              <a:rPr b="1" lang="en-US" sz="1500" spc="-1" strike="noStrike">
                <a:solidFill>
                  <a:srgbClr val="1f2a44"/>
                </a:solidFill>
                <a:latin typeface="Yu Gothic"/>
              </a:rPr>
              <a:t>kxrl6</a:t>
            </a:r>
            <a:endParaRPr b="0" lang="en-US" sz="1500" spc="-1" strike="noStrike">
              <a:latin typeface="Arial"/>
            </a:endParaRPr>
          </a:p>
          <a:p>
            <a:pPr algn="ctr">
              <a:lnSpc>
                <a:spcPct val="110000"/>
              </a:lnSpc>
            </a:pPr>
            <a:r>
              <a:rPr b="1" lang="en-US" sz="1500" spc="-1" strike="noStrike">
                <a:solidFill>
                  <a:srgbClr val="1f2a44"/>
                </a:solidFill>
                <a:latin typeface="Yu Gothic"/>
              </a:rPr>
              <a:t>(6</a:t>
            </a:r>
            <a:r>
              <a:rPr b="1" lang="zh-CN" sz="1500" spc="-1" strike="noStrike">
                <a:solidFill>
                  <a:srgbClr val="1f2a44"/>
                </a:solidFill>
                <a:latin typeface="Yu Gothic"/>
              </a:rPr>
              <a:t>脚</a:t>
            </a:r>
            <a:r>
              <a:rPr b="1" lang="en-US" sz="1500" spc="-1" strike="noStrike">
                <a:solidFill>
                  <a:srgbClr val="1f2a44"/>
                </a:solidFill>
                <a:latin typeface="Yu Gothic"/>
              </a:rPr>
              <a:t>)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161" name="CustomShape 9"/>
          <p:cNvSpPr/>
          <p:nvPr/>
        </p:nvSpPr>
        <p:spPr>
          <a:xfrm>
            <a:off x="8458200" y="1645920"/>
            <a:ext cx="2468520" cy="2468520"/>
          </a:xfrm>
          <a:prstGeom prst="rect">
            <a:avLst/>
          </a:prstGeom>
          <a:solidFill>
            <a:srgbClr val="f2f4f8"/>
          </a:solidFill>
          <a:ln w="12600">
            <a:solidFill>
              <a:srgbClr val="6b7280"/>
            </a:solidFill>
            <a:round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pic>
        <p:nvPicPr>
          <p:cNvPr id="162" name="Picture 13" descr="kxrl2g.png"/>
          <p:cNvPicPr/>
          <p:nvPr/>
        </p:nvPicPr>
        <p:blipFill>
          <a:blip r:embed="rId4"/>
          <a:stretch/>
        </p:blipFill>
        <p:spPr>
          <a:xfrm>
            <a:off x="9107640" y="1783080"/>
            <a:ext cx="1169640" cy="2194200"/>
          </a:xfrm>
          <a:prstGeom prst="rect">
            <a:avLst/>
          </a:prstGeom>
          <a:ln>
            <a:noFill/>
          </a:ln>
        </p:spPr>
      </p:pic>
      <p:sp>
        <p:nvSpPr>
          <p:cNvPr id="163" name="CustomShape 10"/>
          <p:cNvSpPr/>
          <p:nvPr/>
        </p:nvSpPr>
        <p:spPr>
          <a:xfrm>
            <a:off x="8458200" y="4206240"/>
            <a:ext cx="2468520" cy="5922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ctr">
              <a:lnSpc>
                <a:spcPct val="110000"/>
              </a:lnSpc>
            </a:pPr>
            <a:r>
              <a:rPr b="1" lang="en-US" sz="1500" spc="-1" strike="noStrike">
                <a:solidFill>
                  <a:srgbClr val="1f2a44"/>
                </a:solidFill>
                <a:latin typeface="Yu Gothic"/>
              </a:rPr>
              <a:t>kxrl2g</a:t>
            </a:r>
            <a:endParaRPr b="0" lang="en-US" sz="1500" spc="-1" strike="noStrike">
              <a:latin typeface="Arial"/>
            </a:endParaRPr>
          </a:p>
          <a:p>
            <a:pPr algn="ctr">
              <a:lnSpc>
                <a:spcPct val="110000"/>
              </a:lnSpc>
            </a:pPr>
            <a:r>
              <a:rPr b="1" lang="en-US" sz="1500" spc="-1" strike="noStrike">
                <a:solidFill>
                  <a:srgbClr val="1f2a44"/>
                </a:solidFill>
                <a:latin typeface="Yu Gothic"/>
              </a:rPr>
              <a:t>(2</a:t>
            </a:r>
            <a:r>
              <a:rPr b="1" lang="zh-CN" sz="1500" spc="-1" strike="noStrike">
                <a:solidFill>
                  <a:srgbClr val="1f2a44"/>
                </a:solidFill>
                <a:latin typeface="Yu Gothic"/>
              </a:rPr>
              <a:t>脚ヒューマノイド</a:t>
            </a:r>
            <a:r>
              <a:rPr b="1" lang="en-US" sz="1500" spc="-1" strike="noStrike">
                <a:solidFill>
                  <a:srgbClr val="1f2a44"/>
                </a:solidFill>
                <a:latin typeface="Yu Gothic"/>
              </a:rPr>
              <a:t>)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164" name="CustomShape 11"/>
          <p:cNvSpPr/>
          <p:nvPr/>
        </p:nvSpPr>
        <p:spPr>
          <a:xfrm>
            <a:off x="548640" y="5120640"/>
            <a:ext cx="11063880" cy="9802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30000"/>
              </a:lnSpc>
            </a:pPr>
            <a:r>
              <a:rPr b="0" lang="zh-CN" sz="1500" spc="-1" strike="noStrike">
                <a:solidFill>
                  <a:srgbClr val="6b7280"/>
                </a:solidFill>
                <a:latin typeface="Yu Gothic"/>
              </a:rPr>
              <a:t>これらのモデルは </a:t>
            </a:r>
            <a:r>
              <a:rPr b="0" lang="en-US" sz="1500" spc="-1" strike="noStrike">
                <a:solidFill>
                  <a:srgbClr val="6b7280"/>
                </a:solidFill>
                <a:latin typeface="Yu Gothic"/>
              </a:rPr>
              <a:t>~/kxreus/urdfs/ </a:t>
            </a:r>
            <a:r>
              <a:rPr b="0" lang="zh-CN" sz="1500" spc="-1" strike="noStrike">
                <a:solidFill>
                  <a:srgbClr val="6b7280"/>
                </a:solidFill>
                <a:latin typeface="Yu Gothic"/>
              </a:rPr>
              <a:t>に </a:t>
            </a:r>
            <a:r>
              <a:rPr b="0" lang="en-US" sz="1500" spc="-1" strike="noStrike">
                <a:solidFill>
                  <a:srgbClr val="6b7280"/>
                </a:solidFill>
                <a:latin typeface="Yu Gothic"/>
              </a:rPr>
              <a:t>URDF + COLLADA </a:t>
            </a:r>
            <a:r>
              <a:rPr b="0" lang="zh-CN" sz="1500" spc="-1" strike="noStrike">
                <a:solidFill>
                  <a:srgbClr val="6b7280"/>
                </a:solidFill>
                <a:latin typeface="Yu Gothic"/>
              </a:rPr>
              <a:t>メッシュとして既に存在し、</a:t>
            </a:r>
            <a:endParaRPr b="0" lang="en-US" sz="1500" spc="-1" strike="noStrike">
              <a:latin typeface="Arial"/>
            </a:endParaRPr>
          </a:p>
          <a:p>
            <a:pPr>
              <a:lnSpc>
                <a:spcPct val="130000"/>
              </a:lnSpc>
            </a:pPr>
            <a:r>
              <a:rPr b="0" lang="en-US" sz="1500" spc="-1" strike="noStrike">
                <a:solidFill>
                  <a:srgbClr val="6b7280"/>
                </a:solidFill>
                <a:latin typeface="Yu Gothic"/>
              </a:rPr>
              <a:t>walking-kxr-rl </a:t>
            </a:r>
            <a:r>
              <a:rPr b="0" lang="zh-CN" sz="1500" spc="-1" strike="noStrike">
                <a:solidFill>
                  <a:srgbClr val="6b7280"/>
                </a:solidFill>
                <a:latin typeface="Yu Gothic"/>
              </a:rPr>
              <a:t>の </a:t>
            </a:r>
            <a:r>
              <a:rPr b="0" lang="en-US" sz="1500" spc="-1" strike="noStrike">
                <a:solidFill>
                  <a:srgbClr val="6b7280"/>
                </a:solidFill>
                <a:latin typeface="Yu Gothic"/>
              </a:rPr>
              <a:t>home.json </a:t>
            </a:r>
            <a:r>
              <a:rPr b="0" lang="zh-CN" sz="1500" spc="-1" strike="noStrike">
                <a:solidFill>
                  <a:srgbClr val="6b7280"/>
                </a:solidFill>
                <a:latin typeface="Yu Gothic"/>
              </a:rPr>
              <a:t>が定める実際の「立ちポーズ」の関節角で描画している。</a:t>
            </a:r>
            <a:endParaRPr b="0" lang="en-US" sz="1500" spc="-1" strike="noStrike">
              <a:latin typeface="Arial"/>
            </a:endParaRPr>
          </a:p>
          <a:p>
            <a:pPr>
              <a:lnSpc>
                <a:spcPct val="130000"/>
              </a:lnSpc>
            </a:pPr>
            <a:r>
              <a:rPr b="0" lang="en-US" sz="1500" spc="-1" strike="noStrike">
                <a:solidFill>
                  <a:srgbClr val="6b7280"/>
                </a:solidFill>
                <a:latin typeface="Yu Gothic"/>
              </a:rPr>
              <a:t>rcb4robotconfig.l </a:t>
            </a:r>
            <a:r>
              <a:rPr b="0" lang="zh-CN" sz="1500" spc="-1" strike="noStrike">
                <a:solidFill>
                  <a:srgbClr val="6b7280"/>
                </a:solidFill>
                <a:latin typeface="Yu Gothic"/>
              </a:rPr>
              <a:t>のプロジェクトファイル名ごとに、同じ形式で </a:t>
            </a:r>
            <a:r>
              <a:rPr b="0" lang="en-US" sz="1500" spc="-1" strike="noStrike">
                <a:solidFill>
                  <a:srgbClr val="6b7280"/>
                </a:solidFill>
                <a:latin typeface="Yu Gothic"/>
              </a:rPr>
              <a:t>500 </a:t>
            </a:r>
            <a:r>
              <a:rPr b="0" lang="zh-CN" sz="1500" spc="-1" strike="noStrike">
                <a:solidFill>
                  <a:srgbClr val="6b7280"/>
                </a:solidFill>
                <a:latin typeface="Yu Gothic"/>
              </a:rPr>
              <a:t>種類まで用意できる。</a:t>
            </a:r>
            <a:endParaRPr b="0" lang="en-US" sz="15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CustomShape 1"/>
          <p:cNvSpPr/>
          <p:nvPr/>
        </p:nvSpPr>
        <p:spPr>
          <a:xfrm>
            <a:off x="548640" y="320040"/>
            <a:ext cx="7314840" cy="3337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rgbClr val="2e6fc7"/>
                </a:solidFill>
                <a:latin typeface="Yu Gothic"/>
              </a:rPr>
              <a:t>SOFTWARE ARCHITECTURE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166" name="CustomShape 2"/>
          <p:cNvSpPr/>
          <p:nvPr/>
        </p:nvSpPr>
        <p:spPr>
          <a:xfrm>
            <a:off x="548640" y="685800"/>
            <a:ext cx="10515240" cy="5472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3000" spc="-1" strike="noStrike">
                <a:solidFill>
                  <a:srgbClr val="1f2a44"/>
                </a:solidFill>
                <a:latin typeface="Yu Gothic"/>
              </a:rPr>
              <a:t>kxr5s</a:t>
            </a:r>
            <a:r>
              <a:rPr b="1" lang="zh-CN" sz="3000" spc="-1" strike="noStrike">
                <a:solidFill>
                  <a:srgbClr val="1f2a44"/>
                </a:solidFill>
                <a:latin typeface="Yu Gothic"/>
              </a:rPr>
              <a:t>ファームウェアのソフトウェア構成</a:t>
            </a:r>
            <a:endParaRPr b="0" lang="en-US" sz="3000" spc="-1" strike="noStrike">
              <a:latin typeface="Arial"/>
            </a:endParaRPr>
          </a:p>
        </p:txBody>
      </p:sp>
      <p:sp>
        <p:nvSpPr>
          <p:cNvPr id="167" name="CustomShape 3"/>
          <p:cNvSpPr/>
          <p:nvPr/>
        </p:nvSpPr>
        <p:spPr>
          <a:xfrm>
            <a:off x="3566160" y="1554480"/>
            <a:ext cx="5028840" cy="685440"/>
          </a:xfrm>
          <a:prstGeom prst="roundRect">
            <a:avLst>
              <a:gd name="adj" fmla="val 16667"/>
            </a:avLst>
          </a:prstGeom>
          <a:solidFill>
            <a:srgbClr val="1f2a44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500" spc="-1" strike="noStrike">
                <a:solidFill>
                  <a:srgbClr val="ffffff"/>
                </a:solidFill>
                <a:latin typeface="Yu Gothic"/>
              </a:rPr>
              <a:t>main.cpp -- </a:t>
            </a:r>
            <a:r>
              <a:rPr b="1" lang="zh-CN" sz="1500" spc="-1" strike="noStrike">
                <a:solidFill>
                  <a:srgbClr val="ffffff"/>
                </a:solidFill>
                <a:latin typeface="Yu Gothic"/>
              </a:rPr>
              <a:t>モード切り替え</a:t>
            </a:r>
            <a:r>
              <a:rPr b="1" lang="en-US" sz="1500" spc="-1" strike="noStrike">
                <a:solidFill>
                  <a:srgbClr val="ffffff"/>
                </a:solidFill>
                <a:latin typeface="Yu Gothic"/>
              </a:rPr>
              <a:t>(</a:t>
            </a:r>
            <a:r>
              <a:rPr b="1" lang="zh-CN" sz="1500" spc="-1" strike="noStrike">
                <a:solidFill>
                  <a:srgbClr val="ffffff"/>
                </a:solidFill>
                <a:latin typeface="Yu Gothic"/>
              </a:rPr>
              <a:t>ボタン長押し</a:t>
            </a:r>
            <a:r>
              <a:rPr b="1" lang="en-US" sz="1500" spc="-1" strike="noStrike">
                <a:solidFill>
                  <a:srgbClr val="ffffff"/>
                </a:solidFill>
                <a:latin typeface="Yu Gothic"/>
              </a:rPr>
              <a:t>)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168" name="Line 4"/>
          <p:cNvSpPr/>
          <p:nvPr/>
        </p:nvSpPr>
        <p:spPr>
          <a:xfrm>
            <a:off x="6080760" y="2240280"/>
            <a:ext cx="0" cy="137160"/>
          </a:xfrm>
          <a:prstGeom prst="line">
            <a:avLst/>
          </a:prstGeom>
          <a:ln>
            <a:solidFill>
              <a:srgbClr val="6b7280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/>
        </p:style>
      </p:sp>
      <p:sp>
        <p:nvSpPr>
          <p:cNvPr id="169" name="Line 5"/>
          <p:cNvSpPr/>
          <p:nvPr/>
        </p:nvSpPr>
        <p:spPr>
          <a:xfrm>
            <a:off x="2011680" y="2377440"/>
            <a:ext cx="7680960" cy="0"/>
          </a:xfrm>
          <a:prstGeom prst="line">
            <a:avLst/>
          </a:prstGeom>
          <a:ln>
            <a:solidFill>
              <a:srgbClr val="6b7280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/>
        </p:style>
      </p:sp>
      <p:sp>
        <p:nvSpPr>
          <p:cNvPr id="170" name="Line 6"/>
          <p:cNvSpPr/>
          <p:nvPr/>
        </p:nvSpPr>
        <p:spPr>
          <a:xfrm>
            <a:off x="2011680" y="2377440"/>
            <a:ext cx="0" cy="182880"/>
          </a:xfrm>
          <a:prstGeom prst="line">
            <a:avLst/>
          </a:prstGeom>
          <a:ln>
            <a:solidFill>
              <a:srgbClr val="6b7280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/>
        </p:style>
      </p:sp>
      <p:sp>
        <p:nvSpPr>
          <p:cNvPr id="171" name="Line 7"/>
          <p:cNvSpPr/>
          <p:nvPr/>
        </p:nvSpPr>
        <p:spPr>
          <a:xfrm>
            <a:off x="4572000" y="2377440"/>
            <a:ext cx="0" cy="182880"/>
          </a:xfrm>
          <a:prstGeom prst="line">
            <a:avLst/>
          </a:prstGeom>
          <a:ln>
            <a:solidFill>
              <a:srgbClr val="6b7280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/>
        </p:style>
      </p:sp>
      <p:sp>
        <p:nvSpPr>
          <p:cNvPr id="172" name="Line 8"/>
          <p:cNvSpPr/>
          <p:nvPr/>
        </p:nvSpPr>
        <p:spPr>
          <a:xfrm>
            <a:off x="7132320" y="2377440"/>
            <a:ext cx="0" cy="182880"/>
          </a:xfrm>
          <a:prstGeom prst="line">
            <a:avLst/>
          </a:prstGeom>
          <a:ln>
            <a:solidFill>
              <a:srgbClr val="6b7280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/>
        </p:style>
      </p:sp>
      <p:sp>
        <p:nvSpPr>
          <p:cNvPr id="173" name="Line 9"/>
          <p:cNvSpPr/>
          <p:nvPr/>
        </p:nvSpPr>
        <p:spPr>
          <a:xfrm>
            <a:off x="9692640" y="2377440"/>
            <a:ext cx="0" cy="182880"/>
          </a:xfrm>
          <a:prstGeom prst="line">
            <a:avLst/>
          </a:prstGeom>
          <a:ln>
            <a:solidFill>
              <a:srgbClr val="6b7280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/>
        </p:style>
      </p:sp>
      <p:sp>
        <p:nvSpPr>
          <p:cNvPr id="174" name="CustomShape 10"/>
          <p:cNvSpPr/>
          <p:nvPr/>
        </p:nvSpPr>
        <p:spPr>
          <a:xfrm>
            <a:off x="822960" y="2560320"/>
            <a:ext cx="2377080" cy="1051200"/>
          </a:xfrm>
          <a:prstGeom prst="roundRect">
            <a:avLst>
              <a:gd name="adj" fmla="val 16667"/>
            </a:avLst>
          </a:prstGeom>
          <a:solidFill>
            <a:srgbClr val="2e6fc7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Yu Gothic"/>
              </a:rPr>
              <a:t>BRIDGE</a:t>
            </a:r>
            <a:br/>
            <a:r>
              <a:rPr b="1" lang="en-US" sz="1300" spc="-1" strike="noStrike">
                <a:solidFill>
                  <a:srgbClr val="ffffff"/>
                </a:solidFill>
                <a:latin typeface="Yu Gothic"/>
              </a:rPr>
              <a:t>PC/ATOM Echo</a:t>
            </a:r>
            <a:r>
              <a:rPr b="1" lang="zh-CN" sz="1300" spc="-1" strike="noStrike">
                <a:solidFill>
                  <a:srgbClr val="ffffff"/>
                </a:solidFill>
                <a:latin typeface="Yu Gothic"/>
              </a:rPr>
              <a:t>と</a:t>
            </a:r>
            <a:br/>
            <a:r>
              <a:rPr b="1" lang="en-US" sz="1300" spc="-1" strike="noStrike">
                <a:solidFill>
                  <a:srgbClr val="ffffff"/>
                </a:solidFill>
                <a:latin typeface="Yu Gothic"/>
              </a:rPr>
              <a:t>RCB-4</a:t>
            </a:r>
            <a:r>
              <a:rPr b="1" lang="zh-CN" sz="1300" spc="-1" strike="noStrike">
                <a:solidFill>
                  <a:srgbClr val="ffffff"/>
                </a:solidFill>
                <a:latin typeface="Yu Gothic"/>
              </a:rPr>
              <a:t>を直結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175" name="CustomShape 11"/>
          <p:cNvSpPr/>
          <p:nvPr/>
        </p:nvSpPr>
        <p:spPr>
          <a:xfrm>
            <a:off x="3383280" y="2560320"/>
            <a:ext cx="2377080" cy="1051200"/>
          </a:xfrm>
          <a:prstGeom prst="roundRect">
            <a:avLst>
              <a:gd name="adj" fmla="val 16667"/>
            </a:avLst>
          </a:prstGeom>
          <a:solidFill>
            <a:srgbClr val="2e6fc7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Yu Gothic"/>
              </a:rPr>
              <a:t>STATUS</a:t>
            </a:r>
            <a:br/>
            <a:r>
              <a:rPr b="1" lang="zh-CN" sz="1300" spc="-1" strike="noStrike">
                <a:solidFill>
                  <a:srgbClr val="ffffff"/>
                </a:solidFill>
                <a:latin typeface="Yu Gothic"/>
              </a:rPr>
              <a:t>通信状態の</a:t>
            </a:r>
            <a:br/>
            <a:r>
              <a:rPr b="1" lang="zh-CN" sz="1300" spc="-1" strike="noStrike">
                <a:solidFill>
                  <a:srgbClr val="ffffff"/>
                </a:solidFill>
                <a:latin typeface="Yu Gothic"/>
              </a:rPr>
              <a:t>表示専用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176" name="CustomShape 12"/>
          <p:cNvSpPr/>
          <p:nvPr/>
        </p:nvSpPr>
        <p:spPr>
          <a:xfrm>
            <a:off x="5943600" y="2560320"/>
            <a:ext cx="2377080" cy="1051200"/>
          </a:xfrm>
          <a:prstGeom prst="roundRect">
            <a:avLst>
              <a:gd name="adj" fmla="val 16667"/>
            </a:avLst>
          </a:prstGeom>
          <a:solidFill>
            <a:srgbClr val="2e6fc7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Yu Gothic"/>
              </a:rPr>
              <a:t>ROBOT</a:t>
            </a:r>
            <a:br/>
            <a:r>
              <a:rPr b="1" lang="zh-CN" sz="1300" spc="-1" strike="noStrike">
                <a:solidFill>
                  <a:srgbClr val="ffffff"/>
                </a:solidFill>
                <a:latin typeface="Yu Gothic"/>
              </a:rPr>
              <a:t>ロボット</a:t>
            </a:r>
            <a:r>
              <a:rPr b="1" lang="en-US" sz="1300" spc="-1" strike="noStrike">
                <a:solidFill>
                  <a:srgbClr val="ffffff"/>
                </a:solidFill>
                <a:latin typeface="Yu Gothic"/>
              </a:rPr>
              <a:t>ID</a:t>
            </a:r>
            <a:r>
              <a:rPr b="1" lang="zh-CN" sz="1300" spc="-1" strike="noStrike">
                <a:solidFill>
                  <a:srgbClr val="ffffff"/>
                </a:solidFill>
                <a:latin typeface="Yu Gothic"/>
              </a:rPr>
              <a:t>を</a:t>
            </a:r>
            <a:br/>
            <a:r>
              <a:rPr b="1" lang="zh-CN" sz="1300" spc="-1" strike="noStrike">
                <a:solidFill>
                  <a:srgbClr val="ffffff"/>
                </a:solidFill>
                <a:latin typeface="Yu Gothic"/>
              </a:rPr>
              <a:t>選ぶ</a:t>
            </a:r>
            <a:r>
              <a:rPr b="1" lang="en-US" sz="1300" spc="-1" strike="noStrike">
                <a:solidFill>
                  <a:srgbClr val="ffffff"/>
                </a:solidFill>
                <a:latin typeface="Yu Gothic"/>
              </a:rPr>
              <a:t>(NVS</a:t>
            </a:r>
            <a:r>
              <a:rPr b="1" lang="zh-CN" sz="1300" spc="-1" strike="noStrike">
                <a:solidFill>
                  <a:srgbClr val="ffffff"/>
                </a:solidFill>
                <a:latin typeface="Yu Gothic"/>
              </a:rPr>
              <a:t>保存</a:t>
            </a:r>
            <a:r>
              <a:rPr b="1" lang="en-US" sz="1300" spc="-1" strike="noStrike">
                <a:solidFill>
                  <a:srgbClr val="ffffff"/>
                </a:solidFill>
                <a:latin typeface="Yu Gothic"/>
              </a:rPr>
              <a:t>)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177" name="CustomShape 13"/>
          <p:cNvSpPr/>
          <p:nvPr/>
        </p:nvSpPr>
        <p:spPr>
          <a:xfrm>
            <a:off x="8503920" y="2560320"/>
            <a:ext cx="2377080" cy="1051200"/>
          </a:xfrm>
          <a:prstGeom prst="roundRect">
            <a:avLst>
              <a:gd name="adj" fmla="val 16667"/>
            </a:avLst>
          </a:prstGeom>
          <a:solidFill>
            <a:srgbClr val="2e6fc7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Yu Gothic"/>
              </a:rPr>
              <a:t>POLICY</a:t>
            </a:r>
            <a:br/>
            <a:r>
              <a:rPr b="1" lang="zh-CN" sz="1300" spc="-1" strike="noStrike">
                <a:solidFill>
                  <a:srgbClr val="ffffff"/>
                </a:solidFill>
                <a:latin typeface="Yu Gothic"/>
              </a:rPr>
              <a:t>学習済み方策で</a:t>
            </a:r>
            <a:br/>
            <a:r>
              <a:rPr b="1" lang="zh-CN" sz="1300" spc="-1" strike="noStrike">
                <a:solidFill>
                  <a:srgbClr val="ffffff"/>
                </a:solidFill>
                <a:latin typeface="Yu Gothic"/>
              </a:rPr>
              <a:t>自律歩行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178" name="CustomShape 14"/>
          <p:cNvSpPr/>
          <p:nvPr/>
        </p:nvSpPr>
        <p:spPr>
          <a:xfrm>
            <a:off x="822960" y="3886200"/>
            <a:ext cx="3657240" cy="2883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rgbClr val="6b7280"/>
                </a:solidFill>
                <a:latin typeface="Yu Gothic"/>
              </a:rPr>
              <a:t>4</a:t>
            </a:r>
            <a:r>
              <a:rPr b="1" lang="zh-CN" sz="1300" spc="-1" strike="noStrike">
                <a:solidFill>
                  <a:srgbClr val="6b7280"/>
                </a:solidFill>
                <a:latin typeface="Yu Gothic"/>
              </a:rPr>
              <a:t>つのモードが共有するライブラリ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179" name="CustomShape 15"/>
          <p:cNvSpPr/>
          <p:nvPr/>
        </p:nvSpPr>
        <p:spPr>
          <a:xfrm>
            <a:off x="822960" y="4251960"/>
            <a:ext cx="2605680" cy="1371240"/>
          </a:xfrm>
          <a:prstGeom prst="roundRect">
            <a:avLst>
              <a:gd name="adj" fmla="val 16667"/>
            </a:avLst>
          </a:prstGeom>
          <a:solidFill>
            <a:srgbClr val="2ea059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Yu Gothic"/>
              </a:rPr>
              <a:t>Rcb4Link</a:t>
            </a:r>
            <a:br/>
            <a:br/>
            <a:r>
              <a:rPr b="1" lang="en-US" sz="1300" spc="-1" strike="noStrike">
                <a:solidFill>
                  <a:srgbClr val="ffffff"/>
                </a:solidFill>
                <a:latin typeface="Yu Gothic"/>
              </a:rPr>
              <a:t>RCB-4 UART</a:t>
            </a:r>
            <a:r>
              <a:rPr b="1" lang="zh-CN" sz="1300" spc="-1" strike="noStrike">
                <a:solidFill>
                  <a:srgbClr val="ffffff"/>
                </a:solidFill>
                <a:latin typeface="Yu Gothic"/>
              </a:rPr>
              <a:t>制御</a:t>
            </a:r>
            <a:br/>
            <a:r>
              <a:rPr b="1" lang="en-US" sz="1300" spc="-1" strike="noStrike">
                <a:solidFill>
                  <a:srgbClr val="ffffff"/>
                </a:solidFill>
                <a:latin typeface="Yu Gothic"/>
              </a:rPr>
              <a:t>+ I2C</a:t>
            </a:r>
            <a:r>
              <a:rPr b="1" lang="zh-CN" sz="1300" spc="-1" strike="noStrike">
                <a:solidFill>
                  <a:srgbClr val="ffffff"/>
                </a:solidFill>
                <a:latin typeface="Yu Gothic"/>
              </a:rPr>
              <a:t>カメラ橋渡し</a:t>
            </a:r>
            <a:br/>
            <a:r>
              <a:rPr b="1" lang="en-US" sz="1300" spc="-1" strike="noStrike">
                <a:solidFill>
                  <a:srgbClr val="ffffff"/>
                </a:solidFill>
                <a:latin typeface="Yu Gothic"/>
              </a:rPr>
              <a:t>+ </a:t>
            </a:r>
            <a:r>
              <a:rPr b="1" lang="zh-CN" sz="1300" spc="-1" strike="noStrike">
                <a:solidFill>
                  <a:srgbClr val="ffffff"/>
                </a:solidFill>
                <a:latin typeface="Yu Gothic"/>
              </a:rPr>
              <a:t>内蔵</a:t>
            </a:r>
            <a:r>
              <a:rPr b="1" lang="en-US" sz="1300" spc="-1" strike="noStrike">
                <a:solidFill>
                  <a:srgbClr val="ffffff"/>
                </a:solidFill>
                <a:latin typeface="Yu Gothic"/>
              </a:rPr>
              <a:t>IMU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180" name="CustomShape 16"/>
          <p:cNvSpPr/>
          <p:nvPr/>
        </p:nvSpPr>
        <p:spPr>
          <a:xfrm>
            <a:off x="3566160" y="4251960"/>
            <a:ext cx="2605680" cy="1371240"/>
          </a:xfrm>
          <a:prstGeom prst="roundRect">
            <a:avLst>
              <a:gd name="adj" fmla="val 16667"/>
            </a:avLst>
          </a:prstGeom>
          <a:solidFill>
            <a:srgbClr val="2ea059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Yu Gothic"/>
              </a:rPr>
              <a:t>policy</a:t>
            </a:r>
            <a:br/>
            <a:br/>
            <a:r>
              <a:rPr b="1" lang="zh-CN" sz="1300" spc="-1" strike="noStrike">
                <a:solidFill>
                  <a:srgbClr val="ffffff"/>
                </a:solidFill>
                <a:latin typeface="Yu Gothic"/>
              </a:rPr>
              <a:t>ロボット別</a:t>
            </a:r>
            <a:r>
              <a:rPr b="1" lang="en-US" sz="1300" spc="-1" strike="noStrike">
                <a:solidFill>
                  <a:srgbClr val="ffffff"/>
                </a:solidFill>
                <a:latin typeface="Yu Gothic"/>
              </a:rPr>
              <a:t>NN</a:t>
            </a:r>
            <a:r>
              <a:rPr b="1" lang="zh-CN" sz="1300" spc="-1" strike="noStrike">
                <a:solidFill>
                  <a:srgbClr val="ffffff"/>
                </a:solidFill>
                <a:latin typeface="Yu Gothic"/>
              </a:rPr>
              <a:t>重み・</a:t>
            </a:r>
            <a:br/>
            <a:r>
              <a:rPr b="1" lang="zh-CN" sz="1300" spc="-1" strike="noStrike">
                <a:solidFill>
                  <a:srgbClr val="ffffff"/>
                </a:solidFill>
                <a:latin typeface="Yu Gothic"/>
              </a:rPr>
              <a:t>サーボマップ・</a:t>
            </a:r>
            <a:br/>
            <a:r>
              <a:rPr b="1" lang="zh-CN" sz="1300" spc="-1" strike="noStrike">
                <a:solidFill>
                  <a:srgbClr val="ffffff"/>
                </a:solidFill>
                <a:latin typeface="Yu Gothic"/>
              </a:rPr>
              <a:t>モーションテーブル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181" name="CustomShape 17"/>
          <p:cNvSpPr/>
          <p:nvPr/>
        </p:nvSpPr>
        <p:spPr>
          <a:xfrm>
            <a:off x="6309360" y="4251960"/>
            <a:ext cx="2605680" cy="1371240"/>
          </a:xfrm>
          <a:prstGeom prst="roundRect">
            <a:avLst>
              <a:gd name="adj" fmla="val 16667"/>
            </a:avLst>
          </a:prstGeom>
          <a:solidFill>
            <a:srgbClr val="2ea059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Yu Gothic"/>
              </a:rPr>
              <a:t>net /</a:t>
            </a:r>
            <a:br/>
            <a:r>
              <a:rPr b="1" lang="en-US" sz="1300" spc="-1" strike="noStrike">
                <a:solidFill>
                  <a:srgbClr val="ffffff"/>
                </a:solidFill>
                <a:latin typeface="Yu Gothic"/>
              </a:rPr>
              <a:t>https_server</a:t>
            </a:r>
            <a:br/>
            <a:br/>
            <a:r>
              <a:rPr b="1" lang="zh-CN" sz="1300" spc="-1" strike="noStrike">
                <a:solidFill>
                  <a:srgbClr val="ffffff"/>
                </a:solidFill>
                <a:latin typeface="Yu Gothic"/>
              </a:rPr>
              <a:t>スマホ向け</a:t>
            </a:r>
            <a:br/>
            <a:r>
              <a:rPr b="1" lang="zh-CN" sz="1300" spc="-1" strike="noStrike">
                <a:solidFill>
                  <a:srgbClr val="ffffff"/>
                </a:solidFill>
                <a:latin typeface="Yu Gothic"/>
              </a:rPr>
              <a:t>制御ページ・</a:t>
            </a:r>
            <a:br/>
            <a:r>
              <a:rPr b="1" lang="en-US" sz="1300" spc="-1" strike="noStrike">
                <a:solidFill>
                  <a:srgbClr val="ffffff"/>
                </a:solidFill>
                <a:latin typeface="Yu Gothic"/>
              </a:rPr>
              <a:t>/info</a:t>
            </a:r>
            <a:r>
              <a:rPr b="1" lang="zh-CN" sz="1300" spc="-1" strike="noStrike">
                <a:solidFill>
                  <a:srgbClr val="ffffff"/>
                </a:solidFill>
                <a:latin typeface="Yu Gothic"/>
              </a:rPr>
              <a:t>・ポリシー配信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182" name="CustomShape 18"/>
          <p:cNvSpPr/>
          <p:nvPr/>
        </p:nvSpPr>
        <p:spPr>
          <a:xfrm>
            <a:off x="9052560" y="4251960"/>
            <a:ext cx="2605680" cy="1371240"/>
          </a:xfrm>
          <a:prstGeom prst="roundRect">
            <a:avLst>
              <a:gd name="adj" fmla="val 16667"/>
            </a:avLst>
          </a:prstGeom>
          <a:solidFill>
            <a:srgbClr val="2ea059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Yu Gothic"/>
              </a:rPr>
              <a:t>EspNowLink /</a:t>
            </a:r>
            <a:br/>
            <a:r>
              <a:rPr b="1" lang="en-US" sz="1300" spc="-1" strike="noStrike">
                <a:solidFill>
                  <a:srgbClr val="ffffff"/>
                </a:solidFill>
                <a:latin typeface="Yu Gothic"/>
              </a:rPr>
              <a:t>HostRelay</a:t>
            </a:r>
            <a:br/>
            <a:br/>
            <a:r>
              <a:rPr b="1" lang="en-US" sz="1300" spc="-1" strike="noStrike">
                <a:solidFill>
                  <a:srgbClr val="ffffff"/>
                </a:solidFill>
                <a:latin typeface="Yu Gothic"/>
              </a:rPr>
              <a:t>PC</a:t>
            </a:r>
            <a:r>
              <a:rPr b="1" lang="zh-CN" sz="1300" spc="-1" strike="noStrike">
                <a:solidFill>
                  <a:srgbClr val="ffffff"/>
                </a:solidFill>
                <a:latin typeface="Yu Gothic"/>
              </a:rPr>
              <a:t>・</a:t>
            </a:r>
            <a:r>
              <a:rPr b="1" lang="en-US" sz="1300" spc="-1" strike="noStrike">
                <a:solidFill>
                  <a:srgbClr val="ffffff"/>
                </a:solidFill>
                <a:latin typeface="Yu Gothic"/>
              </a:rPr>
              <a:t>ATOM Echo</a:t>
            </a:r>
            <a:r>
              <a:rPr b="1" lang="zh-CN" sz="1300" spc="-1" strike="noStrike">
                <a:solidFill>
                  <a:srgbClr val="ffffff"/>
                </a:solidFill>
                <a:latin typeface="Yu Gothic"/>
              </a:rPr>
              <a:t>との</a:t>
            </a:r>
            <a:br/>
            <a:r>
              <a:rPr b="1" lang="zh-CN" sz="1300" spc="-1" strike="noStrike">
                <a:solidFill>
                  <a:srgbClr val="ffffff"/>
                </a:solidFill>
                <a:latin typeface="Yu Gothic"/>
              </a:rPr>
              <a:t>無線</a:t>
            </a:r>
            <a:r>
              <a:rPr b="1" lang="en-US" sz="1300" spc="-1" strike="noStrike">
                <a:solidFill>
                  <a:srgbClr val="ffffff"/>
                </a:solidFill>
                <a:latin typeface="Yu Gothic"/>
              </a:rPr>
              <a:t>/USB</a:t>
            </a:r>
            <a:r>
              <a:rPr b="1" lang="zh-CN" sz="1300" spc="-1" strike="noStrike">
                <a:solidFill>
                  <a:srgbClr val="ffffff"/>
                </a:solidFill>
                <a:latin typeface="Yu Gothic"/>
              </a:rPr>
              <a:t>橋渡し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183" name="CustomShape 19"/>
          <p:cNvSpPr/>
          <p:nvPr/>
        </p:nvSpPr>
        <p:spPr>
          <a:xfrm>
            <a:off x="548640" y="5852160"/>
            <a:ext cx="11063880" cy="6231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25000"/>
              </a:lnSpc>
            </a:pPr>
            <a:r>
              <a:rPr b="1" lang="en-US" sz="1400" spc="-1" strike="noStrike">
                <a:solidFill>
                  <a:srgbClr val="b03030"/>
                </a:solidFill>
                <a:latin typeface="Yu Gothic"/>
              </a:rPr>
              <a:t>500</a:t>
            </a:r>
            <a:r>
              <a:rPr b="1" lang="zh-CN" sz="1400" spc="-1" strike="noStrike">
                <a:solidFill>
                  <a:srgbClr val="b03030"/>
                </a:solidFill>
                <a:latin typeface="Yu Gothic"/>
              </a:rPr>
              <a:t>種類化</a:t>
            </a:r>
            <a:r>
              <a:rPr b="1" lang="en-US" sz="1400" spc="-1" strike="noStrike">
                <a:solidFill>
                  <a:srgbClr val="b03030"/>
                </a:solidFill>
                <a:latin typeface="Yu Gothic"/>
              </a:rPr>
              <a:t>(</a:t>
            </a:r>
            <a:r>
              <a:rPr b="1" lang="zh-CN" sz="1400" spc="-1" strike="noStrike">
                <a:solidFill>
                  <a:srgbClr val="b03030"/>
                </a:solidFill>
                <a:latin typeface="Yu Gothic"/>
              </a:rPr>
              <a:t>フェーズ</a:t>
            </a:r>
            <a:r>
              <a:rPr b="1" lang="en-US" sz="1400" spc="-1" strike="noStrike">
                <a:solidFill>
                  <a:srgbClr val="b03030"/>
                </a:solidFill>
                <a:latin typeface="Yu Gothic"/>
              </a:rPr>
              <a:t>4)</a:t>
            </a:r>
            <a:r>
              <a:rPr b="1" lang="zh-CN" sz="1400" spc="-1" strike="noStrike">
                <a:solidFill>
                  <a:srgbClr val="b03030"/>
                </a:solidFill>
                <a:latin typeface="Yu Gothic"/>
              </a:rPr>
              <a:t>で変わるのは </a:t>
            </a:r>
            <a:r>
              <a:rPr b="1" lang="en-US" sz="1400" spc="-1" strike="noStrike">
                <a:solidFill>
                  <a:srgbClr val="b03030"/>
                </a:solidFill>
                <a:latin typeface="Yu Gothic"/>
              </a:rPr>
              <a:t>policy </a:t>
            </a:r>
            <a:r>
              <a:rPr b="1" lang="zh-CN" sz="1400" spc="-1" strike="noStrike">
                <a:solidFill>
                  <a:srgbClr val="b03030"/>
                </a:solidFill>
                <a:latin typeface="Yu Gothic"/>
              </a:rPr>
              <a:t>ライブラリだけ </a:t>
            </a:r>
            <a:r>
              <a:rPr b="1" lang="en-US" sz="1400" spc="-1" strike="noStrike">
                <a:solidFill>
                  <a:srgbClr val="b03030"/>
                </a:solidFill>
                <a:latin typeface="Yu Gothic"/>
              </a:rPr>
              <a:t>-- </a:t>
            </a:r>
            <a:r>
              <a:rPr b="1" lang="zh-CN" sz="1400" spc="-1" strike="noStrike">
                <a:solidFill>
                  <a:srgbClr val="b03030"/>
                </a:solidFill>
                <a:latin typeface="Yu Gothic"/>
              </a:rPr>
              <a:t>コンパイル時の固定テーブルから、</a:t>
            </a:r>
            <a:endParaRPr b="0" lang="en-US" sz="1400" spc="-1" strike="noStrike">
              <a:latin typeface="Arial"/>
            </a:endParaRPr>
          </a:p>
          <a:p>
            <a:pPr>
              <a:lnSpc>
                <a:spcPct val="125000"/>
              </a:lnSpc>
            </a:pPr>
            <a:r>
              <a:rPr b="1" lang="zh-CN" sz="1400" spc="-1" strike="noStrike">
                <a:solidFill>
                  <a:srgbClr val="b03030"/>
                </a:solidFill>
                <a:latin typeface="Yu Gothic"/>
              </a:rPr>
              <a:t>ダウンロードした「ロボット記述ブロブ」を読む汎用インタプリタに置き換える。他は変更不要。</a:t>
            </a:r>
            <a:endParaRPr b="0" lang="en-US" sz="14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CustomShape 1"/>
          <p:cNvSpPr/>
          <p:nvPr/>
        </p:nvSpPr>
        <p:spPr>
          <a:xfrm>
            <a:off x="548640" y="320040"/>
            <a:ext cx="7314840" cy="3337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rgbClr val="2e6fc7"/>
                </a:solidFill>
                <a:latin typeface="Yu Gothic"/>
              </a:rPr>
              <a:t>ROBOT DATA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185" name="CustomShape 2"/>
          <p:cNvSpPr/>
          <p:nvPr/>
        </p:nvSpPr>
        <p:spPr>
          <a:xfrm>
            <a:off x="548640" y="685800"/>
            <a:ext cx="10515240" cy="5472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3000" spc="-1" strike="noStrike">
                <a:solidFill>
                  <a:srgbClr val="1f2a44"/>
                </a:solidFill>
                <a:latin typeface="Yu Gothic"/>
              </a:rPr>
              <a:t>policy </a:t>
            </a:r>
            <a:r>
              <a:rPr b="1" lang="zh-CN" sz="3000" spc="-1" strike="noStrike">
                <a:solidFill>
                  <a:srgbClr val="1f2a44"/>
                </a:solidFill>
                <a:latin typeface="Yu Gothic"/>
              </a:rPr>
              <a:t>ライブラリが持つ「ロボット依存データ」の内訳</a:t>
            </a:r>
            <a:endParaRPr b="0" lang="en-US" sz="3000" spc="-1" strike="noStrike">
              <a:latin typeface="Arial"/>
            </a:endParaRPr>
          </a:p>
        </p:txBody>
      </p:sp>
      <p:sp>
        <p:nvSpPr>
          <p:cNvPr id="186" name="CustomShape 3"/>
          <p:cNvSpPr/>
          <p:nvPr/>
        </p:nvSpPr>
        <p:spPr>
          <a:xfrm>
            <a:off x="548640" y="1417320"/>
            <a:ext cx="11063880" cy="3034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6b7280"/>
                </a:solidFill>
                <a:latin typeface="Yu Gothic"/>
              </a:rPr>
              <a:t>1</a:t>
            </a:r>
            <a:r>
              <a:rPr b="0" lang="zh-CN" sz="1400" spc="-1" strike="noStrike">
                <a:solidFill>
                  <a:srgbClr val="6b7280"/>
                </a:solidFill>
                <a:latin typeface="Yu Gothic"/>
              </a:rPr>
              <a:t>体のロボットにつき </a:t>
            </a:r>
            <a:r>
              <a:rPr b="0" lang="en-US" sz="1400" spc="-1" strike="noStrike">
                <a:solidFill>
                  <a:srgbClr val="6b7280"/>
                </a:solidFill>
                <a:latin typeface="Yu Gothic"/>
              </a:rPr>
              <a:t>RobotEntry 1</a:t>
            </a:r>
            <a:r>
              <a:rPr b="0" lang="zh-CN" sz="1400" spc="-1" strike="noStrike">
                <a:solidFill>
                  <a:srgbClr val="6b7280"/>
                </a:solidFill>
                <a:latin typeface="Yu Gothic"/>
              </a:rPr>
              <a:t>件</a:t>
            </a:r>
            <a:r>
              <a:rPr b="0" lang="en-US" sz="1400" spc="-1" strike="noStrike">
                <a:solidFill>
                  <a:srgbClr val="6b7280"/>
                </a:solidFill>
                <a:latin typeface="Yu Gothic"/>
              </a:rPr>
              <a:t>(kRobots[])-- </a:t>
            </a:r>
            <a:r>
              <a:rPr b="0" lang="zh-CN" sz="1400" spc="-1" strike="noStrike">
                <a:solidFill>
                  <a:srgbClr val="6b7280"/>
                </a:solidFill>
                <a:latin typeface="Yu Gothic"/>
              </a:rPr>
              <a:t>中身は </a:t>
            </a:r>
            <a:r>
              <a:rPr b="0" lang="en-US" sz="1400" spc="-1" strike="noStrike">
                <a:solidFill>
                  <a:srgbClr val="6b7280"/>
                </a:solidFill>
                <a:latin typeface="Yu Gothic"/>
              </a:rPr>
              <a:t>Actor </a:t>
            </a:r>
            <a:r>
              <a:rPr b="0" lang="zh-CN" sz="1400" spc="-1" strike="noStrike">
                <a:solidFill>
                  <a:srgbClr val="6b7280"/>
                </a:solidFill>
                <a:latin typeface="Yu Gothic"/>
              </a:rPr>
              <a:t>構造体</a:t>
            </a:r>
            <a:r>
              <a:rPr b="0" lang="en-US" sz="1400" spc="-1" strike="noStrike">
                <a:solidFill>
                  <a:srgbClr val="6b7280"/>
                </a:solidFill>
                <a:latin typeface="Yu Gothic"/>
              </a:rPr>
              <a:t>(NN</a:t>
            </a:r>
            <a:r>
              <a:rPr b="0" lang="zh-CN" sz="1400" spc="-1" strike="noStrike">
                <a:solidFill>
                  <a:srgbClr val="6b7280"/>
                </a:solidFill>
                <a:latin typeface="Yu Gothic"/>
              </a:rPr>
              <a:t>ごと</a:t>
            </a:r>
            <a:r>
              <a:rPr b="0" lang="en-US" sz="1400" spc="-1" strike="noStrike">
                <a:solidFill>
                  <a:srgbClr val="6b7280"/>
                </a:solidFill>
                <a:latin typeface="Yu Gothic"/>
              </a:rPr>
              <a:t>)+ </a:t>
            </a:r>
            <a:r>
              <a:rPr b="0" lang="zh-CN" sz="1400" spc="-1" strike="noStrike">
                <a:solidFill>
                  <a:srgbClr val="6b7280"/>
                </a:solidFill>
                <a:latin typeface="Yu Gothic"/>
              </a:rPr>
              <a:t>モーションテーブル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87" name="CustomShape 4"/>
          <p:cNvSpPr/>
          <p:nvPr/>
        </p:nvSpPr>
        <p:spPr>
          <a:xfrm>
            <a:off x="548640" y="1783080"/>
            <a:ext cx="2285640" cy="566640"/>
          </a:xfrm>
          <a:prstGeom prst="roundRect">
            <a:avLst>
              <a:gd name="adj" fmla="val 16667"/>
            </a:avLst>
          </a:prstGeom>
          <a:solidFill>
            <a:srgbClr val="2e6fc7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Yu Gothic"/>
              </a:rPr>
              <a:t>NN</a:t>
            </a:r>
            <a:r>
              <a:rPr b="1" lang="zh-CN" sz="1200" spc="-1" strike="noStrike">
                <a:solidFill>
                  <a:srgbClr val="ffffff"/>
                </a:solidFill>
                <a:latin typeface="Yu Gothic"/>
              </a:rPr>
              <a:t>の入出力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188" name="CustomShape 5"/>
          <p:cNvSpPr/>
          <p:nvPr/>
        </p:nvSpPr>
        <p:spPr>
          <a:xfrm>
            <a:off x="3017520" y="1792080"/>
            <a:ext cx="5120280" cy="4417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5000"/>
              </a:lnSpc>
            </a:pPr>
            <a:r>
              <a:rPr b="0" lang="en-US" sz="1100" spc="-1" strike="noStrike">
                <a:solidFill>
                  <a:srgbClr val="222222"/>
                </a:solidFill>
                <a:latin typeface="Yu Gothic"/>
              </a:rPr>
              <a:t>mean / inv_std(</a:t>
            </a:r>
            <a:r>
              <a:rPr b="0" lang="zh-CN" sz="1100" spc="-1" strike="noStrike">
                <a:solidFill>
                  <a:srgbClr val="222222"/>
                </a:solidFill>
                <a:latin typeface="Yu Gothic"/>
              </a:rPr>
              <a:t>観測正規化</a:t>
            </a:r>
            <a:r>
              <a:rPr b="0" lang="en-US" sz="1100" spc="-1" strike="noStrike">
                <a:solidFill>
                  <a:srgbClr val="222222"/>
                </a:solidFill>
                <a:latin typeface="Yu Gothic"/>
              </a:rPr>
              <a:t>)</a:t>
            </a:r>
            <a:endParaRPr b="0" lang="en-US" sz="1100" spc="-1" strike="noStrike">
              <a:latin typeface="Arial"/>
            </a:endParaRPr>
          </a:p>
          <a:p>
            <a:pPr>
              <a:lnSpc>
                <a:spcPct val="105000"/>
              </a:lnSpc>
            </a:pPr>
            <a:r>
              <a:rPr b="0" lang="en-US" sz="1100" spc="-1" strike="noStrike">
                <a:solidFill>
                  <a:srgbClr val="222222"/>
                </a:solidFill>
                <a:latin typeface="Yu Gothic"/>
              </a:rPr>
              <a:t>action_scale(</a:t>
            </a:r>
            <a:r>
              <a:rPr b="0" lang="zh-CN" sz="1100" spc="-1" strike="noStrike">
                <a:solidFill>
                  <a:srgbClr val="222222"/>
                </a:solidFill>
                <a:latin typeface="Yu Gothic"/>
              </a:rPr>
              <a:t>出力スケール</a:t>
            </a:r>
            <a:r>
              <a:rPr b="0" lang="en-US" sz="1100" spc="-1" strike="noStrike">
                <a:solidFill>
                  <a:srgbClr val="222222"/>
                </a:solidFill>
                <a:latin typeface="Yu Gothic"/>
              </a:rPr>
              <a:t>)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189" name="CustomShape 6"/>
          <p:cNvSpPr/>
          <p:nvPr/>
        </p:nvSpPr>
        <p:spPr>
          <a:xfrm>
            <a:off x="548640" y="2395800"/>
            <a:ext cx="2285640" cy="566640"/>
          </a:xfrm>
          <a:prstGeom prst="roundRect">
            <a:avLst>
              <a:gd name="adj" fmla="val 16667"/>
            </a:avLst>
          </a:prstGeom>
          <a:solidFill>
            <a:srgbClr val="2e6fc7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Yu Gothic"/>
              </a:rPr>
              <a:t>NN</a:t>
            </a:r>
            <a:r>
              <a:rPr b="1" lang="zh-CN" sz="1200" spc="-1" strike="noStrike">
                <a:solidFill>
                  <a:srgbClr val="ffffff"/>
                </a:solidFill>
                <a:latin typeface="Yu Gothic"/>
              </a:rPr>
              <a:t>の構造・重み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190" name="CustomShape 7"/>
          <p:cNvSpPr/>
          <p:nvPr/>
        </p:nvSpPr>
        <p:spPr>
          <a:xfrm>
            <a:off x="3017520" y="2404800"/>
            <a:ext cx="5120280" cy="4417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5000"/>
              </a:lnSpc>
            </a:pPr>
            <a:r>
              <a:rPr b="0" lang="en-US" sz="1100" spc="-1" strike="noStrike">
                <a:solidFill>
                  <a:srgbClr val="222222"/>
                </a:solidFill>
                <a:latin typeface="Yu Gothic"/>
              </a:rPr>
              <a:t>layers / layer_in / layer_out(</a:t>
            </a:r>
            <a:r>
              <a:rPr b="0" lang="zh-CN" sz="1100" spc="-1" strike="noStrike">
                <a:solidFill>
                  <a:srgbClr val="222222"/>
                </a:solidFill>
                <a:latin typeface="Yu Gothic"/>
              </a:rPr>
              <a:t>層構成</a:t>
            </a:r>
            <a:r>
              <a:rPr b="0" lang="en-US" sz="1100" spc="-1" strike="noStrike">
                <a:solidFill>
                  <a:srgbClr val="222222"/>
                </a:solidFill>
                <a:latin typeface="Yu Gothic"/>
              </a:rPr>
              <a:t>)</a:t>
            </a:r>
            <a:endParaRPr b="0" lang="en-US" sz="1100" spc="-1" strike="noStrike">
              <a:latin typeface="Arial"/>
            </a:endParaRPr>
          </a:p>
          <a:p>
            <a:pPr>
              <a:lnSpc>
                <a:spcPct val="105000"/>
              </a:lnSpc>
            </a:pPr>
            <a:r>
              <a:rPr b="0" lang="en-US" sz="1100" spc="-1" strike="noStrike">
                <a:solidFill>
                  <a:srgbClr val="222222"/>
                </a:solidFill>
                <a:latin typeface="Yu Gothic"/>
              </a:rPr>
              <a:t>weights</a:t>
            </a:r>
            <a:r>
              <a:rPr b="0" lang="zh-CN" sz="1100" spc="-1" strike="noStrike">
                <a:solidFill>
                  <a:srgbClr val="222222"/>
                </a:solidFill>
                <a:latin typeface="Yu Gothic"/>
              </a:rPr>
              <a:t>・</a:t>
            </a:r>
            <a:r>
              <a:rPr b="0" lang="en-US" sz="1100" spc="-1" strike="noStrike">
                <a:solidFill>
                  <a:srgbClr val="222222"/>
                </a:solidFill>
                <a:latin typeface="Yu Gothic"/>
              </a:rPr>
              <a:t>biases(float</a:t>
            </a:r>
            <a:r>
              <a:rPr b="0" lang="zh-CN" sz="1100" spc="-1" strike="noStrike">
                <a:solidFill>
                  <a:srgbClr val="222222"/>
                </a:solidFill>
                <a:latin typeface="Yu Gothic"/>
              </a:rPr>
              <a:t>、または量子化</a:t>
            </a:r>
            <a:r>
              <a:rPr b="0" lang="en-US" sz="1100" spc="-1" strike="noStrike">
                <a:solidFill>
                  <a:srgbClr val="222222"/>
                </a:solidFill>
                <a:latin typeface="Yu Gothic"/>
              </a:rPr>
              <a:t>int16+scale)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191" name="CustomShape 8"/>
          <p:cNvSpPr/>
          <p:nvPr/>
        </p:nvSpPr>
        <p:spPr>
          <a:xfrm>
            <a:off x="548640" y="3008520"/>
            <a:ext cx="2285640" cy="566640"/>
          </a:xfrm>
          <a:prstGeom prst="roundRect">
            <a:avLst>
              <a:gd name="adj" fmla="val 16667"/>
            </a:avLst>
          </a:prstGeom>
          <a:solidFill>
            <a:srgbClr val="2ea059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zh-CN" sz="1200" spc="-1" strike="noStrike">
                <a:solidFill>
                  <a:srgbClr val="ffffff"/>
                </a:solidFill>
                <a:latin typeface="Yu Gothic"/>
              </a:rPr>
              <a:t>身体パラメータ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192" name="CustomShape 9"/>
          <p:cNvSpPr/>
          <p:nvPr/>
        </p:nvSpPr>
        <p:spPr>
          <a:xfrm>
            <a:off x="3017520" y="3017520"/>
            <a:ext cx="5120280" cy="6166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5000"/>
              </a:lnSpc>
            </a:pPr>
            <a:r>
              <a:rPr b="0" lang="en-US" sz="1100" spc="-1" strike="noStrike">
                <a:solidFill>
                  <a:srgbClr val="222222"/>
                </a:solidFill>
                <a:latin typeface="Yu Gothic"/>
              </a:rPr>
              <a:t>servo_ids(</a:t>
            </a:r>
            <a:r>
              <a:rPr b="0" lang="zh-CN" sz="1100" spc="-1" strike="noStrike">
                <a:solidFill>
                  <a:srgbClr val="222222"/>
                </a:solidFill>
                <a:latin typeface="Yu Gothic"/>
              </a:rPr>
              <a:t>関節→サーボ</a:t>
            </a:r>
            <a:r>
              <a:rPr b="0" lang="en-US" sz="1100" spc="-1" strike="noStrike">
                <a:solidFill>
                  <a:srgbClr val="222222"/>
                </a:solidFill>
                <a:latin typeface="Yu Gothic"/>
              </a:rPr>
              <a:t>ID)</a:t>
            </a:r>
            <a:endParaRPr b="0" lang="en-US" sz="1100" spc="-1" strike="noStrike">
              <a:latin typeface="Arial"/>
            </a:endParaRPr>
          </a:p>
          <a:p>
            <a:pPr>
              <a:lnSpc>
                <a:spcPct val="105000"/>
              </a:lnSpc>
            </a:pPr>
            <a:r>
              <a:rPr b="0" lang="en-US" sz="1100" spc="-1" strike="noStrike">
                <a:solidFill>
                  <a:srgbClr val="222222"/>
                </a:solidFill>
                <a:latin typeface="Yu Gothic"/>
              </a:rPr>
              <a:t>home_rad</a:t>
            </a:r>
            <a:r>
              <a:rPr b="0" lang="zh-CN" sz="1100" spc="-1" strike="noStrike">
                <a:solidFill>
                  <a:srgbClr val="222222"/>
                </a:solidFill>
                <a:latin typeface="Yu Gothic"/>
              </a:rPr>
              <a:t>・</a:t>
            </a:r>
            <a:r>
              <a:rPr b="0" lang="en-US" sz="1100" spc="-1" strike="noStrike">
                <a:solidFill>
                  <a:srgbClr val="222222"/>
                </a:solidFill>
                <a:latin typeface="Yu Gothic"/>
              </a:rPr>
              <a:t>joint_low/high(</a:t>
            </a:r>
            <a:r>
              <a:rPr b="0" lang="zh-CN" sz="1100" spc="-1" strike="noStrike">
                <a:solidFill>
                  <a:srgbClr val="222222"/>
                </a:solidFill>
                <a:latin typeface="Yu Gothic"/>
              </a:rPr>
              <a:t>ホーム姿勢・可動域</a:t>
            </a:r>
            <a:r>
              <a:rPr b="0" lang="en-US" sz="1100" spc="-1" strike="noStrike">
                <a:solidFill>
                  <a:srgbClr val="222222"/>
                </a:solidFill>
                <a:latin typeface="Yu Gothic"/>
              </a:rPr>
              <a:t>)</a:t>
            </a:r>
            <a:endParaRPr b="0" lang="en-US" sz="1100" spc="-1" strike="noStrike">
              <a:latin typeface="Arial"/>
            </a:endParaRPr>
          </a:p>
          <a:p>
            <a:pPr>
              <a:lnSpc>
                <a:spcPct val="105000"/>
              </a:lnSpc>
            </a:pPr>
            <a:r>
              <a:rPr b="0" lang="en-US" sz="1100" spc="-1" strike="noStrike">
                <a:solidFill>
                  <a:srgbClr val="222222"/>
                </a:solidFill>
                <a:latin typeface="Yu Gothic"/>
              </a:rPr>
              <a:t>servo_direction(</a:t>
            </a:r>
            <a:r>
              <a:rPr b="0" lang="zh-CN" sz="1100" spc="-1" strike="noStrike">
                <a:solidFill>
                  <a:srgbClr val="222222"/>
                </a:solidFill>
                <a:latin typeface="Yu Gothic"/>
              </a:rPr>
              <a:t>回転方向</a:t>
            </a:r>
            <a:r>
              <a:rPr b="0" lang="en-US" sz="1100" spc="-1" strike="noStrike">
                <a:solidFill>
                  <a:srgbClr val="222222"/>
                </a:solidFill>
                <a:latin typeface="Yu Gothic"/>
              </a:rPr>
              <a:t>)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193" name="CustomShape 10"/>
          <p:cNvSpPr/>
          <p:nvPr/>
        </p:nvSpPr>
        <p:spPr>
          <a:xfrm>
            <a:off x="548640" y="3620880"/>
            <a:ext cx="2285640" cy="566640"/>
          </a:xfrm>
          <a:prstGeom prst="roundRect">
            <a:avLst>
              <a:gd name="adj" fmla="val 16667"/>
            </a:avLst>
          </a:prstGeom>
          <a:solidFill>
            <a:srgbClr val="2ea059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zh-CN" sz="1200" spc="-1" strike="noStrike">
                <a:solidFill>
                  <a:srgbClr val="ffffff"/>
                </a:solidFill>
                <a:latin typeface="Yu Gothic"/>
              </a:rPr>
              <a:t>歩行コマンド範囲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194" name="CustomShape 11"/>
          <p:cNvSpPr/>
          <p:nvPr/>
        </p:nvSpPr>
        <p:spPr>
          <a:xfrm>
            <a:off x="3017520" y="3630240"/>
            <a:ext cx="5120280" cy="6166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5000"/>
              </a:lnSpc>
            </a:pPr>
            <a:r>
              <a:rPr b="0" lang="en-US" sz="1100" spc="-1" strike="noStrike">
                <a:solidFill>
                  <a:srgbClr val="222222"/>
                </a:solidFill>
                <a:latin typeface="Yu Gothic"/>
              </a:rPr>
              <a:t>command_vx_min/max</a:t>
            </a:r>
            <a:r>
              <a:rPr b="0" lang="zh-CN" sz="1100" spc="-1" strike="noStrike">
                <a:solidFill>
                  <a:srgbClr val="222222"/>
                </a:solidFill>
                <a:latin typeface="Yu Gothic"/>
              </a:rPr>
              <a:t>・</a:t>
            </a:r>
            <a:r>
              <a:rPr b="0" lang="en-US" sz="1100" spc="-1" strike="noStrike">
                <a:solidFill>
                  <a:srgbClr val="222222"/>
                </a:solidFill>
                <a:latin typeface="Yu Gothic"/>
              </a:rPr>
              <a:t>command_wz_max</a:t>
            </a:r>
            <a:endParaRPr b="0" lang="en-US" sz="1100" spc="-1" strike="noStrike">
              <a:latin typeface="Arial"/>
            </a:endParaRPr>
          </a:p>
          <a:p>
            <a:pPr>
              <a:lnSpc>
                <a:spcPct val="105000"/>
              </a:lnSpc>
            </a:pPr>
            <a:r>
              <a:rPr b="0" lang="en-US" sz="1100" spc="-1" strike="noStrike">
                <a:solidFill>
                  <a:srgbClr val="222222"/>
                </a:solidFill>
                <a:latin typeface="Yu Gothic"/>
              </a:rPr>
              <a:t>phase_period_s</a:t>
            </a:r>
            <a:r>
              <a:rPr b="0" lang="zh-CN" sz="1100" spc="-1" strike="noStrike">
                <a:solidFill>
                  <a:srgbClr val="222222"/>
                </a:solidFill>
                <a:latin typeface="Yu Gothic"/>
              </a:rPr>
              <a:t>・</a:t>
            </a:r>
            <a:r>
              <a:rPr b="0" lang="en-US" sz="1100" spc="-1" strike="noStrike">
                <a:solidFill>
                  <a:srgbClr val="222222"/>
                </a:solidFill>
                <a:latin typeface="Yu Gothic"/>
              </a:rPr>
              <a:t>standing_fraction</a:t>
            </a:r>
            <a:endParaRPr b="0" lang="en-US" sz="1100" spc="-1" strike="noStrike">
              <a:latin typeface="Arial"/>
            </a:endParaRPr>
          </a:p>
          <a:p>
            <a:pPr>
              <a:lnSpc>
                <a:spcPct val="105000"/>
              </a:lnSpc>
            </a:pPr>
            <a:r>
              <a:rPr b="0" lang="en-US" sz="1100" spc="-1" strike="noStrike">
                <a:solidFill>
                  <a:srgbClr val="222222"/>
                </a:solidFill>
                <a:latin typeface="Yu Gothic"/>
              </a:rPr>
              <a:t>stance_gravity</a:t>
            </a:r>
            <a:r>
              <a:rPr b="0" lang="zh-CN" sz="1100" spc="-1" strike="noStrike">
                <a:solidFill>
                  <a:srgbClr val="222222"/>
                </a:solidFill>
                <a:latin typeface="Yu Gothic"/>
              </a:rPr>
              <a:t>・</a:t>
            </a:r>
            <a:r>
              <a:rPr b="0" lang="en-US" sz="1100" spc="-1" strike="noStrike">
                <a:solidFill>
                  <a:srgbClr val="222222"/>
                </a:solidFill>
                <a:latin typeface="Yu Gothic"/>
              </a:rPr>
              <a:t>root_to_gyro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195" name="CustomShape 12"/>
          <p:cNvSpPr/>
          <p:nvPr/>
        </p:nvSpPr>
        <p:spPr>
          <a:xfrm>
            <a:off x="548640" y="4233600"/>
            <a:ext cx="2285640" cy="566640"/>
          </a:xfrm>
          <a:prstGeom prst="roundRect">
            <a:avLst>
              <a:gd name="adj" fmla="val 16667"/>
            </a:avLst>
          </a:prstGeom>
          <a:solidFill>
            <a:srgbClr val="1f2a44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zh-CN" sz="1200" spc="-1" strike="noStrike">
                <a:solidFill>
                  <a:srgbClr val="ffffff"/>
                </a:solidFill>
                <a:latin typeface="Yu Gothic"/>
              </a:rPr>
              <a:t>モーションテーブル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196" name="CustomShape 13"/>
          <p:cNvSpPr/>
          <p:nvPr/>
        </p:nvSpPr>
        <p:spPr>
          <a:xfrm>
            <a:off x="3017520" y="4242960"/>
            <a:ext cx="5120280" cy="4417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5000"/>
              </a:lnSpc>
            </a:pPr>
            <a:r>
              <a:rPr b="0" lang="en-US" sz="1100" spc="-1" strike="noStrike">
                <a:solidFill>
                  <a:srgbClr val="222222"/>
                </a:solidFill>
                <a:latin typeface="Yu Gothic"/>
              </a:rPr>
              <a:t>RobotEntry.motions[]</a:t>
            </a:r>
            <a:endParaRPr b="0" lang="en-US" sz="1100" spc="-1" strike="noStrike">
              <a:latin typeface="Arial"/>
            </a:endParaRPr>
          </a:p>
          <a:p>
            <a:pPr>
              <a:lnSpc>
                <a:spcPct val="105000"/>
              </a:lnSpc>
            </a:pPr>
            <a:r>
              <a:rPr b="0" lang="en-US" sz="1100" spc="-1" strike="noStrike">
                <a:solidFill>
                  <a:srgbClr val="222222"/>
                </a:solidFill>
                <a:latin typeface="Yu Gothic"/>
              </a:rPr>
              <a:t>(</a:t>
            </a:r>
            <a:r>
              <a:rPr b="0" lang="zh-CN" sz="1100" spc="-1" strike="noStrike">
                <a:solidFill>
                  <a:srgbClr val="222222"/>
                </a:solidFill>
                <a:latin typeface="Yu Gothic"/>
              </a:rPr>
              <a:t>番号</a:t>
            </a:r>
            <a:r>
              <a:rPr b="0" lang="en-US" sz="1100" spc="-1" strike="noStrike">
                <a:solidFill>
                  <a:srgbClr val="222222"/>
                </a:solidFill>
                <a:latin typeface="Yu Gothic"/>
              </a:rPr>
              <a:t>+</a:t>
            </a:r>
            <a:r>
              <a:rPr b="0" lang="zh-CN" sz="1100" spc="-1" strike="noStrike">
                <a:solidFill>
                  <a:srgbClr val="222222"/>
                </a:solidFill>
                <a:latin typeface="Yu Gothic"/>
              </a:rPr>
              <a:t>名前、</a:t>
            </a:r>
            <a:r>
              <a:rPr b="0" lang="en-US" sz="1100" spc="-1" strike="noStrike">
                <a:solidFill>
                  <a:srgbClr val="222222"/>
                </a:solidFill>
                <a:latin typeface="Yu Gothic"/>
              </a:rPr>
              <a:t>RCB-4</a:t>
            </a:r>
            <a:r>
              <a:rPr b="0" lang="zh-CN" sz="1100" spc="-1" strike="noStrike">
                <a:solidFill>
                  <a:srgbClr val="222222"/>
                </a:solidFill>
                <a:latin typeface="Yu Gothic"/>
              </a:rPr>
              <a:t>内蔵プログラムへのジャンプ先</a:t>
            </a:r>
            <a:r>
              <a:rPr b="0" lang="en-US" sz="1100" spc="-1" strike="noStrike">
                <a:solidFill>
                  <a:srgbClr val="222222"/>
                </a:solidFill>
                <a:latin typeface="Yu Gothic"/>
              </a:rPr>
              <a:t>)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197" name="CustomShape 14"/>
          <p:cNvSpPr/>
          <p:nvPr/>
        </p:nvSpPr>
        <p:spPr>
          <a:xfrm>
            <a:off x="548640" y="4846320"/>
            <a:ext cx="2285640" cy="566640"/>
          </a:xfrm>
          <a:prstGeom prst="roundRect">
            <a:avLst>
              <a:gd name="adj" fmla="val 16667"/>
            </a:avLst>
          </a:prstGeom>
          <a:solidFill>
            <a:srgbClr val="1f2a44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zh-CN" sz="1200" spc="-1" strike="noStrike">
                <a:solidFill>
                  <a:srgbClr val="ffffff"/>
                </a:solidFill>
                <a:latin typeface="Yu Gothic"/>
              </a:rPr>
              <a:t>識別・表示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198" name="CustomShape 15"/>
          <p:cNvSpPr/>
          <p:nvPr/>
        </p:nvSpPr>
        <p:spPr>
          <a:xfrm>
            <a:off x="3017520" y="4855320"/>
            <a:ext cx="5120280" cy="4417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5000"/>
              </a:lnSpc>
            </a:pPr>
            <a:r>
              <a:rPr b="0" lang="en-US" sz="1100" spc="-1" strike="noStrike">
                <a:solidFill>
                  <a:srgbClr val="222222"/>
                </a:solidFill>
                <a:latin typeface="Yu Gothic"/>
              </a:rPr>
              <a:t>name</a:t>
            </a:r>
            <a:r>
              <a:rPr b="0" lang="zh-CN" sz="1100" spc="-1" strike="noStrike">
                <a:solidFill>
                  <a:srgbClr val="222222"/>
                </a:solidFill>
                <a:latin typeface="Yu Gothic"/>
              </a:rPr>
              <a:t>・</a:t>
            </a:r>
            <a:r>
              <a:rPr b="0" lang="en-US" sz="1100" spc="-1" strike="noStrike">
                <a:solidFill>
                  <a:srgbClr val="222222"/>
                </a:solidFill>
                <a:latin typeface="Yu Gothic"/>
              </a:rPr>
              <a:t>detect_ids/detect_count(</a:t>
            </a:r>
            <a:r>
              <a:rPr b="0" lang="zh-CN" sz="1100" spc="-1" strike="noStrike">
                <a:solidFill>
                  <a:srgbClr val="222222"/>
                </a:solidFill>
                <a:latin typeface="Yu Gothic"/>
              </a:rPr>
              <a:t>サーボ検出用</a:t>
            </a:r>
            <a:r>
              <a:rPr b="0" lang="en-US" sz="1100" spc="-1" strike="noStrike">
                <a:solidFill>
                  <a:srgbClr val="222222"/>
                </a:solidFill>
                <a:latin typeface="Yu Gothic"/>
              </a:rPr>
              <a:t>)</a:t>
            </a:r>
            <a:endParaRPr b="0" lang="en-US" sz="1100" spc="-1" strike="noStrike">
              <a:latin typeface="Arial"/>
            </a:endParaRPr>
          </a:p>
          <a:p>
            <a:pPr>
              <a:lnSpc>
                <a:spcPct val="105000"/>
              </a:lnSpc>
            </a:pPr>
            <a:r>
              <a:rPr b="0" lang="en-US" sz="1100" spc="-1" strike="noStrike">
                <a:solidFill>
                  <a:srgbClr val="222222"/>
                </a:solidFill>
                <a:latin typeface="Yu Gothic"/>
              </a:rPr>
              <a:t>display_rotation(</a:t>
            </a:r>
            <a:r>
              <a:rPr b="0" lang="zh-CN" sz="1100" spc="-1" strike="noStrike">
                <a:solidFill>
                  <a:srgbClr val="222222"/>
                </a:solidFill>
                <a:latin typeface="Yu Gothic"/>
              </a:rPr>
              <a:t>液晶の向き</a:t>
            </a:r>
            <a:r>
              <a:rPr b="0" lang="en-US" sz="1100" spc="-1" strike="noStrike">
                <a:solidFill>
                  <a:srgbClr val="222222"/>
                </a:solidFill>
                <a:latin typeface="Yu Gothic"/>
              </a:rPr>
              <a:t>)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199" name="CustomShape 16"/>
          <p:cNvSpPr/>
          <p:nvPr/>
        </p:nvSpPr>
        <p:spPr>
          <a:xfrm>
            <a:off x="8503920" y="1965960"/>
            <a:ext cx="3291480" cy="2883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zh-CN" sz="1300" spc="-1" strike="noStrike">
                <a:solidFill>
                  <a:srgbClr val="6b7280"/>
                </a:solidFill>
                <a:latin typeface="Yu Gothic"/>
              </a:rPr>
              <a:t>主な利用元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200" name="CustomShape 17"/>
          <p:cNvSpPr/>
          <p:nvPr/>
        </p:nvSpPr>
        <p:spPr>
          <a:xfrm>
            <a:off x="8503920" y="2377440"/>
            <a:ext cx="3291480" cy="5281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20000"/>
              </a:lnSpc>
            </a:pPr>
            <a:r>
              <a:rPr b="0" lang="zh-CN" sz="1200" spc="-1" strike="noStrike">
                <a:solidFill>
                  <a:srgbClr val="222222"/>
                </a:solidFill>
                <a:latin typeface="Yu Gothic"/>
              </a:rPr>
              <a:t>・</a:t>
            </a:r>
            <a:r>
              <a:rPr b="0" lang="en-US" sz="1200" spc="-1" strike="noStrike">
                <a:solidFill>
                  <a:srgbClr val="222222"/>
                </a:solidFill>
                <a:latin typeface="Yu Gothic"/>
              </a:rPr>
              <a:t>policy_mode -- NN</a:t>
            </a:r>
            <a:r>
              <a:rPr b="0" lang="zh-CN" sz="1200" spc="-1" strike="noStrike">
                <a:solidFill>
                  <a:srgbClr val="222222"/>
                </a:solidFill>
                <a:latin typeface="Yu Gothic"/>
              </a:rPr>
              <a:t>推論・関節コマンド生成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201" name="CustomShape 18"/>
          <p:cNvSpPr/>
          <p:nvPr/>
        </p:nvSpPr>
        <p:spPr>
          <a:xfrm>
            <a:off x="8503920" y="3063240"/>
            <a:ext cx="3291480" cy="3092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20000"/>
              </a:lnSpc>
            </a:pPr>
            <a:r>
              <a:rPr b="0" lang="zh-CN" sz="1200" spc="-1" strike="noStrike">
                <a:solidFill>
                  <a:srgbClr val="222222"/>
                </a:solidFill>
                <a:latin typeface="Yu Gothic"/>
              </a:rPr>
              <a:t>・</a:t>
            </a:r>
            <a:r>
              <a:rPr b="0" lang="en-US" sz="1200" spc="-1" strike="noStrike">
                <a:solidFill>
                  <a:srgbClr val="222222"/>
                </a:solidFill>
                <a:latin typeface="Yu Gothic"/>
              </a:rPr>
              <a:t>rcb4_link -- servo_direction </a:t>
            </a:r>
            <a:r>
              <a:rPr b="0" lang="zh-CN" sz="1200" spc="-1" strike="noStrike">
                <a:solidFill>
                  <a:srgbClr val="222222"/>
                </a:solidFill>
                <a:latin typeface="Yu Gothic"/>
              </a:rPr>
              <a:t>の適用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202" name="CustomShape 19"/>
          <p:cNvSpPr/>
          <p:nvPr/>
        </p:nvSpPr>
        <p:spPr>
          <a:xfrm>
            <a:off x="8503920" y="3749040"/>
            <a:ext cx="3291480" cy="5281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20000"/>
              </a:lnSpc>
            </a:pPr>
            <a:r>
              <a:rPr b="0" lang="zh-CN" sz="1200" spc="-1" strike="noStrike">
                <a:solidFill>
                  <a:srgbClr val="222222"/>
                </a:solidFill>
                <a:latin typeface="Yu Gothic"/>
              </a:rPr>
              <a:t>・</a:t>
            </a:r>
            <a:r>
              <a:rPr b="0" lang="en-US" sz="1200" spc="-1" strike="noStrike">
                <a:solidFill>
                  <a:srgbClr val="222222"/>
                </a:solidFill>
                <a:latin typeface="Yu Gothic"/>
              </a:rPr>
              <a:t>robot_select_mode -- detect_ids </a:t>
            </a:r>
            <a:r>
              <a:rPr b="0" lang="zh-CN" sz="1200" spc="-1" strike="noStrike">
                <a:solidFill>
                  <a:srgbClr val="222222"/>
                </a:solidFill>
                <a:latin typeface="Yu Gothic"/>
              </a:rPr>
              <a:t>でのサーボ照合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203" name="CustomShape 20"/>
          <p:cNvSpPr/>
          <p:nvPr/>
        </p:nvSpPr>
        <p:spPr>
          <a:xfrm>
            <a:off x="8503920" y="4434840"/>
            <a:ext cx="3291480" cy="5281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20000"/>
              </a:lnSpc>
            </a:pPr>
            <a:r>
              <a:rPr b="0" lang="zh-CN" sz="1200" spc="-1" strike="noStrike">
                <a:solidFill>
                  <a:srgbClr val="222222"/>
                </a:solidFill>
                <a:latin typeface="Yu Gothic"/>
              </a:rPr>
              <a:t>・</a:t>
            </a:r>
            <a:r>
              <a:rPr b="0" lang="en-US" sz="1200" spc="-1" strike="noStrike">
                <a:solidFill>
                  <a:srgbClr val="222222"/>
                </a:solidFill>
                <a:latin typeface="Yu Gothic"/>
              </a:rPr>
              <a:t>bridge_mode / net -- </a:t>
            </a:r>
            <a:r>
              <a:rPr b="0" lang="zh-CN" sz="1200" spc="-1" strike="noStrike">
                <a:solidFill>
                  <a:srgbClr val="222222"/>
                </a:solidFill>
                <a:latin typeface="Yu Gothic"/>
              </a:rPr>
              <a:t>モーションテーブルの一覧表示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204" name="CustomShape 21"/>
          <p:cNvSpPr/>
          <p:nvPr/>
        </p:nvSpPr>
        <p:spPr>
          <a:xfrm>
            <a:off x="548640" y="5943600"/>
            <a:ext cx="11063880" cy="5655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20000"/>
              </a:lnSpc>
            </a:pPr>
            <a:r>
              <a:rPr b="1" lang="en-US" sz="1300" spc="-1" strike="noStrike">
                <a:solidFill>
                  <a:srgbClr val="b03030"/>
                </a:solidFill>
                <a:latin typeface="Yu Gothic"/>
              </a:rPr>
              <a:t>500</a:t>
            </a:r>
            <a:r>
              <a:rPr b="1" lang="zh-CN" sz="1300" spc="-1" strike="noStrike">
                <a:solidFill>
                  <a:srgbClr val="b03030"/>
                </a:solidFill>
                <a:latin typeface="Yu Gothic"/>
              </a:rPr>
              <a:t>種類化</a:t>
            </a:r>
            <a:r>
              <a:rPr b="1" lang="en-US" sz="1300" spc="-1" strike="noStrike">
                <a:solidFill>
                  <a:srgbClr val="b03030"/>
                </a:solidFill>
                <a:latin typeface="Yu Gothic"/>
              </a:rPr>
              <a:t>(</a:t>
            </a:r>
            <a:r>
              <a:rPr b="1" lang="zh-CN" sz="1300" spc="-1" strike="noStrike">
                <a:solidFill>
                  <a:srgbClr val="b03030"/>
                </a:solidFill>
                <a:latin typeface="Yu Gothic"/>
              </a:rPr>
              <a:t>フェーズ</a:t>
            </a:r>
            <a:r>
              <a:rPr b="1" lang="en-US" sz="1300" spc="-1" strike="noStrike">
                <a:solidFill>
                  <a:srgbClr val="b03030"/>
                </a:solidFill>
                <a:latin typeface="Yu Gothic"/>
              </a:rPr>
              <a:t>4)</a:t>
            </a:r>
            <a:r>
              <a:rPr b="1" lang="zh-CN" sz="1300" spc="-1" strike="noStrike">
                <a:solidFill>
                  <a:srgbClr val="b03030"/>
                </a:solidFill>
                <a:latin typeface="Yu Gothic"/>
              </a:rPr>
              <a:t>では、この</a:t>
            </a:r>
            <a:r>
              <a:rPr b="1" lang="en-US" sz="1300" spc="-1" strike="noStrike">
                <a:solidFill>
                  <a:srgbClr val="b03030"/>
                </a:solidFill>
                <a:latin typeface="Yu Gothic"/>
              </a:rPr>
              <a:t>6</a:t>
            </a:r>
            <a:r>
              <a:rPr b="1" lang="zh-CN" sz="1300" spc="-1" strike="noStrike">
                <a:solidFill>
                  <a:srgbClr val="b03030"/>
                </a:solidFill>
                <a:latin typeface="Yu Gothic"/>
              </a:rPr>
              <a:t>カテゴリすべてを</a:t>
            </a:r>
            <a:r>
              <a:rPr b="1" lang="en-US" sz="1300" spc="-1" strike="noStrike">
                <a:solidFill>
                  <a:srgbClr val="b03030"/>
                </a:solidFill>
                <a:latin typeface="Yu Gothic"/>
              </a:rPr>
              <a:t>1</a:t>
            </a:r>
            <a:r>
              <a:rPr b="1" lang="zh-CN" sz="1300" spc="-1" strike="noStrike">
                <a:solidFill>
                  <a:srgbClr val="b03030"/>
                </a:solidFill>
                <a:latin typeface="Yu Gothic"/>
              </a:rPr>
              <a:t>つの「ロボット記述ブロブ」にまとめ、</a:t>
            </a:r>
            <a:endParaRPr b="0" lang="en-US" sz="1300" spc="-1" strike="noStrike">
              <a:latin typeface="Arial"/>
            </a:endParaRPr>
          </a:p>
          <a:p>
            <a:pPr>
              <a:lnSpc>
                <a:spcPct val="120000"/>
              </a:lnSpc>
            </a:pPr>
            <a:r>
              <a:rPr b="1" lang="zh-CN" sz="1300" spc="-1" strike="noStrike">
                <a:solidFill>
                  <a:srgbClr val="b03030"/>
                </a:solidFill>
                <a:latin typeface="Yu Gothic"/>
              </a:rPr>
              <a:t>コンパイル時の固定テーブルではなくダウンロードしたデータとして読む。</a:t>
            </a:r>
            <a:endParaRPr b="0" lang="en-US" sz="13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CustomShape 1"/>
          <p:cNvSpPr/>
          <p:nvPr/>
        </p:nvSpPr>
        <p:spPr>
          <a:xfrm>
            <a:off x="548640" y="320040"/>
            <a:ext cx="7314840" cy="3337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rgbClr val="2e6fc7"/>
                </a:solidFill>
                <a:latin typeface="Yu Gothic"/>
              </a:rPr>
              <a:t>SYSTEM OVERVIEW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206" name="CustomShape 2"/>
          <p:cNvSpPr/>
          <p:nvPr/>
        </p:nvSpPr>
        <p:spPr>
          <a:xfrm>
            <a:off x="548640" y="685800"/>
            <a:ext cx="10515240" cy="5472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zh-CN" sz="3000" spc="-1" strike="noStrike">
                <a:solidFill>
                  <a:srgbClr val="1f2a44"/>
                </a:solidFill>
                <a:latin typeface="Yu Gothic"/>
              </a:rPr>
              <a:t>システム全体構成</a:t>
            </a:r>
            <a:endParaRPr b="0" lang="en-US" sz="3000" spc="-1" strike="noStrike">
              <a:latin typeface="Arial"/>
            </a:endParaRPr>
          </a:p>
        </p:txBody>
      </p:sp>
      <p:sp>
        <p:nvSpPr>
          <p:cNvPr id="207" name="CustomShape 3"/>
          <p:cNvSpPr/>
          <p:nvPr/>
        </p:nvSpPr>
        <p:spPr>
          <a:xfrm>
            <a:off x="4754880" y="2743200"/>
            <a:ext cx="2742840" cy="1188360"/>
          </a:xfrm>
          <a:prstGeom prst="roundRect">
            <a:avLst>
              <a:gd name="adj" fmla="val 16667"/>
            </a:avLst>
          </a:prstGeom>
          <a:solidFill>
            <a:srgbClr val="1f2a44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500" spc="-1" strike="noStrike">
                <a:solidFill>
                  <a:srgbClr val="ffffff"/>
                </a:solidFill>
                <a:latin typeface="Yu Gothic"/>
              </a:rPr>
              <a:t>kxr5s</a:t>
            </a:r>
            <a:br/>
            <a:r>
              <a:rPr b="1" lang="en-US" sz="1500" spc="-1" strike="noStrike">
                <a:solidFill>
                  <a:srgbClr val="ffffff"/>
                </a:solidFill>
                <a:latin typeface="Yu Gothic"/>
              </a:rPr>
              <a:t>(AtomS3 / M5StickC)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208" name="CustomShape 4"/>
          <p:cNvSpPr/>
          <p:nvPr/>
        </p:nvSpPr>
        <p:spPr>
          <a:xfrm>
            <a:off x="457200" y="1691640"/>
            <a:ext cx="2651400" cy="914040"/>
          </a:xfrm>
          <a:prstGeom prst="roundRect">
            <a:avLst>
              <a:gd name="adj" fmla="val 16667"/>
            </a:avLst>
          </a:prstGeom>
          <a:solidFill>
            <a:srgbClr val="2e6fc7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zh-CN" sz="1200" spc="-1" strike="noStrike">
                <a:solidFill>
                  <a:srgbClr val="ffffff"/>
                </a:solidFill>
                <a:latin typeface="Yu Gothic"/>
              </a:rPr>
              <a:t>スマホ</a:t>
            </a:r>
            <a:br/>
            <a:r>
              <a:rPr b="1" lang="en-US" sz="1200" spc="-1" strike="noStrike">
                <a:solidFill>
                  <a:srgbClr val="ffffff"/>
                </a:solidFill>
                <a:latin typeface="Yu Gothic"/>
              </a:rPr>
              <a:t>(</a:t>
            </a:r>
            <a:r>
              <a:rPr b="1" lang="zh-CN" sz="1200" spc="-1" strike="noStrike">
                <a:solidFill>
                  <a:srgbClr val="ffffff"/>
                </a:solidFill>
                <a:latin typeface="Yu Gothic"/>
              </a:rPr>
              <a:t>ブラウザ制御・</a:t>
            </a:r>
            <a:r>
              <a:rPr b="1" lang="en-US" sz="1200" spc="-1" strike="noStrike">
                <a:solidFill>
                  <a:srgbClr val="ffffff"/>
                </a:solidFill>
                <a:latin typeface="Yu Gothic"/>
              </a:rPr>
              <a:t>3D</a:t>
            </a:r>
            <a:r>
              <a:rPr b="1" lang="zh-CN" sz="1200" spc="-1" strike="noStrike">
                <a:solidFill>
                  <a:srgbClr val="ffffff"/>
                </a:solidFill>
                <a:latin typeface="Yu Gothic"/>
              </a:rPr>
              <a:t>ビューア</a:t>
            </a:r>
            <a:r>
              <a:rPr b="1" lang="en-US" sz="1200" spc="-1" strike="noStrike">
                <a:solidFill>
                  <a:srgbClr val="ffffff"/>
                </a:solidFill>
                <a:latin typeface="Yu Gothic"/>
              </a:rPr>
              <a:t>)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209" name="Line 5"/>
          <p:cNvSpPr/>
          <p:nvPr/>
        </p:nvSpPr>
        <p:spPr>
          <a:xfrm>
            <a:off x="3108960" y="2148840"/>
            <a:ext cx="1645920" cy="868680"/>
          </a:xfrm>
          <a:prstGeom prst="line">
            <a:avLst/>
          </a:prstGeom>
          <a:ln>
            <a:solidFill>
              <a:srgbClr val="6b7280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/>
        </p:style>
      </p:sp>
      <p:sp>
        <p:nvSpPr>
          <p:cNvPr id="210" name="CustomShape 6"/>
          <p:cNvSpPr/>
          <p:nvPr/>
        </p:nvSpPr>
        <p:spPr>
          <a:xfrm>
            <a:off x="2331720" y="2423160"/>
            <a:ext cx="2194200" cy="4546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6b7280"/>
                </a:solidFill>
                <a:latin typeface="Yu Gothic"/>
              </a:rPr>
              <a:t>WiFi</a:t>
            </a:r>
            <a:endParaRPr b="0" lang="en-US" sz="12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6b7280"/>
                </a:solidFill>
                <a:latin typeface="Yu Gothic"/>
              </a:rPr>
              <a:t>(POST)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211" name="CustomShape 7"/>
          <p:cNvSpPr/>
          <p:nvPr/>
        </p:nvSpPr>
        <p:spPr>
          <a:xfrm>
            <a:off x="4663440" y="1965960"/>
            <a:ext cx="2834280" cy="594000"/>
          </a:xfrm>
          <a:prstGeom prst="roundRect">
            <a:avLst>
              <a:gd name="adj" fmla="val 16667"/>
            </a:avLst>
          </a:prstGeom>
          <a:solidFill>
            <a:srgbClr val="222222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Yu Gothic"/>
              </a:rPr>
              <a:t>GitHub</a:t>
            </a:r>
            <a:br/>
            <a:r>
              <a:rPr b="1" lang="en-US" sz="1200" spc="-1" strike="noStrike">
                <a:solidFill>
                  <a:srgbClr val="ffffff"/>
                </a:solidFill>
                <a:latin typeface="Yu Gothic"/>
              </a:rPr>
              <a:t>(downloadable_policies/)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212" name="Line 8"/>
          <p:cNvSpPr/>
          <p:nvPr/>
        </p:nvSpPr>
        <p:spPr>
          <a:xfrm flipH="1" flipV="1">
            <a:off x="3108960" y="2148840"/>
            <a:ext cx="1554480" cy="114120"/>
          </a:xfrm>
          <a:prstGeom prst="line">
            <a:avLst/>
          </a:prstGeom>
          <a:ln>
            <a:solidFill>
              <a:srgbClr val="6b7280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/>
        </p:style>
      </p:sp>
      <p:sp>
        <p:nvSpPr>
          <p:cNvPr id="213" name="CustomShape 9"/>
          <p:cNvSpPr/>
          <p:nvPr/>
        </p:nvSpPr>
        <p:spPr>
          <a:xfrm>
            <a:off x="4709160" y="1691640"/>
            <a:ext cx="1279800" cy="2577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rgbClr val="6b7280"/>
                </a:solidFill>
                <a:latin typeface="Yu Gothic"/>
              </a:rPr>
              <a:t>HTTPS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214" name="CustomShape 10"/>
          <p:cNvSpPr/>
          <p:nvPr/>
        </p:nvSpPr>
        <p:spPr>
          <a:xfrm>
            <a:off x="9144000" y="1005840"/>
            <a:ext cx="2468520" cy="914040"/>
          </a:xfrm>
          <a:prstGeom prst="roundRect">
            <a:avLst>
              <a:gd name="adj" fmla="val 16667"/>
            </a:avLst>
          </a:prstGeom>
          <a:solidFill>
            <a:srgbClr val="2e6fc7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Yu Gothic"/>
              </a:rPr>
              <a:t>PC / ATOM Echo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215" name="Line 11"/>
          <p:cNvSpPr/>
          <p:nvPr/>
        </p:nvSpPr>
        <p:spPr>
          <a:xfrm flipH="1">
            <a:off x="7498080" y="1554480"/>
            <a:ext cx="1645920" cy="1463040"/>
          </a:xfrm>
          <a:prstGeom prst="line">
            <a:avLst/>
          </a:prstGeom>
          <a:ln>
            <a:solidFill>
              <a:srgbClr val="6b7280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/>
        </p:style>
      </p:sp>
      <p:sp>
        <p:nvSpPr>
          <p:cNvPr id="216" name="CustomShape 12"/>
          <p:cNvSpPr/>
          <p:nvPr/>
        </p:nvSpPr>
        <p:spPr>
          <a:xfrm>
            <a:off x="7772400" y="2697480"/>
            <a:ext cx="959760" cy="3646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6b7280"/>
                </a:solidFill>
                <a:latin typeface="Yu Gothic"/>
              </a:rPr>
              <a:t>USB-CDC/</a:t>
            </a:r>
            <a:endParaRPr b="0" lang="en-US" sz="9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6b7280"/>
                </a:solidFill>
                <a:latin typeface="Yu Gothic"/>
              </a:rPr>
              <a:t>ESP-NOW</a:t>
            </a:r>
            <a:endParaRPr b="0" lang="en-US" sz="900" spc="-1" strike="noStrike">
              <a:latin typeface="Arial"/>
            </a:endParaRPr>
          </a:p>
        </p:txBody>
      </p:sp>
      <p:sp>
        <p:nvSpPr>
          <p:cNvPr id="217" name="CustomShape 13"/>
          <p:cNvSpPr/>
          <p:nvPr/>
        </p:nvSpPr>
        <p:spPr>
          <a:xfrm>
            <a:off x="548640" y="2880360"/>
            <a:ext cx="2377080" cy="914040"/>
          </a:xfrm>
          <a:prstGeom prst="roundRect">
            <a:avLst>
              <a:gd name="adj" fmla="val 16667"/>
            </a:avLst>
          </a:prstGeom>
          <a:solidFill>
            <a:srgbClr val="2ea059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Yu Gothic"/>
              </a:rPr>
              <a:t>M5StickV </a:t>
            </a:r>
            <a:r>
              <a:rPr b="1" lang="zh-CN" sz="1300" spc="-1" strike="noStrike">
                <a:solidFill>
                  <a:srgbClr val="ffffff"/>
                </a:solidFill>
                <a:latin typeface="Yu Gothic"/>
              </a:rPr>
              <a:t>カメラ</a:t>
            </a:r>
            <a:br/>
            <a:r>
              <a:rPr b="1" lang="en-US" sz="1300" spc="-1" strike="noStrike">
                <a:solidFill>
                  <a:srgbClr val="ffffff"/>
                </a:solidFill>
                <a:latin typeface="Yu Gothic"/>
              </a:rPr>
              <a:t>(0x24 </a:t>
            </a:r>
            <a:r>
              <a:rPr b="1" lang="zh-CN" sz="1300" spc="-1" strike="noStrike">
                <a:solidFill>
                  <a:srgbClr val="ffffff"/>
                </a:solidFill>
                <a:latin typeface="Yu Gothic"/>
              </a:rPr>
              <a:t>左目 </a:t>
            </a:r>
            <a:r>
              <a:rPr b="1" lang="en-US" sz="1300" spc="-1" strike="noStrike">
                <a:solidFill>
                  <a:srgbClr val="ffffff"/>
                </a:solidFill>
                <a:latin typeface="Yu Gothic"/>
              </a:rPr>
              <a:t>/ 0x25 </a:t>
            </a:r>
            <a:r>
              <a:rPr b="1" lang="zh-CN" sz="1300" spc="-1" strike="noStrike">
                <a:solidFill>
                  <a:srgbClr val="ffffff"/>
                </a:solidFill>
                <a:latin typeface="Yu Gothic"/>
              </a:rPr>
              <a:t>右目</a:t>
            </a:r>
            <a:r>
              <a:rPr b="1" lang="en-US" sz="1300" spc="-1" strike="noStrike">
                <a:solidFill>
                  <a:srgbClr val="ffffff"/>
                </a:solidFill>
                <a:latin typeface="Yu Gothic"/>
              </a:rPr>
              <a:t>)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218" name="Line 14"/>
          <p:cNvSpPr/>
          <p:nvPr/>
        </p:nvSpPr>
        <p:spPr>
          <a:xfrm>
            <a:off x="2926080" y="3337560"/>
            <a:ext cx="1828800" cy="0"/>
          </a:xfrm>
          <a:prstGeom prst="line">
            <a:avLst/>
          </a:prstGeom>
          <a:ln>
            <a:solidFill>
              <a:srgbClr val="6b7280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/>
        </p:style>
      </p:sp>
      <p:sp>
        <p:nvSpPr>
          <p:cNvPr id="219" name="CustomShape 15"/>
          <p:cNvSpPr/>
          <p:nvPr/>
        </p:nvSpPr>
        <p:spPr>
          <a:xfrm>
            <a:off x="3017520" y="3017520"/>
            <a:ext cx="1645560" cy="2728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6b7280"/>
                </a:solidFill>
                <a:latin typeface="Yu Gothic"/>
              </a:rPr>
              <a:t>I2C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220" name="CustomShape 16"/>
          <p:cNvSpPr/>
          <p:nvPr/>
        </p:nvSpPr>
        <p:spPr>
          <a:xfrm>
            <a:off x="4983480" y="4480560"/>
            <a:ext cx="2285640" cy="776880"/>
          </a:xfrm>
          <a:prstGeom prst="roundRect">
            <a:avLst>
              <a:gd name="adj" fmla="val 16667"/>
            </a:avLst>
          </a:prstGeom>
          <a:solidFill>
            <a:srgbClr val="2ea059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ffff"/>
                </a:solidFill>
                <a:latin typeface="Yu Gothic"/>
              </a:rPr>
              <a:t>RCB-4 </a:t>
            </a:r>
            <a:r>
              <a:rPr b="1" lang="zh-CN" sz="1400" spc="-1" strike="noStrike">
                <a:solidFill>
                  <a:srgbClr val="ffffff"/>
                </a:solidFill>
                <a:latin typeface="Yu Gothic"/>
              </a:rPr>
              <a:t>コントローラ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221" name="Line 17"/>
          <p:cNvSpPr/>
          <p:nvPr/>
        </p:nvSpPr>
        <p:spPr>
          <a:xfrm>
            <a:off x="6126480" y="3931920"/>
            <a:ext cx="0" cy="548640"/>
          </a:xfrm>
          <a:prstGeom prst="line">
            <a:avLst/>
          </a:prstGeom>
          <a:ln>
            <a:solidFill>
              <a:srgbClr val="6b7280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/>
        </p:style>
      </p:sp>
      <p:sp>
        <p:nvSpPr>
          <p:cNvPr id="222" name="CustomShape 18"/>
          <p:cNvSpPr/>
          <p:nvPr/>
        </p:nvSpPr>
        <p:spPr>
          <a:xfrm>
            <a:off x="6263640" y="3977640"/>
            <a:ext cx="2011320" cy="2728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rgbClr val="6b7280"/>
                </a:solidFill>
                <a:latin typeface="Yu Gothic"/>
              </a:rPr>
              <a:t>UART (1.25M/625K)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223" name="Line 19"/>
          <p:cNvSpPr/>
          <p:nvPr/>
        </p:nvSpPr>
        <p:spPr>
          <a:xfrm>
            <a:off x="6126480" y="5257800"/>
            <a:ext cx="0" cy="228600"/>
          </a:xfrm>
          <a:prstGeom prst="line">
            <a:avLst/>
          </a:prstGeom>
          <a:ln>
            <a:solidFill>
              <a:srgbClr val="6b7280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/>
        </p:style>
      </p:sp>
      <p:pic>
        <p:nvPicPr>
          <p:cNvPr id="224" name="Picture 20" descr="kxrl2g.png"/>
          <p:cNvPicPr/>
          <p:nvPr/>
        </p:nvPicPr>
        <p:blipFill>
          <a:blip r:embed="rId1"/>
          <a:stretch/>
        </p:blipFill>
        <p:spPr>
          <a:xfrm>
            <a:off x="5797440" y="5532120"/>
            <a:ext cx="657720" cy="1234080"/>
          </a:xfrm>
          <a:prstGeom prst="rect">
            <a:avLst/>
          </a:prstGeom>
          <a:ln>
            <a:noFill/>
          </a:ln>
        </p:spPr>
      </p:pic>
      <p:sp>
        <p:nvSpPr>
          <p:cNvPr id="225" name="CustomShape 20"/>
          <p:cNvSpPr/>
          <p:nvPr/>
        </p:nvSpPr>
        <p:spPr>
          <a:xfrm>
            <a:off x="4023360" y="5921280"/>
            <a:ext cx="1919880" cy="4557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 algn="r">
              <a:lnSpc>
                <a:spcPct val="100000"/>
              </a:lnSpc>
            </a:pPr>
            <a:r>
              <a:rPr b="0" lang="zh-CN" sz="1200" spc="-1" strike="noStrike">
                <a:solidFill>
                  <a:srgbClr val="6b7280"/>
                </a:solidFill>
                <a:latin typeface="Yu Gothic"/>
              </a:rPr>
              <a:t>サーボ</a:t>
            </a:r>
            <a:endParaRPr b="0" lang="en-US" sz="1200" spc="-1" strike="noStrike">
              <a:latin typeface="Arial"/>
            </a:endParaRPr>
          </a:p>
          <a:p>
            <a:pPr algn="r">
              <a:lnSpc>
                <a:spcPct val="100000"/>
              </a:lnSpc>
            </a:pPr>
            <a:r>
              <a:rPr b="0" lang="zh-CN" sz="1200" spc="-1" strike="noStrike">
                <a:solidFill>
                  <a:srgbClr val="6b7280"/>
                </a:solidFill>
                <a:latin typeface="Yu Gothic"/>
              </a:rPr>
              <a:t>バス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226" name="CustomShape 21"/>
          <p:cNvSpPr/>
          <p:nvPr/>
        </p:nvSpPr>
        <p:spPr>
          <a:xfrm>
            <a:off x="548640" y="3977640"/>
            <a:ext cx="3657240" cy="2728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zh-CN" sz="1200" spc="-1" strike="noStrike">
                <a:solidFill>
                  <a:srgbClr val="1f2a44"/>
                </a:solidFill>
                <a:latin typeface="Yu Gothic"/>
              </a:rPr>
              <a:t>計算機スペック</a:t>
            </a:r>
            <a:r>
              <a:rPr b="1" lang="en-US" sz="1200" spc="-1" strike="noStrike">
                <a:solidFill>
                  <a:srgbClr val="1f2a44"/>
                </a:solidFill>
                <a:latin typeface="Yu Gothic"/>
              </a:rPr>
              <a:t>(</a:t>
            </a:r>
            <a:r>
              <a:rPr b="1" lang="zh-CN" sz="1200" spc="-1" strike="noStrike">
                <a:solidFill>
                  <a:srgbClr val="1f2a44"/>
                </a:solidFill>
                <a:latin typeface="Yu Gothic"/>
              </a:rPr>
              <a:t>この構成図の要素</a:t>
            </a:r>
            <a:r>
              <a:rPr b="1" lang="en-US" sz="1200" spc="-1" strike="noStrike">
                <a:solidFill>
                  <a:srgbClr val="1f2a44"/>
                </a:solidFill>
                <a:latin typeface="Yu Gothic"/>
              </a:rPr>
              <a:t>)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227" name="CustomShape 22"/>
          <p:cNvSpPr/>
          <p:nvPr/>
        </p:nvSpPr>
        <p:spPr>
          <a:xfrm>
            <a:off x="548640" y="4306680"/>
            <a:ext cx="3657240" cy="18255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20000"/>
              </a:lnSpc>
            </a:pPr>
            <a:r>
              <a:rPr b="0" lang="en-US" sz="950" spc="-1" strike="noStrike">
                <a:solidFill>
                  <a:srgbClr val="222222"/>
                </a:solidFill>
                <a:latin typeface="Yu Gothic"/>
              </a:rPr>
              <a:t>AtomS3(ESP32-S3): 240MHz / RAM 512KB</a:t>
            </a:r>
            <a:endParaRPr b="0" lang="en-US" sz="950" spc="-1" strike="noStrike">
              <a:latin typeface="Arial"/>
            </a:endParaRPr>
          </a:p>
          <a:p>
            <a:pPr>
              <a:lnSpc>
                <a:spcPct val="120000"/>
              </a:lnSpc>
            </a:pPr>
            <a:r>
              <a:rPr b="0" lang="en-US" sz="950" spc="-1" strike="noStrike">
                <a:solidFill>
                  <a:srgbClr val="222222"/>
                </a:solidFill>
                <a:latin typeface="Yu Gothic"/>
              </a:rPr>
              <a:t>  </a:t>
            </a:r>
            <a:r>
              <a:rPr b="0" lang="en-US" sz="950" spc="-1" strike="noStrike">
                <a:solidFill>
                  <a:srgbClr val="222222"/>
                </a:solidFill>
                <a:latin typeface="Yu Gothic"/>
              </a:rPr>
              <a:t>/ Flash 8MB / </a:t>
            </a:r>
            <a:r>
              <a:rPr b="0" lang="zh-CN" sz="950" spc="-1" strike="noStrike">
                <a:solidFill>
                  <a:srgbClr val="222222"/>
                </a:solidFill>
                <a:latin typeface="Yu Gothic"/>
              </a:rPr>
              <a:t>補助記憶</a:t>
            </a:r>
            <a:r>
              <a:rPr b="0" lang="en-US" sz="950" spc="-1" strike="noStrike">
                <a:solidFill>
                  <a:srgbClr val="222222"/>
                </a:solidFill>
                <a:latin typeface="Yu Gothic"/>
              </a:rPr>
              <a:t>: </a:t>
            </a:r>
            <a:r>
              <a:rPr b="0" lang="zh-CN" sz="950" spc="-1" strike="noStrike">
                <a:solidFill>
                  <a:srgbClr val="222222"/>
                </a:solidFill>
                <a:latin typeface="Yu Gothic"/>
              </a:rPr>
              <a:t>なし</a:t>
            </a:r>
            <a:endParaRPr b="0" lang="en-US" sz="950" spc="-1" strike="noStrike">
              <a:latin typeface="Arial"/>
            </a:endParaRPr>
          </a:p>
          <a:p>
            <a:pPr>
              <a:lnSpc>
                <a:spcPct val="120000"/>
              </a:lnSpc>
            </a:pPr>
            <a:r>
              <a:rPr b="0" lang="en-US" sz="950" spc="-1" strike="noStrike">
                <a:solidFill>
                  <a:srgbClr val="222222"/>
                </a:solidFill>
                <a:latin typeface="Yu Gothic"/>
              </a:rPr>
              <a:t>M5StickC(ESP32): 240MHz / RAM 520KB</a:t>
            </a:r>
            <a:endParaRPr b="0" lang="en-US" sz="950" spc="-1" strike="noStrike">
              <a:latin typeface="Arial"/>
            </a:endParaRPr>
          </a:p>
          <a:p>
            <a:pPr>
              <a:lnSpc>
                <a:spcPct val="120000"/>
              </a:lnSpc>
            </a:pPr>
            <a:r>
              <a:rPr b="0" lang="en-US" sz="950" spc="-1" strike="noStrike">
                <a:solidFill>
                  <a:srgbClr val="222222"/>
                </a:solidFill>
                <a:latin typeface="Yu Gothic"/>
              </a:rPr>
              <a:t>  </a:t>
            </a:r>
            <a:r>
              <a:rPr b="0" lang="en-US" sz="950" spc="-1" strike="noStrike">
                <a:solidFill>
                  <a:srgbClr val="222222"/>
                </a:solidFill>
                <a:latin typeface="Yu Gothic"/>
              </a:rPr>
              <a:t>/ Flash 4MB / </a:t>
            </a:r>
            <a:r>
              <a:rPr b="0" lang="zh-CN" sz="950" spc="-1" strike="noStrike">
                <a:solidFill>
                  <a:srgbClr val="222222"/>
                </a:solidFill>
                <a:latin typeface="Yu Gothic"/>
              </a:rPr>
              <a:t>補助記憶</a:t>
            </a:r>
            <a:r>
              <a:rPr b="0" lang="en-US" sz="950" spc="-1" strike="noStrike">
                <a:solidFill>
                  <a:srgbClr val="222222"/>
                </a:solidFill>
                <a:latin typeface="Yu Gothic"/>
              </a:rPr>
              <a:t>: </a:t>
            </a:r>
            <a:r>
              <a:rPr b="0" lang="zh-CN" sz="950" spc="-1" strike="noStrike">
                <a:solidFill>
                  <a:srgbClr val="222222"/>
                </a:solidFill>
                <a:latin typeface="Yu Gothic"/>
              </a:rPr>
              <a:t>なし</a:t>
            </a:r>
            <a:endParaRPr b="0" lang="en-US" sz="950" spc="-1" strike="noStrike">
              <a:latin typeface="Arial"/>
            </a:endParaRPr>
          </a:p>
          <a:p>
            <a:pPr>
              <a:lnSpc>
                <a:spcPct val="120000"/>
              </a:lnSpc>
            </a:pPr>
            <a:r>
              <a:rPr b="0" lang="en-US" sz="950" spc="-1" strike="noStrike">
                <a:solidFill>
                  <a:srgbClr val="222222"/>
                </a:solidFill>
                <a:latin typeface="Yu Gothic"/>
              </a:rPr>
              <a:t>M5StickV(K210): 400MHz(RISC-V) / SRAM 8MB</a:t>
            </a:r>
            <a:endParaRPr b="0" lang="en-US" sz="950" spc="-1" strike="noStrike">
              <a:latin typeface="Arial"/>
            </a:endParaRPr>
          </a:p>
          <a:p>
            <a:pPr>
              <a:lnSpc>
                <a:spcPct val="120000"/>
              </a:lnSpc>
            </a:pPr>
            <a:r>
              <a:rPr b="0" lang="en-US" sz="950" spc="-1" strike="noStrike">
                <a:solidFill>
                  <a:srgbClr val="222222"/>
                </a:solidFill>
                <a:latin typeface="Yu Gothic"/>
              </a:rPr>
              <a:t>  </a:t>
            </a:r>
            <a:r>
              <a:rPr b="0" lang="en-US" sz="950" spc="-1" strike="noStrike">
                <a:solidFill>
                  <a:srgbClr val="222222"/>
                </a:solidFill>
                <a:latin typeface="Yu Gothic"/>
              </a:rPr>
              <a:t>/ Flash 16MB / </a:t>
            </a:r>
            <a:r>
              <a:rPr b="0" lang="zh-CN" sz="950" spc="-1" strike="noStrike">
                <a:solidFill>
                  <a:srgbClr val="222222"/>
                </a:solidFill>
                <a:latin typeface="Yu Gothic"/>
              </a:rPr>
              <a:t>補助記憶</a:t>
            </a:r>
            <a:r>
              <a:rPr b="0" lang="en-US" sz="950" spc="-1" strike="noStrike">
                <a:solidFill>
                  <a:srgbClr val="222222"/>
                </a:solidFill>
                <a:latin typeface="Yu Gothic"/>
              </a:rPr>
              <a:t>: microSD(</a:t>
            </a:r>
            <a:r>
              <a:rPr b="0" lang="zh-CN" sz="950" spc="-1" strike="noStrike">
                <a:solidFill>
                  <a:srgbClr val="222222"/>
                </a:solidFill>
                <a:latin typeface="Yu Gothic"/>
              </a:rPr>
              <a:t>容量はカード依存</a:t>
            </a:r>
            <a:r>
              <a:rPr b="0" lang="en-US" sz="950" spc="-1" strike="noStrike">
                <a:solidFill>
                  <a:srgbClr val="222222"/>
                </a:solidFill>
                <a:latin typeface="Yu Gothic"/>
              </a:rPr>
              <a:t>)</a:t>
            </a:r>
            <a:endParaRPr b="0" lang="en-US" sz="950" spc="-1" strike="noStrike">
              <a:latin typeface="Arial"/>
            </a:endParaRPr>
          </a:p>
          <a:p>
            <a:pPr>
              <a:lnSpc>
                <a:spcPct val="120000"/>
              </a:lnSpc>
            </a:pPr>
            <a:r>
              <a:rPr b="0" lang="en-US" sz="950" spc="-1" strike="noStrike">
                <a:solidFill>
                  <a:srgbClr val="222222"/>
                </a:solidFill>
                <a:latin typeface="Yu Gothic"/>
              </a:rPr>
              <a:t>RCB-4: CPU</a:t>
            </a:r>
            <a:r>
              <a:rPr b="0" lang="zh-CN" sz="950" spc="-1" strike="noStrike">
                <a:solidFill>
                  <a:srgbClr val="222222"/>
                </a:solidFill>
                <a:latin typeface="Yu Gothic"/>
              </a:rPr>
              <a:t>仕様は近藤科学非公開</a:t>
            </a:r>
            <a:endParaRPr b="0" lang="en-US" sz="950" spc="-1" strike="noStrike">
              <a:latin typeface="Arial"/>
            </a:endParaRPr>
          </a:p>
          <a:p>
            <a:pPr>
              <a:lnSpc>
                <a:spcPct val="120000"/>
              </a:lnSpc>
            </a:pPr>
            <a:r>
              <a:rPr b="0" lang="en-US" sz="950" spc="-1" strike="noStrike">
                <a:solidFill>
                  <a:srgbClr val="222222"/>
                </a:solidFill>
                <a:latin typeface="Yu Gothic"/>
              </a:rPr>
              <a:t>  </a:t>
            </a:r>
            <a:r>
              <a:rPr b="0" lang="en-US" sz="950" spc="-1" strike="noStrike">
                <a:solidFill>
                  <a:srgbClr val="222222"/>
                </a:solidFill>
                <a:latin typeface="Yu Gothic"/>
              </a:rPr>
              <a:t>/ </a:t>
            </a:r>
            <a:r>
              <a:rPr b="0" lang="zh-CN" sz="950" spc="-1" strike="noStrike">
                <a:solidFill>
                  <a:srgbClr val="222222"/>
                </a:solidFill>
                <a:latin typeface="Yu Gothic"/>
              </a:rPr>
              <a:t>通信速度 </a:t>
            </a:r>
            <a:r>
              <a:rPr b="0" lang="en-US" sz="950" spc="-1" strike="noStrike">
                <a:solidFill>
                  <a:srgbClr val="222222"/>
                </a:solidFill>
                <a:latin typeface="Yu Gothic"/>
              </a:rPr>
              <a:t>1.25Mbps</a:t>
            </a:r>
            <a:r>
              <a:rPr b="0" lang="zh-CN" sz="950" spc="-1" strike="noStrike">
                <a:solidFill>
                  <a:srgbClr val="222222"/>
                </a:solidFill>
                <a:latin typeface="Yu Gothic"/>
              </a:rPr>
              <a:t>・</a:t>
            </a:r>
            <a:r>
              <a:rPr b="0" lang="en-US" sz="950" spc="-1" strike="noStrike">
                <a:solidFill>
                  <a:srgbClr val="222222"/>
                </a:solidFill>
                <a:latin typeface="Yu Gothic"/>
              </a:rPr>
              <a:t>625kbps</a:t>
            </a:r>
            <a:endParaRPr b="0" lang="en-US" sz="950" spc="-1" strike="noStrike">
              <a:latin typeface="Arial"/>
            </a:endParaRPr>
          </a:p>
          <a:p>
            <a:pPr>
              <a:lnSpc>
                <a:spcPct val="120000"/>
              </a:lnSpc>
            </a:pPr>
            <a:r>
              <a:rPr b="0" lang="en-US" sz="950" spc="-1" strike="noStrike">
                <a:solidFill>
                  <a:srgbClr val="222222"/>
                </a:solidFill>
                <a:latin typeface="Yu Gothic"/>
              </a:rPr>
              <a:t>PC</a:t>
            </a:r>
            <a:r>
              <a:rPr b="0" lang="zh-CN" sz="950" spc="-1" strike="noStrike">
                <a:solidFill>
                  <a:srgbClr val="222222"/>
                </a:solidFill>
                <a:latin typeface="Yu Gothic"/>
              </a:rPr>
              <a:t>・スマホ</a:t>
            </a:r>
            <a:r>
              <a:rPr b="0" lang="en-US" sz="950" spc="-1" strike="noStrike">
                <a:solidFill>
                  <a:srgbClr val="222222"/>
                </a:solidFill>
                <a:latin typeface="Yu Gothic"/>
              </a:rPr>
              <a:t>: </a:t>
            </a:r>
            <a:r>
              <a:rPr b="0" lang="zh-CN" sz="950" spc="-1" strike="noStrike">
                <a:solidFill>
                  <a:srgbClr val="222222"/>
                </a:solidFill>
                <a:latin typeface="Yu Gothic"/>
              </a:rPr>
              <a:t>使用機種に依存</a:t>
            </a:r>
            <a:r>
              <a:rPr b="0" lang="en-US" sz="950" spc="-1" strike="noStrike">
                <a:solidFill>
                  <a:srgbClr val="222222"/>
                </a:solidFill>
                <a:latin typeface="Yu Gothic"/>
              </a:rPr>
              <a:t>(</a:t>
            </a:r>
            <a:r>
              <a:rPr b="0" lang="zh-CN" sz="950" spc="-1" strike="noStrike">
                <a:solidFill>
                  <a:srgbClr val="222222"/>
                </a:solidFill>
                <a:latin typeface="Yu Gothic"/>
              </a:rPr>
              <a:t>対象外</a:t>
            </a:r>
            <a:r>
              <a:rPr b="0" lang="en-US" sz="950" spc="-1" strike="noStrike">
                <a:solidFill>
                  <a:srgbClr val="222222"/>
                </a:solidFill>
                <a:latin typeface="Yu Gothic"/>
              </a:rPr>
              <a:t>)</a:t>
            </a:r>
            <a:endParaRPr b="0" lang="en-US" sz="950" spc="-1" strike="noStrike">
              <a:latin typeface="Arial"/>
            </a:endParaRPr>
          </a:p>
          <a:p>
            <a:pPr>
              <a:lnSpc>
                <a:spcPct val="120000"/>
              </a:lnSpc>
            </a:pPr>
            <a:r>
              <a:rPr b="0" lang="en-US" sz="950" spc="-1" strike="noStrike">
                <a:solidFill>
                  <a:srgbClr val="222222"/>
                </a:solidFill>
                <a:latin typeface="Yu Gothic"/>
              </a:rPr>
              <a:t>GitHub: </a:t>
            </a:r>
            <a:r>
              <a:rPr b="0" lang="zh-CN" sz="950" spc="-1" strike="noStrike">
                <a:solidFill>
                  <a:srgbClr val="222222"/>
                </a:solidFill>
                <a:latin typeface="Yu Gothic"/>
              </a:rPr>
              <a:t>クラウドサービス</a:t>
            </a:r>
            <a:r>
              <a:rPr b="0" lang="en-US" sz="950" spc="-1" strike="noStrike">
                <a:solidFill>
                  <a:srgbClr val="222222"/>
                </a:solidFill>
                <a:latin typeface="Yu Gothic"/>
              </a:rPr>
              <a:t>(</a:t>
            </a:r>
            <a:r>
              <a:rPr b="0" lang="zh-CN" sz="950" spc="-1" strike="noStrike">
                <a:solidFill>
                  <a:srgbClr val="222222"/>
                </a:solidFill>
                <a:latin typeface="Yu Gothic"/>
              </a:rPr>
              <a:t>対象外</a:t>
            </a:r>
            <a:r>
              <a:rPr b="0" lang="en-US" sz="950" spc="-1" strike="noStrike">
                <a:solidFill>
                  <a:srgbClr val="222222"/>
                </a:solidFill>
                <a:latin typeface="Yu Gothic"/>
              </a:rPr>
              <a:t>)</a:t>
            </a:r>
            <a:endParaRPr b="0" lang="en-US" sz="950" spc="-1" strike="noStrike">
              <a:latin typeface="Arial"/>
            </a:endParaRPr>
          </a:p>
        </p:txBody>
      </p:sp>
      <p:sp>
        <p:nvSpPr>
          <p:cNvPr id="228" name="CustomShape 23"/>
          <p:cNvSpPr/>
          <p:nvPr/>
        </p:nvSpPr>
        <p:spPr>
          <a:xfrm>
            <a:off x="8778240" y="2103120"/>
            <a:ext cx="3017160" cy="37436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25000"/>
              </a:lnSpc>
            </a:pPr>
            <a:r>
              <a:rPr b="0" lang="en-US" sz="1300" spc="-1" strike="noStrike">
                <a:solidFill>
                  <a:srgbClr val="222222"/>
                </a:solidFill>
                <a:latin typeface="Yu Gothic"/>
              </a:rPr>
              <a:t>GitHub</a:t>
            </a:r>
            <a:r>
              <a:rPr b="0" lang="zh-CN" sz="1300" spc="-1" strike="noStrike">
                <a:solidFill>
                  <a:srgbClr val="222222"/>
                </a:solidFill>
                <a:latin typeface="Yu Gothic"/>
              </a:rPr>
              <a:t>に置いてあるもの</a:t>
            </a:r>
            <a:r>
              <a:rPr b="0" lang="en-US" sz="1300" spc="-1" strike="noStrike">
                <a:solidFill>
                  <a:srgbClr val="222222"/>
                </a:solidFill>
                <a:latin typeface="Yu Gothic"/>
              </a:rPr>
              <a:t>(5</a:t>
            </a:r>
            <a:r>
              <a:rPr b="0" lang="zh-CN" sz="1300" spc="-1" strike="noStrike">
                <a:solidFill>
                  <a:srgbClr val="222222"/>
                </a:solidFill>
                <a:latin typeface="Yu Gothic"/>
              </a:rPr>
              <a:t>種類時点</a:t>
            </a:r>
            <a:r>
              <a:rPr b="0" lang="en-US" sz="1300" spc="-1" strike="noStrike">
                <a:solidFill>
                  <a:srgbClr val="222222"/>
                </a:solidFill>
                <a:latin typeface="Yu Gothic"/>
              </a:rPr>
              <a:t>):</a:t>
            </a:r>
            <a:endParaRPr b="0" lang="en-US" sz="1300" spc="-1" strike="noStrike">
              <a:latin typeface="Arial"/>
            </a:endParaRPr>
          </a:p>
          <a:p>
            <a:pPr>
              <a:lnSpc>
                <a:spcPct val="125000"/>
              </a:lnSpc>
            </a:pPr>
            <a:r>
              <a:rPr b="0" lang="zh-CN" sz="1300" spc="-1" strike="noStrike">
                <a:solidFill>
                  <a:srgbClr val="222222"/>
                </a:solidFill>
                <a:latin typeface="Yu Gothic"/>
              </a:rPr>
              <a:t>・</a:t>
            </a:r>
            <a:r>
              <a:rPr b="0" lang="en-US" sz="1300" spc="-1" strike="noStrike">
                <a:solidFill>
                  <a:srgbClr val="222222"/>
                </a:solidFill>
                <a:latin typeface="Yu Gothic"/>
              </a:rPr>
              <a:t>manifest.json(</a:t>
            </a:r>
            <a:r>
              <a:rPr b="0" lang="zh-CN" sz="1300" spc="-1" strike="noStrike">
                <a:solidFill>
                  <a:srgbClr val="222222"/>
                </a:solidFill>
                <a:latin typeface="Yu Gothic"/>
              </a:rPr>
              <a:t>候補一覧</a:t>
            </a:r>
            <a:r>
              <a:rPr b="0" lang="en-US" sz="1300" spc="-1" strike="noStrike">
                <a:solidFill>
                  <a:srgbClr val="222222"/>
                </a:solidFill>
                <a:latin typeface="Yu Gothic"/>
              </a:rPr>
              <a:t>)</a:t>
            </a:r>
            <a:endParaRPr b="0" lang="en-US" sz="1300" spc="-1" strike="noStrike">
              <a:latin typeface="Arial"/>
            </a:endParaRPr>
          </a:p>
          <a:p>
            <a:pPr>
              <a:lnSpc>
                <a:spcPct val="125000"/>
              </a:lnSpc>
            </a:pPr>
            <a:r>
              <a:rPr b="0" lang="zh-CN" sz="1300" spc="-1" strike="noStrike">
                <a:solidFill>
                  <a:srgbClr val="222222"/>
                </a:solidFill>
                <a:latin typeface="Yu Gothic"/>
              </a:rPr>
              <a:t>・学習済みポリシー </a:t>
            </a:r>
            <a:r>
              <a:rPr b="0" lang="en-US" sz="1300" spc="-1" strike="noStrike">
                <a:solidFill>
                  <a:srgbClr val="222222"/>
                </a:solidFill>
                <a:latin typeface="Yu Gothic"/>
              </a:rPr>
              <a:t>.bin</a:t>
            </a:r>
            <a:endParaRPr b="0" lang="en-US" sz="1300" spc="-1" strike="noStrike">
              <a:latin typeface="Arial"/>
            </a:endParaRPr>
          </a:p>
          <a:p>
            <a:pPr>
              <a:lnSpc>
                <a:spcPct val="125000"/>
              </a:lnSpc>
            </a:pPr>
            <a:r>
              <a:rPr b="0" lang="en-US" sz="1300" spc="-1" strike="noStrike">
                <a:solidFill>
                  <a:srgbClr val="222222"/>
                </a:solidFill>
                <a:latin typeface="Yu Gothic"/>
              </a:rPr>
              <a:t>  </a:t>
            </a:r>
            <a:r>
              <a:rPr b="0" lang="en-US" sz="1300" spc="-1" strike="noStrike">
                <a:solidFill>
                  <a:srgbClr val="222222"/>
                </a:solidFill>
                <a:latin typeface="Yu Gothic"/>
              </a:rPr>
              <a:t>(NN</a:t>
            </a:r>
            <a:r>
              <a:rPr b="0" lang="zh-CN" sz="1300" spc="-1" strike="noStrike">
                <a:solidFill>
                  <a:srgbClr val="222222"/>
                </a:solidFill>
                <a:latin typeface="Yu Gothic"/>
              </a:rPr>
              <a:t>重み、ロボットごと</a:t>
            </a:r>
            <a:r>
              <a:rPr b="0" lang="en-US" sz="1300" spc="-1" strike="noStrike">
                <a:solidFill>
                  <a:srgbClr val="222222"/>
                </a:solidFill>
                <a:latin typeface="Yu Gothic"/>
              </a:rPr>
              <a:t>)</a:t>
            </a:r>
            <a:endParaRPr b="0" lang="en-US" sz="1300" spc="-1" strike="noStrike">
              <a:latin typeface="Arial"/>
            </a:endParaRPr>
          </a:p>
          <a:p>
            <a:pPr>
              <a:lnSpc>
                <a:spcPct val="125000"/>
              </a:lnSpc>
            </a:pPr>
            <a:endParaRPr b="0" lang="en-US" sz="1300" spc="-1" strike="noStrike">
              <a:latin typeface="Arial"/>
            </a:endParaRPr>
          </a:p>
          <a:p>
            <a:pPr>
              <a:lnSpc>
                <a:spcPct val="125000"/>
              </a:lnSpc>
            </a:pPr>
            <a:r>
              <a:rPr b="0" lang="zh-CN" sz="1300" spc="-1" strike="noStrike">
                <a:solidFill>
                  <a:srgbClr val="222222"/>
                </a:solidFill>
                <a:latin typeface="Yu Gothic"/>
              </a:rPr>
              <a:t>・</a:t>
            </a:r>
            <a:r>
              <a:rPr b="0" lang="en-US" sz="1300" spc="-1" strike="noStrike">
                <a:solidFill>
                  <a:srgbClr val="222222"/>
                </a:solidFill>
                <a:latin typeface="Yu Gothic"/>
              </a:rPr>
              <a:t>RCB-4</a:t>
            </a:r>
            <a:r>
              <a:rPr b="0" lang="zh-CN" sz="1300" spc="-1" strike="noStrike">
                <a:solidFill>
                  <a:srgbClr val="222222"/>
                </a:solidFill>
                <a:latin typeface="Yu Gothic"/>
              </a:rPr>
              <a:t>は実際のサーボを駆動</a:t>
            </a:r>
            <a:endParaRPr b="0" lang="en-US" sz="1300" spc="-1" strike="noStrike">
              <a:latin typeface="Arial"/>
            </a:endParaRPr>
          </a:p>
          <a:p>
            <a:pPr>
              <a:lnSpc>
                <a:spcPct val="125000"/>
              </a:lnSpc>
            </a:pPr>
            <a:r>
              <a:rPr b="0" lang="zh-CN" sz="1300" spc="-1" strike="noStrike">
                <a:solidFill>
                  <a:srgbClr val="222222"/>
                </a:solidFill>
                <a:latin typeface="Yu Gothic"/>
              </a:rPr>
              <a:t>・サーボ</a:t>
            </a:r>
            <a:r>
              <a:rPr b="0" lang="en-US" sz="1300" spc="-1" strike="noStrike">
                <a:solidFill>
                  <a:srgbClr val="222222"/>
                </a:solidFill>
                <a:latin typeface="Yu Gothic"/>
              </a:rPr>
              <a:t>ID</a:t>
            </a:r>
            <a:r>
              <a:rPr b="0" lang="zh-CN" sz="1300" spc="-1" strike="noStrike">
                <a:solidFill>
                  <a:srgbClr val="222222"/>
                </a:solidFill>
                <a:latin typeface="Yu Gothic"/>
              </a:rPr>
              <a:t>の配線状態を読み取り、</a:t>
            </a:r>
            <a:endParaRPr b="0" lang="en-US" sz="1300" spc="-1" strike="noStrike">
              <a:latin typeface="Arial"/>
            </a:endParaRPr>
          </a:p>
          <a:p>
            <a:pPr>
              <a:lnSpc>
                <a:spcPct val="125000"/>
              </a:lnSpc>
            </a:pPr>
            <a:r>
              <a:rPr b="0" lang="en-US" sz="1300" spc="-1" strike="noStrike">
                <a:solidFill>
                  <a:srgbClr val="222222"/>
                </a:solidFill>
                <a:latin typeface="Yu Gothic"/>
              </a:rPr>
              <a:t>  </a:t>
            </a:r>
            <a:r>
              <a:rPr b="0" lang="zh-CN" sz="1300" spc="-1" strike="noStrike">
                <a:solidFill>
                  <a:srgbClr val="222222"/>
                </a:solidFill>
                <a:latin typeface="Yu Gothic"/>
              </a:rPr>
              <a:t>候補ロボットを絞り込む</a:t>
            </a:r>
            <a:endParaRPr b="0" lang="en-US" sz="1300" spc="-1" strike="noStrike">
              <a:latin typeface="Arial"/>
            </a:endParaRPr>
          </a:p>
          <a:p>
            <a:pPr>
              <a:lnSpc>
                <a:spcPct val="125000"/>
              </a:lnSpc>
            </a:pPr>
            <a:r>
              <a:rPr b="0" lang="en-US" sz="1300" spc="-1" strike="noStrike">
                <a:solidFill>
                  <a:srgbClr val="222222"/>
                </a:solidFill>
                <a:latin typeface="Yu Gothic"/>
              </a:rPr>
              <a:t>  </a:t>
            </a:r>
            <a:r>
              <a:rPr b="0" lang="en-US" sz="1300" spc="-1" strike="noStrike">
                <a:solidFill>
                  <a:srgbClr val="222222"/>
                </a:solidFill>
                <a:latin typeface="Yu Gothic"/>
              </a:rPr>
              <a:t>(</a:t>
            </a:r>
            <a:r>
              <a:rPr b="0" lang="zh-CN" sz="1300" spc="-1" strike="noStrike">
                <a:solidFill>
                  <a:srgbClr val="222222"/>
                </a:solidFill>
                <a:latin typeface="Yu Gothic"/>
              </a:rPr>
              <a:t>フェーズ</a:t>
            </a:r>
            <a:r>
              <a:rPr b="0" lang="en-US" sz="1300" spc="-1" strike="noStrike">
                <a:solidFill>
                  <a:srgbClr val="222222"/>
                </a:solidFill>
                <a:latin typeface="Yu Gothic"/>
              </a:rPr>
              <a:t>1</a:t>
            </a:r>
            <a:r>
              <a:rPr b="0" lang="zh-CN" sz="1300" spc="-1" strike="noStrike">
                <a:solidFill>
                  <a:srgbClr val="222222"/>
                </a:solidFill>
                <a:latin typeface="Yu Gothic"/>
              </a:rPr>
              <a:t>で </a:t>
            </a:r>
            <a:r>
              <a:rPr b="0" lang="en-US" sz="1300" spc="-1" strike="noStrike">
                <a:solidFill>
                  <a:srgbClr val="222222"/>
                </a:solidFill>
                <a:latin typeface="Yu Gothic"/>
              </a:rPr>
              <a:t>/info </a:t>
            </a:r>
            <a:r>
              <a:rPr b="0" lang="zh-CN" sz="1300" spc="-1" strike="noStrike">
                <a:solidFill>
                  <a:srgbClr val="222222"/>
                </a:solidFill>
                <a:latin typeface="Yu Gothic"/>
              </a:rPr>
              <a:t>に公開</a:t>
            </a:r>
            <a:r>
              <a:rPr b="0" lang="en-US" sz="1300" spc="-1" strike="noStrike">
                <a:solidFill>
                  <a:srgbClr val="222222"/>
                </a:solidFill>
                <a:latin typeface="Yu Gothic"/>
              </a:rPr>
              <a:t>)</a:t>
            </a:r>
            <a:endParaRPr b="0" lang="en-US" sz="1300" spc="-1" strike="noStrike">
              <a:latin typeface="Arial"/>
            </a:endParaRPr>
          </a:p>
          <a:p>
            <a:pPr>
              <a:lnSpc>
                <a:spcPct val="125000"/>
              </a:lnSpc>
            </a:pPr>
            <a:endParaRPr b="0" lang="en-US" sz="1300" spc="-1" strike="noStrike">
              <a:latin typeface="Arial"/>
            </a:endParaRPr>
          </a:p>
          <a:p>
            <a:pPr>
              <a:lnSpc>
                <a:spcPct val="125000"/>
              </a:lnSpc>
            </a:pPr>
            <a:r>
              <a:rPr b="0" lang="zh-CN" sz="1300" spc="-1" strike="noStrike">
                <a:solidFill>
                  <a:srgbClr val="222222"/>
                </a:solidFill>
                <a:latin typeface="Yu Gothic"/>
              </a:rPr>
              <a:t>・カメラの見た目は変わらないが、</a:t>
            </a:r>
            <a:endParaRPr b="0" lang="en-US" sz="1300" spc="-1" strike="noStrike">
              <a:latin typeface="Arial"/>
            </a:endParaRPr>
          </a:p>
          <a:p>
            <a:pPr>
              <a:lnSpc>
                <a:spcPct val="125000"/>
              </a:lnSpc>
            </a:pPr>
            <a:r>
              <a:rPr b="0" lang="en-US" sz="1300" spc="-1" strike="noStrike">
                <a:solidFill>
                  <a:srgbClr val="222222"/>
                </a:solidFill>
                <a:latin typeface="Yu Gothic"/>
              </a:rPr>
              <a:t>  </a:t>
            </a:r>
            <a:r>
              <a:rPr b="0" lang="zh-CN" sz="1300" spc="-1" strike="noStrike">
                <a:solidFill>
                  <a:srgbClr val="222222"/>
                </a:solidFill>
                <a:latin typeface="Yu Gothic"/>
              </a:rPr>
              <a:t>ロボット本体は</a:t>
            </a:r>
            <a:r>
              <a:rPr b="0" lang="en-US" sz="1300" spc="-1" strike="noStrike">
                <a:solidFill>
                  <a:srgbClr val="222222"/>
                </a:solidFill>
                <a:latin typeface="Yu Gothic"/>
              </a:rPr>
              <a:t>500</a:t>
            </a:r>
            <a:r>
              <a:rPr b="0" lang="zh-CN" sz="1300" spc="-1" strike="noStrike">
                <a:solidFill>
                  <a:srgbClr val="222222"/>
                </a:solidFill>
                <a:latin typeface="Yu Gothic"/>
              </a:rPr>
              <a:t>種類の</a:t>
            </a:r>
            <a:endParaRPr b="0" lang="en-US" sz="1300" spc="-1" strike="noStrike">
              <a:latin typeface="Arial"/>
            </a:endParaRPr>
          </a:p>
          <a:p>
            <a:pPr>
              <a:lnSpc>
                <a:spcPct val="125000"/>
              </a:lnSpc>
            </a:pPr>
            <a:r>
              <a:rPr b="0" lang="en-US" sz="1300" spc="-1" strike="noStrike">
                <a:solidFill>
                  <a:srgbClr val="222222"/>
                </a:solidFill>
                <a:latin typeface="Yu Gothic"/>
              </a:rPr>
              <a:t>  </a:t>
            </a:r>
            <a:r>
              <a:rPr b="0" lang="zh-CN" sz="1300" spc="-1" strike="noStrike">
                <a:solidFill>
                  <a:srgbClr val="222222"/>
                </a:solidFill>
                <a:latin typeface="Yu Gothic"/>
              </a:rPr>
              <a:t>どれにでもなり得る</a:t>
            </a:r>
            <a:endParaRPr b="0" lang="en-US" sz="13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CustomShape 1"/>
          <p:cNvSpPr/>
          <p:nvPr/>
        </p:nvSpPr>
        <p:spPr>
          <a:xfrm>
            <a:off x="548640" y="320040"/>
            <a:ext cx="7314840" cy="3337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rgbClr val="2e6fc7"/>
                </a:solidFill>
                <a:latin typeface="Yu Gothic"/>
              </a:rPr>
              <a:t>THE SCALE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230" name="CustomShape 2"/>
          <p:cNvSpPr/>
          <p:nvPr/>
        </p:nvSpPr>
        <p:spPr>
          <a:xfrm>
            <a:off x="548640" y="685800"/>
            <a:ext cx="10515240" cy="5472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3000" spc="-1" strike="noStrike">
                <a:solidFill>
                  <a:srgbClr val="1f2a44"/>
                </a:solidFill>
                <a:latin typeface="Yu Gothic"/>
              </a:rPr>
              <a:t>rcb4robotconfig.l: </a:t>
            </a:r>
            <a:r>
              <a:rPr b="1" lang="zh-CN" sz="3000" spc="-1" strike="noStrike">
                <a:solidFill>
                  <a:srgbClr val="1f2a44"/>
                </a:solidFill>
                <a:latin typeface="Yu Gothic"/>
              </a:rPr>
              <a:t>数百通りの組み合わせ</a:t>
            </a:r>
            <a:endParaRPr b="0" lang="en-US" sz="3000" spc="-1" strike="noStrike">
              <a:latin typeface="Arial"/>
            </a:endParaRPr>
          </a:p>
        </p:txBody>
      </p:sp>
      <p:sp>
        <p:nvSpPr>
          <p:cNvPr id="231" name="CustomShape 3"/>
          <p:cNvSpPr/>
          <p:nvPr/>
        </p:nvSpPr>
        <p:spPr>
          <a:xfrm>
            <a:off x="548640" y="1645920"/>
            <a:ext cx="5668920" cy="41137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35000"/>
              </a:lnSpc>
            </a:pPr>
            <a:r>
              <a:rPr b="0" lang="zh-CN" sz="1600" spc="-1" strike="noStrike">
                <a:solidFill>
                  <a:srgbClr val="222222"/>
                </a:solidFill>
                <a:latin typeface="Yu Gothic"/>
              </a:rPr>
              <a:t>ロボットは「タイプ」</a:t>
            </a:r>
            <a:r>
              <a:rPr b="0" lang="en-US" sz="1600" spc="-1" strike="noStrike">
                <a:solidFill>
                  <a:srgbClr val="222222"/>
                </a:solidFill>
                <a:latin typeface="Yu Gothic"/>
              </a:rPr>
              <a:t>(l2 / l4 / l6 ...)</a:t>
            </a:r>
            <a:r>
              <a:rPr b="0" lang="zh-CN" sz="1600" spc="-1" strike="noStrike">
                <a:solidFill>
                  <a:srgbClr val="222222"/>
                </a:solidFill>
                <a:latin typeface="Yu Gothic"/>
              </a:rPr>
              <a:t>ごとに、</a:t>
            </a:r>
            <a:endParaRPr b="0" lang="en-US" sz="1600" spc="-1" strike="noStrike">
              <a:latin typeface="Arial"/>
            </a:endParaRPr>
          </a:p>
          <a:p>
            <a:pPr>
              <a:lnSpc>
                <a:spcPct val="135000"/>
              </a:lnSpc>
            </a:pPr>
            <a:r>
              <a:rPr b="0" lang="zh-CN" sz="1600" spc="-1" strike="noStrike">
                <a:solidFill>
                  <a:srgbClr val="222222"/>
                </a:solidFill>
                <a:latin typeface="Yu Gothic"/>
              </a:rPr>
              <a:t>多数の独立した軸の組み合わせで定義されている</a:t>
            </a:r>
            <a:r>
              <a:rPr b="0" lang="en-US" sz="1600" spc="-1" strike="noStrike">
                <a:solidFill>
                  <a:srgbClr val="222222"/>
                </a:solidFill>
                <a:latin typeface="Yu Gothic"/>
              </a:rPr>
              <a:t>:</a:t>
            </a:r>
            <a:endParaRPr b="0" lang="en-US" sz="1600" spc="-1" strike="noStrike">
              <a:latin typeface="Arial"/>
            </a:endParaRPr>
          </a:p>
          <a:p>
            <a:pPr>
              <a:lnSpc>
                <a:spcPct val="135000"/>
              </a:lnSpc>
            </a:pPr>
            <a:endParaRPr b="0" lang="en-US" sz="1600" spc="-1" strike="noStrike">
              <a:latin typeface="Arial"/>
            </a:endParaRPr>
          </a:p>
          <a:p>
            <a:pPr>
              <a:lnSpc>
                <a:spcPct val="135000"/>
              </a:lnSpc>
            </a:pPr>
            <a:r>
              <a:rPr b="0" lang="zh-CN" sz="1600" spc="-1" strike="noStrike">
                <a:solidFill>
                  <a:srgbClr val="222222"/>
                </a:solidFill>
                <a:latin typeface="Yu Gothic"/>
              </a:rPr>
              <a:t>・脚の種類 </a:t>
            </a:r>
            <a:r>
              <a:rPr b="0" lang="en-US" sz="1600" spc="-1" strike="noStrike">
                <a:solidFill>
                  <a:srgbClr val="222222"/>
                </a:solidFill>
                <a:latin typeface="Yu Gothic"/>
              </a:rPr>
              <a:t>(:leg)</a:t>
            </a:r>
            <a:endParaRPr b="0" lang="en-US" sz="1600" spc="-1" strike="noStrike">
              <a:latin typeface="Arial"/>
            </a:endParaRPr>
          </a:p>
          <a:p>
            <a:pPr>
              <a:lnSpc>
                <a:spcPct val="135000"/>
              </a:lnSpc>
            </a:pPr>
            <a:r>
              <a:rPr b="0" lang="zh-CN" sz="1600" spc="-1" strike="noStrike">
                <a:solidFill>
                  <a:srgbClr val="222222"/>
                </a:solidFill>
                <a:latin typeface="Yu Gothic"/>
              </a:rPr>
              <a:t>・腕の種類 </a:t>
            </a:r>
            <a:r>
              <a:rPr b="0" lang="en-US" sz="1600" spc="-1" strike="noStrike">
                <a:solidFill>
                  <a:srgbClr val="222222"/>
                </a:solidFill>
                <a:latin typeface="Yu Gothic"/>
              </a:rPr>
              <a:t>(:arm)</a:t>
            </a:r>
            <a:endParaRPr b="0" lang="en-US" sz="1600" spc="-1" strike="noStrike">
              <a:latin typeface="Arial"/>
            </a:endParaRPr>
          </a:p>
          <a:p>
            <a:pPr>
              <a:lnSpc>
                <a:spcPct val="135000"/>
              </a:lnSpc>
            </a:pPr>
            <a:r>
              <a:rPr b="0" lang="zh-CN" sz="1600" spc="-1" strike="noStrike">
                <a:solidFill>
                  <a:srgbClr val="222222"/>
                </a:solidFill>
                <a:latin typeface="Yu Gothic"/>
              </a:rPr>
              <a:t>・頭部の種類 </a:t>
            </a:r>
            <a:r>
              <a:rPr b="0" lang="en-US" sz="1600" spc="-1" strike="noStrike">
                <a:solidFill>
                  <a:srgbClr val="222222"/>
                </a:solidFill>
                <a:latin typeface="Yu Gothic"/>
              </a:rPr>
              <a:t>(:head)</a:t>
            </a:r>
            <a:endParaRPr b="0" lang="en-US" sz="1600" spc="-1" strike="noStrike">
              <a:latin typeface="Arial"/>
            </a:endParaRPr>
          </a:p>
          <a:p>
            <a:pPr>
              <a:lnSpc>
                <a:spcPct val="135000"/>
              </a:lnSpc>
            </a:pPr>
            <a:r>
              <a:rPr b="0" lang="zh-CN" sz="1600" spc="-1" strike="noStrike">
                <a:solidFill>
                  <a:srgbClr val="222222"/>
                </a:solidFill>
                <a:latin typeface="Yu Gothic"/>
              </a:rPr>
              <a:t>・胴体のバリエーション </a:t>
            </a:r>
            <a:r>
              <a:rPr b="0" lang="en-US" sz="1600" spc="-1" strike="noStrike">
                <a:solidFill>
                  <a:srgbClr val="222222"/>
                </a:solidFill>
                <a:latin typeface="Yu Gothic"/>
              </a:rPr>
              <a:t>(:torso / :body)</a:t>
            </a:r>
            <a:endParaRPr b="0" lang="en-US" sz="1600" spc="-1" strike="noStrike">
              <a:latin typeface="Arial"/>
            </a:endParaRPr>
          </a:p>
          <a:p>
            <a:pPr>
              <a:lnSpc>
                <a:spcPct val="135000"/>
              </a:lnSpc>
            </a:pPr>
            <a:r>
              <a:rPr b="0" lang="zh-CN" sz="1600" spc="-1" strike="noStrike">
                <a:solidFill>
                  <a:srgbClr val="222222"/>
                </a:solidFill>
                <a:latin typeface="Yu Gothic"/>
              </a:rPr>
              <a:t>・グリッパー・センサーの有無</a:t>
            </a:r>
            <a:endParaRPr b="0" lang="en-US" sz="1600" spc="-1" strike="noStrike">
              <a:latin typeface="Arial"/>
            </a:endParaRPr>
          </a:p>
          <a:p>
            <a:pPr>
              <a:lnSpc>
                <a:spcPct val="135000"/>
              </a:lnSpc>
            </a:pPr>
            <a:r>
              <a:rPr b="0" lang="zh-CN" sz="1600" spc="-1" strike="noStrike">
                <a:solidFill>
                  <a:srgbClr val="222222"/>
                </a:solidFill>
                <a:latin typeface="Yu Gothic"/>
              </a:rPr>
              <a:t>・</a:t>
            </a:r>
            <a:r>
              <a:rPr b="0" lang="en-US" sz="1600" spc="-1" strike="noStrike">
                <a:solidFill>
                  <a:srgbClr val="222222"/>
                </a:solidFill>
                <a:latin typeface="Yu Gothic"/>
              </a:rPr>
              <a:t>:project-file </a:t>
            </a:r>
            <a:r>
              <a:rPr b="0" lang="zh-CN" sz="1600" spc="-1" strike="noStrike">
                <a:solidFill>
                  <a:srgbClr val="222222"/>
                </a:solidFill>
                <a:latin typeface="Yu Gothic"/>
              </a:rPr>
              <a:t>ごとに固有の名前</a:t>
            </a:r>
            <a:endParaRPr b="0" lang="en-US" sz="1600" spc="-1" strike="noStrike">
              <a:latin typeface="Arial"/>
            </a:endParaRPr>
          </a:p>
          <a:p>
            <a:pPr>
              <a:lnSpc>
                <a:spcPct val="135000"/>
              </a:lnSpc>
            </a:pPr>
            <a:r>
              <a:rPr b="0" lang="en-US" sz="1600" spc="-1" strike="noStrike">
                <a:solidFill>
                  <a:srgbClr val="222222"/>
                </a:solidFill>
                <a:latin typeface="Yu Gothic"/>
              </a:rPr>
              <a:t>  </a:t>
            </a:r>
            <a:r>
              <a:rPr b="0" lang="en-US" sz="1600" spc="-1" strike="noStrike">
                <a:solidFill>
                  <a:srgbClr val="222222"/>
                </a:solidFill>
                <a:latin typeface="Yu Gothic"/>
              </a:rPr>
              <a:t>(kxrl4d, kxrl2makabe, kxrl2l6a4h2, ...)</a:t>
            </a:r>
            <a:endParaRPr b="0" lang="en-US" sz="1600" spc="-1" strike="noStrike">
              <a:latin typeface="Arial"/>
            </a:endParaRPr>
          </a:p>
          <a:p>
            <a:pPr>
              <a:lnSpc>
                <a:spcPct val="135000"/>
              </a:lnSpc>
            </a:pPr>
            <a:endParaRPr b="0" lang="en-US" sz="1600" spc="-1" strike="noStrike">
              <a:latin typeface="Arial"/>
            </a:endParaRPr>
          </a:p>
          <a:p>
            <a:pPr>
              <a:lnSpc>
                <a:spcPct val="135000"/>
              </a:lnSpc>
            </a:pPr>
            <a:r>
              <a:rPr b="0" lang="en-US" sz="1600" spc="-1" strike="noStrike">
                <a:solidFill>
                  <a:srgbClr val="222222"/>
                </a:solidFill>
                <a:latin typeface="Yu Gothic"/>
              </a:rPr>
              <a:t>→ </a:t>
            </a:r>
            <a:r>
              <a:rPr b="0" lang="en-US" sz="1600" spc="-1" strike="noStrike">
                <a:solidFill>
                  <a:srgbClr val="222222"/>
                </a:solidFill>
                <a:latin typeface="Yu Gothic"/>
              </a:rPr>
              <a:t>urdfs/ </a:t>
            </a:r>
            <a:r>
              <a:rPr b="0" lang="zh-CN" sz="1600" spc="-1" strike="noStrike">
                <a:solidFill>
                  <a:srgbClr val="222222"/>
                </a:solidFill>
                <a:latin typeface="Yu Gothic"/>
              </a:rPr>
              <a:t>には既に</a:t>
            </a:r>
            <a:r>
              <a:rPr b="0" lang="en-US" sz="1600" spc="-1" strike="noStrike">
                <a:solidFill>
                  <a:srgbClr val="222222"/>
                </a:solidFill>
                <a:latin typeface="Yu Gothic"/>
              </a:rPr>
              <a:t>52</a:t>
            </a:r>
            <a:r>
              <a:rPr b="0" lang="zh-CN" sz="1600" spc="-1" strike="noStrike">
                <a:solidFill>
                  <a:srgbClr val="222222"/>
                </a:solidFill>
                <a:latin typeface="Yu Gothic"/>
              </a:rPr>
              <a:t>種類のモデルが用意されている。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232" name="CustomShape 4"/>
          <p:cNvSpPr/>
          <p:nvPr/>
        </p:nvSpPr>
        <p:spPr>
          <a:xfrm>
            <a:off x="6675120" y="1828800"/>
            <a:ext cx="4845960" cy="914040"/>
          </a:xfrm>
          <a:prstGeom prst="roundRect">
            <a:avLst>
              <a:gd name="adj" fmla="val 16667"/>
            </a:avLst>
          </a:prstGeom>
          <a:solidFill>
            <a:srgbClr val="2e6fc7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800" spc="-1" strike="noStrike">
                <a:solidFill>
                  <a:srgbClr val="ffffff"/>
                </a:solidFill>
                <a:latin typeface="Yu Gothic"/>
              </a:rPr>
              <a:t>5</a:t>
            </a:r>
            <a:r>
              <a:rPr b="1" lang="zh-CN" sz="1800" spc="-1" strike="noStrike">
                <a:solidFill>
                  <a:srgbClr val="ffffff"/>
                </a:solidFill>
                <a:latin typeface="Yu Gothic"/>
              </a:rPr>
              <a:t>種類</a:t>
            </a:r>
            <a:r>
              <a:rPr b="1" lang="en-US" sz="1800" spc="-1" strike="noStrike">
                <a:solidFill>
                  <a:srgbClr val="ffffff"/>
                </a:solidFill>
                <a:latin typeface="Yu Gothic"/>
              </a:rPr>
              <a:t>(</a:t>
            </a:r>
            <a:r>
              <a:rPr b="1" lang="zh-CN" sz="1800" spc="-1" strike="noStrike">
                <a:solidFill>
                  <a:srgbClr val="ffffff"/>
                </a:solidFill>
                <a:latin typeface="Yu Gothic"/>
              </a:rPr>
              <a:t>現状の</a:t>
            </a:r>
            <a:r>
              <a:rPr b="1" lang="en-US" sz="1800" spc="-1" strike="noStrike">
                <a:solidFill>
                  <a:srgbClr val="ffffff"/>
                </a:solidFill>
                <a:latin typeface="Yu Gothic"/>
              </a:rPr>
              <a:t>kxr5s)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233" name="CustomShape 5"/>
          <p:cNvSpPr/>
          <p:nvPr/>
        </p:nvSpPr>
        <p:spPr>
          <a:xfrm>
            <a:off x="6675120" y="3017520"/>
            <a:ext cx="4845960" cy="914040"/>
          </a:xfrm>
          <a:prstGeom prst="roundRect">
            <a:avLst>
              <a:gd name="adj" fmla="val 16667"/>
            </a:avLst>
          </a:prstGeom>
          <a:solidFill>
            <a:srgbClr val="2ea059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800" spc="-1" strike="noStrike">
                <a:solidFill>
                  <a:srgbClr val="ffffff"/>
                </a:solidFill>
                <a:latin typeface="Yu Gothic"/>
              </a:rPr>
              <a:t>52</a:t>
            </a:r>
            <a:r>
              <a:rPr b="1" lang="zh-CN" sz="1800" spc="-1" strike="noStrike">
                <a:solidFill>
                  <a:srgbClr val="ffffff"/>
                </a:solidFill>
                <a:latin typeface="Yu Gothic"/>
              </a:rPr>
              <a:t>種類</a:t>
            </a:r>
            <a:r>
              <a:rPr b="1" lang="en-US" sz="1800" spc="-1" strike="noStrike">
                <a:solidFill>
                  <a:srgbClr val="ffffff"/>
                </a:solidFill>
                <a:latin typeface="Yu Gothic"/>
              </a:rPr>
              <a:t>(urdfs/</a:t>
            </a:r>
            <a:r>
              <a:rPr b="1" lang="zh-CN" sz="1800" spc="-1" strike="noStrike">
                <a:solidFill>
                  <a:srgbClr val="ffffff"/>
                </a:solidFill>
                <a:latin typeface="Yu Gothic"/>
              </a:rPr>
              <a:t>に既存</a:t>
            </a:r>
            <a:r>
              <a:rPr b="1" lang="en-US" sz="1800" spc="-1" strike="noStrike">
                <a:solidFill>
                  <a:srgbClr val="ffffff"/>
                </a:solidFill>
                <a:latin typeface="Yu Gothic"/>
              </a:rPr>
              <a:t>)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234" name="CustomShape 6"/>
          <p:cNvSpPr/>
          <p:nvPr/>
        </p:nvSpPr>
        <p:spPr>
          <a:xfrm>
            <a:off x="6675120" y="4206240"/>
            <a:ext cx="4845960" cy="914040"/>
          </a:xfrm>
          <a:prstGeom prst="roundRect">
            <a:avLst>
              <a:gd name="adj" fmla="val 16667"/>
            </a:avLst>
          </a:prstGeom>
          <a:solidFill>
            <a:srgbClr val="1f2a44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800" spc="-1" strike="noStrike">
                <a:solidFill>
                  <a:srgbClr val="ffffff"/>
                </a:solidFill>
                <a:latin typeface="Yu Gothic"/>
              </a:rPr>
              <a:t>500</a:t>
            </a:r>
            <a:r>
              <a:rPr b="1" lang="zh-CN" sz="1800" spc="-1" strike="noStrike">
                <a:solidFill>
                  <a:srgbClr val="ffffff"/>
                </a:solidFill>
                <a:latin typeface="Yu Gothic"/>
              </a:rPr>
              <a:t>種類</a:t>
            </a:r>
            <a:r>
              <a:rPr b="1" lang="en-US" sz="1800" spc="-1" strike="noStrike">
                <a:solidFill>
                  <a:srgbClr val="ffffff"/>
                </a:solidFill>
                <a:latin typeface="Yu Gothic"/>
              </a:rPr>
              <a:t>(rcb4robotconfig.l</a:t>
            </a:r>
            <a:r>
              <a:rPr b="1" lang="zh-CN" sz="1800" spc="-1" strike="noStrike">
                <a:solidFill>
                  <a:srgbClr val="ffffff"/>
                </a:solidFill>
                <a:latin typeface="Yu Gothic"/>
              </a:rPr>
              <a:t>の組み合わせ規模</a:t>
            </a:r>
            <a:r>
              <a:rPr b="1" lang="en-US" sz="1800" spc="-1" strike="noStrike">
                <a:solidFill>
                  <a:srgbClr val="ffffff"/>
                </a:solidFill>
                <a:latin typeface="Yu Gothic"/>
              </a:rPr>
              <a:t>)</a:t>
            </a:r>
            <a:endParaRPr b="0" lang="en-US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CustomShape 1"/>
          <p:cNvSpPr/>
          <p:nvPr/>
        </p:nvSpPr>
        <p:spPr>
          <a:xfrm>
            <a:off x="548640" y="320040"/>
            <a:ext cx="7314840" cy="3337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rgbClr val="2e6fc7"/>
                </a:solidFill>
                <a:latin typeface="Yu Gothic"/>
              </a:rPr>
              <a:t>WHY IT DOESN'T SCALE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236" name="CustomShape 2"/>
          <p:cNvSpPr/>
          <p:nvPr/>
        </p:nvSpPr>
        <p:spPr>
          <a:xfrm>
            <a:off x="548640" y="685800"/>
            <a:ext cx="10515240" cy="5472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zh-CN" sz="3000" spc="-1" strike="noStrike">
                <a:solidFill>
                  <a:srgbClr val="1f2a44"/>
                </a:solidFill>
                <a:latin typeface="Yu Gothic"/>
              </a:rPr>
              <a:t>「コンパイルして詰め込む」方式の限界</a:t>
            </a:r>
            <a:endParaRPr b="0" lang="en-US" sz="3000" spc="-1" strike="noStrike">
              <a:latin typeface="Arial"/>
            </a:endParaRPr>
          </a:p>
        </p:txBody>
      </p:sp>
      <p:sp>
        <p:nvSpPr>
          <p:cNvPr id="237" name="CustomShape 3"/>
          <p:cNvSpPr/>
          <p:nvPr/>
        </p:nvSpPr>
        <p:spPr>
          <a:xfrm>
            <a:off x="548640" y="1737360"/>
            <a:ext cx="2377080" cy="1188360"/>
          </a:xfrm>
          <a:prstGeom prst="roundRect">
            <a:avLst>
              <a:gd name="adj" fmla="val 16667"/>
            </a:avLst>
          </a:prstGeom>
          <a:solidFill>
            <a:srgbClr val="b03030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600" spc="-1" strike="noStrike">
                <a:solidFill>
                  <a:srgbClr val="ffffff"/>
                </a:solidFill>
                <a:latin typeface="Yu Gothic"/>
              </a:rPr>
              <a:t>Flash</a:t>
            </a:r>
            <a:r>
              <a:rPr b="1" lang="zh-CN" sz="1600" spc="-1" strike="noStrike">
                <a:solidFill>
                  <a:srgbClr val="ffffff"/>
                </a:solidFill>
                <a:latin typeface="Yu Gothic"/>
              </a:rPr>
              <a:t>サイズ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238" name="CustomShape 4"/>
          <p:cNvSpPr/>
          <p:nvPr/>
        </p:nvSpPr>
        <p:spPr>
          <a:xfrm>
            <a:off x="3108960" y="1783080"/>
            <a:ext cx="8412120" cy="6987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25000"/>
              </a:lnSpc>
            </a:pPr>
            <a:r>
              <a:rPr b="0" lang="zh-CN" sz="1600" spc="-1" strike="noStrike">
                <a:solidFill>
                  <a:srgbClr val="222222"/>
                </a:solidFill>
                <a:latin typeface="Yu Gothic"/>
              </a:rPr>
              <a:t>ロボット</a:t>
            </a:r>
            <a:r>
              <a:rPr b="0" lang="en-US" sz="1600" spc="-1" strike="noStrike">
                <a:solidFill>
                  <a:srgbClr val="222222"/>
                </a:solidFill>
                <a:latin typeface="Yu Gothic"/>
              </a:rPr>
              <a:t>1</a:t>
            </a:r>
            <a:r>
              <a:rPr b="0" lang="zh-CN" sz="1600" spc="-1" strike="noStrike">
                <a:solidFill>
                  <a:srgbClr val="222222"/>
                </a:solidFill>
                <a:latin typeface="Yu Gothic"/>
              </a:rPr>
              <a:t>体分の</a:t>
            </a:r>
            <a:r>
              <a:rPr b="0" lang="en-US" sz="1600" spc="-1" strike="noStrike">
                <a:solidFill>
                  <a:srgbClr val="222222"/>
                </a:solidFill>
                <a:latin typeface="Yu Gothic"/>
              </a:rPr>
              <a:t>NN</a:t>
            </a:r>
            <a:r>
              <a:rPr b="0" lang="zh-CN" sz="1600" spc="-1" strike="noStrike">
                <a:solidFill>
                  <a:srgbClr val="222222"/>
                </a:solidFill>
                <a:latin typeface="Yu Gothic"/>
              </a:rPr>
              <a:t>重みは約</a:t>
            </a:r>
            <a:r>
              <a:rPr b="0" lang="en-US" sz="1600" spc="-1" strike="noStrike">
                <a:solidFill>
                  <a:srgbClr val="222222"/>
                </a:solidFill>
                <a:latin typeface="Yu Gothic"/>
              </a:rPr>
              <a:t>100</a:t>
            </a:r>
            <a:r>
              <a:rPr b="0" lang="zh-CN" sz="1600" spc="-1" strike="noStrike">
                <a:solidFill>
                  <a:srgbClr val="222222"/>
                </a:solidFill>
                <a:latin typeface="Yu Gothic"/>
              </a:rPr>
              <a:t>〜</a:t>
            </a:r>
            <a:r>
              <a:rPr b="0" lang="en-US" sz="1600" spc="-1" strike="noStrike">
                <a:solidFill>
                  <a:srgbClr val="222222"/>
                </a:solidFill>
                <a:latin typeface="Yu Gothic"/>
              </a:rPr>
              <a:t>200KB</a:t>
            </a:r>
            <a:r>
              <a:rPr b="0" lang="zh-CN" sz="1600" spc="-1" strike="noStrike">
                <a:solidFill>
                  <a:srgbClr val="222222"/>
                </a:solidFill>
                <a:latin typeface="Yu Gothic"/>
              </a:rPr>
              <a:t>。</a:t>
            </a:r>
            <a:endParaRPr b="0" lang="en-US" sz="1600" spc="-1" strike="noStrike">
              <a:latin typeface="Arial"/>
            </a:endParaRPr>
          </a:p>
          <a:p>
            <a:pPr>
              <a:lnSpc>
                <a:spcPct val="125000"/>
              </a:lnSpc>
            </a:pPr>
            <a:r>
              <a:rPr b="0" lang="en-US" sz="1600" spc="-1" strike="noStrike">
                <a:solidFill>
                  <a:srgbClr val="222222"/>
                </a:solidFill>
                <a:latin typeface="Yu Gothic"/>
              </a:rPr>
              <a:t>500</a:t>
            </a:r>
            <a:r>
              <a:rPr b="0" lang="zh-CN" sz="1600" spc="-1" strike="noStrike">
                <a:solidFill>
                  <a:srgbClr val="222222"/>
                </a:solidFill>
                <a:latin typeface="Yu Gothic"/>
              </a:rPr>
              <a:t>体分をコンパイルすると数十</a:t>
            </a:r>
            <a:r>
              <a:rPr b="0" lang="en-US" sz="1600" spc="-1" strike="noStrike">
                <a:solidFill>
                  <a:srgbClr val="222222"/>
                </a:solidFill>
                <a:latin typeface="Yu Gothic"/>
              </a:rPr>
              <a:t>MB -- ESP32</a:t>
            </a:r>
            <a:r>
              <a:rPr b="0" lang="zh-CN" sz="1600" spc="-1" strike="noStrike">
                <a:solidFill>
                  <a:srgbClr val="222222"/>
                </a:solidFill>
                <a:latin typeface="Yu Gothic"/>
              </a:rPr>
              <a:t>の</a:t>
            </a:r>
            <a:r>
              <a:rPr b="0" lang="en-US" sz="1600" spc="-1" strike="noStrike">
                <a:solidFill>
                  <a:srgbClr val="222222"/>
                </a:solidFill>
                <a:latin typeface="Yu Gothic"/>
              </a:rPr>
              <a:t>Flash</a:t>
            </a:r>
            <a:r>
              <a:rPr b="0" lang="zh-CN" sz="1600" spc="-1" strike="noStrike">
                <a:solidFill>
                  <a:srgbClr val="222222"/>
                </a:solidFill>
                <a:latin typeface="Yu Gothic"/>
              </a:rPr>
              <a:t>容量を大きく超える。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239" name="CustomShape 5"/>
          <p:cNvSpPr/>
          <p:nvPr/>
        </p:nvSpPr>
        <p:spPr>
          <a:xfrm>
            <a:off x="548640" y="3200400"/>
            <a:ext cx="2377080" cy="1188360"/>
          </a:xfrm>
          <a:prstGeom prst="roundRect">
            <a:avLst>
              <a:gd name="adj" fmla="val 16667"/>
            </a:avLst>
          </a:prstGeom>
          <a:solidFill>
            <a:srgbClr val="b03030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zh-CN" sz="1600" spc="-1" strike="noStrike">
                <a:solidFill>
                  <a:srgbClr val="ffffff"/>
                </a:solidFill>
                <a:latin typeface="Yu Gothic"/>
              </a:rPr>
              <a:t>ビルドの複雑さ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240" name="CustomShape 6"/>
          <p:cNvSpPr/>
          <p:nvPr/>
        </p:nvSpPr>
        <p:spPr>
          <a:xfrm>
            <a:off x="3108960" y="3246120"/>
            <a:ext cx="8412120" cy="6987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25000"/>
              </a:lnSpc>
            </a:pPr>
            <a:r>
              <a:rPr b="0" lang="en-US" sz="1600" spc="-1" strike="noStrike">
                <a:solidFill>
                  <a:srgbClr val="222222"/>
                </a:solidFill>
                <a:latin typeface="Yu Gothic"/>
              </a:rPr>
              <a:t>500</a:t>
            </a:r>
            <a:r>
              <a:rPr b="0" lang="zh-CN" sz="1600" spc="-1" strike="noStrike">
                <a:solidFill>
                  <a:srgbClr val="222222"/>
                </a:solidFill>
                <a:latin typeface="Yu Gothic"/>
              </a:rPr>
              <a:t>体分のヘッダファイル・重みテーブルを</a:t>
            </a:r>
            <a:endParaRPr b="0" lang="en-US" sz="1600" spc="-1" strike="noStrike">
              <a:latin typeface="Arial"/>
            </a:endParaRPr>
          </a:p>
          <a:p>
            <a:pPr>
              <a:lnSpc>
                <a:spcPct val="125000"/>
              </a:lnSpc>
            </a:pPr>
            <a:r>
              <a:rPr b="0" lang="en-US" sz="1600" spc="-1" strike="noStrike">
                <a:solidFill>
                  <a:srgbClr val="222222"/>
                </a:solidFill>
                <a:latin typeface="Yu Gothic"/>
              </a:rPr>
              <a:t>1</a:t>
            </a:r>
            <a:r>
              <a:rPr b="0" lang="zh-CN" sz="1600" spc="-1" strike="noStrike">
                <a:solidFill>
                  <a:srgbClr val="222222"/>
                </a:solidFill>
                <a:latin typeface="Yu Gothic"/>
              </a:rPr>
              <a:t>つのビルドに含めることになり、保守が破綻する。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241" name="CustomShape 7"/>
          <p:cNvSpPr/>
          <p:nvPr/>
        </p:nvSpPr>
        <p:spPr>
          <a:xfrm>
            <a:off x="548640" y="4663440"/>
            <a:ext cx="2377080" cy="1188360"/>
          </a:xfrm>
          <a:prstGeom prst="roundRect">
            <a:avLst>
              <a:gd name="adj" fmla="val 16667"/>
            </a:avLst>
          </a:prstGeom>
          <a:solidFill>
            <a:srgbClr val="b03030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zh-CN" sz="1600" spc="-1" strike="noStrike">
                <a:solidFill>
                  <a:srgbClr val="ffffff"/>
                </a:solidFill>
                <a:latin typeface="Yu Gothic"/>
              </a:rPr>
              <a:t>今の設計の前提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242" name="CustomShape 8"/>
          <p:cNvSpPr/>
          <p:nvPr/>
        </p:nvSpPr>
        <p:spPr>
          <a:xfrm>
            <a:off x="3108960" y="4709160"/>
            <a:ext cx="8412120" cy="6987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25000"/>
              </a:lnSpc>
            </a:pPr>
            <a:r>
              <a:rPr b="0" lang="en-US" sz="1600" spc="-1" strike="noStrike">
                <a:solidFill>
                  <a:srgbClr val="222222"/>
                </a:solidFill>
                <a:latin typeface="Yu Gothic"/>
              </a:rPr>
              <a:t>policy::beginUpload() </a:t>
            </a:r>
            <a:r>
              <a:rPr b="0" lang="zh-CN" sz="1600" spc="-1" strike="noStrike">
                <a:solidFill>
                  <a:srgbClr val="222222"/>
                </a:solidFill>
                <a:latin typeface="Yu Gothic"/>
              </a:rPr>
              <a:t>は「</a:t>
            </a:r>
            <a:r>
              <a:rPr b="0" lang="en-US" sz="1600" spc="-1" strike="noStrike">
                <a:solidFill>
                  <a:srgbClr val="222222"/>
                </a:solidFill>
                <a:latin typeface="Yu Gothic"/>
              </a:rPr>
              <a:t>NN</a:t>
            </a:r>
            <a:r>
              <a:rPr b="0" lang="zh-CN" sz="1600" spc="-1" strike="noStrike">
                <a:solidFill>
                  <a:srgbClr val="222222"/>
                </a:solidFill>
                <a:latin typeface="Yu Gothic"/>
              </a:rPr>
              <a:t>の重み」だけを差し替え対象にしていて、</a:t>
            </a:r>
            <a:endParaRPr b="0" lang="en-US" sz="1600" spc="-1" strike="noStrike">
              <a:latin typeface="Arial"/>
            </a:endParaRPr>
          </a:p>
          <a:p>
            <a:pPr>
              <a:lnSpc>
                <a:spcPct val="125000"/>
              </a:lnSpc>
            </a:pPr>
            <a:r>
              <a:rPr b="0" lang="zh-CN" sz="1600" spc="-1" strike="noStrike">
                <a:solidFill>
                  <a:srgbClr val="222222"/>
                </a:solidFill>
                <a:latin typeface="Yu Gothic"/>
              </a:rPr>
              <a:t>層構成・サーボ数はコンパイル時の固定値のまま。</a:t>
            </a:r>
            <a:endParaRPr b="0" lang="en-US" sz="16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CustomShape 1"/>
          <p:cNvSpPr/>
          <p:nvPr/>
        </p:nvSpPr>
        <p:spPr>
          <a:xfrm>
            <a:off x="548640" y="320040"/>
            <a:ext cx="7314840" cy="3337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rgbClr val="2e6fc7"/>
                </a:solidFill>
                <a:latin typeface="Yu Gothic"/>
              </a:rPr>
              <a:t>TARGET ARCHITECTURE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244" name="CustomShape 2"/>
          <p:cNvSpPr/>
          <p:nvPr/>
        </p:nvSpPr>
        <p:spPr>
          <a:xfrm>
            <a:off x="548640" y="685800"/>
            <a:ext cx="10515240" cy="5472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zh-CN" sz="3000" spc="-1" strike="noStrike">
                <a:solidFill>
                  <a:srgbClr val="1f2a44"/>
                </a:solidFill>
                <a:latin typeface="Yu Gothic"/>
              </a:rPr>
              <a:t>目指す姿</a:t>
            </a:r>
            <a:r>
              <a:rPr b="1" lang="en-US" sz="3000" spc="-1" strike="noStrike">
                <a:solidFill>
                  <a:srgbClr val="1f2a44"/>
                </a:solidFill>
                <a:latin typeface="Yu Gothic"/>
              </a:rPr>
              <a:t>: </a:t>
            </a:r>
            <a:r>
              <a:rPr b="1" lang="zh-CN" sz="3000" spc="-1" strike="noStrike">
                <a:solidFill>
                  <a:srgbClr val="1f2a44"/>
                </a:solidFill>
                <a:latin typeface="Yu Gothic"/>
              </a:rPr>
              <a:t>ロボット非依存の汎用インタプリタ</a:t>
            </a:r>
            <a:endParaRPr b="0" lang="en-US" sz="3000" spc="-1" strike="noStrike">
              <a:latin typeface="Arial"/>
            </a:endParaRPr>
          </a:p>
        </p:txBody>
      </p:sp>
      <p:sp>
        <p:nvSpPr>
          <p:cNvPr id="245" name="CustomShape 3"/>
          <p:cNvSpPr/>
          <p:nvPr/>
        </p:nvSpPr>
        <p:spPr>
          <a:xfrm>
            <a:off x="731520" y="1828800"/>
            <a:ext cx="3291480" cy="1188360"/>
          </a:xfrm>
          <a:prstGeom prst="roundRect">
            <a:avLst>
              <a:gd name="adj" fmla="val 16667"/>
            </a:avLst>
          </a:prstGeom>
          <a:solidFill>
            <a:srgbClr val="1f2a44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zh-CN" sz="1500" spc="-1" strike="noStrike">
                <a:solidFill>
                  <a:srgbClr val="ffffff"/>
                </a:solidFill>
                <a:latin typeface="Yu Gothic"/>
              </a:rPr>
              <a:t>汎用ファームウェア</a:t>
            </a:r>
            <a:br/>
            <a:r>
              <a:rPr b="1" lang="en-US" sz="1500" spc="-1" strike="noStrike">
                <a:solidFill>
                  <a:srgbClr val="ffffff"/>
                </a:solidFill>
                <a:latin typeface="Yu Gothic"/>
              </a:rPr>
              <a:t>(</a:t>
            </a:r>
            <a:r>
              <a:rPr b="1" lang="zh-CN" sz="1500" spc="-1" strike="noStrike">
                <a:solidFill>
                  <a:srgbClr val="ffffff"/>
                </a:solidFill>
                <a:latin typeface="Yu Gothic"/>
              </a:rPr>
              <a:t>全ロボット共通・</a:t>
            </a:r>
            <a:r>
              <a:rPr b="1" lang="en-US" sz="1500" spc="-1" strike="noStrike">
                <a:solidFill>
                  <a:srgbClr val="ffffff"/>
                </a:solidFill>
                <a:latin typeface="Yu Gothic"/>
              </a:rPr>
              <a:t>1</a:t>
            </a:r>
            <a:r>
              <a:rPr b="1" lang="zh-CN" sz="1500" spc="-1" strike="noStrike">
                <a:solidFill>
                  <a:srgbClr val="ffffff"/>
                </a:solidFill>
                <a:latin typeface="Yu Gothic"/>
              </a:rPr>
              <a:t>種類</a:t>
            </a:r>
            <a:r>
              <a:rPr b="1" lang="en-US" sz="1500" spc="-1" strike="noStrike">
                <a:solidFill>
                  <a:srgbClr val="ffffff"/>
                </a:solidFill>
                <a:latin typeface="Yu Gothic"/>
              </a:rPr>
              <a:t>)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246" name="CustomShape 4"/>
          <p:cNvSpPr/>
          <p:nvPr/>
        </p:nvSpPr>
        <p:spPr>
          <a:xfrm>
            <a:off x="4846320" y="1828800"/>
            <a:ext cx="3291480" cy="1188360"/>
          </a:xfrm>
          <a:prstGeom prst="roundRect">
            <a:avLst>
              <a:gd name="adj" fmla="val 16667"/>
            </a:avLst>
          </a:prstGeom>
          <a:solidFill>
            <a:srgbClr val="2ea059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zh-CN" sz="1400" spc="-1" strike="noStrike">
                <a:solidFill>
                  <a:srgbClr val="ffffff"/>
                </a:solidFill>
                <a:latin typeface="Yu Gothic"/>
              </a:rPr>
              <a:t>ロボット記述ブロブ</a:t>
            </a:r>
            <a:br/>
            <a:r>
              <a:rPr b="1" lang="en-US" sz="1400" spc="-1" strike="noStrike">
                <a:solidFill>
                  <a:srgbClr val="ffffff"/>
                </a:solidFill>
                <a:latin typeface="Yu Gothic"/>
              </a:rPr>
              <a:t>(NN</a:t>
            </a:r>
            <a:r>
              <a:rPr b="1" lang="zh-CN" sz="1400" spc="-1" strike="noStrike">
                <a:solidFill>
                  <a:srgbClr val="ffffff"/>
                </a:solidFill>
                <a:latin typeface="Yu Gothic"/>
              </a:rPr>
              <a:t>形状・重み・サーボマップ・</a:t>
            </a:r>
            <a:br/>
            <a:r>
              <a:rPr b="1" lang="zh-CN" sz="1400" spc="-1" strike="noStrike">
                <a:solidFill>
                  <a:srgbClr val="ffffff"/>
                </a:solidFill>
                <a:latin typeface="Yu Gothic"/>
              </a:rPr>
              <a:t>ホーム位置・モーション</a:t>
            </a:r>
            <a:r>
              <a:rPr b="1" lang="en-US" sz="1400" spc="-1" strike="noStrike">
                <a:solidFill>
                  <a:srgbClr val="ffffff"/>
                </a:solidFill>
                <a:latin typeface="Yu Gothic"/>
              </a:rPr>
              <a:t>)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247" name="CustomShape 5"/>
          <p:cNvSpPr/>
          <p:nvPr/>
        </p:nvSpPr>
        <p:spPr>
          <a:xfrm>
            <a:off x="8961120" y="1828800"/>
            <a:ext cx="2468520" cy="1188360"/>
          </a:xfrm>
          <a:prstGeom prst="roundRect">
            <a:avLst>
              <a:gd name="adj" fmla="val 16667"/>
            </a:avLst>
          </a:prstGeom>
          <a:solidFill>
            <a:srgbClr val="2e6fc7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ffff"/>
                </a:solidFill>
                <a:latin typeface="Yu Gothic"/>
              </a:rPr>
              <a:t>GitHub</a:t>
            </a:r>
            <a:r>
              <a:rPr b="1" lang="zh-CN" sz="1400" spc="-1" strike="noStrike">
                <a:solidFill>
                  <a:srgbClr val="ffffff"/>
                </a:solidFill>
                <a:latin typeface="Yu Gothic"/>
              </a:rPr>
              <a:t>上に</a:t>
            </a:r>
            <a:br/>
            <a:r>
              <a:rPr b="1" lang="en-US" sz="1400" spc="-1" strike="noStrike">
                <a:solidFill>
                  <a:srgbClr val="ffffff"/>
                </a:solidFill>
                <a:latin typeface="Yu Gothic"/>
              </a:rPr>
              <a:t>500</a:t>
            </a:r>
            <a:r>
              <a:rPr b="1" lang="zh-CN" sz="1400" spc="-1" strike="noStrike">
                <a:solidFill>
                  <a:srgbClr val="ffffff"/>
                </a:solidFill>
                <a:latin typeface="Yu Gothic"/>
              </a:rPr>
              <a:t>種類分を公開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248" name="Line 6"/>
          <p:cNvSpPr/>
          <p:nvPr/>
        </p:nvSpPr>
        <p:spPr>
          <a:xfrm>
            <a:off x="4023360" y="2423160"/>
            <a:ext cx="822960" cy="0"/>
          </a:xfrm>
          <a:prstGeom prst="line">
            <a:avLst/>
          </a:prstGeom>
          <a:ln w="31680">
            <a:solidFill>
              <a:srgbClr val="6b7280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/>
        </p:style>
      </p:sp>
      <p:sp>
        <p:nvSpPr>
          <p:cNvPr id="249" name="Line 7"/>
          <p:cNvSpPr/>
          <p:nvPr/>
        </p:nvSpPr>
        <p:spPr>
          <a:xfrm>
            <a:off x="8138160" y="2423160"/>
            <a:ext cx="822960" cy="0"/>
          </a:xfrm>
          <a:prstGeom prst="line">
            <a:avLst/>
          </a:prstGeom>
          <a:ln w="31680">
            <a:solidFill>
              <a:srgbClr val="6b7280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/>
        </p:style>
      </p:sp>
      <p:sp>
        <p:nvSpPr>
          <p:cNvPr id="250" name="CustomShape 8"/>
          <p:cNvSpPr/>
          <p:nvPr/>
        </p:nvSpPr>
        <p:spPr>
          <a:xfrm>
            <a:off x="548640" y="3291840"/>
            <a:ext cx="11063880" cy="33987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25000"/>
              </a:lnSpc>
            </a:pPr>
            <a:r>
              <a:rPr b="0" lang="zh-CN" sz="1500" spc="-1" strike="noStrike">
                <a:solidFill>
                  <a:srgbClr val="222222"/>
                </a:solidFill>
                <a:latin typeface="Yu Gothic"/>
              </a:rPr>
              <a:t>既存の仕組みをそのまま拡張する</a:t>
            </a:r>
            <a:r>
              <a:rPr b="0" lang="en-US" sz="1500" spc="-1" strike="noStrike">
                <a:solidFill>
                  <a:srgbClr val="222222"/>
                </a:solidFill>
                <a:latin typeface="Yu Gothic"/>
              </a:rPr>
              <a:t>:</a:t>
            </a:r>
            <a:endParaRPr b="0" lang="en-US" sz="1500" spc="-1" strike="noStrike">
              <a:latin typeface="Arial"/>
            </a:endParaRPr>
          </a:p>
          <a:p>
            <a:pPr>
              <a:lnSpc>
                <a:spcPct val="125000"/>
              </a:lnSpc>
            </a:pPr>
            <a:endParaRPr b="0" lang="en-US" sz="1500" spc="-1" strike="noStrike">
              <a:latin typeface="Arial"/>
            </a:endParaRPr>
          </a:p>
          <a:p>
            <a:pPr>
              <a:lnSpc>
                <a:spcPct val="125000"/>
              </a:lnSpc>
            </a:pPr>
            <a:r>
              <a:rPr b="0" lang="zh-CN" sz="1500" spc="-1" strike="noStrike">
                <a:solidFill>
                  <a:srgbClr val="222222"/>
                </a:solidFill>
                <a:latin typeface="Yu Gothic"/>
              </a:rPr>
              <a:t>・</a:t>
            </a:r>
            <a:r>
              <a:rPr b="0" lang="en-US" sz="1500" spc="-1" strike="noStrike">
                <a:solidFill>
                  <a:srgbClr val="222222"/>
                </a:solidFill>
                <a:latin typeface="Yu Gothic"/>
              </a:rPr>
              <a:t>policy::beginUpload() / saveUploaded() / loadSaved()</a:t>
            </a:r>
            <a:endParaRPr b="0" lang="en-US" sz="1500" spc="-1" strike="noStrike">
              <a:latin typeface="Arial"/>
            </a:endParaRPr>
          </a:p>
          <a:p>
            <a:pPr>
              <a:lnSpc>
                <a:spcPct val="125000"/>
              </a:lnSpc>
            </a:pPr>
            <a:r>
              <a:rPr b="0" lang="en-US" sz="1500" spc="-1" strike="noStrike">
                <a:solidFill>
                  <a:srgbClr val="222222"/>
                </a:solidFill>
                <a:latin typeface="Yu Gothic"/>
              </a:rPr>
              <a:t>   </a:t>
            </a:r>
            <a:r>
              <a:rPr b="0" lang="en-US" sz="1500" spc="-1" strike="noStrike">
                <a:solidFill>
                  <a:srgbClr val="222222"/>
                </a:solidFill>
                <a:latin typeface="Yu Gothic"/>
              </a:rPr>
              <a:t>-- </a:t>
            </a:r>
            <a:r>
              <a:rPr b="0" lang="zh-CN" sz="1500" spc="-1" strike="noStrike">
                <a:solidFill>
                  <a:srgbClr val="222222"/>
                </a:solidFill>
                <a:latin typeface="Yu Gothic"/>
              </a:rPr>
              <a:t>今は「</a:t>
            </a:r>
            <a:r>
              <a:rPr b="0" lang="en-US" sz="1500" spc="-1" strike="noStrike">
                <a:solidFill>
                  <a:srgbClr val="222222"/>
                </a:solidFill>
                <a:latin typeface="Yu Gothic"/>
              </a:rPr>
              <a:t>NN</a:t>
            </a:r>
            <a:r>
              <a:rPr b="0" lang="zh-CN" sz="1500" spc="-1" strike="noStrike">
                <a:solidFill>
                  <a:srgbClr val="222222"/>
                </a:solidFill>
                <a:latin typeface="Yu Gothic"/>
              </a:rPr>
              <a:t>の重みだけ」が対象 → 層構成・サーボマップ・モーションテーブルも</a:t>
            </a:r>
            <a:endParaRPr b="0" lang="en-US" sz="1500" spc="-1" strike="noStrike">
              <a:latin typeface="Arial"/>
            </a:endParaRPr>
          </a:p>
          <a:p>
            <a:pPr>
              <a:lnSpc>
                <a:spcPct val="125000"/>
              </a:lnSpc>
            </a:pPr>
            <a:r>
              <a:rPr b="0" lang="en-US" sz="1500" spc="-1" strike="noStrike">
                <a:solidFill>
                  <a:srgbClr val="222222"/>
                </a:solidFill>
                <a:latin typeface="Yu Gothic"/>
              </a:rPr>
              <a:t>    </a:t>
            </a:r>
            <a:r>
              <a:rPr b="0" lang="zh-CN" sz="1500" spc="-1" strike="noStrike">
                <a:solidFill>
                  <a:srgbClr val="222222"/>
                </a:solidFill>
                <a:latin typeface="Yu Gothic"/>
              </a:rPr>
              <a:t>含む「ロボット記述ブロブ」全体に対象を広げる</a:t>
            </a:r>
            <a:endParaRPr b="0" lang="en-US" sz="1500" spc="-1" strike="noStrike">
              <a:latin typeface="Arial"/>
            </a:endParaRPr>
          </a:p>
          <a:p>
            <a:pPr>
              <a:lnSpc>
                <a:spcPct val="125000"/>
              </a:lnSpc>
            </a:pPr>
            <a:endParaRPr b="0" lang="en-US" sz="1500" spc="-1" strike="noStrike">
              <a:latin typeface="Arial"/>
            </a:endParaRPr>
          </a:p>
          <a:p>
            <a:pPr>
              <a:lnSpc>
                <a:spcPct val="125000"/>
              </a:lnSpc>
            </a:pPr>
            <a:r>
              <a:rPr b="0" lang="zh-CN" sz="1500" spc="-1" strike="noStrike">
                <a:solidFill>
                  <a:srgbClr val="222222"/>
                </a:solidFill>
                <a:latin typeface="Yu Gothic"/>
              </a:rPr>
              <a:t>・スマホが</a:t>
            </a:r>
            <a:r>
              <a:rPr b="0" lang="en-US" sz="1500" spc="-1" strike="noStrike">
                <a:solidFill>
                  <a:srgbClr val="222222"/>
                </a:solidFill>
                <a:latin typeface="Yu Gothic"/>
              </a:rPr>
              <a:t>GitHub</a:t>
            </a:r>
            <a:r>
              <a:rPr b="0" lang="zh-CN" sz="1500" spc="-1" strike="noStrike">
                <a:solidFill>
                  <a:srgbClr val="222222"/>
                </a:solidFill>
                <a:latin typeface="Yu Gothic"/>
              </a:rPr>
              <a:t>から取得して</a:t>
            </a:r>
            <a:r>
              <a:rPr b="0" lang="en-US" sz="1500" spc="-1" strike="noStrike">
                <a:solidFill>
                  <a:srgbClr val="222222"/>
                </a:solidFill>
                <a:latin typeface="Yu Gothic"/>
              </a:rPr>
              <a:t>POST</a:t>
            </a:r>
            <a:r>
              <a:rPr b="0" lang="zh-CN" sz="1500" spc="-1" strike="noStrike">
                <a:solidFill>
                  <a:srgbClr val="222222"/>
                </a:solidFill>
                <a:latin typeface="Yu Gothic"/>
              </a:rPr>
              <a:t>する方式</a:t>
            </a:r>
            <a:r>
              <a:rPr b="0" lang="en-US" sz="1500" spc="-1" strike="noStrike">
                <a:solidFill>
                  <a:srgbClr val="222222"/>
                </a:solidFill>
                <a:latin typeface="Yu Gothic"/>
              </a:rPr>
              <a:t>(</a:t>
            </a:r>
            <a:r>
              <a:rPr b="0" lang="zh-CN" sz="1500" spc="-1" strike="noStrike">
                <a:solidFill>
                  <a:srgbClr val="222222"/>
                </a:solidFill>
                <a:latin typeface="Yu Gothic"/>
              </a:rPr>
              <a:t>ポリシー配信と同じ</a:t>
            </a:r>
            <a:r>
              <a:rPr b="0" lang="en-US" sz="1500" spc="-1" strike="noStrike">
                <a:solidFill>
                  <a:srgbClr val="222222"/>
                </a:solidFill>
                <a:latin typeface="Yu Gothic"/>
              </a:rPr>
              <a:t>)</a:t>
            </a:r>
            <a:endParaRPr b="0" lang="en-US" sz="1500" spc="-1" strike="noStrike">
              <a:latin typeface="Arial"/>
            </a:endParaRPr>
          </a:p>
          <a:p>
            <a:pPr>
              <a:lnSpc>
                <a:spcPct val="125000"/>
              </a:lnSpc>
            </a:pPr>
            <a:r>
              <a:rPr b="0" lang="en-US" sz="1500" spc="-1" strike="noStrike">
                <a:solidFill>
                  <a:srgbClr val="222222"/>
                </a:solidFill>
                <a:latin typeface="Yu Gothic"/>
              </a:rPr>
              <a:t>   </a:t>
            </a:r>
            <a:r>
              <a:rPr b="0" lang="en-US" sz="1500" spc="-1" strike="noStrike">
                <a:solidFill>
                  <a:srgbClr val="222222"/>
                </a:solidFill>
                <a:latin typeface="Yu Gothic"/>
              </a:rPr>
              <a:t>-- </a:t>
            </a:r>
            <a:r>
              <a:rPr b="0" lang="zh-CN" sz="1500" spc="-1" strike="noStrike">
                <a:solidFill>
                  <a:srgbClr val="222222"/>
                </a:solidFill>
                <a:latin typeface="Yu Gothic"/>
              </a:rPr>
              <a:t>ロボット自身が</a:t>
            </a:r>
            <a:r>
              <a:rPr b="0" lang="en-US" sz="1500" spc="-1" strike="noStrike">
                <a:solidFill>
                  <a:srgbClr val="222222"/>
                </a:solidFill>
                <a:latin typeface="Yu Gothic"/>
              </a:rPr>
              <a:t>HTTPS</a:t>
            </a:r>
            <a:r>
              <a:rPr b="0" lang="zh-CN" sz="1500" spc="-1" strike="noStrike">
                <a:solidFill>
                  <a:srgbClr val="222222"/>
                </a:solidFill>
                <a:latin typeface="Yu Gothic"/>
              </a:rPr>
              <a:t>で直接</a:t>
            </a:r>
            <a:r>
              <a:rPr b="0" lang="en-US" sz="1500" spc="-1" strike="noStrike">
                <a:solidFill>
                  <a:srgbClr val="222222"/>
                </a:solidFill>
                <a:latin typeface="Yu Gothic"/>
              </a:rPr>
              <a:t>GitHub</a:t>
            </a:r>
            <a:r>
              <a:rPr b="0" lang="zh-CN" sz="1500" spc="-1" strike="noStrike">
                <a:solidFill>
                  <a:srgbClr val="222222"/>
                </a:solidFill>
                <a:latin typeface="Yu Gothic"/>
              </a:rPr>
              <a:t>を叩くと不安定になることは既に判明済み</a:t>
            </a:r>
            <a:endParaRPr b="0" lang="en-US" sz="1500" spc="-1" strike="noStrike">
              <a:latin typeface="Arial"/>
            </a:endParaRPr>
          </a:p>
          <a:p>
            <a:pPr>
              <a:lnSpc>
                <a:spcPct val="125000"/>
              </a:lnSpc>
            </a:pPr>
            <a:endParaRPr b="0" lang="en-US" sz="1500" spc="-1" strike="noStrike">
              <a:latin typeface="Arial"/>
            </a:endParaRPr>
          </a:p>
          <a:p>
            <a:pPr>
              <a:lnSpc>
                <a:spcPct val="125000"/>
              </a:lnSpc>
            </a:pPr>
            <a:r>
              <a:rPr b="0" lang="zh-CN" sz="1500" spc="-1" strike="noStrike">
                <a:solidFill>
                  <a:srgbClr val="222222"/>
                </a:solidFill>
                <a:latin typeface="Yu Gothic"/>
              </a:rPr>
              <a:t>・生成元は </a:t>
            </a:r>
            <a:r>
              <a:rPr b="0" lang="en-US" sz="1500" spc="-1" strike="noStrike">
                <a:solidFill>
                  <a:srgbClr val="222222"/>
                </a:solidFill>
                <a:latin typeface="Yu Gothic"/>
              </a:rPr>
              <a:t>rcb4robotconfig.l </a:t>
            </a:r>
            <a:r>
              <a:rPr b="0" lang="zh-CN" sz="1500" spc="-1" strike="noStrike">
                <a:solidFill>
                  <a:srgbClr val="222222"/>
                </a:solidFill>
                <a:latin typeface="Yu Gothic"/>
              </a:rPr>
              <a:t>の </a:t>
            </a:r>
            <a:r>
              <a:rPr b="0" lang="en-US" sz="1500" spc="-1" strike="noStrike">
                <a:solidFill>
                  <a:srgbClr val="222222"/>
                </a:solidFill>
                <a:latin typeface="Yu Gothic"/>
              </a:rPr>
              <a:t>:project-file </a:t>
            </a:r>
            <a:r>
              <a:rPr b="0" lang="zh-CN" sz="1500" spc="-1" strike="noStrike">
                <a:solidFill>
                  <a:srgbClr val="222222"/>
                </a:solidFill>
                <a:latin typeface="Yu Gothic"/>
              </a:rPr>
              <a:t>名ごと</a:t>
            </a:r>
            <a:endParaRPr b="0" lang="en-US" sz="1500" spc="-1" strike="noStrike">
              <a:latin typeface="Arial"/>
            </a:endParaRPr>
          </a:p>
          <a:p>
            <a:pPr>
              <a:lnSpc>
                <a:spcPct val="125000"/>
              </a:lnSpc>
            </a:pPr>
            <a:r>
              <a:rPr b="0" lang="en-US" sz="1500" spc="-1" strike="noStrike">
                <a:solidFill>
                  <a:srgbClr val="222222"/>
                </a:solidFill>
                <a:latin typeface="Yu Gothic"/>
              </a:rPr>
              <a:t>   </a:t>
            </a:r>
            <a:r>
              <a:rPr b="0" lang="en-US" sz="1500" spc="-1" strike="noStrike">
                <a:solidFill>
                  <a:srgbClr val="222222"/>
                </a:solidFill>
                <a:latin typeface="Yu Gothic"/>
              </a:rPr>
              <a:t>-- </a:t>
            </a:r>
            <a:r>
              <a:rPr b="0" lang="zh-CN" sz="1500" spc="-1" strike="noStrike">
                <a:solidFill>
                  <a:srgbClr val="222222"/>
                </a:solidFill>
                <a:latin typeface="Yu Gothic"/>
              </a:rPr>
              <a:t>既存の</a:t>
            </a:r>
            <a:r>
              <a:rPr b="0" lang="en-US" sz="1500" spc="-1" strike="noStrike">
                <a:solidFill>
                  <a:srgbClr val="222222"/>
                </a:solidFill>
                <a:latin typeface="Yu Gothic"/>
              </a:rPr>
              <a:t>URDF/MuJoCo</a:t>
            </a:r>
            <a:r>
              <a:rPr b="0" lang="zh-CN" sz="1500" spc="-1" strike="noStrike">
                <a:solidFill>
                  <a:srgbClr val="222222"/>
                </a:solidFill>
                <a:latin typeface="Yu Gothic"/>
              </a:rPr>
              <a:t>変換パイプラインと同じ場所で機械的に生成できる</a:t>
            </a:r>
            <a:endParaRPr b="0" lang="en-US" sz="15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CustomShape 1"/>
          <p:cNvSpPr/>
          <p:nvPr/>
        </p:nvSpPr>
        <p:spPr>
          <a:xfrm>
            <a:off x="548640" y="320040"/>
            <a:ext cx="7314840" cy="3337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rgbClr val="2e6fc7"/>
                </a:solidFill>
                <a:latin typeface="Yu Gothic"/>
              </a:rPr>
              <a:t>500 ROBOTS -- VARIETY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252" name="CustomShape 2"/>
          <p:cNvSpPr/>
          <p:nvPr/>
        </p:nvSpPr>
        <p:spPr>
          <a:xfrm>
            <a:off x="548640" y="685800"/>
            <a:ext cx="10515240" cy="5472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3000" spc="-1" strike="noStrike">
                <a:solidFill>
                  <a:srgbClr val="1f2a44"/>
                </a:solidFill>
                <a:latin typeface="Yu Gothic"/>
              </a:rPr>
              <a:t>500</a:t>
            </a:r>
            <a:r>
              <a:rPr b="1" lang="zh-CN" sz="3000" spc="-1" strike="noStrike">
                <a:solidFill>
                  <a:srgbClr val="1f2a44"/>
                </a:solidFill>
                <a:latin typeface="Yu Gothic"/>
              </a:rPr>
              <a:t>種類に増えると、こんなロボットも対象になる</a:t>
            </a:r>
            <a:endParaRPr b="0" lang="en-US" sz="3000" spc="-1" strike="noStrike">
              <a:latin typeface="Arial"/>
            </a:endParaRPr>
          </a:p>
        </p:txBody>
      </p:sp>
      <p:sp>
        <p:nvSpPr>
          <p:cNvPr id="253" name="CustomShape 3"/>
          <p:cNvSpPr/>
          <p:nvPr/>
        </p:nvSpPr>
        <p:spPr>
          <a:xfrm>
            <a:off x="502920" y="1371600"/>
            <a:ext cx="1462680" cy="1462680"/>
          </a:xfrm>
          <a:prstGeom prst="rect">
            <a:avLst/>
          </a:prstGeom>
          <a:solidFill>
            <a:srgbClr val="f2f4f8"/>
          </a:solidFill>
          <a:ln w="12600">
            <a:solidFill>
              <a:srgbClr val="6b7280"/>
            </a:solidFill>
            <a:round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pic>
        <p:nvPicPr>
          <p:cNvPr id="254" name="Picture 4" descr="kxrkamakiri.png"/>
          <p:cNvPicPr/>
          <p:nvPr/>
        </p:nvPicPr>
        <p:blipFill>
          <a:blip r:embed="rId1"/>
          <a:stretch/>
        </p:blipFill>
        <p:spPr>
          <a:xfrm>
            <a:off x="704880" y="1444680"/>
            <a:ext cx="1058400" cy="1316520"/>
          </a:xfrm>
          <a:prstGeom prst="rect">
            <a:avLst/>
          </a:prstGeom>
          <a:ln>
            <a:noFill/>
          </a:ln>
        </p:spPr>
      </p:pic>
      <p:sp>
        <p:nvSpPr>
          <p:cNvPr id="255" name="CustomShape 4"/>
          <p:cNvSpPr/>
          <p:nvPr/>
        </p:nvSpPr>
        <p:spPr>
          <a:xfrm>
            <a:off x="502920" y="2853000"/>
            <a:ext cx="1462680" cy="2350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ctr">
              <a:lnSpc>
                <a:spcPct val="100000"/>
              </a:lnSpc>
            </a:pPr>
            <a:r>
              <a:rPr b="1" lang="en-US" sz="950" spc="-1" strike="noStrike">
                <a:solidFill>
                  <a:srgbClr val="1f2a44"/>
                </a:solidFill>
                <a:latin typeface="Yu Gothic"/>
              </a:rPr>
              <a:t>kxrkamakiri</a:t>
            </a:r>
            <a:endParaRPr b="0" lang="en-US" sz="950" spc="-1" strike="noStrike">
              <a:latin typeface="Arial"/>
            </a:endParaRPr>
          </a:p>
        </p:txBody>
      </p:sp>
      <p:sp>
        <p:nvSpPr>
          <p:cNvPr id="256" name="CustomShape 5"/>
          <p:cNvSpPr/>
          <p:nvPr/>
        </p:nvSpPr>
        <p:spPr>
          <a:xfrm>
            <a:off x="502920" y="3099960"/>
            <a:ext cx="1462680" cy="3337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6b7280"/>
                </a:solidFill>
                <a:latin typeface="Yu Gothic"/>
              </a:rPr>
              <a:t>kamakiri</a:t>
            </a:r>
            <a:r>
              <a:rPr b="0" lang="zh-CN" sz="800" spc="-1" strike="noStrike">
                <a:solidFill>
                  <a:srgbClr val="6b7280"/>
                </a:solidFill>
                <a:latin typeface="Yu Gothic"/>
              </a:rPr>
              <a:t>型</a:t>
            </a:r>
            <a:endParaRPr b="0" lang="en-US" sz="8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6b7280"/>
                </a:solidFill>
                <a:latin typeface="Yu Gothic"/>
              </a:rPr>
              <a:t>(</a:t>
            </a:r>
            <a:r>
              <a:rPr b="0" lang="zh-CN" sz="800" spc="-1" strike="noStrike">
                <a:solidFill>
                  <a:srgbClr val="6b7280"/>
                </a:solidFill>
                <a:latin typeface="Yu Gothic"/>
              </a:rPr>
              <a:t>固有デザイン</a:t>
            </a:r>
            <a:r>
              <a:rPr b="0" lang="en-US" sz="800" spc="-1" strike="noStrike">
                <a:solidFill>
                  <a:srgbClr val="6b7280"/>
                </a:solidFill>
                <a:latin typeface="Yu Gothic"/>
              </a:rPr>
              <a:t>)</a:t>
            </a:r>
            <a:endParaRPr b="0" lang="en-US" sz="800" spc="-1" strike="noStrike">
              <a:latin typeface="Arial"/>
            </a:endParaRPr>
          </a:p>
        </p:txBody>
      </p:sp>
      <p:sp>
        <p:nvSpPr>
          <p:cNvPr id="257" name="CustomShape 6"/>
          <p:cNvSpPr/>
          <p:nvPr/>
        </p:nvSpPr>
        <p:spPr>
          <a:xfrm>
            <a:off x="2130480" y="1371600"/>
            <a:ext cx="1462680" cy="1462680"/>
          </a:xfrm>
          <a:prstGeom prst="rect">
            <a:avLst/>
          </a:prstGeom>
          <a:solidFill>
            <a:srgbClr val="f2f4f8"/>
          </a:solidFill>
          <a:ln w="12600">
            <a:solidFill>
              <a:srgbClr val="6b7280"/>
            </a:solidFill>
            <a:round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pic>
        <p:nvPicPr>
          <p:cNvPr id="258" name="Picture 8" descr="kxrdw4a6h2m.png"/>
          <p:cNvPicPr/>
          <p:nvPr/>
        </p:nvPicPr>
        <p:blipFill>
          <a:blip r:embed="rId2"/>
          <a:stretch/>
        </p:blipFill>
        <p:spPr>
          <a:xfrm>
            <a:off x="2408400" y="1444680"/>
            <a:ext cx="907200" cy="1316520"/>
          </a:xfrm>
          <a:prstGeom prst="rect">
            <a:avLst/>
          </a:prstGeom>
          <a:ln>
            <a:noFill/>
          </a:ln>
        </p:spPr>
      </p:pic>
      <p:sp>
        <p:nvSpPr>
          <p:cNvPr id="259" name="CustomShape 7"/>
          <p:cNvSpPr/>
          <p:nvPr/>
        </p:nvSpPr>
        <p:spPr>
          <a:xfrm>
            <a:off x="2130480" y="2853000"/>
            <a:ext cx="1462680" cy="2350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ctr">
              <a:lnSpc>
                <a:spcPct val="100000"/>
              </a:lnSpc>
            </a:pPr>
            <a:r>
              <a:rPr b="1" lang="en-US" sz="950" spc="-1" strike="noStrike">
                <a:solidFill>
                  <a:srgbClr val="1f2a44"/>
                </a:solidFill>
                <a:latin typeface="Yu Gothic"/>
              </a:rPr>
              <a:t>kxrdw4a6h2m</a:t>
            </a:r>
            <a:endParaRPr b="0" lang="en-US" sz="950" spc="-1" strike="noStrike">
              <a:latin typeface="Arial"/>
            </a:endParaRPr>
          </a:p>
        </p:txBody>
      </p:sp>
      <p:sp>
        <p:nvSpPr>
          <p:cNvPr id="260" name="CustomShape 8"/>
          <p:cNvSpPr/>
          <p:nvPr/>
        </p:nvSpPr>
        <p:spPr>
          <a:xfrm>
            <a:off x="2130480" y="3099960"/>
            <a:ext cx="1462680" cy="2120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ctr">
              <a:lnSpc>
                <a:spcPct val="100000"/>
              </a:lnSpc>
            </a:pPr>
            <a:r>
              <a:rPr b="0" lang="zh-CN" sz="800" spc="-1" strike="noStrike">
                <a:solidFill>
                  <a:srgbClr val="6b7280"/>
                </a:solidFill>
                <a:latin typeface="Yu Gothic"/>
              </a:rPr>
              <a:t>差動車輪</a:t>
            </a:r>
            <a:r>
              <a:rPr b="0" lang="en-US" sz="800" spc="-1" strike="noStrike">
                <a:solidFill>
                  <a:srgbClr val="6b7280"/>
                </a:solidFill>
                <a:latin typeface="Yu Gothic"/>
              </a:rPr>
              <a:t>4+</a:t>
            </a:r>
            <a:r>
              <a:rPr b="0" lang="zh-CN" sz="800" spc="-1" strike="noStrike">
                <a:solidFill>
                  <a:srgbClr val="6b7280"/>
                </a:solidFill>
                <a:latin typeface="Yu Gothic"/>
              </a:rPr>
              <a:t>腕</a:t>
            </a:r>
            <a:r>
              <a:rPr b="0" lang="en-US" sz="800" spc="-1" strike="noStrike">
                <a:solidFill>
                  <a:srgbClr val="6b7280"/>
                </a:solidFill>
                <a:latin typeface="Yu Gothic"/>
              </a:rPr>
              <a:t>6+</a:t>
            </a:r>
            <a:r>
              <a:rPr b="0" lang="zh-CN" sz="800" spc="-1" strike="noStrike">
                <a:solidFill>
                  <a:srgbClr val="6b7280"/>
                </a:solidFill>
                <a:latin typeface="Yu Gothic"/>
              </a:rPr>
              <a:t>頭</a:t>
            </a:r>
            <a:r>
              <a:rPr b="0" lang="en-US" sz="800" spc="-1" strike="noStrike">
                <a:solidFill>
                  <a:srgbClr val="6b7280"/>
                </a:solidFill>
                <a:latin typeface="Yu Gothic"/>
              </a:rPr>
              <a:t>2</a:t>
            </a:r>
            <a:endParaRPr b="0" lang="en-US" sz="800" spc="-1" strike="noStrike">
              <a:latin typeface="Arial"/>
            </a:endParaRPr>
          </a:p>
        </p:txBody>
      </p:sp>
      <p:sp>
        <p:nvSpPr>
          <p:cNvPr id="261" name="CustomShape 9"/>
          <p:cNvSpPr/>
          <p:nvPr/>
        </p:nvSpPr>
        <p:spPr>
          <a:xfrm>
            <a:off x="3758040" y="1371600"/>
            <a:ext cx="1462680" cy="1462680"/>
          </a:xfrm>
          <a:prstGeom prst="rect">
            <a:avLst/>
          </a:prstGeom>
          <a:solidFill>
            <a:srgbClr val="f2f4f8"/>
          </a:solidFill>
          <a:ln w="12600">
            <a:solidFill>
              <a:srgbClr val="6b7280"/>
            </a:solidFill>
            <a:round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pic>
        <p:nvPicPr>
          <p:cNvPr id="262" name="Picture 12" descr="kxrl2w2l6a6h2.png"/>
          <p:cNvPicPr/>
          <p:nvPr/>
        </p:nvPicPr>
        <p:blipFill>
          <a:blip r:embed="rId3"/>
          <a:stretch/>
        </p:blipFill>
        <p:spPr>
          <a:xfrm>
            <a:off x="4051800" y="1444680"/>
            <a:ext cx="875520" cy="1316520"/>
          </a:xfrm>
          <a:prstGeom prst="rect">
            <a:avLst/>
          </a:prstGeom>
          <a:ln>
            <a:noFill/>
          </a:ln>
        </p:spPr>
      </p:pic>
      <p:sp>
        <p:nvSpPr>
          <p:cNvPr id="263" name="CustomShape 10"/>
          <p:cNvSpPr/>
          <p:nvPr/>
        </p:nvSpPr>
        <p:spPr>
          <a:xfrm>
            <a:off x="3758040" y="2853000"/>
            <a:ext cx="1462680" cy="2350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ctr">
              <a:lnSpc>
                <a:spcPct val="100000"/>
              </a:lnSpc>
            </a:pPr>
            <a:r>
              <a:rPr b="1" lang="en-US" sz="950" spc="-1" strike="noStrike">
                <a:solidFill>
                  <a:srgbClr val="1f2a44"/>
                </a:solidFill>
                <a:latin typeface="Yu Gothic"/>
              </a:rPr>
              <a:t>kxrl2w2l6a6h2</a:t>
            </a:r>
            <a:endParaRPr b="0" lang="en-US" sz="950" spc="-1" strike="noStrike">
              <a:latin typeface="Arial"/>
            </a:endParaRPr>
          </a:p>
        </p:txBody>
      </p:sp>
      <p:sp>
        <p:nvSpPr>
          <p:cNvPr id="264" name="CustomShape 11"/>
          <p:cNvSpPr/>
          <p:nvPr/>
        </p:nvSpPr>
        <p:spPr>
          <a:xfrm>
            <a:off x="3758040" y="3099960"/>
            <a:ext cx="1462680" cy="3337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ctr">
              <a:lnSpc>
                <a:spcPct val="100000"/>
              </a:lnSpc>
            </a:pPr>
            <a:r>
              <a:rPr b="0" lang="zh-CN" sz="800" spc="-1" strike="noStrike">
                <a:solidFill>
                  <a:srgbClr val="6b7280"/>
                </a:solidFill>
                <a:latin typeface="Yu Gothic"/>
              </a:rPr>
              <a:t>脚</a:t>
            </a:r>
            <a:r>
              <a:rPr b="0" lang="en-US" sz="800" spc="-1" strike="noStrike">
                <a:solidFill>
                  <a:srgbClr val="6b7280"/>
                </a:solidFill>
                <a:latin typeface="Yu Gothic"/>
              </a:rPr>
              <a:t>2+</a:t>
            </a:r>
            <a:r>
              <a:rPr b="0" lang="zh-CN" sz="800" spc="-1" strike="noStrike">
                <a:solidFill>
                  <a:srgbClr val="6b7280"/>
                </a:solidFill>
                <a:latin typeface="Yu Gothic"/>
              </a:rPr>
              <a:t>車輪</a:t>
            </a:r>
            <a:r>
              <a:rPr b="0" lang="en-US" sz="800" spc="-1" strike="noStrike">
                <a:solidFill>
                  <a:srgbClr val="6b7280"/>
                </a:solidFill>
                <a:latin typeface="Yu Gothic"/>
              </a:rPr>
              <a:t>2+</a:t>
            </a:r>
            <a:r>
              <a:rPr b="0" lang="zh-CN" sz="800" spc="-1" strike="noStrike">
                <a:solidFill>
                  <a:srgbClr val="6b7280"/>
                </a:solidFill>
                <a:latin typeface="Yu Gothic"/>
              </a:rPr>
              <a:t>脚</a:t>
            </a:r>
            <a:r>
              <a:rPr b="0" lang="en-US" sz="800" spc="-1" strike="noStrike">
                <a:solidFill>
                  <a:srgbClr val="6b7280"/>
                </a:solidFill>
                <a:latin typeface="Yu Gothic"/>
              </a:rPr>
              <a:t>6</a:t>
            </a:r>
            <a:endParaRPr b="0" lang="en-US" sz="8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6b7280"/>
                </a:solidFill>
                <a:latin typeface="Yu Gothic"/>
              </a:rPr>
              <a:t>+</a:t>
            </a:r>
            <a:r>
              <a:rPr b="0" lang="zh-CN" sz="800" spc="-1" strike="noStrike">
                <a:solidFill>
                  <a:srgbClr val="6b7280"/>
                </a:solidFill>
                <a:latin typeface="Yu Gothic"/>
              </a:rPr>
              <a:t>腕</a:t>
            </a:r>
            <a:r>
              <a:rPr b="0" lang="en-US" sz="800" spc="-1" strike="noStrike">
                <a:solidFill>
                  <a:srgbClr val="6b7280"/>
                </a:solidFill>
                <a:latin typeface="Yu Gothic"/>
              </a:rPr>
              <a:t>6+</a:t>
            </a:r>
            <a:r>
              <a:rPr b="0" lang="zh-CN" sz="800" spc="-1" strike="noStrike">
                <a:solidFill>
                  <a:srgbClr val="6b7280"/>
                </a:solidFill>
                <a:latin typeface="Yu Gothic"/>
              </a:rPr>
              <a:t>頭</a:t>
            </a:r>
            <a:r>
              <a:rPr b="0" lang="en-US" sz="800" spc="-1" strike="noStrike">
                <a:solidFill>
                  <a:srgbClr val="6b7280"/>
                </a:solidFill>
                <a:latin typeface="Yu Gothic"/>
              </a:rPr>
              <a:t>2</a:t>
            </a:r>
            <a:endParaRPr b="0" lang="en-US" sz="800" spc="-1" strike="noStrike">
              <a:latin typeface="Arial"/>
            </a:endParaRPr>
          </a:p>
        </p:txBody>
      </p:sp>
      <p:sp>
        <p:nvSpPr>
          <p:cNvPr id="265" name="CustomShape 12"/>
          <p:cNvSpPr/>
          <p:nvPr/>
        </p:nvSpPr>
        <p:spPr>
          <a:xfrm>
            <a:off x="5385960" y="1371600"/>
            <a:ext cx="1462680" cy="1462680"/>
          </a:xfrm>
          <a:prstGeom prst="rect">
            <a:avLst/>
          </a:prstGeom>
          <a:solidFill>
            <a:srgbClr val="f2f4f8"/>
          </a:solidFill>
          <a:ln w="12600">
            <a:solidFill>
              <a:srgbClr val="6b7280"/>
            </a:solidFill>
            <a:round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pic>
        <p:nvPicPr>
          <p:cNvPr id="266" name="Picture 16" descr="kxrmw4a7h2g.png"/>
          <p:cNvPicPr/>
          <p:nvPr/>
        </p:nvPicPr>
        <p:blipFill>
          <a:blip r:embed="rId4"/>
          <a:stretch/>
        </p:blipFill>
        <p:spPr>
          <a:xfrm>
            <a:off x="5575680" y="1444680"/>
            <a:ext cx="1082520" cy="1316520"/>
          </a:xfrm>
          <a:prstGeom prst="rect">
            <a:avLst/>
          </a:prstGeom>
          <a:ln>
            <a:noFill/>
          </a:ln>
        </p:spPr>
      </p:pic>
      <p:sp>
        <p:nvSpPr>
          <p:cNvPr id="267" name="CustomShape 13"/>
          <p:cNvSpPr/>
          <p:nvPr/>
        </p:nvSpPr>
        <p:spPr>
          <a:xfrm>
            <a:off x="5385960" y="2853000"/>
            <a:ext cx="1462680" cy="2350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ctr">
              <a:lnSpc>
                <a:spcPct val="100000"/>
              </a:lnSpc>
            </a:pPr>
            <a:r>
              <a:rPr b="1" lang="en-US" sz="950" spc="-1" strike="noStrike">
                <a:solidFill>
                  <a:srgbClr val="1f2a44"/>
                </a:solidFill>
                <a:latin typeface="Yu Gothic"/>
              </a:rPr>
              <a:t>kxrmw4a7h2g</a:t>
            </a:r>
            <a:endParaRPr b="0" lang="en-US" sz="950" spc="-1" strike="noStrike">
              <a:latin typeface="Arial"/>
            </a:endParaRPr>
          </a:p>
        </p:txBody>
      </p:sp>
      <p:sp>
        <p:nvSpPr>
          <p:cNvPr id="268" name="CustomShape 14"/>
          <p:cNvSpPr/>
          <p:nvPr/>
        </p:nvSpPr>
        <p:spPr>
          <a:xfrm>
            <a:off x="5385960" y="3099960"/>
            <a:ext cx="1462680" cy="3337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ctr">
              <a:lnSpc>
                <a:spcPct val="100000"/>
              </a:lnSpc>
            </a:pPr>
            <a:r>
              <a:rPr b="0" lang="zh-CN" sz="800" spc="-1" strike="noStrike">
                <a:solidFill>
                  <a:srgbClr val="6b7280"/>
                </a:solidFill>
                <a:latin typeface="Yu Gothic"/>
              </a:rPr>
              <a:t>車輪</a:t>
            </a:r>
            <a:r>
              <a:rPr b="0" lang="en-US" sz="800" spc="-1" strike="noStrike">
                <a:solidFill>
                  <a:srgbClr val="6b7280"/>
                </a:solidFill>
                <a:latin typeface="Yu Gothic"/>
              </a:rPr>
              <a:t>4+</a:t>
            </a:r>
            <a:r>
              <a:rPr b="0" lang="zh-CN" sz="800" spc="-1" strike="noStrike">
                <a:solidFill>
                  <a:srgbClr val="6b7280"/>
                </a:solidFill>
                <a:latin typeface="Yu Gothic"/>
              </a:rPr>
              <a:t>腕</a:t>
            </a:r>
            <a:r>
              <a:rPr b="0" lang="en-US" sz="800" spc="-1" strike="noStrike">
                <a:solidFill>
                  <a:srgbClr val="6b7280"/>
                </a:solidFill>
                <a:latin typeface="Yu Gothic"/>
              </a:rPr>
              <a:t>7+</a:t>
            </a:r>
            <a:r>
              <a:rPr b="0" lang="zh-CN" sz="800" spc="-1" strike="noStrike">
                <a:solidFill>
                  <a:srgbClr val="6b7280"/>
                </a:solidFill>
                <a:latin typeface="Yu Gothic"/>
              </a:rPr>
              <a:t>頭</a:t>
            </a:r>
            <a:r>
              <a:rPr b="0" lang="en-US" sz="800" spc="-1" strike="noStrike">
                <a:solidFill>
                  <a:srgbClr val="6b7280"/>
                </a:solidFill>
                <a:latin typeface="Yu Gothic"/>
              </a:rPr>
              <a:t>2</a:t>
            </a:r>
            <a:endParaRPr b="0" lang="en-US" sz="8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6b7280"/>
                </a:solidFill>
                <a:latin typeface="Yu Gothic"/>
              </a:rPr>
              <a:t>+</a:t>
            </a:r>
            <a:r>
              <a:rPr b="0" lang="zh-CN" sz="800" spc="-1" strike="noStrike">
                <a:solidFill>
                  <a:srgbClr val="6b7280"/>
                </a:solidFill>
                <a:latin typeface="Yu Gothic"/>
              </a:rPr>
              <a:t>グリッパー</a:t>
            </a:r>
            <a:endParaRPr b="0" lang="en-US" sz="800" spc="-1" strike="noStrike">
              <a:latin typeface="Arial"/>
            </a:endParaRPr>
          </a:p>
        </p:txBody>
      </p:sp>
      <p:sp>
        <p:nvSpPr>
          <p:cNvPr id="269" name="CustomShape 15"/>
          <p:cNvSpPr/>
          <p:nvPr/>
        </p:nvSpPr>
        <p:spPr>
          <a:xfrm>
            <a:off x="7013520" y="1371600"/>
            <a:ext cx="1462680" cy="1462680"/>
          </a:xfrm>
          <a:prstGeom prst="rect">
            <a:avLst/>
          </a:prstGeom>
          <a:solidFill>
            <a:srgbClr val="f2f4f8"/>
          </a:solidFill>
          <a:ln w="12600">
            <a:solidFill>
              <a:srgbClr val="6b7280"/>
            </a:solidFill>
            <a:round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pic>
        <p:nvPicPr>
          <p:cNvPr id="270" name="Picture 20" descr="kxrl4b1.png"/>
          <p:cNvPicPr/>
          <p:nvPr/>
        </p:nvPicPr>
        <p:blipFill>
          <a:blip r:embed="rId5"/>
          <a:stretch/>
        </p:blipFill>
        <p:spPr>
          <a:xfrm>
            <a:off x="7169040" y="1444680"/>
            <a:ext cx="1151280" cy="1316520"/>
          </a:xfrm>
          <a:prstGeom prst="rect">
            <a:avLst/>
          </a:prstGeom>
          <a:ln>
            <a:noFill/>
          </a:ln>
        </p:spPr>
      </p:pic>
      <p:sp>
        <p:nvSpPr>
          <p:cNvPr id="271" name="CustomShape 16"/>
          <p:cNvSpPr/>
          <p:nvPr/>
        </p:nvSpPr>
        <p:spPr>
          <a:xfrm>
            <a:off x="7013520" y="2853000"/>
            <a:ext cx="1462680" cy="2350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ctr">
              <a:lnSpc>
                <a:spcPct val="100000"/>
              </a:lnSpc>
            </a:pPr>
            <a:r>
              <a:rPr b="1" lang="en-US" sz="950" spc="-1" strike="noStrike">
                <a:solidFill>
                  <a:srgbClr val="1f2a44"/>
                </a:solidFill>
                <a:latin typeface="Yu Gothic"/>
              </a:rPr>
              <a:t>kxrl4b1</a:t>
            </a:r>
            <a:endParaRPr b="0" lang="en-US" sz="950" spc="-1" strike="noStrike">
              <a:latin typeface="Arial"/>
            </a:endParaRPr>
          </a:p>
        </p:txBody>
      </p:sp>
      <p:sp>
        <p:nvSpPr>
          <p:cNvPr id="272" name="CustomShape 17"/>
          <p:cNvSpPr/>
          <p:nvPr/>
        </p:nvSpPr>
        <p:spPr>
          <a:xfrm>
            <a:off x="7013520" y="3099960"/>
            <a:ext cx="1462680" cy="3337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ctr">
              <a:lnSpc>
                <a:spcPct val="100000"/>
              </a:lnSpc>
            </a:pPr>
            <a:r>
              <a:rPr b="0" lang="zh-CN" sz="800" spc="-1" strike="noStrike">
                <a:solidFill>
                  <a:srgbClr val="6b7280"/>
                </a:solidFill>
                <a:latin typeface="Yu Gothic"/>
              </a:rPr>
              <a:t>脚</a:t>
            </a:r>
            <a:r>
              <a:rPr b="0" lang="en-US" sz="800" spc="-1" strike="noStrike">
                <a:solidFill>
                  <a:srgbClr val="6b7280"/>
                </a:solidFill>
                <a:latin typeface="Yu Gothic"/>
              </a:rPr>
              <a:t>4+</a:t>
            </a:r>
            <a:r>
              <a:rPr b="0" lang="zh-CN" sz="800" spc="-1" strike="noStrike">
                <a:solidFill>
                  <a:srgbClr val="6b7280"/>
                </a:solidFill>
                <a:latin typeface="Yu Gothic"/>
              </a:rPr>
              <a:t>胴体</a:t>
            </a:r>
            <a:endParaRPr b="0" lang="en-US" sz="8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zh-CN" sz="800" spc="-1" strike="noStrike">
                <a:solidFill>
                  <a:srgbClr val="6b7280"/>
                </a:solidFill>
                <a:latin typeface="Yu Gothic"/>
              </a:rPr>
              <a:t>バリエーション</a:t>
            </a:r>
            <a:r>
              <a:rPr b="0" lang="en-US" sz="800" spc="-1" strike="noStrike">
                <a:solidFill>
                  <a:srgbClr val="6b7280"/>
                </a:solidFill>
                <a:latin typeface="Yu Gothic"/>
              </a:rPr>
              <a:t>1</a:t>
            </a:r>
            <a:endParaRPr b="0" lang="en-US" sz="800" spc="-1" strike="noStrike">
              <a:latin typeface="Arial"/>
            </a:endParaRPr>
          </a:p>
        </p:txBody>
      </p:sp>
      <p:sp>
        <p:nvSpPr>
          <p:cNvPr id="273" name="CustomShape 18"/>
          <p:cNvSpPr/>
          <p:nvPr/>
        </p:nvSpPr>
        <p:spPr>
          <a:xfrm>
            <a:off x="8641080" y="1371600"/>
            <a:ext cx="1462680" cy="1462680"/>
          </a:xfrm>
          <a:prstGeom prst="rect">
            <a:avLst/>
          </a:prstGeom>
          <a:solidFill>
            <a:srgbClr val="f2f4f8"/>
          </a:solidFill>
          <a:ln w="12600">
            <a:solidFill>
              <a:srgbClr val="6b7280"/>
            </a:solidFill>
            <a:round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pic>
        <p:nvPicPr>
          <p:cNvPr id="274" name="Picture 24" descr="kxrl2makabe.png"/>
          <p:cNvPicPr/>
          <p:nvPr/>
        </p:nvPicPr>
        <p:blipFill>
          <a:blip r:embed="rId6"/>
          <a:stretch/>
        </p:blipFill>
        <p:spPr>
          <a:xfrm>
            <a:off x="8966880" y="1444680"/>
            <a:ext cx="811440" cy="1316520"/>
          </a:xfrm>
          <a:prstGeom prst="rect">
            <a:avLst/>
          </a:prstGeom>
          <a:ln>
            <a:noFill/>
          </a:ln>
        </p:spPr>
      </p:pic>
      <p:sp>
        <p:nvSpPr>
          <p:cNvPr id="275" name="CustomShape 19"/>
          <p:cNvSpPr/>
          <p:nvPr/>
        </p:nvSpPr>
        <p:spPr>
          <a:xfrm>
            <a:off x="8641080" y="2853000"/>
            <a:ext cx="1462680" cy="2350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ctr">
              <a:lnSpc>
                <a:spcPct val="100000"/>
              </a:lnSpc>
            </a:pPr>
            <a:r>
              <a:rPr b="1" lang="en-US" sz="950" spc="-1" strike="noStrike">
                <a:solidFill>
                  <a:srgbClr val="1f2a44"/>
                </a:solidFill>
                <a:latin typeface="Yu Gothic"/>
              </a:rPr>
              <a:t>kxrl2makabe</a:t>
            </a:r>
            <a:endParaRPr b="0" lang="en-US" sz="950" spc="-1" strike="noStrike">
              <a:latin typeface="Arial"/>
            </a:endParaRPr>
          </a:p>
        </p:txBody>
      </p:sp>
      <p:sp>
        <p:nvSpPr>
          <p:cNvPr id="276" name="CustomShape 20"/>
          <p:cNvSpPr/>
          <p:nvPr/>
        </p:nvSpPr>
        <p:spPr>
          <a:xfrm>
            <a:off x="8641080" y="3099960"/>
            <a:ext cx="1462680" cy="3337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6b7280"/>
                </a:solidFill>
                <a:latin typeface="Yu Gothic"/>
              </a:rPr>
              <a:t>makabe</a:t>
            </a:r>
            <a:r>
              <a:rPr b="0" lang="zh-CN" sz="800" spc="-1" strike="noStrike">
                <a:solidFill>
                  <a:srgbClr val="6b7280"/>
                </a:solidFill>
                <a:latin typeface="Yu Gothic"/>
              </a:rPr>
              <a:t>型</a:t>
            </a:r>
            <a:endParaRPr b="0" lang="en-US" sz="8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6b7280"/>
                </a:solidFill>
                <a:latin typeface="Yu Gothic"/>
              </a:rPr>
              <a:t>(</a:t>
            </a:r>
            <a:r>
              <a:rPr b="0" lang="zh-CN" sz="800" spc="-1" strike="noStrike">
                <a:solidFill>
                  <a:srgbClr val="6b7280"/>
                </a:solidFill>
                <a:latin typeface="Yu Gothic"/>
              </a:rPr>
              <a:t>脚</a:t>
            </a:r>
            <a:r>
              <a:rPr b="0" lang="en-US" sz="800" spc="-1" strike="noStrike">
                <a:solidFill>
                  <a:srgbClr val="6b7280"/>
                </a:solidFill>
                <a:latin typeface="Yu Gothic"/>
              </a:rPr>
              <a:t>2</a:t>
            </a:r>
            <a:r>
              <a:rPr b="0" lang="zh-CN" sz="800" spc="-1" strike="noStrike">
                <a:solidFill>
                  <a:srgbClr val="6b7280"/>
                </a:solidFill>
                <a:latin typeface="Yu Gothic"/>
              </a:rPr>
              <a:t>・固有デザイン</a:t>
            </a:r>
            <a:r>
              <a:rPr b="0" lang="en-US" sz="800" spc="-1" strike="noStrike">
                <a:solidFill>
                  <a:srgbClr val="6b7280"/>
                </a:solidFill>
                <a:latin typeface="Yu Gothic"/>
              </a:rPr>
              <a:t>)</a:t>
            </a:r>
            <a:endParaRPr b="0" lang="en-US" sz="800" spc="-1" strike="noStrike">
              <a:latin typeface="Arial"/>
            </a:endParaRPr>
          </a:p>
        </p:txBody>
      </p:sp>
      <p:sp>
        <p:nvSpPr>
          <p:cNvPr id="277" name="CustomShape 21"/>
          <p:cNvSpPr/>
          <p:nvPr/>
        </p:nvSpPr>
        <p:spPr>
          <a:xfrm>
            <a:off x="10268640" y="1371600"/>
            <a:ext cx="1462680" cy="1462680"/>
          </a:xfrm>
          <a:prstGeom prst="rect">
            <a:avLst/>
          </a:prstGeom>
          <a:solidFill>
            <a:srgbClr val="f2f4f8"/>
          </a:solidFill>
          <a:ln w="12600">
            <a:solidFill>
              <a:srgbClr val="6b7280"/>
            </a:solidFill>
            <a:round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pic>
        <p:nvPicPr>
          <p:cNvPr id="278" name="Picture 28" descr="kxrow4a6h2m.png"/>
          <p:cNvPicPr/>
          <p:nvPr/>
        </p:nvPicPr>
        <p:blipFill>
          <a:blip r:embed="rId7"/>
          <a:stretch/>
        </p:blipFill>
        <p:spPr>
          <a:xfrm>
            <a:off x="10515600" y="1444680"/>
            <a:ext cx="969120" cy="1316520"/>
          </a:xfrm>
          <a:prstGeom prst="rect">
            <a:avLst/>
          </a:prstGeom>
          <a:ln>
            <a:noFill/>
          </a:ln>
        </p:spPr>
      </p:pic>
      <p:sp>
        <p:nvSpPr>
          <p:cNvPr id="279" name="CustomShape 22"/>
          <p:cNvSpPr/>
          <p:nvPr/>
        </p:nvSpPr>
        <p:spPr>
          <a:xfrm>
            <a:off x="10268640" y="2853000"/>
            <a:ext cx="1462680" cy="2350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ctr">
              <a:lnSpc>
                <a:spcPct val="100000"/>
              </a:lnSpc>
            </a:pPr>
            <a:r>
              <a:rPr b="1" lang="en-US" sz="950" spc="-1" strike="noStrike">
                <a:solidFill>
                  <a:srgbClr val="1f2a44"/>
                </a:solidFill>
                <a:latin typeface="Yu Gothic"/>
              </a:rPr>
              <a:t>kxrow4a6h2m</a:t>
            </a:r>
            <a:endParaRPr b="0" lang="en-US" sz="950" spc="-1" strike="noStrike">
              <a:latin typeface="Arial"/>
            </a:endParaRPr>
          </a:p>
        </p:txBody>
      </p:sp>
      <p:sp>
        <p:nvSpPr>
          <p:cNvPr id="280" name="CustomShape 23"/>
          <p:cNvSpPr/>
          <p:nvPr/>
        </p:nvSpPr>
        <p:spPr>
          <a:xfrm>
            <a:off x="10268640" y="3099960"/>
            <a:ext cx="1462680" cy="3337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ctr">
              <a:lnSpc>
                <a:spcPct val="100000"/>
              </a:lnSpc>
            </a:pPr>
            <a:r>
              <a:rPr b="0" lang="zh-CN" sz="800" spc="-1" strike="noStrike">
                <a:solidFill>
                  <a:srgbClr val="6b7280"/>
                </a:solidFill>
                <a:latin typeface="Yu Gothic"/>
              </a:rPr>
              <a:t>オムニ車輪</a:t>
            </a:r>
            <a:r>
              <a:rPr b="0" lang="en-US" sz="800" spc="-1" strike="noStrike">
                <a:solidFill>
                  <a:srgbClr val="6b7280"/>
                </a:solidFill>
                <a:latin typeface="Yu Gothic"/>
              </a:rPr>
              <a:t>4</a:t>
            </a:r>
            <a:endParaRPr b="0" lang="en-US" sz="8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6b7280"/>
                </a:solidFill>
                <a:latin typeface="Yu Gothic"/>
              </a:rPr>
              <a:t>+</a:t>
            </a:r>
            <a:r>
              <a:rPr b="0" lang="zh-CN" sz="800" spc="-1" strike="noStrike">
                <a:solidFill>
                  <a:srgbClr val="6b7280"/>
                </a:solidFill>
                <a:latin typeface="Yu Gothic"/>
              </a:rPr>
              <a:t>腕</a:t>
            </a:r>
            <a:r>
              <a:rPr b="0" lang="en-US" sz="800" spc="-1" strike="noStrike">
                <a:solidFill>
                  <a:srgbClr val="6b7280"/>
                </a:solidFill>
                <a:latin typeface="Yu Gothic"/>
              </a:rPr>
              <a:t>6+</a:t>
            </a:r>
            <a:r>
              <a:rPr b="0" lang="zh-CN" sz="800" spc="-1" strike="noStrike">
                <a:solidFill>
                  <a:srgbClr val="6b7280"/>
                </a:solidFill>
                <a:latin typeface="Yu Gothic"/>
              </a:rPr>
              <a:t>頭</a:t>
            </a:r>
            <a:r>
              <a:rPr b="0" lang="en-US" sz="800" spc="-1" strike="noStrike">
                <a:solidFill>
                  <a:srgbClr val="6b7280"/>
                </a:solidFill>
                <a:latin typeface="Yu Gothic"/>
              </a:rPr>
              <a:t>2</a:t>
            </a:r>
            <a:endParaRPr b="0" lang="en-US" sz="800" spc="-1" strike="noStrike">
              <a:latin typeface="Arial"/>
            </a:endParaRPr>
          </a:p>
        </p:txBody>
      </p:sp>
      <p:sp>
        <p:nvSpPr>
          <p:cNvPr id="281" name="CustomShape 24"/>
          <p:cNvSpPr/>
          <p:nvPr/>
        </p:nvSpPr>
        <p:spPr>
          <a:xfrm>
            <a:off x="502920" y="3520440"/>
            <a:ext cx="1462680" cy="1462680"/>
          </a:xfrm>
          <a:prstGeom prst="rect">
            <a:avLst/>
          </a:prstGeom>
          <a:solidFill>
            <a:srgbClr val="f2f4f8"/>
          </a:solidFill>
          <a:ln w="12600">
            <a:solidFill>
              <a:srgbClr val="6b7280"/>
            </a:solidFill>
            <a:round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pic>
        <p:nvPicPr>
          <p:cNvPr id="282" name="Picture 32" descr="kxrl2l6a7h2.png"/>
          <p:cNvPicPr/>
          <p:nvPr/>
        </p:nvPicPr>
        <p:blipFill>
          <a:blip r:embed="rId8"/>
          <a:stretch/>
        </p:blipFill>
        <p:spPr>
          <a:xfrm>
            <a:off x="771480" y="3593520"/>
            <a:ext cx="925560" cy="1316520"/>
          </a:xfrm>
          <a:prstGeom prst="rect">
            <a:avLst/>
          </a:prstGeom>
          <a:ln>
            <a:noFill/>
          </a:ln>
        </p:spPr>
      </p:pic>
      <p:sp>
        <p:nvSpPr>
          <p:cNvPr id="283" name="CustomShape 25"/>
          <p:cNvSpPr/>
          <p:nvPr/>
        </p:nvSpPr>
        <p:spPr>
          <a:xfrm>
            <a:off x="502920" y="5001840"/>
            <a:ext cx="1462680" cy="2350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ctr">
              <a:lnSpc>
                <a:spcPct val="100000"/>
              </a:lnSpc>
            </a:pPr>
            <a:r>
              <a:rPr b="1" lang="en-US" sz="950" spc="-1" strike="noStrike">
                <a:solidFill>
                  <a:srgbClr val="1f2a44"/>
                </a:solidFill>
                <a:latin typeface="Yu Gothic"/>
              </a:rPr>
              <a:t>kxrl2l6a7h2</a:t>
            </a:r>
            <a:endParaRPr b="0" lang="en-US" sz="950" spc="-1" strike="noStrike">
              <a:latin typeface="Arial"/>
            </a:endParaRPr>
          </a:p>
        </p:txBody>
      </p:sp>
      <p:sp>
        <p:nvSpPr>
          <p:cNvPr id="284" name="CustomShape 26"/>
          <p:cNvSpPr/>
          <p:nvPr/>
        </p:nvSpPr>
        <p:spPr>
          <a:xfrm>
            <a:off x="502920" y="5248800"/>
            <a:ext cx="1462680" cy="3337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ctr">
              <a:lnSpc>
                <a:spcPct val="100000"/>
              </a:lnSpc>
            </a:pPr>
            <a:r>
              <a:rPr b="0" lang="zh-CN" sz="800" spc="-1" strike="noStrike">
                <a:solidFill>
                  <a:srgbClr val="6b7280"/>
                </a:solidFill>
                <a:latin typeface="Yu Gothic"/>
              </a:rPr>
              <a:t>脚</a:t>
            </a:r>
            <a:r>
              <a:rPr b="0" lang="en-US" sz="800" spc="-1" strike="noStrike">
                <a:solidFill>
                  <a:srgbClr val="6b7280"/>
                </a:solidFill>
                <a:latin typeface="Yu Gothic"/>
              </a:rPr>
              <a:t>2+</a:t>
            </a:r>
            <a:r>
              <a:rPr b="0" lang="zh-CN" sz="800" spc="-1" strike="noStrike">
                <a:solidFill>
                  <a:srgbClr val="6b7280"/>
                </a:solidFill>
                <a:latin typeface="Yu Gothic"/>
              </a:rPr>
              <a:t>脚</a:t>
            </a:r>
            <a:r>
              <a:rPr b="0" lang="en-US" sz="800" spc="-1" strike="noStrike">
                <a:solidFill>
                  <a:srgbClr val="6b7280"/>
                </a:solidFill>
                <a:latin typeface="Yu Gothic"/>
              </a:rPr>
              <a:t>6</a:t>
            </a:r>
            <a:endParaRPr b="0" lang="en-US" sz="8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6b7280"/>
                </a:solidFill>
                <a:latin typeface="Yu Gothic"/>
              </a:rPr>
              <a:t>+</a:t>
            </a:r>
            <a:r>
              <a:rPr b="0" lang="zh-CN" sz="800" spc="-1" strike="noStrike">
                <a:solidFill>
                  <a:srgbClr val="6b7280"/>
                </a:solidFill>
                <a:latin typeface="Yu Gothic"/>
              </a:rPr>
              <a:t>腕</a:t>
            </a:r>
            <a:r>
              <a:rPr b="0" lang="en-US" sz="800" spc="-1" strike="noStrike">
                <a:solidFill>
                  <a:srgbClr val="6b7280"/>
                </a:solidFill>
                <a:latin typeface="Yu Gothic"/>
              </a:rPr>
              <a:t>7+</a:t>
            </a:r>
            <a:r>
              <a:rPr b="0" lang="zh-CN" sz="800" spc="-1" strike="noStrike">
                <a:solidFill>
                  <a:srgbClr val="6b7280"/>
                </a:solidFill>
                <a:latin typeface="Yu Gothic"/>
              </a:rPr>
              <a:t>頭</a:t>
            </a:r>
            <a:r>
              <a:rPr b="0" lang="en-US" sz="800" spc="-1" strike="noStrike">
                <a:solidFill>
                  <a:srgbClr val="6b7280"/>
                </a:solidFill>
                <a:latin typeface="Yu Gothic"/>
              </a:rPr>
              <a:t>2</a:t>
            </a:r>
            <a:endParaRPr b="0" lang="en-US" sz="800" spc="-1" strike="noStrike">
              <a:latin typeface="Arial"/>
            </a:endParaRPr>
          </a:p>
        </p:txBody>
      </p:sp>
      <p:sp>
        <p:nvSpPr>
          <p:cNvPr id="285" name="CustomShape 27"/>
          <p:cNvSpPr/>
          <p:nvPr/>
        </p:nvSpPr>
        <p:spPr>
          <a:xfrm>
            <a:off x="2130480" y="3520440"/>
            <a:ext cx="1462680" cy="1462680"/>
          </a:xfrm>
          <a:prstGeom prst="rect">
            <a:avLst/>
          </a:prstGeom>
          <a:solidFill>
            <a:srgbClr val="f2f4f8"/>
          </a:solidFill>
          <a:ln w="12600">
            <a:solidFill>
              <a:srgbClr val="6b7280"/>
            </a:solidFill>
            <a:round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pic>
        <p:nvPicPr>
          <p:cNvPr id="286" name="Picture 36" descr="kxrl2semi2022s.png"/>
          <p:cNvPicPr/>
          <p:nvPr/>
        </p:nvPicPr>
        <p:blipFill>
          <a:blip r:embed="rId9"/>
          <a:stretch/>
        </p:blipFill>
        <p:spPr>
          <a:xfrm>
            <a:off x="2379240" y="3593520"/>
            <a:ext cx="965160" cy="1316520"/>
          </a:xfrm>
          <a:prstGeom prst="rect">
            <a:avLst/>
          </a:prstGeom>
          <a:ln>
            <a:noFill/>
          </a:ln>
        </p:spPr>
      </p:pic>
      <p:sp>
        <p:nvSpPr>
          <p:cNvPr id="287" name="CustomShape 28"/>
          <p:cNvSpPr/>
          <p:nvPr/>
        </p:nvSpPr>
        <p:spPr>
          <a:xfrm>
            <a:off x="2130480" y="5001840"/>
            <a:ext cx="1462680" cy="2350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ctr">
              <a:lnSpc>
                <a:spcPct val="100000"/>
              </a:lnSpc>
            </a:pPr>
            <a:r>
              <a:rPr b="1" lang="en-US" sz="950" spc="-1" strike="noStrike">
                <a:solidFill>
                  <a:srgbClr val="1f2a44"/>
                </a:solidFill>
                <a:latin typeface="Yu Gothic"/>
              </a:rPr>
              <a:t>kxrl2semi2022s</a:t>
            </a:r>
            <a:endParaRPr b="0" lang="en-US" sz="950" spc="-1" strike="noStrike">
              <a:latin typeface="Arial"/>
            </a:endParaRPr>
          </a:p>
        </p:txBody>
      </p:sp>
      <p:sp>
        <p:nvSpPr>
          <p:cNvPr id="288" name="CustomShape 29"/>
          <p:cNvSpPr/>
          <p:nvPr/>
        </p:nvSpPr>
        <p:spPr>
          <a:xfrm>
            <a:off x="2130480" y="5248800"/>
            <a:ext cx="1462680" cy="3337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6b7280"/>
                </a:solidFill>
                <a:latin typeface="Yu Gothic"/>
              </a:rPr>
              <a:t>2</a:t>
            </a:r>
            <a:r>
              <a:rPr b="0" lang="zh-CN" sz="800" spc="-1" strike="noStrike">
                <a:solidFill>
                  <a:srgbClr val="6b7280"/>
                </a:solidFill>
                <a:latin typeface="Yu Gothic"/>
              </a:rPr>
              <a:t>関節</a:t>
            </a:r>
            <a:r>
              <a:rPr b="0" lang="en-US" sz="800" spc="-1" strike="noStrike">
                <a:solidFill>
                  <a:srgbClr val="6b7280"/>
                </a:solidFill>
                <a:latin typeface="Yu Gothic"/>
              </a:rPr>
              <a:t>2</a:t>
            </a:r>
            <a:r>
              <a:rPr b="0" lang="zh-CN" sz="800" spc="-1" strike="noStrike">
                <a:solidFill>
                  <a:srgbClr val="6b7280"/>
                </a:solidFill>
                <a:latin typeface="Yu Gothic"/>
              </a:rPr>
              <a:t>脚型</a:t>
            </a:r>
            <a:endParaRPr b="0" lang="en-US" sz="8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6b7280"/>
                </a:solidFill>
                <a:latin typeface="Yu Gothic"/>
              </a:rPr>
              <a:t>(</a:t>
            </a:r>
            <a:r>
              <a:rPr b="0" lang="zh-CN" sz="800" spc="-1" strike="noStrike">
                <a:solidFill>
                  <a:srgbClr val="6b7280"/>
                </a:solidFill>
                <a:latin typeface="Yu Gothic"/>
              </a:rPr>
              <a:t>シンプル二足</a:t>
            </a:r>
            <a:r>
              <a:rPr b="0" lang="en-US" sz="800" spc="-1" strike="noStrike">
                <a:solidFill>
                  <a:srgbClr val="6b7280"/>
                </a:solidFill>
                <a:latin typeface="Yu Gothic"/>
              </a:rPr>
              <a:t>)</a:t>
            </a:r>
            <a:endParaRPr b="0" lang="en-US" sz="800" spc="-1" strike="noStrike">
              <a:latin typeface="Arial"/>
            </a:endParaRPr>
          </a:p>
        </p:txBody>
      </p:sp>
      <p:sp>
        <p:nvSpPr>
          <p:cNvPr id="289" name="CustomShape 30"/>
          <p:cNvSpPr/>
          <p:nvPr/>
        </p:nvSpPr>
        <p:spPr>
          <a:xfrm>
            <a:off x="3758040" y="3520440"/>
            <a:ext cx="1462680" cy="1462680"/>
          </a:xfrm>
          <a:prstGeom prst="rect">
            <a:avLst/>
          </a:prstGeom>
          <a:solidFill>
            <a:srgbClr val="f2f4f8"/>
          </a:solidFill>
          <a:ln w="12600">
            <a:solidFill>
              <a:srgbClr val="6b7280"/>
            </a:solidFill>
            <a:round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pic>
        <p:nvPicPr>
          <p:cNvPr id="290" name="Picture 40" descr="kxrl4c.png"/>
          <p:cNvPicPr/>
          <p:nvPr/>
        </p:nvPicPr>
        <p:blipFill>
          <a:blip r:embed="rId10"/>
          <a:stretch/>
        </p:blipFill>
        <p:spPr>
          <a:xfrm>
            <a:off x="4028760" y="3593520"/>
            <a:ext cx="921960" cy="1316520"/>
          </a:xfrm>
          <a:prstGeom prst="rect">
            <a:avLst/>
          </a:prstGeom>
          <a:ln>
            <a:noFill/>
          </a:ln>
        </p:spPr>
      </p:pic>
      <p:sp>
        <p:nvSpPr>
          <p:cNvPr id="291" name="CustomShape 31"/>
          <p:cNvSpPr/>
          <p:nvPr/>
        </p:nvSpPr>
        <p:spPr>
          <a:xfrm>
            <a:off x="3758040" y="5001840"/>
            <a:ext cx="1462680" cy="2350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ctr">
              <a:lnSpc>
                <a:spcPct val="100000"/>
              </a:lnSpc>
            </a:pPr>
            <a:r>
              <a:rPr b="1" lang="en-US" sz="950" spc="-1" strike="noStrike">
                <a:solidFill>
                  <a:srgbClr val="1f2a44"/>
                </a:solidFill>
                <a:latin typeface="Yu Gothic"/>
              </a:rPr>
              <a:t>kxrl4c</a:t>
            </a:r>
            <a:endParaRPr b="0" lang="en-US" sz="950" spc="-1" strike="noStrike">
              <a:latin typeface="Arial"/>
            </a:endParaRPr>
          </a:p>
        </p:txBody>
      </p:sp>
      <p:sp>
        <p:nvSpPr>
          <p:cNvPr id="292" name="CustomShape 32"/>
          <p:cNvSpPr/>
          <p:nvPr/>
        </p:nvSpPr>
        <p:spPr>
          <a:xfrm>
            <a:off x="3758040" y="5248800"/>
            <a:ext cx="1462680" cy="2120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6b7280"/>
                </a:solidFill>
                <a:latin typeface="Yu Gothic"/>
              </a:rPr>
              <a:t>4</a:t>
            </a:r>
            <a:r>
              <a:rPr b="0" lang="zh-CN" sz="800" spc="-1" strike="noStrike">
                <a:solidFill>
                  <a:srgbClr val="6b7280"/>
                </a:solidFill>
                <a:latin typeface="Yu Gothic"/>
              </a:rPr>
              <a:t>脚</a:t>
            </a:r>
            <a:r>
              <a:rPr b="0" lang="en-US" sz="800" spc="-1" strike="noStrike">
                <a:solidFill>
                  <a:srgbClr val="6b7280"/>
                </a:solidFill>
                <a:latin typeface="Yu Gothic"/>
              </a:rPr>
              <a:t>+</a:t>
            </a:r>
            <a:r>
              <a:rPr b="0" lang="zh-CN" sz="800" spc="-1" strike="noStrike">
                <a:solidFill>
                  <a:srgbClr val="6b7280"/>
                </a:solidFill>
                <a:latin typeface="Yu Gothic"/>
              </a:rPr>
              <a:t>双腕型</a:t>
            </a:r>
            <a:endParaRPr b="0" lang="en-US" sz="800" spc="-1" strike="noStrike">
              <a:latin typeface="Arial"/>
            </a:endParaRPr>
          </a:p>
        </p:txBody>
      </p:sp>
      <p:sp>
        <p:nvSpPr>
          <p:cNvPr id="293" name="CustomShape 33"/>
          <p:cNvSpPr/>
          <p:nvPr/>
        </p:nvSpPr>
        <p:spPr>
          <a:xfrm>
            <a:off x="5385960" y="3520440"/>
            <a:ext cx="1462680" cy="1462680"/>
          </a:xfrm>
          <a:prstGeom prst="rect">
            <a:avLst/>
          </a:prstGeom>
          <a:solidFill>
            <a:srgbClr val="f2f4f8"/>
          </a:solidFill>
          <a:ln w="12600">
            <a:solidFill>
              <a:srgbClr val="6b7280"/>
            </a:solidFill>
            <a:round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pic>
        <p:nvPicPr>
          <p:cNvPr id="294" name="Picture 44" descr="kxrl2l7a7w.png"/>
          <p:cNvPicPr/>
          <p:nvPr/>
        </p:nvPicPr>
        <p:blipFill>
          <a:blip r:embed="rId11"/>
          <a:stretch/>
        </p:blipFill>
        <p:spPr>
          <a:xfrm>
            <a:off x="5807520" y="3593520"/>
            <a:ext cx="618840" cy="1316520"/>
          </a:xfrm>
          <a:prstGeom prst="rect">
            <a:avLst/>
          </a:prstGeom>
          <a:ln>
            <a:noFill/>
          </a:ln>
        </p:spPr>
      </p:pic>
      <p:sp>
        <p:nvSpPr>
          <p:cNvPr id="295" name="CustomShape 34"/>
          <p:cNvSpPr/>
          <p:nvPr/>
        </p:nvSpPr>
        <p:spPr>
          <a:xfrm>
            <a:off x="5385960" y="5001840"/>
            <a:ext cx="1462680" cy="2350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ctr">
              <a:lnSpc>
                <a:spcPct val="100000"/>
              </a:lnSpc>
            </a:pPr>
            <a:r>
              <a:rPr b="1" lang="en-US" sz="950" spc="-1" strike="noStrike">
                <a:solidFill>
                  <a:srgbClr val="1f2a44"/>
                </a:solidFill>
                <a:latin typeface="Yu Gothic"/>
              </a:rPr>
              <a:t>kxrl2l7a7w</a:t>
            </a:r>
            <a:endParaRPr b="0" lang="en-US" sz="950" spc="-1" strike="noStrike">
              <a:latin typeface="Arial"/>
            </a:endParaRPr>
          </a:p>
        </p:txBody>
      </p:sp>
      <p:sp>
        <p:nvSpPr>
          <p:cNvPr id="296" name="CustomShape 35"/>
          <p:cNvSpPr/>
          <p:nvPr/>
        </p:nvSpPr>
        <p:spPr>
          <a:xfrm>
            <a:off x="5385960" y="5248800"/>
            <a:ext cx="1462680" cy="3337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ctr">
              <a:lnSpc>
                <a:spcPct val="100000"/>
              </a:lnSpc>
            </a:pPr>
            <a:r>
              <a:rPr b="0" lang="zh-CN" sz="800" spc="-1" strike="noStrike">
                <a:solidFill>
                  <a:srgbClr val="6b7280"/>
                </a:solidFill>
                <a:latin typeface="Yu Gothic"/>
              </a:rPr>
              <a:t>脚</a:t>
            </a:r>
            <a:r>
              <a:rPr b="0" lang="en-US" sz="800" spc="-1" strike="noStrike">
                <a:solidFill>
                  <a:srgbClr val="6b7280"/>
                </a:solidFill>
                <a:latin typeface="Yu Gothic"/>
              </a:rPr>
              <a:t>2+</a:t>
            </a:r>
            <a:r>
              <a:rPr b="0" lang="zh-CN" sz="800" spc="-1" strike="noStrike">
                <a:solidFill>
                  <a:srgbClr val="6b7280"/>
                </a:solidFill>
                <a:latin typeface="Yu Gothic"/>
              </a:rPr>
              <a:t>脚</a:t>
            </a:r>
            <a:r>
              <a:rPr b="0" lang="en-US" sz="800" spc="-1" strike="noStrike">
                <a:solidFill>
                  <a:srgbClr val="6b7280"/>
                </a:solidFill>
                <a:latin typeface="Yu Gothic"/>
              </a:rPr>
              <a:t>7</a:t>
            </a:r>
            <a:endParaRPr b="0" lang="en-US" sz="8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6b7280"/>
                </a:solidFill>
                <a:latin typeface="Yu Gothic"/>
              </a:rPr>
              <a:t>+</a:t>
            </a:r>
            <a:r>
              <a:rPr b="0" lang="zh-CN" sz="800" spc="-1" strike="noStrike">
                <a:solidFill>
                  <a:srgbClr val="6b7280"/>
                </a:solidFill>
                <a:latin typeface="Yu Gothic"/>
              </a:rPr>
              <a:t>腕</a:t>
            </a:r>
            <a:r>
              <a:rPr b="0" lang="en-US" sz="800" spc="-1" strike="noStrike">
                <a:solidFill>
                  <a:srgbClr val="6b7280"/>
                </a:solidFill>
                <a:latin typeface="Yu Gothic"/>
              </a:rPr>
              <a:t>7+</a:t>
            </a:r>
            <a:r>
              <a:rPr b="0" lang="zh-CN" sz="800" spc="-1" strike="noStrike">
                <a:solidFill>
                  <a:srgbClr val="6b7280"/>
                </a:solidFill>
                <a:latin typeface="Yu Gothic"/>
              </a:rPr>
              <a:t>車輪</a:t>
            </a:r>
            <a:endParaRPr b="0" lang="en-US" sz="800" spc="-1" strike="noStrike">
              <a:latin typeface="Arial"/>
            </a:endParaRPr>
          </a:p>
        </p:txBody>
      </p:sp>
      <p:sp>
        <p:nvSpPr>
          <p:cNvPr id="297" name="CustomShape 36"/>
          <p:cNvSpPr/>
          <p:nvPr/>
        </p:nvSpPr>
        <p:spPr>
          <a:xfrm>
            <a:off x="7013520" y="3520440"/>
            <a:ext cx="1462680" cy="1462680"/>
          </a:xfrm>
          <a:prstGeom prst="rect">
            <a:avLst/>
          </a:prstGeom>
          <a:solidFill>
            <a:srgbClr val="f2f4f8"/>
          </a:solidFill>
          <a:ln w="12600">
            <a:solidFill>
              <a:srgbClr val="6b7280"/>
            </a:solidFill>
            <a:round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pic>
        <p:nvPicPr>
          <p:cNvPr id="298" name="Picture 48" descr="kxrroboset4.png"/>
          <p:cNvPicPr/>
          <p:nvPr/>
        </p:nvPicPr>
        <p:blipFill>
          <a:blip r:embed="rId12"/>
          <a:stretch/>
        </p:blipFill>
        <p:spPr>
          <a:xfrm>
            <a:off x="7275240" y="3593520"/>
            <a:ext cx="939240" cy="1316520"/>
          </a:xfrm>
          <a:prstGeom prst="rect">
            <a:avLst/>
          </a:prstGeom>
          <a:ln>
            <a:noFill/>
          </a:ln>
        </p:spPr>
      </p:pic>
      <p:sp>
        <p:nvSpPr>
          <p:cNvPr id="299" name="CustomShape 37"/>
          <p:cNvSpPr/>
          <p:nvPr/>
        </p:nvSpPr>
        <p:spPr>
          <a:xfrm>
            <a:off x="7013520" y="5001840"/>
            <a:ext cx="1462680" cy="2350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ctr">
              <a:lnSpc>
                <a:spcPct val="100000"/>
              </a:lnSpc>
            </a:pPr>
            <a:r>
              <a:rPr b="1" lang="en-US" sz="950" spc="-1" strike="noStrike">
                <a:solidFill>
                  <a:srgbClr val="1f2a44"/>
                </a:solidFill>
                <a:latin typeface="Yu Gothic"/>
              </a:rPr>
              <a:t>kxrroboset4</a:t>
            </a:r>
            <a:endParaRPr b="0" lang="en-US" sz="950" spc="-1" strike="noStrike">
              <a:latin typeface="Arial"/>
            </a:endParaRPr>
          </a:p>
        </p:txBody>
      </p:sp>
      <p:sp>
        <p:nvSpPr>
          <p:cNvPr id="300" name="CustomShape 38"/>
          <p:cNvSpPr/>
          <p:nvPr/>
        </p:nvSpPr>
        <p:spPr>
          <a:xfrm>
            <a:off x="7013520" y="5248800"/>
            <a:ext cx="1462680" cy="3337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6b7280"/>
                </a:solidFill>
                <a:latin typeface="Yu Gothic"/>
              </a:rPr>
              <a:t>roboset4</a:t>
            </a:r>
            <a:r>
              <a:rPr b="0" lang="zh-CN" sz="800" spc="-1" strike="noStrike">
                <a:solidFill>
                  <a:srgbClr val="6b7280"/>
                </a:solidFill>
                <a:latin typeface="Yu Gothic"/>
              </a:rPr>
              <a:t>型</a:t>
            </a:r>
            <a:endParaRPr b="0" lang="en-US" sz="8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6b7280"/>
                </a:solidFill>
                <a:latin typeface="Yu Gothic"/>
              </a:rPr>
              <a:t>(</a:t>
            </a:r>
            <a:r>
              <a:rPr b="0" lang="zh-CN" sz="800" spc="-1" strike="noStrike">
                <a:solidFill>
                  <a:srgbClr val="6b7280"/>
                </a:solidFill>
                <a:latin typeface="Yu Gothic"/>
              </a:rPr>
              <a:t>固有デザイン</a:t>
            </a:r>
            <a:r>
              <a:rPr b="0" lang="en-US" sz="800" spc="-1" strike="noStrike">
                <a:solidFill>
                  <a:srgbClr val="6b7280"/>
                </a:solidFill>
                <a:latin typeface="Yu Gothic"/>
              </a:rPr>
              <a:t>)</a:t>
            </a:r>
            <a:endParaRPr b="0" lang="en-US" sz="800" spc="-1" strike="noStrike">
              <a:latin typeface="Arial"/>
            </a:endParaRPr>
          </a:p>
        </p:txBody>
      </p:sp>
      <p:sp>
        <p:nvSpPr>
          <p:cNvPr id="301" name="CustomShape 39"/>
          <p:cNvSpPr/>
          <p:nvPr/>
        </p:nvSpPr>
        <p:spPr>
          <a:xfrm>
            <a:off x="8641080" y="3520440"/>
            <a:ext cx="1462680" cy="1462680"/>
          </a:xfrm>
          <a:prstGeom prst="rect">
            <a:avLst/>
          </a:prstGeom>
          <a:solidFill>
            <a:srgbClr val="f2f4f8"/>
          </a:solidFill>
          <a:ln w="12600">
            <a:solidFill>
              <a:srgbClr val="6b7280"/>
            </a:solidFill>
            <a:round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pic>
        <p:nvPicPr>
          <p:cNvPr id="302" name="Picture 52" descr="khranzaifly.png"/>
          <p:cNvPicPr/>
          <p:nvPr/>
        </p:nvPicPr>
        <p:blipFill>
          <a:blip r:embed="rId13"/>
          <a:stretch/>
        </p:blipFill>
        <p:spPr>
          <a:xfrm>
            <a:off x="8871480" y="3593520"/>
            <a:ext cx="1001520" cy="1316520"/>
          </a:xfrm>
          <a:prstGeom prst="rect">
            <a:avLst/>
          </a:prstGeom>
          <a:ln>
            <a:noFill/>
          </a:ln>
        </p:spPr>
      </p:pic>
      <p:sp>
        <p:nvSpPr>
          <p:cNvPr id="303" name="CustomShape 40"/>
          <p:cNvSpPr/>
          <p:nvPr/>
        </p:nvSpPr>
        <p:spPr>
          <a:xfrm>
            <a:off x="8641080" y="5001840"/>
            <a:ext cx="1462680" cy="2350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ctr">
              <a:lnSpc>
                <a:spcPct val="100000"/>
              </a:lnSpc>
            </a:pPr>
            <a:r>
              <a:rPr b="1" lang="en-US" sz="950" spc="-1" strike="noStrike">
                <a:solidFill>
                  <a:srgbClr val="1f2a44"/>
                </a:solidFill>
                <a:latin typeface="Yu Gothic"/>
              </a:rPr>
              <a:t>khranzaifly</a:t>
            </a:r>
            <a:endParaRPr b="0" lang="en-US" sz="950" spc="-1" strike="noStrike">
              <a:latin typeface="Arial"/>
            </a:endParaRPr>
          </a:p>
        </p:txBody>
      </p:sp>
      <p:sp>
        <p:nvSpPr>
          <p:cNvPr id="304" name="CustomShape 41"/>
          <p:cNvSpPr/>
          <p:nvPr/>
        </p:nvSpPr>
        <p:spPr>
          <a:xfrm>
            <a:off x="8641080" y="5248800"/>
            <a:ext cx="1462680" cy="3337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6b7280"/>
                </a:solidFill>
                <a:latin typeface="Yu Gothic"/>
              </a:rPr>
              <a:t>KHR</a:t>
            </a:r>
            <a:r>
              <a:rPr b="0" lang="zh-CN" sz="800" spc="-1" strike="noStrike">
                <a:solidFill>
                  <a:srgbClr val="6b7280"/>
                </a:solidFill>
                <a:latin typeface="Yu Gothic"/>
              </a:rPr>
              <a:t>系</a:t>
            </a:r>
            <a:r>
              <a:rPr b="0" lang="en-US" sz="800" spc="-1" strike="noStrike">
                <a:solidFill>
                  <a:srgbClr val="6b7280"/>
                </a:solidFill>
                <a:latin typeface="Yu Gothic"/>
              </a:rPr>
              <a:t>+</a:t>
            </a:r>
            <a:r>
              <a:rPr b="0" lang="zh-CN" sz="800" spc="-1" strike="noStrike">
                <a:solidFill>
                  <a:srgbClr val="6b7280"/>
                </a:solidFill>
                <a:latin typeface="Yu Gothic"/>
              </a:rPr>
              <a:t>ドローンロータ</a:t>
            </a:r>
            <a:endParaRPr b="0" lang="en-US" sz="8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6b7280"/>
                </a:solidFill>
                <a:latin typeface="Yu Gothic"/>
              </a:rPr>
              <a:t>(</a:t>
            </a:r>
            <a:r>
              <a:rPr b="0" lang="zh-CN" sz="800" spc="-1" strike="noStrike">
                <a:solidFill>
                  <a:srgbClr val="6b7280"/>
                </a:solidFill>
                <a:latin typeface="Yu Gothic"/>
              </a:rPr>
              <a:t>飛行ユニット付き</a:t>
            </a:r>
            <a:r>
              <a:rPr b="0" lang="en-US" sz="800" spc="-1" strike="noStrike">
                <a:solidFill>
                  <a:srgbClr val="6b7280"/>
                </a:solidFill>
                <a:latin typeface="Yu Gothic"/>
              </a:rPr>
              <a:t>)</a:t>
            </a:r>
            <a:endParaRPr b="0" lang="en-US" sz="800" spc="-1" strike="noStrike">
              <a:latin typeface="Arial"/>
            </a:endParaRPr>
          </a:p>
        </p:txBody>
      </p:sp>
      <p:sp>
        <p:nvSpPr>
          <p:cNvPr id="305" name="CustomShape 42"/>
          <p:cNvSpPr/>
          <p:nvPr/>
        </p:nvSpPr>
        <p:spPr>
          <a:xfrm>
            <a:off x="10268640" y="3520440"/>
            <a:ext cx="1462680" cy="1462680"/>
          </a:xfrm>
          <a:prstGeom prst="rect">
            <a:avLst/>
          </a:prstGeom>
          <a:solidFill>
            <a:srgbClr val="f2f4f8"/>
          </a:solidFill>
          <a:ln w="12600">
            <a:solidFill>
              <a:srgbClr val="6b7280"/>
            </a:solidFill>
            <a:round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pic>
        <p:nvPicPr>
          <p:cNvPr id="306" name="Picture 56" descr="khr20.png"/>
          <p:cNvPicPr/>
          <p:nvPr/>
        </p:nvPicPr>
        <p:blipFill>
          <a:blip r:embed="rId14"/>
          <a:stretch/>
        </p:blipFill>
        <p:spPr>
          <a:xfrm>
            <a:off x="10677960" y="3593520"/>
            <a:ext cx="643680" cy="1316520"/>
          </a:xfrm>
          <a:prstGeom prst="rect">
            <a:avLst/>
          </a:prstGeom>
          <a:ln>
            <a:noFill/>
          </a:ln>
        </p:spPr>
      </p:pic>
      <p:sp>
        <p:nvSpPr>
          <p:cNvPr id="307" name="CustomShape 43"/>
          <p:cNvSpPr/>
          <p:nvPr/>
        </p:nvSpPr>
        <p:spPr>
          <a:xfrm>
            <a:off x="10268640" y="5001840"/>
            <a:ext cx="1462680" cy="2350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ctr">
              <a:lnSpc>
                <a:spcPct val="100000"/>
              </a:lnSpc>
            </a:pPr>
            <a:r>
              <a:rPr b="1" lang="en-US" sz="950" spc="-1" strike="noStrike">
                <a:solidFill>
                  <a:srgbClr val="1f2a44"/>
                </a:solidFill>
                <a:latin typeface="Yu Gothic"/>
              </a:rPr>
              <a:t>khr20</a:t>
            </a:r>
            <a:endParaRPr b="0" lang="en-US" sz="950" spc="-1" strike="noStrike">
              <a:latin typeface="Arial"/>
            </a:endParaRPr>
          </a:p>
        </p:txBody>
      </p:sp>
      <p:sp>
        <p:nvSpPr>
          <p:cNvPr id="308" name="CustomShape 44"/>
          <p:cNvSpPr/>
          <p:nvPr/>
        </p:nvSpPr>
        <p:spPr>
          <a:xfrm>
            <a:off x="10268640" y="5248800"/>
            <a:ext cx="1462680" cy="3337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6b7280"/>
                </a:solidFill>
                <a:latin typeface="Yu Gothic"/>
              </a:rPr>
              <a:t>KHR</a:t>
            </a:r>
            <a:r>
              <a:rPr b="0" lang="zh-CN" sz="800" spc="-1" strike="noStrike">
                <a:solidFill>
                  <a:srgbClr val="6b7280"/>
                </a:solidFill>
                <a:latin typeface="Yu Gothic"/>
              </a:rPr>
              <a:t>系ヒューマノイド</a:t>
            </a:r>
            <a:endParaRPr b="0" lang="en-US" sz="8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6b7280"/>
                </a:solidFill>
                <a:latin typeface="Yu Gothic"/>
              </a:rPr>
              <a:t>(</a:t>
            </a:r>
            <a:r>
              <a:rPr b="0" lang="zh-CN" sz="800" spc="-1" strike="noStrike">
                <a:solidFill>
                  <a:srgbClr val="6b7280"/>
                </a:solidFill>
                <a:latin typeface="Yu Gothic"/>
              </a:rPr>
              <a:t>ロータなし</a:t>
            </a:r>
            <a:r>
              <a:rPr b="0" lang="en-US" sz="800" spc="-1" strike="noStrike">
                <a:solidFill>
                  <a:srgbClr val="6b7280"/>
                </a:solidFill>
                <a:latin typeface="Yu Gothic"/>
              </a:rPr>
              <a:t>)</a:t>
            </a:r>
            <a:endParaRPr b="0" lang="en-US" sz="800" spc="-1" strike="noStrike">
              <a:latin typeface="Arial"/>
            </a:endParaRPr>
          </a:p>
        </p:txBody>
      </p:sp>
      <p:sp>
        <p:nvSpPr>
          <p:cNvPr id="309" name="CustomShape 45"/>
          <p:cNvSpPr/>
          <p:nvPr/>
        </p:nvSpPr>
        <p:spPr>
          <a:xfrm>
            <a:off x="548640" y="5806440"/>
            <a:ext cx="11063880" cy="4921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20000"/>
              </a:lnSpc>
            </a:pPr>
            <a:r>
              <a:rPr b="0" lang="zh-CN" sz="1100" spc="-1" strike="noStrike">
                <a:solidFill>
                  <a:srgbClr val="6b7280"/>
                </a:solidFill>
                <a:latin typeface="Yu Gothic"/>
              </a:rPr>
              <a:t>名称は </a:t>
            </a:r>
            <a:r>
              <a:rPr b="0" lang="en-US" sz="1100" spc="-1" strike="noStrike">
                <a:solidFill>
                  <a:srgbClr val="6b7280"/>
                </a:solidFill>
                <a:latin typeface="Yu Gothic"/>
              </a:rPr>
              <a:t>rcb4robotconfig.l </a:t>
            </a:r>
            <a:r>
              <a:rPr b="0" lang="zh-CN" sz="1100" spc="-1" strike="noStrike">
                <a:solidFill>
                  <a:srgbClr val="6b7280"/>
                </a:solidFill>
                <a:latin typeface="Yu Gothic"/>
              </a:rPr>
              <a:t>の軸</a:t>
            </a:r>
            <a:r>
              <a:rPr b="0" lang="en-US" sz="1100" spc="-1" strike="noStrike">
                <a:solidFill>
                  <a:srgbClr val="6b7280"/>
                </a:solidFill>
                <a:latin typeface="Yu Gothic"/>
              </a:rPr>
              <a:t>(leg / arm / head / wheel / gripper </a:t>
            </a:r>
            <a:r>
              <a:rPr b="0" lang="zh-CN" sz="1100" spc="-1" strike="noStrike">
                <a:solidFill>
                  <a:srgbClr val="6b7280"/>
                </a:solidFill>
                <a:latin typeface="Yu Gothic"/>
              </a:rPr>
              <a:t>等</a:t>
            </a:r>
            <a:r>
              <a:rPr b="0" lang="en-US" sz="1100" spc="-1" strike="noStrike">
                <a:solidFill>
                  <a:srgbClr val="6b7280"/>
                </a:solidFill>
                <a:latin typeface="Yu Gothic"/>
              </a:rPr>
              <a:t>)</a:t>
            </a:r>
            <a:r>
              <a:rPr b="0" lang="zh-CN" sz="1100" spc="-1" strike="noStrike">
                <a:solidFill>
                  <a:srgbClr val="6b7280"/>
                </a:solidFill>
                <a:latin typeface="Yu Gothic"/>
              </a:rPr>
              <a:t>の組み合わせ、または固有デザイン名。</a:t>
            </a:r>
            <a:endParaRPr b="0" lang="en-US" sz="1100" spc="-1" strike="noStrike">
              <a:latin typeface="Arial"/>
            </a:endParaRPr>
          </a:p>
          <a:p>
            <a:pPr>
              <a:lnSpc>
                <a:spcPct val="120000"/>
              </a:lnSpc>
            </a:pPr>
            <a:r>
              <a:rPr b="0" lang="en-US" sz="1100" spc="-1" strike="noStrike">
                <a:solidFill>
                  <a:srgbClr val="6b7280"/>
                </a:solidFill>
                <a:latin typeface="Yu Gothic"/>
              </a:rPr>
              <a:t>khranzaifly / khr20 </a:t>
            </a:r>
            <a:r>
              <a:rPr b="0" lang="zh-CN" sz="1100" spc="-1" strike="noStrike">
                <a:solidFill>
                  <a:srgbClr val="6b7280"/>
                </a:solidFill>
                <a:latin typeface="Yu Gothic"/>
              </a:rPr>
              <a:t>は近藤科学</a:t>
            </a:r>
            <a:r>
              <a:rPr b="0" lang="en-US" sz="1100" spc="-1" strike="noStrike">
                <a:solidFill>
                  <a:srgbClr val="6b7280"/>
                </a:solidFill>
                <a:latin typeface="Yu Gothic"/>
              </a:rPr>
              <a:t>KHR</a:t>
            </a:r>
            <a:r>
              <a:rPr b="0" lang="zh-CN" sz="1100" spc="-1" strike="noStrike">
                <a:solidFill>
                  <a:srgbClr val="6b7280"/>
                </a:solidFill>
                <a:latin typeface="Yu Gothic"/>
              </a:rPr>
              <a:t>シリーズ系統</a:t>
            </a:r>
            <a:r>
              <a:rPr b="0" lang="en-US" sz="1100" spc="-1" strike="noStrike">
                <a:solidFill>
                  <a:srgbClr val="6b7280"/>
                </a:solidFill>
                <a:latin typeface="Yu Gothic"/>
              </a:rPr>
              <a:t>(</a:t>
            </a:r>
            <a:r>
              <a:rPr b="0" lang="zh-CN" sz="1100" spc="-1" strike="noStrike">
                <a:solidFill>
                  <a:srgbClr val="6b7280"/>
                </a:solidFill>
                <a:latin typeface="Yu Gothic"/>
              </a:rPr>
              <a:t>ドローンロータ付き</a:t>
            </a:r>
            <a:r>
              <a:rPr b="0" lang="en-US" sz="1100" spc="-1" strike="noStrike">
                <a:solidFill>
                  <a:srgbClr val="6b7280"/>
                </a:solidFill>
                <a:latin typeface="Yu Gothic"/>
              </a:rPr>
              <a:t>/</a:t>
            </a:r>
            <a:r>
              <a:rPr b="0" lang="zh-CN" sz="1100" spc="-1" strike="noStrike">
                <a:solidFill>
                  <a:srgbClr val="6b7280"/>
                </a:solidFill>
                <a:latin typeface="Yu Gothic"/>
              </a:rPr>
              <a:t>なし</a:t>
            </a:r>
            <a:r>
              <a:rPr b="0" lang="en-US" sz="1100" spc="-1" strike="noStrike">
                <a:solidFill>
                  <a:srgbClr val="6b7280"/>
                </a:solidFill>
                <a:latin typeface="Yu Gothic"/>
              </a:rPr>
              <a:t>)-- </a:t>
            </a:r>
            <a:r>
              <a:rPr b="0" lang="zh-CN" sz="1100" spc="-1" strike="noStrike">
                <a:solidFill>
                  <a:srgbClr val="6b7280"/>
                </a:solidFill>
                <a:latin typeface="Yu Gothic"/>
              </a:rPr>
              <a:t>いずれも</a:t>
            </a:r>
            <a:r>
              <a:rPr b="0" lang="en-US" sz="1100" spc="-1" strike="noStrike">
                <a:solidFill>
                  <a:srgbClr val="6b7280"/>
                </a:solidFill>
                <a:latin typeface="Yu Gothic"/>
              </a:rPr>
              <a:t>urdfs/</a:t>
            </a:r>
            <a:r>
              <a:rPr b="0" lang="zh-CN" sz="1100" spc="-1" strike="noStrike">
                <a:solidFill>
                  <a:srgbClr val="6b7280"/>
                </a:solidFill>
                <a:latin typeface="Yu Gothic"/>
              </a:rPr>
              <a:t>に同じ形式で用意できる。</a:t>
            </a:r>
            <a:endParaRPr b="0" lang="en-US" sz="11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CustomShape 1"/>
          <p:cNvSpPr/>
          <p:nvPr/>
        </p:nvSpPr>
        <p:spPr>
          <a:xfrm>
            <a:off x="548640" y="320040"/>
            <a:ext cx="7314840" cy="3337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rgbClr val="2e6fc7"/>
                </a:solidFill>
                <a:latin typeface="Yu Gothic"/>
              </a:rPr>
              <a:t>500 ROBOTS -- SYSTEM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311" name="CustomShape 2"/>
          <p:cNvSpPr/>
          <p:nvPr/>
        </p:nvSpPr>
        <p:spPr>
          <a:xfrm>
            <a:off x="548640" y="685800"/>
            <a:ext cx="10515240" cy="5472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3000" spc="-1" strike="noStrike">
                <a:solidFill>
                  <a:srgbClr val="1f2a44"/>
                </a:solidFill>
                <a:latin typeface="Yu Gothic"/>
              </a:rPr>
              <a:t>500</a:t>
            </a:r>
            <a:r>
              <a:rPr b="1" lang="zh-CN" sz="3000" spc="-1" strike="noStrike">
                <a:solidFill>
                  <a:srgbClr val="1f2a44"/>
                </a:solidFill>
                <a:latin typeface="Yu Gothic"/>
              </a:rPr>
              <a:t>種類スケールでのシステム構成</a:t>
            </a:r>
            <a:endParaRPr b="0" lang="en-US" sz="3000" spc="-1" strike="noStrike">
              <a:latin typeface="Arial"/>
            </a:endParaRPr>
          </a:p>
        </p:txBody>
      </p:sp>
      <p:sp>
        <p:nvSpPr>
          <p:cNvPr id="312" name="CustomShape 3"/>
          <p:cNvSpPr/>
          <p:nvPr/>
        </p:nvSpPr>
        <p:spPr>
          <a:xfrm>
            <a:off x="4754880" y="2743200"/>
            <a:ext cx="2742840" cy="1188360"/>
          </a:xfrm>
          <a:prstGeom prst="roundRect">
            <a:avLst>
              <a:gd name="adj" fmla="val 16667"/>
            </a:avLst>
          </a:prstGeom>
          <a:solidFill>
            <a:srgbClr val="1f2a44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zh-CN" sz="1400" spc="-1" strike="noStrike">
                <a:solidFill>
                  <a:srgbClr val="ffffff"/>
                </a:solidFill>
                <a:latin typeface="Yu Gothic"/>
              </a:rPr>
              <a:t>汎用ファームウェア</a:t>
            </a:r>
            <a:br/>
            <a:r>
              <a:rPr b="1" lang="en-US" sz="1400" spc="-1" strike="noStrike">
                <a:solidFill>
                  <a:srgbClr val="ffffff"/>
                </a:solidFill>
                <a:latin typeface="Yu Gothic"/>
              </a:rPr>
              <a:t>(</a:t>
            </a:r>
            <a:r>
              <a:rPr b="1" lang="zh-CN" sz="1400" spc="-1" strike="noStrike">
                <a:solidFill>
                  <a:srgbClr val="ffffff"/>
                </a:solidFill>
                <a:latin typeface="Yu Gothic"/>
              </a:rPr>
              <a:t>全ロボット共通・</a:t>
            </a:r>
            <a:r>
              <a:rPr b="1" lang="en-US" sz="1400" spc="-1" strike="noStrike">
                <a:solidFill>
                  <a:srgbClr val="ffffff"/>
                </a:solidFill>
                <a:latin typeface="Yu Gothic"/>
              </a:rPr>
              <a:t>1</a:t>
            </a:r>
            <a:r>
              <a:rPr b="1" lang="zh-CN" sz="1400" spc="-1" strike="noStrike">
                <a:solidFill>
                  <a:srgbClr val="ffffff"/>
                </a:solidFill>
                <a:latin typeface="Yu Gothic"/>
              </a:rPr>
              <a:t>種類</a:t>
            </a:r>
            <a:r>
              <a:rPr b="1" lang="en-US" sz="1400" spc="-1" strike="noStrike">
                <a:solidFill>
                  <a:srgbClr val="ffffff"/>
                </a:solidFill>
                <a:latin typeface="Yu Gothic"/>
              </a:rPr>
              <a:t>)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313" name="CustomShape 4"/>
          <p:cNvSpPr/>
          <p:nvPr/>
        </p:nvSpPr>
        <p:spPr>
          <a:xfrm>
            <a:off x="457200" y="1691640"/>
            <a:ext cx="2651400" cy="914040"/>
          </a:xfrm>
          <a:prstGeom prst="roundRect">
            <a:avLst>
              <a:gd name="adj" fmla="val 16667"/>
            </a:avLst>
          </a:prstGeom>
          <a:solidFill>
            <a:srgbClr val="2e6fc7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zh-CN" sz="1200" spc="-1" strike="noStrike">
                <a:solidFill>
                  <a:srgbClr val="ffffff"/>
                </a:solidFill>
                <a:latin typeface="Yu Gothic"/>
              </a:rPr>
              <a:t>スマホ</a:t>
            </a:r>
            <a:br/>
            <a:r>
              <a:rPr b="1" lang="en-US" sz="1200" spc="-1" strike="noStrike">
                <a:solidFill>
                  <a:srgbClr val="ffffff"/>
                </a:solidFill>
                <a:latin typeface="Yu Gothic"/>
              </a:rPr>
              <a:t>(</a:t>
            </a:r>
            <a:r>
              <a:rPr b="1" lang="zh-CN" sz="1200" spc="-1" strike="noStrike">
                <a:solidFill>
                  <a:srgbClr val="ffffff"/>
                </a:solidFill>
                <a:latin typeface="Yu Gothic"/>
              </a:rPr>
              <a:t>候補一覧</a:t>
            </a:r>
            <a:r>
              <a:rPr b="1" lang="en-US" sz="1200" spc="-1" strike="noStrike">
                <a:solidFill>
                  <a:srgbClr val="ffffff"/>
                </a:solidFill>
                <a:latin typeface="Yu Gothic"/>
              </a:rPr>
              <a:t>+3D</a:t>
            </a:r>
            <a:r>
              <a:rPr b="1" lang="zh-CN" sz="1200" spc="-1" strike="noStrike">
                <a:solidFill>
                  <a:srgbClr val="ffffff"/>
                </a:solidFill>
                <a:latin typeface="Yu Gothic"/>
              </a:rPr>
              <a:t>ビューアから</a:t>
            </a:r>
            <a:r>
              <a:rPr b="1" lang="en-US" sz="1200" spc="-1" strike="noStrike">
                <a:solidFill>
                  <a:srgbClr val="ffffff"/>
                </a:solidFill>
                <a:latin typeface="Yu Gothic"/>
              </a:rPr>
              <a:t>1</a:t>
            </a:r>
            <a:r>
              <a:rPr b="1" lang="zh-CN" sz="1200" spc="-1" strike="noStrike">
                <a:solidFill>
                  <a:srgbClr val="ffffff"/>
                </a:solidFill>
                <a:latin typeface="Yu Gothic"/>
              </a:rPr>
              <a:t>体選ぶ</a:t>
            </a:r>
            <a:r>
              <a:rPr b="1" lang="en-US" sz="1200" spc="-1" strike="noStrike">
                <a:solidFill>
                  <a:srgbClr val="ffffff"/>
                </a:solidFill>
                <a:latin typeface="Yu Gothic"/>
              </a:rPr>
              <a:t>)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314" name="Line 5"/>
          <p:cNvSpPr/>
          <p:nvPr/>
        </p:nvSpPr>
        <p:spPr>
          <a:xfrm>
            <a:off x="3108960" y="2148840"/>
            <a:ext cx="1645920" cy="868680"/>
          </a:xfrm>
          <a:prstGeom prst="line">
            <a:avLst/>
          </a:prstGeom>
          <a:ln>
            <a:solidFill>
              <a:srgbClr val="6b7280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/>
        </p:style>
      </p:sp>
      <p:sp>
        <p:nvSpPr>
          <p:cNvPr id="315" name="CustomShape 6"/>
          <p:cNvSpPr/>
          <p:nvPr/>
        </p:nvSpPr>
        <p:spPr>
          <a:xfrm>
            <a:off x="2331720" y="2423160"/>
            <a:ext cx="2194200" cy="5918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6b7280"/>
                </a:solidFill>
                <a:latin typeface="Yu Gothic"/>
              </a:rPr>
              <a:t>WiFi</a:t>
            </a:r>
            <a:endParaRPr b="0" lang="en-US" sz="11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6b7280"/>
                </a:solidFill>
                <a:latin typeface="Yu Gothic"/>
              </a:rPr>
              <a:t>(</a:t>
            </a:r>
            <a:r>
              <a:rPr b="0" lang="zh-CN" sz="1100" spc="-1" strike="noStrike">
                <a:solidFill>
                  <a:srgbClr val="6b7280"/>
                </a:solidFill>
                <a:latin typeface="Yu Gothic"/>
              </a:rPr>
              <a:t>選んだ</a:t>
            </a:r>
            <a:r>
              <a:rPr b="0" lang="en-US" sz="1100" spc="-1" strike="noStrike">
                <a:solidFill>
                  <a:srgbClr val="6b7280"/>
                </a:solidFill>
                <a:latin typeface="Yu Gothic"/>
              </a:rPr>
              <a:t>1</a:t>
            </a:r>
            <a:r>
              <a:rPr b="0" lang="zh-CN" sz="1100" spc="-1" strike="noStrike">
                <a:solidFill>
                  <a:srgbClr val="6b7280"/>
                </a:solidFill>
                <a:latin typeface="Yu Gothic"/>
              </a:rPr>
              <a:t>体分のブロブを</a:t>
            </a:r>
            <a:r>
              <a:rPr b="0" lang="en-US" sz="1100" spc="-1" strike="noStrike">
                <a:solidFill>
                  <a:srgbClr val="6b7280"/>
                </a:solidFill>
                <a:latin typeface="Yu Gothic"/>
              </a:rPr>
              <a:t>POST)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316" name="CustomShape 7"/>
          <p:cNvSpPr/>
          <p:nvPr/>
        </p:nvSpPr>
        <p:spPr>
          <a:xfrm>
            <a:off x="4663440" y="1965960"/>
            <a:ext cx="2834280" cy="594000"/>
          </a:xfrm>
          <a:prstGeom prst="roundRect">
            <a:avLst>
              <a:gd name="adj" fmla="val 16667"/>
            </a:avLst>
          </a:prstGeom>
          <a:solidFill>
            <a:srgbClr val="222222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100" spc="-1" strike="noStrike">
                <a:solidFill>
                  <a:srgbClr val="ffffff"/>
                </a:solidFill>
                <a:latin typeface="Yu Gothic"/>
              </a:rPr>
              <a:t>GitHub</a:t>
            </a:r>
            <a:br/>
            <a:r>
              <a:rPr b="1" lang="en-US" sz="1100" spc="-1" strike="noStrike">
                <a:solidFill>
                  <a:srgbClr val="ffffff"/>
                </a:solidFill>
                <a:latin typeface="Yu Gothic"/>
              </a:rPr>
              <a:t>(500</a:t>
            </a:r>
            <a:r>
              <a:rPr b="1" lang="zh-CN" sz="1100" spc="-1" strike="noStrike">
                <a:solidFill>
                  <a:srgbClr val="ffffff"/>
                </a:solidFill>
                <a:latin typeface="Yu Gothic"/>
              </a:rPr>
              <a:t>ロボット分の記述ブロブ</a:t>
            </a:r>
            <a:r>
              <a:rPr b="1" lang="en-US" sz="1100" spc="-1" strike="noStrike">
                <a:solidFill>
                  <a:srgbClr val="ffffff"/>
                </a:solidFill>
                <a:latin typeface="Yu Gothic"/>
              </a:rPr>
              <a:t>)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317" name="Line 8"/>
          <p:cNvSpPr/>
          <p:nvPr/>
        </p:nvSpPr>
        <p:spPr>
          <a:xfrm flipH="1" flipV="1">
            <a:off x="3108960" y="2148840"/>
            <a:ext cx="1554480" cy="114120"/>
          </a:xfrm>
          <a:prstGeom prst="line">
            <a:avLst/>
          </a:prstGeom>
          <a:ln>
            <a:solidFill>
              <a:srgbClr val="6b7280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/>
        </p:style>
      </p:sp>
      <p:sp>
        <p:nvSpPr>
          <p:cNvPr id="318" name="CustomShape 9"/>
          <p:cNvSpPr/>
          <p:nvPr/>
        </p:nvSpPr>
        <p:spPr>
          <a:xfrm>
            <a:off x="4709160" y="1691640"/>
            <a:ext cx="1279800" cy="2577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rgbClr val="6b7280"/>
                </a:solidFill>
                <a:latin typeface="Yu Gothic"/>
              </a:rPr>
              <a:t>HTTPS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319" name="CustomShape 10"/>
          <p:cNvSpPr/>
          <p:nvPr/>
        </p:nvSpPr>
        <p:spPr>
          <a:xfrm>
            <a:off x="9144000" y="1005840"/>
            <a:ext cx="2468520" cy="914040"/>
          </a:xfrm>
          <a:prstGeom prst="roundRect">
            <a:avLst>
              <a:gd name="adj" fmla="val 16667"/>
            </a:avLst>
          </a:prstGeom>
          <a:solidFill>
            <a:srgbClr val="2e6fc7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Yu Gothic"/>
              </a:rPr>
              <a:t>PC / ATOM Echo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320" name="Line 11"/>
          <p:cNvSpPr/>
          <p:nvPr/>
        </p:nvSpPr>
        <p:spPr>
          <a:xfrm flipH="1">
            <a:off x="7498080" y="1554480"/>
            <a:ext cx="1645920" cy="1463040"/>
          </a:xfrm>
          <a:prstGeom prst="line">
            <a:avLst/>
          </a:prstGeom>
          <a:ln>
            <a:solidFill>
              <a:srgbClr val="6b7280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/>
        </p:style>
      </p:sp>
      <p:sp>
        <p:nvSpPr>
          <p:cNvPr id="321" name="CustomShape 12"/>
          <p:cNvSpPr/>
          <p:nvPr/>
        </p:nvSpPr>
        <p:spPr>
          <a:xfrm>
            <a:off x="7772400" y="2697480"/>
            <a:ext cx="959760" cy="3646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6b7280"/>
                </a:solidFill>
                <a:latin typeface="Yu Gothic"/>
              </a:rPr>
              <a:t>USB-CDC/</a:t>
            </a:r>
            <a:endParaRPr b="0" lang="en-US" sz="9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6b7280"/>
                </a:solidFill>
                <a:latin typeface="Yu Gothic"/>
              </a:rPr>
              <a:t>ESP-NOW</a:t>
            </a:r>
            <a:endParaRPr b="0" lang="en-US" sz="900" spc="-1" strike="noStrike">
              <a:latin typeface="Arial"/>
            </a:endParaRPr>
          </a:p>
        </p:txBody>
      </p:sp>
      <p:sp>
        <p:nvSpPr>
          <p:cNvPr id="322" name="CustomShape 13"/>
          <p:cNvSpPr/>
          <p:nvPr/>
        </p:nvSpPr>
        <p:spPr>
          <a:xfrm>
            <a:off x="548640" y="2880360"/>
            <a:ext cx="2377080" cy="914040"/>
          </a:xfrm>
          <a:prstGeom prst="roundRect">
            <a:avLst>
              <a:gd name="adj" fmla="val 16667"/>
            </a:avLst>
          </a:prstGeom>
          <a:solidFill>
            <a:srgbClr val="2ea059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Yu Gothic"/>
              </a:rPr>
              <a:t>M5StickV </a:t>
            </a:r>
            <a:r>
              <a:rPr b="1" lang="zh-CN" sz="1300" spc="-1" strike="noStrike">
                <a:solidFill>
                  <a:srgbClr val="ffffff"/>
                </a:solidFill>
                <a:latin typeface="Yu Gothic"/>
              </a:rPr>
              <a:t>カメラ</a:t>
            </a:r>
            <a:br/>
            <a:r>
              <a:rPr b="1" lang="en-US" sz="1300" spc="-1" strike="noStrike">
                <a:solidFill>
                  <a:srgbClr val="ffffff"/>
                </a:solidFill>
                <a:latin typeface="Yu Gothic"/>
              </a:rPr>
              <a:t>(0x24 </a:t>
            </a:r>
            <a:r>
              <a:rPr b="1" lang="zh-CN" sz="1300" spc="-1" strike="noStrike">
                <a:solidFill>
                  <a:srgbClr val="ffffff"/>
                </a:solidFill>
                <a:latin typeface="Yu Gothic"/>
              </a:rPr>
              <a:t>左目 </a:t>
            </a:r>
            <a:r>
              <a:rPr b="1" lang="en-US" sz="1300" spc="-1" strike="noStrike">
                <a:solidFill>
                  <a:srgbClr val="ffffff"/>
                </a:solidFill>
                <a:latin typeface="Yu Gothic"/>
              </a:rPr>
              <a:t>/ 0x25 </a:t>
            </a:r>
            <a:r>
              <a:rPr b="1" lang="zh-CN" sz="1300" spc="-1" strike="noStrike">
                <a:solidFill>
                  <a:srgbClr val="ffffff"/>
                </a:solidFill>
                <a:latin typeface="Yu Gothic"/>
              </a:rPr>
              <a:t>右目</a:t>
            </a:r>
            <a:r>
              <a:rPr b="1" lang="en-US" sz="1300" spc="-1" strike="noStrike">
                <a:solidFill>
                  <a:srgbClr val="ffffff"/>
                </a:solidFill>
                <a:latin typeface="Yu Gothic"/>
              </a:rPr>
              <a:t>)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323" name="Line 14"/>
          <p:cNvSpPr/>
          <p:nvPr/>
        </p:nvSpPr>
        <p:spPr>
          <a:xfrm>
            <a:off x="2926080" y="3337560"/>
            <a:ext cx="1828800" cy="0"/>
          </a:xfrm>
          <a:prstGeom prst="line">
            <a:avLst/>
          </a:prstGeom>
          <a:ln>
            <a:solidFill>
              <a:srgbClr val="6b7280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/>
        </p:style>
      </p:sp>
      <p:sp>
        <p:nvSpPr>
          <p:cNvPr id="324" name="CustomShape 15"/>
          <p:cNvSpPr/>
          <p:nvPr/>
        </p:nvSpPr>
        <p:spPr>
          <a:xfrm>
            <a:off x="3017520" y="3017520"/>
            <a:ext cx="1645560" cy="2728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6b7280"/>
                </a:solidFill>
                <a:latin typeface="Yu Gothic"/>
              </a:rPr>
              <a:t>I2C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325" name="CustomShape 16"/>
          <p:cNvSpPr/>
          <p:nvPr/>
        </p:nvSpPr>
        <p:spPr>
          <a:xfrm>
            <a:off x="4983480" y="4480560"/>
            <a:ext cx="2285640" cy="776880"/>
          </a:xfrm>
          <a:prstGeom prst="roundRect">
            <a:avLst>
              <a:gd name="adj" fmla="val 16667"/>
            </a:avLst>
          </a:prstGeom>
          <a:solidFill>
            <a:srgbClr val="2ea059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ffff"/>
                </a:solidFill>
                <a:latin typeface="Yu Gothic"/>
              </a:rPr>
              <a:t>RCB-4 </a:t>
            </a:r>
            <a:r>
              <a:rPr b="1" lang="zh-CN" sz="1400" spc="-1" strike="noStrike">
                <a:solidFill>
                  <a:srgbClr val="ffffff"/>
                </a:solidFill>
                <a:latin typeface="Yu Gothic"/>
              </a:rPr>
              <a:t>コントローラ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326" name="Line 17"/>
          <p:cNvSpPr/>
          <p:nvPr/>
        </p:nvSpPr>
        <p:spPr>
          <a:xfrm>
            <a:off x="6126480" y="3931920"/>
            <a:ext cx="0" cy="548640"/>
          </a:xfrm>
          <a:prstGeom prst="line">
            <a:avLst/>
          </a:prstGeom>
          <a:ln>
            <a:solidFill>
              <a:srgbClr val="6b7280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/>
        </p:style>
      </p:sp>
      <p:sp>
        <p:nvSpPr>
          <p:cNvPr id="327" name="CustomShape 18"/>
          <p:cNvSpPr/>
          <p:nvPr/>
        </p:nvSpPr>
        <p:spPr>
          <a:xfrm>
            <a:off x="6263640" y="3977640"/>
            <a:ext cx="2011320" cy="2728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rgbClr val="6b7280"/>
                </a:solidFill>
                <a:latin typeface="Yu Gothic"/>
              </a:rPr>
              <a:t>UART (1.25M/625K)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328" name="Line 19"/>
          <p:cNvSpPr/>
          <p:nvPr/>
        </p:nvSpPr>
        <p:spPr>
          <a:xfrm>
            <a:off x="6126480" y="5257800"/>
            <a:ext cx="0" cy="228600"/>
          </a:xfrm>
          <a:prstGeom prst="line">
            <a:avLst/>
          </a:prstGeom>
          <a:ln>
            <a:solidFill>
              <a:srgbClr val="6b7280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/>
        </p:style>
      </p:sp>
      <p:sp>
        <p:nvSpPr>
          <p:cNvPr id="329" name="CustomShape 20"/>
          <p:cNvSpPr/>
          <p:nvPr/>
        </p:nvSpPr>
        <p:spPr>
          <a:xfrm>
            <a:off x="5120640" y="5600880"/>
            <a:ext cx="2011320" cy="6847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1300" spc="-1" strike="noStrike">
                <a:solidFill>
                  <a:srgbClr val="1f2a44"/>
                </a:solidFill>
                <a:latin typeface="Yu Gothic"/>
              </a:rPr>
              <a:t>500</a:t>
            </a:r>
            <a:r>
              <a:rPr b="1" lang="zh-CN" sz="1300" spc="-1" strike="noStrike">
                <a:solidFill>
                  <a:srgbClr val="1f2a44"/>
                </a:solidFill>
                <a:latin typeface="Yu Gothic"/>
              </a:rPr>
              <a:t>種類の</a:t>
            </a:r>
            <a:endParaRPr b="0" lang="en-US" sz="13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1" lang="zh-CN" sz="1300" spc="-1" strike="noStrike">
                <a:solidFill>
                  <a:srgbClr val="1f2a44"/>
                </a:solidFill>
                <a:latin typeface="Yu Gothic"/>
              </a:rPr>
              <a:t>どれか</a:t>
            </a:r>
            <a:r>
              <a:rPr b="1" lang="en-US" sz="1300" spc="-1" strike="noStrike">
                <a:solidFill>
                  <a:srgbClr val="1f2a44"/>
                </a:solidFill>
                <a:latin typeface="Yu Gothic"/>
              </a:rPr>
              <a:t>1</a:t>
            </a:r>
            <a:r>
              <a:rPr b="1" lang="zh-CN" sz="1300" spc="-1" strike="noStrike">
                <a:solidFill>
                  <a:srgbClr val="1f2a44"/>
                </a:solidFill>
                <a:latin typeface="Yu Gothic"/>
              </a:rPr>
              <a:t>体</a:t>
            </a:r>
            <a:endParaRPr b="0" lang="en-US" sz="13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1" lang="en-US" sz="1300" spc="-1" strike="noStrike">
                <a:solidFill>
                  <a:srgbClr val="1f2a44"/>
                </a:solidFill>
                <a:latin typeface="Yu Gothic"/>
              </a:rPr>
              <a:t>(</a:t>
            </a:r>
            <a:r>
              <a:rPr b="1" lang="zh-CN" sz="1300" spc="-1" strike="noStrike">
                <a:solidFill>
                  <a:srgbClr val="1f2a44"/>
                </a:solidFill>
                <a:latin typeface="Yu Gothic"/>
              </a:rPr>
              <a:t>実行時に決まる</a:t>
            </a:r>
            <a:r>
              <a:rPr b="1" lang="en-US" sz="1300" spc="-1" strike="noStrike">
                <a:solidFill>
                  <a:srgbClr val="1f2a44"/>
                </a:solidFill>
                <a:latin typeface="Yu Gothic"/>
              </a:rPr>
              <a:t>)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330" name="CustomShape 21"/>
          <p:cNvSpPr/>
          <p:nvPr/>
        </p:nvSpPr>
        <p:spPr>
          <a:xfrm>
            <a:off x="548640" y="3977640"/>
            <a:ext cx="3657240" cy="2728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zh-CN" sz="1200" spc="-1" strike="noStrike">
                <a:solidFill>
                  <a:srgbClr val="1f2a44"/>
                </a:solidFill>
                <a:latin typeface="Yu Gothic"/>
              </a:rPr>
              <a:t>計算機スペック</a:t>
            </a:r>
            <a:r>
              <a:rPr b="1" lang="en-US" sz="1200" spc="-1" strike="noStrike">
                <a:solidFill>
                  <a:srgbClr val="1f2a44"/>
                </a:solidFill>
                <a:latin typeface="Yu Gothic"/>
              </a:rPr>
              <a:t>(</a:t>
            </a:r>
            <a:r>
              <a:rPr b="1" lang="zh-CN" sz="1200" spc="-1" strike="noStrike">
                <a:solidFill>
                  <a:srgbClr val="1f2a44"/>
                </a:solidFill>
                <a:latin typeface="Yu Gothic"/>
              </a:rPr>
              <a:t>この構成図の要素</a:t>
            </a:r>
            <a:r>
              <a:rPr b="1" lang="en-US" sz="1200" spc="-1" strike="noStrike">
                <a:solidFill>
                  <a:srgbClr val="1f2a44"/>
                </a:solidFill>
                <a:latin typeface="Yu Gothic"/>
              </a:rPr>
              <a:t>)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331" name="CustomShape 22"/>
          <p:cNvSpPr/>
          <p:nvPr/>
        </p:nvSpPr>
        <p:spPr>
          <a:xfrm>
            <a:off x="548640" y="4306680"/>
            <a:ext cx="3657240" cy="18255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20000"/>
              </a:lnSpc>
            </a:pPr>
            <a:r>
              <a:rPr b="0" lang="en-US" sz="950" spc="-1" strike="noStrike">
                <a:solidFill>
                  <a:srgbClr val="222222"/>
                </a:solidFill>
                <a:latin typeface="Yu Gothic"/>
              </a:rPr>
              <a:t>AtomS3(ESP32-S3): 240MHz / RAM 512KB</a:t>
            </a:r>
            <a:endParaRPr b="0" lang="en-US" sz="950" spc="-1" strike="noStrike">
              <a:latin typeface="Arial"/>
            </a:endParaRPr>
          </a:p>
          <a:p>
            <a:pPr>
              <a:lnSpc>
                <a:spcPct val="120000"/>
              </a:lnSpc>
            </a:pPr>
            <a:r>
              <a:rPr b="0" lang="en-US" sz="950" spc="-1" strike="noStrike">
                <a:solidFill>
                  <a:srgbClr val="222222"/>
                </a:solidFill>
                <a:latin typeface="Yu Gothic"/>
              </a:rPr>
              <a:t>  </a:t>
            </a:r>
            <a:r>
              <a:rPr b="0" lang="en-US" sz="950" spc="-1" strike="noStrike">
                <a:solidFill>
                  <a:srgbClr val="222222"/>
                </a:solidFill>
                <a:latin typeface="Yu Gothic"/>
              </a:rPr>
              <a:t>/ Flash 8MB / </a:t>
            </a:r>
            <a:r>
              <a:rPr b="0" lang="zh-CN" sz="950" spc="-1" strike="noStrike">
                <a:solidFill>
                  <a:srgbClr val="222222"/>
                </a:solidFill>
                <a:latin typeface="Yu Gothic"/>
              </a:rPr>
              <a:t>補助記憶</a:t>
            </a:r>
            <a:r>
              <a:rPr b="0" lang="en-US" sz="950" spc="-1" strike="noStrike">
                <a:solidFill>
                  <a:srgbClr val="222222"/>
                </a:solidFill>
                <a:latin typeface="Yu Gothic"/>
              </a:rPr>
              <a:t>: </a:t>
            </a:r>
            <a:r>
              <a:rPr b="0" lang="zh-CN" sz="950" spc="-1" strike="noStrike">
                <a:solidFill>
                  <a:srgbClr val="222222"/>
                </a:solidFill>
                <a:latin typeface="Yu Gothic"/>
              </a:rPr>
              <a:t>なし</a:t>
            </a:r>
            <a:endParaRPr b="0" lang="en-US" sz="950" spc="-1" strike="noStrike">
              <a:latin typeface="Arial"/>
            </a:endParaRPr>
          </a:p>
          <a:p>
            <a:pPr>
              <a:lnSpc>
                <a:spcPct val="120000"/>
              </a:lnSpc>
            </a:pPr>
            <a:r>
              <a:rPr b="0" lang="en-US" sz="950" spc="-1" strike="noStrike">
                <a:solidFill>
                  <a:srgbClr val="222222"/>
                </a:solidFill>
                <a:latin typeface="Yu Gothic"/>
              </a:rPr>
              <a:t>M5StickC(ESP32): 240MHz / RAM 520KB</a:t>
            </a:r>
            <a:endParaRPr b="0" lang="en-US" sz="950" spc="-1" strike="noStrike">
              <a:latin typeface="Arial"/>
            </a:endParaRPr>
          </a:p>
          <a:p>
            <a:pPr>
              <a:lnSpc>
                <a:spcPct val="120000"/>
              </a:lnSpc>
            </a:pPr>
            <a:r>
              <a:rPr b="0" lang="en-US" sz="950" spc="-1" strike="noStrike">
                <a:solidFill>
                  <a:srgbClr val="222222"/>
                </a:solidFill>
                <a:latin typeface="Yu Gothic"/>
              </a:rPr>
              <a:t>  </a:t>
            </a:r>
            <a:r>
              <a:rPr b="0" lang="en-US" sz="950" spc="-1" strike="noStrike">
                <a:solidFill>
                  <a:srgbClr val="222222"/>
                </a:solidFill>
                <a:latin typeface="Yu Gothic"/>
              </a:rPr>
              <a:t>/ Flash 4MB / </a:t>
            </a:r>
            <a:r>
              <a:rPr b="0" lang="zh-CN" sz="950" spc="-1" strike="noStrike">
                <a:solidFill>
                  <a:srgbClr val="222222"/>
                </a:solidFill>
                <a:latin typeface="Yu Gothic"/>
              </a:rPr>
              <a:t>補助記憶</a:t>
            </a:r>
            <a:r>
              <a:rPr b="0" lang="en-US" sz="950" spc="-1" strike="noStrike">
                <a:solidFill>
                  <a:srgbClr val="222222"/>
                </a:solidFill>
                <a:latin typeface="Yu Gothic"/>
              </a:rPr>
              <a:t>: </a:t>
            </a:r>
            <a:r>
              <a:rPr b="0" lang="zh-CN" sz="950" spc="-1" strike="noStrike">
                <a:solidFill>
                  <a:srgbClr val="222222"/>
                </a:solidFill>
                <a:latin typeface="Yu Gothic"/>
              </a:rPr>
              <a:t>なし</a:t>
            </a:r>
            <a:endParaRPr b="0" lang="en-US" sz="950" spc="-1" strike="noStrike">
              <a:latin typeface="Arial"/>
            </a:endParaRPr>
          </a:p>
          <a:p>
            <a:pPr>
              <a:lnSpc>
                <a:spcPct val="120000"/>
              </a:lnSpc>
            </a:pPr>
            <a:r>
              <a:rPr b="0" lang="en-US" sz="950" spc="-1" strike="noStrike">
                <a:solidFill>
                  <a:srgbClr val="222222"/>
                </a:solidFill>
                <a:latin typeface="Yu Gothic"/>
              </a:rPr>
              <a:t>M5StickV(K210): 400MHz(RISC-V) / SRAM 8MB</a:t>
            </a:r>
            <a:endParaRPr b="0" lang="en-US" sz="950" spc="-1" strike="noStrike">
              <a:latin typeface="Arial"/>
            </a:endParaRPr>
          </a:p>
          <a:p>
            <a:pPr>
              <a:lnSpc>
                <a:spcPct val="120000"/>
              </a:lnSpc>
            </a:pPr>
            <a:r>
              <a:rPr b="0" lang="en-US" sz="950" spc="-1" strike="noStrike">
                <a:solidFill>
                  <a:srgbClr val="222222"/>
                </a:solidFill>
                <a:latin typeface="Yu Gothic"/>
              </a:rPr>
              <a:t>  </a:t>
            </a:r>
            <a:r>
              <a:rPr b="0" lang="en-US" sz="950" spc="-1" strike="noStrike">
                <a:solidFill>
                  <a:srgbClr val="222222"/>
                </a:solidFill>
                <a:latin typeface="Yu Gothic"/>
              </a:rPr>
              <a:t>/ Flash 16MB / </a:t>
            </a:r>
            <a:r>
              <a:rPr b="0" lang="zh-CN" sz="950" spc="-1" strike="noStrike">
                <a:solidFill>
                  <a:srgbClr val="222222"/>
                </a:solidFill>
                <a:latin typeface="Yu Gothic"/>
              </a:rPr>
              <a:t>補助記憶</a:t>
            </a:r>
            <a:r>
              <a:rPr b="0" lang="en-US" sz="950" spc="-1" strike="noStrike">
                <a:solidFill>
                  <a:srgbClr val="222222"/>
                </a:solidFill>
                <a:latin typeface="Yu Gothic"/>
              </a:rPr>
              <a:t>: microSD(</a:t>
            </a:r>
            <a:r>
              <a:rPr b="0" lang="zh-CN" sz="950" spc="-1" strike="noStrike">
                <a:solidFill>
                  <a:srgbClr val="222222"/>
                </a:solidFill>
                <a:latin typeface="Yu Gothic"/>
              </a:rPr>
              <a:t>容量はカード依存</a:t>
            </a:r>
            <a:r>
              <a:rPr b="0" lang="en-US" sz="950" spc="-1" strike="noStrike">
                <a:solidFill>
                  <a:srgbClr val="222222"/>
                </a:solidFill>
                <a:latin typeface="Yu Gothic"/>
              </a:rPr>
              <a:t>)</a:t>
            </a:r>
            <a:endParaRPr b="0" lang="en-US" sz="950" spc="-1" strike="noStrike">
              <a:latin typeface="Arial"/>
            </a:endParaRPr>
          </a:p>
          <a:p>
            <a:pPr>
              <a:lnSpc>
                <a:spcPct val="120000"/>
              </a:lnSpc>
            </a:pPr>
            <a:r>
              <a:rPr b="0" lang="en-US" sz="950" spc="-1" strike="noStrike">
                <a:solidFill>
                  <a:srgbClr val="222222"/>
                </a:solidFill>
                <a:latin typeface="Yu Gothic"/>
              </a:rPr>
              <a:t>RCB-4: CPU</a:t>
            </a:r>
            <a:r>
              <a:rPr b="0" lang="zh-CN" sz="950" spc="-1" strike="noStrike">
                <a:solidFill>
                  <a:srgbClr val="222222"/>
                </a:solidFill>
                <a:latin typeface="Yu Gothic"/>
              </a:rPr>
              <a:t>仕様は近藤科学非公開</a:t>
            </a:r>
            <a:endParaRPr b="0" lang="en-US" sz="950" spc="-1" strike="noStrike">
              <a:latin typeface="Arial"/>
            </a:endParaRPr>
          </a:p>
          <a:p>
            <a:pPr>
              <a:lnSpc>
                <a:spcPct val="120000"/>
              </a:lnSpc>
            </a:pPr>
            <a:r>
              <a:rPr b="0" lang="en-US" sz="950" spc="-1" strike="noStrike">
                <a:solidFill>
                  <a:srgbClr val="222222"/>
                </a:solidFill>
                <a:latin typeface="Yu Gothic"/>
              </a:rPr>
              <a:t>  </a:t>
            </a:r>
            <a:r>
              <a:rPr b="0" lang="en-US" sz="950" spc="-1" strike="noStrike">
                <a:solidFill>
                  <a:srgbClr val="222222"/>
                </a:solidFill>
                <a:latin typeface="Yu Gothic"/>
              </a:rPr>
              <a:t>/ </a:t>
            </a:r>
            <a:r>
              <a:rPr b="0" lang="zh-CN" sz="950" spc="-1" strike="noStrike">
                <a:solidFill>
                  <a:srgbClr val="222222"/>
                </a:solidFill>
                <a:latin typeface="Yu Gothic"/>
              </a:rPr>
              <a:t>通信速度 </a:t>
            </a:r>
            <a:r>
              <a:rPr b="0" lang="en-US" sz="950" spc="-1" strike="noStrike">
                <a:solidFill>
                  <a:srgbClr val="222222"/>
                </a:solidFill>
                <a:latin typeface="Yu Gothic"/>
              </a:rPr>
              <a:t>1.25Mbps</a:t>
            </a:r>
            <a:r>
              <a:rPr b="0" lang="zh-CN" sz="950" spc="-1" strike="noStrike">
                <a:solidFill>
                  <a:srgbClr val="222222"/>
                </a:solidFill>
                <a:latin typeface="Yu Gothic"/>
              </a:rPr>
              <a:t>・</a:t>
            </a:r>
            <a:r>
              <a:rPr b="0" lang="en-US" sz="950" spc="-1" strike="noStrike">
                <a:solidFill>
                  <a:srgbClr val="222222"/>
                </a:solidFill>
                <a:latin typeface="Yu Gothic"/>
              </a:rPr>
              <a:t>625kbps</a:t>
            </a:r>
            <a:endParaRPr b="0" lang="en-US" sz="950" spc="-1" strike="noStrike">
              <a:latin typeface="Arial"/>
            </a:endParaRPr>
          </a:p>
          <a:p>
            <a:pPr>
              <a:lnSpc>
                <a:spcPct val="120000"/>
              </a:lnSpc>
            </a:pPr>
            <a:r>
              <a:rPr b="0" lang="en-US" sz="950" spc="-1" strike="noStrike">
                <a:solidFill>
                  <a:srgbClr val="222222"/>
                </a:solidFill>
                <a:latin typeface="Yu Gothic"/>
              </a:rPr>
              <a:t>PC</a:t>
            </a:r>
            <a:r>
              <a:rPr b="0" lang="zh-CN" sz="950" spc="-1" strike="noStrike">
                <a:solidFill>
                  <a:srgbClr val="222222"/>
                </a:solidFill>
                <a:latin typeface="Yu Gothic"/>
              </a:rPr>
              <a:t>・スマホ</a:t>
            </a:r>
            <a:r>
              <a:rPr b="0" lang="en-US" sz="950" spc="-1" strike="noStrike">
                <a:solidFill>
                  <a:srgbClr val="222222"/>
                </a:solidFill>
                <a:latin typeface="Yu Gothic"/>
              </a:rPr>
              <a:t>: </a:t>
            </a:r>
            <a:r>
              <a:rPr b="0" lang="zh-CN" sz="950" spc="-1" strike="noStrike">
                <a:solidFill>
                  <a:srgbClr val="222222"/>
                </a:solidFill>
                <a:latin typeface="Yu Gothic"/>
              </a:rPr>
              <a:t>使用機種に依存</a:t>
            </a:r>
            <a:r>
              <a:rPr b="0" lang="en-US" sz="950" spc="-1" strike="noStrike">
                <a:solidFill>
                  <a:srgbClr val="222222"/>
                </a:solidFill>
                <a:latin typeface="Yu Gothic"/>
              </a:rPr>
              <a:t>(</a:t>
            </a:r>
            <a:r>
              <a:rPr b="0" lang="zh-CN" sz="950" spc="-1" strike="noStrike">
                <a:solidFill>
                  <a:srgbClr val="222222"/>
                </a:solidFill>
                <a:latin typeface="Yu Gothic"/>
              </a:rPr>
              <a:t>対象外</a:t>
            </a:r>
            <a:r>
              <a:rPr b="0" lang="en-US" sz="950" spc="-1" strike="noStrike">
                <a:solidFill>
                  <a:srgbClr val="222222"/>
                </a:solidFill>
                <a:latin typeface="Yu Gothic"/>
              </a:rPr>
              <a:t>)</a:t>
            </a:r>
            <a:endParaRPr b="0" lang="en-US" sz="950" spc="-1" strike="noStrike">
              <a:latin typeface="Arial"/>
            </a:endParaRPr>
          </a:p>
          <a:p>
            <a:pPr>
              <a:lnSpc>
                <a:spcPct val="120000"/>
              </a:lnSpc>
            </a:pPr>
            <a:r>
              <a:rPr b="0" lang="en-US" sz="950" spc="-1" strike="noStrike">
                <a:solidFill>
                  <a:srgbClr val="222222"/>
                </a:solidFill>
                <a:latin typeface="Yu Gothic"/>
              </a:rPr>
              <a:t>GitHub: </a:t>
            </a:r>
            <a:r>
              <a:rPr b="0" lang="zh-CN" sz="950" spc="-1" strike="noStrike">
                <a:solidFill>
                  <a:srgbClr val="222222"/>
                </a:solidFill>
                <a:latin typeface="Yu Gothic"/>
              </a:rPr>
              <a:t>クラウドサービス</a:t>
            </a:r>
            <a:r>
              <a:rPr b="0" lang="en-US" sz="950" spc="-1" strike="noStrike">
                <a:solidFill>
                  <a:srgbClr val="222222"/>
                </a:solidFill>
                <a:latin typeface="Yu Gothic"/>
              </a:rPr>
              <a:t>(</a:t>
            </a:r>
            <a:r>
              <a:rPr b="0" lang="zh-CN" sz="950" spc="-1" strike="noStrike">
                <a:solidFill>
                  <a:srgbClr val="222222"/>
                </a:solidFill>
                <a:latin typeface="Yu Gothic"/>
              </a:rPr>
              <a:t>対象外</a:t>
            </a:r>
            <a:r>
              <a:rPr b="0" lang="en-US" sz="950" spc="-1" strike="noStrike">
                <a:solidFill>
                  <a:srgbClr val="222222"/>
                </a:solidFill>
                <a:latin typeface="Yu Gothic"/>
              </a:rPr>
              <a:t>)</a:t>
            </a:r>
            <a:endParaRPr b="0" lang="en-US" sz="950" spc="-1" strike="noStrike">
              <a:latin typeface="Arial"/>
            </a:endParaRPr>
          </a:p>
        </p:txBody>
      </p:sp>
      <p:sp>
        <p:nvSpPr>
          <p:cNvPr id="332" name="CustomShape 23"/>
          <p:cNvSpPr/>
          <p:nvPr/>
        </p:nvSpPr>
        <p:spPr>
          <a:xfrm>
            <a:off x="8778240" y="2103120"/>
            <a:ext cx="3017160" cy="37458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20000"/>
              </a:lnSpc>
            </a:pPr>
            <a:r>
              <a:rPr b="0" lang="en-US" sz="1300" spc="-1" strike="noStrike">
                <a:solidFill>
                  <a:srgbClr val="222222"/>
                </a:solidFill>
                <a:latin typeface="Yu Gothic"/>
              </a:rPr>
              <a:t>GitHub</a:t>
            </a:r>
            <a:r>
              <a:rPr b="0" lang="zh-CN" sz="1300" spc="-1" strike="noStrike">
                <a:solidFill>
                  <a:srgbClr val="222222"/>
                </a:solidFill>
                <a:latin typeface="Yu Gothic"/>
              </a:rPr>
              <a:t>に置いてあるもの</a:t>
            </a:r>
            <a:r>
              <a:rPr b="0" lang="en-US" sz="1300" spc="-1" strike="noStrike">
                <a:solidFill>
                  <a:srgbClr val="222222"/>
                </a:solidFill>
                <a:latin typeface="Yu Gothic"/>
              </a:rPr>
              <a:t>(500</a:t>
            </a:r>
            <a:r>
              <a:rPr b="0" lang="zh-CN" sz="1300" spc="-1" strike="noStrike">
                <a:solidFill>
                  <a:srgbClr val="222222"/>
                </a:solidFill>
                <a:latin typeface="Yu Gothic"/>
              </a:rPr>
              <a:t>種類時点</a:t>
            </a:r>
            <a:r>
              <a:rPr b="0" lang="en-US" sz="1300" spc="-1" strike="noStrike">
                <a:solidFill>
                  <a:srgbClr val="222222"/>
                </a:solidFill>
                <a:latin typeface="Yu Gothic"/>
              </a:rPr>
              <a:t>):</a:t>
            </a:r>
            <a:endParaRPr b="0" lang="en-US" sz="1300" spc="-1" strike="noStrike">
              <a:latin typeface="Arial"/>
            </a:endParaRPr>
          </a:p>
          <a:p>
            <a:pPr>
              <a:lnSpc>
                <a:spcPct val="120000"/>
              </a:lnSpc>
            </a:pPr>
            <a:r>
              <a:rPr b="0" lang="zh-CN" sz="1300" spc="-1" strike="noStrike">
                <a:solidFill>
                  <a:srgbClr val="222222"/>
                </a:solidFill>
                <a:latin typeface="Yu Gothic"/>
              </a:rPr>
              <a:t>・</a:t>
            </a:r>
            <a:r>
              <a:rPr b="0" lang="en-US" sz="1300" spc="-1" strike="noStrike">
                <a:solidFill>
                  <a:srgbClr val="222222"/>
                </a:solidFill>
                <a:latin typeface="Yu Gothic"/>
              </a:rPr>
              <a:t>manifest.json</a:t>
            </a:r>
            <a:endParaRPr b="0" lang="en-US" sz="1300" spc="-1" strike="noStrike">
              <a:latin typeface="Arial"/>
            </a:endParaRPr>
          </a:p>
          <a:p>
            <a:pPr>
              <a:lnSpc>
                <a:spcPct val="120000"/>
              </a:lnSpc>
            </a:pPr>
            <a:r>
              <a:rPr b="0" lang="en-US" sz="1300" spc="-1" strike="noStrike">
                <a:solidFill>
                  <a:srgbClr val="222222"/>
                </a:solidFill>
                <a:latin typeface="Yu Gothic"/>
              </a:rPr>
              <a:t>  </a:t>
            </a:r>
            <a:r>
              <a:rPr b="0" lang="en-US" sz="1300" spc="-1" strike="noStrike">
                <a:solidFill>
                  <a:srgbClr val="222222"/>
                </a:solidFill>
                <a:latin typeface="Yu Gothic"/>
              </a:rPr>
              <a:t>(500</a:t>
            </a:r>
            <a:r>
              <a:rPr b="0" lang="zh-CN" sz="1300" spc="-1" strike="noStrike">
                <a:solidFill>
                  <a:srgbClr val="222222"/>
                </a:solidFill>
                <a:latin typeface="Yu Gothic"/>
              </a:rPr>
              <a:t>ロボット分の候補一覧</a:t>
            </a:r>
            <a:r>
              <a:rPr b="0" lang="en-US" sz="1300" spc="-1" strike="noStrike">
                <a:solidFill>
                  <a:srgbClr val="222222"/>
                </a:solidFill>
                <a:latin typeface="Yu Gothic"/>
              </a:rPr>
              <a:t>+</a:t>
            </a:r>
            <a:endParaRPr b="0" lang="en-US" sz="1300" spc="-1" strike="noStrike">
              <a:latin typeface="Arial"/>
            </a:endParaRPr>
          </a:p>
          <a:p>
            <a:pPr>
              <a:lnSpc>
                <a:spcPct val="120000"/>
              </a:lnSpc>
            </a:pPr>
            <a:r>
              <a:rPr b="0" lang="en-US" sz="1300" spc="-1" strike="noStrike">
                <a:solidFill>
                  <a:srgbClr val="222222"/>
                </a:solidFill>
                <a:latin typeface="Yu Gothic"/>
              </a:rPr>
              <a:t>  </a:t>
            </a:r>
            <a:r>
              <a:rPr b="0" lang="zh-CN" sz="1300" spc="-1" strike="noStrike">
                <a:solidFill>
                  <a:srgbClr val="222222"/>
                </a:solidFill>
                <a:latin typeface="Yu Gothic"/>
              </a:rPr>
              <a:t>各ロボットの期待サーボ</a:t>
            </a:r>
            <a:r>
              <a:rPr b="0" lang="en-US" sz="1300" spc="-1" strike="noStrike">
                <a:solidFill>
                  <a:srgbClr val="222222"/>
                </a:solidFill>
                <a:latin typeface="Yu Gothic"/>
              </a:rPr>
              <a:t>ID</a:t>
            </a:r>
            <a:r>
              <a:rPr b="0" lang="zh-CN" sz="1300" spc="-1" strike="noStrike">
                <a:solidFill>
                  <a:srgbClr val="222222"/>
                </a:solidFill>
                <a:latin typeface="Yu Gothic"/>
              </a:rPr>
              <a:t>集合</a:t>
            </a:r>
            <a:r>
              <a:rPr b="0" lang="en-US" sz="1300" spc="-1" strike="noStrike">
                <a:solidFill>
                  <a:srgbClr val="222222"/>
                </a:solidFill>
                <a:latin typeface="Yu Gothic"/>
              </a:rPr>
              <a:t>)</a:t>
            </a:r>
            <a:endParaRPr b="0" lang="en-US" sz="1300" spc="-1" strike="noStrike">
              <a:latin typeface="Arial"/>
            </a:endParaRPr>
          </a:p>
          <a:p>
            <a:pPr>
              <a:lnSpc>
                <a:spcPct val="120000"/>
              </a:lnSpc>
            </a:pPr>
            <a:r>
              <a:rPr b="0" lang="zh-CN" sz="1300" spc="-1" strike="noStrike">
                <a:solidFill>
                  <a:srgbClr val="222222"/>
                </a:solidFill>
                <a:latin typeface="Yu Gothic"/>
              </a:rPr>
              <a:t>・ロボット記述ブロブ </a:t>
            </a:r>
            <a:r>
              <a:rPr b="0" lang="en-US" sz="1300" spc="-1" strike="noStrike">
                <a:solidFill>
                  <a:srgbClr val="222222"/>
                </a:solidFill>
                <a:latin typeface="Yu Gothic"/>
              </a:rPr>
              <a:t>.bin x 500</a:t>
            </a:r>
            <a:endParaRPr b="0" lang="en-US" sz="1300" spc="-1" strike="noStrike">
              <a:latin typeface="Arial"/>
            </a:endParaRPr>
          </a:p>
          <a:p>
            <a:pPr>
              <a:lnSpc>
                <a:spcPct val="120000"/>
              </a:lnSpc>
            </a:pPr>
            <a:r>
              <a:rPr b="0" lang="en-US" sz="1300" spc="-1" strike="noStrike">
                <a:solidFill>
                  <a:srgbClr val="222222"/>
                </a:solidFill>
                <a:latin typeface="Yu Gothic"/>
              </a:rPr>
              <a:t>  </a:t>
            </a:r>
            <a:r>
              <a:rPr b="0" lang="en-US" sz="1300" spc="-1" strike="noStrike">
                <a:solidFill>
                  <a:srgbClr val="222222"/>
                </a:solidFill>
                <a:latin typeface="Yu Gothic"/>
              </a:rPr>
              <a:t>(NN</a:t>
            </a:r>
            <a:r>
              <a:rPr b="0" lang="zh-CN" sz="1300" spc="-1" strike="noStrike">
                <a:solidFill>
                  <a:srgbClr val="222222"/>
                </a:solidFill>
                <a:latin typeface="Yu Gothic"/>
              </a:rPr>
              <a:t>形状・重み・サーボマップ・</a:t>
            </a:r>
            <a:endParaRPr b="0" lang="en-US" sz="1300" spc="-1" strike="noStrike">
              <a:latin typeface="Arial"/>
            </a:endParaRPr>
          </a:p>
          <a:p>
            <a:pPr>
              <a:lnSpc>
                <a:spcPct val="120000"/>
              </a:lnSpc>
            </a:pPr>
            <a:r>
              <a:rPr b="0" lang="en-US" sz="1300" spc="-1" strike="noStrike">
                <a:solidFill>
                  <a:srgbClr val="222222"/>
                </a:solidFill>
                <a:latin typeface="Yu Gothic"/>
              </a:rPr>
              <a:t>  </a:t>
            </a:r>
            <a:r>
              <a:rPr b="0" lang="zh-CN" sz="1300" spc="-1" strike="noStrike">
                <a:solidFill>
                  <a:srgbClr val="222222"/>
                </a:solidFill>
                <a:latin typeface="Yu Gothic"/>
              </a:rPr>
              <a:t>ホーム位置・モーション、</a:t>
            </a:r>
            <a:r>
              <a:rPr b="0" lang="en-US" sz="1300" spc="-1" strike="noStrike">
                <a:solidFill>
                  <a:srgbClr val="222222"/>
                </a:solidFill>
                <a:latin typeface="Yu Gothic"/>
              </a:rPr>
              <a:t>1</a:t>
            </a:r>
            <a:r>
              <a:rPr b="0" lang="zh-CN" sz="1300" spc="-1" strike="noStrike">
                <a:solidFill>
                  <a:srgbClr val="222222"/>
                </a:solidFill>
                <a:latin typeface="Yu Gothic"/>
              </a:rPr>
              <a:t>体分ずつ</a:t>
            </a:r>
            <a:r>
              <a:rPr b="0" lang="en-US" sz="1300" spc="-1" strike="noStrike">
                <a:solidFill>
                  <a:srgbClr val="222222"/>
                </a:solidFill>
                <a:latin typeface="Yu Gothic"/>
              </a:rPr>
              <a:t>)</a:t>
            </a:r>
            <a:endParaRPr b="0" lang="en-US" sz="1300" spc="-1" strike="noStrike">
              <a:latin typeface="Arial"/>
            </a:endParaRPr>
          </a:p>
          <a:p>
            <a:pPr>
              <a:lnSpc>
                <a:spcPct val="120000"/>
              </a:lnSpc>
            </a:pPr>
            <a:endParaRPr b="0" lang="en-US" sz="1300" spc="-1" strike="noStrike">
              <a:latin typeface="Arial"/>
            </a:endParaRPr>
          </a:p>
          <a:p>
            <a:pPr>
              <a:lnSpc>
                <a:spcPct val="120000"/>
              </a:lnSpc>
            </a:pPr>
            <a:r>
              <a:rPr b="0" lang="zh-CN" sz="1300" spc="-1" strike="noStrike">
                <a:solidFill>
                  <a:srgbClr val="222222"/>
                </a:solidFill>
                <a:latin typeface="Yu Gothic"/>
              </a:rPr>
              <a:t>・端末が保持するのは選んだ</a:t>
            </a:r>
            <a:endParaRPr b="0" lang="en-US" sz="1300" spc="-1" strike="noStrike">
              <a:latin typeface="Arial"/>
            </a:endParaRPr>
          </a:p>
          <a:p>
            <a:pPr>
              <a:lnSpc>
                <a:spcPct val="120000"/>
              </a:lnSpc>
            </a:pPr>
            <a:r>
              <a:rPr b="0" lang="en-US" sz="1300" spc="-1" strike="noStrike">
                <a:solidFill>
                  <a:srgbClr val="222222"/>
                </a:solidFill>
                <a:latin typeface="Yu Gothic"/>
              </a:rPr>
              <a:t>  </a:t>
            </a:r>
            <a:r>
              <a:rPr b="0" lang="en-US" sz="1300" spc="-1" strike="noStrike">
                <a:solidFill>
                  <a:srgbClr val="222222"/>
                </a:solidFill>
                <a:latin typeface="Yu Gothic"/>
              </a:rPr>
              <a:t>1</a:t>
            </a:r>
            <a:r>
              <a:rPr b="0" lang="zh-CN" sz="1300" spc="-1" strike="noStrike">
                <a:solidFill>
                  <a:srgbClr val="222222"/>
                </a:solidFill>
                <a:latin typeface="Yu Gothic"/>
              </a:rPr>
              <a:t>体分のブロブのみ</a:t>
            </a:r>
            <a:r>
              <a:rPr b="0" lang="en-US" sz="1300" spc="-1" strike="noStrike">
                <a:solidFill>
                  <a:srgbClr val="222222"/>
                </a:solidFill>
                <a:latin typeface="Yu Gothic"/>
              </a:rPr>
              <a:t>(LittleFS)</a:t>
            </a:r>
            <a:endParaRPr b="0" lang="en-US" sz="1300" spc="-1" strike="noStrike">
              <a:latin typeface="Arial"/>
            </a:endParaRPr>
          </a:p>
          <a:p>
            <a:pPr>
              <a:lnSpc>
                <a:spcPct val="120000"/>
              </a:lnSpc>
            </a:pPr>
            <a:r>
              <a:rPr b="0" lang="zh-CN" sz="1300" spc="-1" strike="noStrike">
                <a:solidFill>
                  <a:srgbClr val="222222"/>
                </a:solidFill>
                <a:latin typeface="Yu Gothic"/>
              </a:rPr>
              <a:t>・</a:t>
            </a:r>
            <a:r>
              <a:rPr b="0" lang="en-US" sz="1300" spc="-1" strike="noStrike">
                <a:solidFill>
                  <a:srgbClr val="222222"/>
                </a:solidFill>
                <a:latin typeface="Yu Gothic"/>
              </a:rPr>
              <a:t>5</a:t>
            </a:r>
            <a:r>
              <a:rPr b="0" lang="zh-CN" sz="1300" spc="-1" strike="noStrike">
                <a:solidFill>
                  <a:srgbClr val="222222"/>
                </a:solidFill>
                <a:latin typeface="Yu Gothic"/>
              </a:rPr>
              <a:t>種類版と物理構成</a:t>
            </a:r>
            <a:r>
              <a:rPr b="0" lang="en-US" sz="1300" spc="-1" strike="noStrike">
                <a:solidFill>
                  <a:srgbClr val="222222"/>
                </a:solidFill>
                <a:latin typeface="Yu Gothic"/>
              </a:rPr>
              <a:t>(RCB-4/</a:t>
            </a:r>
            <a:r>
              <a:rPr b="0" lang="zh-CN" sz="1300" spc="-1" strike="noStrike">
                <a:solidFill>
                  <a:srgbClr val="222222"/>
                </a:solidFill>
                <a:latin typeface="Yu Gothic"/>
              </a:rPr>
              <a:t>カメラ</a:t>
            </a:r>
            <a:r>
              <a:rPr b="0" lang="en-US" sz="1300" spc="-1" strike="noStrike">
                <a:solidFill>
                  <a:srgbClr val="222222"/>
                </a:solidFill>
                <a:latin typeface="Yu Gothic"/>
              </a:rPr>
              <a:t>/</a:t>
            </a:r>
            <a:endParaRPr b="0" lang="en-US" sz="1300" spc="-1" strike="noStrike">
              <a:latin typeface="Arial"/>
            </a:endParaRPr>
          </a:p>
          <a:p>
            <a:pPr>
              <a:lnSpc>
                <a:spcPct val="120000"/>
              </a:lnSpc>
            </a:pPr>
            <a:r>
              <a:rPr b="0" lang="en-US" sz="1300" spc="-1" strike="noStrike">
                <a:solidFill>
                  <a:srgbClr val="222222"/>
                </a:solidFill>
                <a:latin typeface="Yu Gothic"/>
              </a:rPr>
              <a:t>  </a:t>
            </a:r>
            <a:r>
              <a:rPr b="0" lang="zh-CN" sz="1300" spc="-1" strike="noStrike">
                <a:solidFill>
                  <a:srgbClr val="222222"/>
                </a:solidFill>
                <a:latin typeface="Yu Gothic"/>
              </a:rPr>
              <a:t>サーボバス</a:t>
            </a:r>
            <a:r>
              <a:rPr b="0" lang="en-US" sz="1300" spc="-1" strike="noStrike">
                <a:solidFill>
                  <a:srgbClr val="222222"/>
                </a:solidFill>
                <a:latin typeface="Yu Gothic"/>
              </a:rPr>
              <a:t>)</a:t>
            </a:r>
            <a:r>
              <a:rPr b="0" lang="zh-CN" sz="1300" spc="-1" strike="noStrike">
                <a:solidFill>
                  <a:srgbClr val="222222"/>
                </a:solidFill>
                <a:latin typeface="Yu Gothic"/>
              </a:rPr>
              <a:t>は全く同じ</a:t>
            </a:r>
            <a:endParaRPr b="0" lang="en-US" sz="13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CustomShape 1"/>
          <p:cNvSpPr/>
          <p:nvPr/>
        </p:nvSpPr>
        <p:spPr>
          <a:xfrm>
            <a:off x="548640" y="320040"/>
            <a:ext cx="7314840" cy="3337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rgbClr val="2e6fc7"/>
                </a:solidFill>
                <a:latin typeface="Yu Gothic"/>
              </a:rPr>
              <a:t>500 ROBOTS -- SOFTWARE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334" name="CustomShape 2"/>
          <p:cNvSpPr/>
          <p:nvPr/>
        </p:nvSpPr>
        <p:spPr>
          <a:xfrm>
            <a:off x="548640" y="685800"/>
            <a:ext cx="10515240" cy="5472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3000" spc="-1" strike="noStrike">
                <a:solidFill>
                  <a:srgbClr val="1f2a44"/>
                </a:solidFill>
                <a:latin typeface="Yu Gothic"/>
              </a:rPr>
              <a:t>500</a:t>
            </a:r>
            <a:r>
              <a:rPr b="1" lang="zh-CN" sz="3000" spc="-1" strike="noStrike">
                <a:solidFill>
                  <a:srgbClr val="1f2a44"/>
                </a:solidFill>
                <a:latin typeface="Yu Gothic"/>
              </a:rPr>
              <a:t>種類スケールでのソフトウェア構成</a:t>
            </a:r>
            <a:endParaRPr b="0" lang="en-US" sz="3000" spc="-1" strike="noStrike">
              <a:latin typeface="Arial"/>
            </a:endParaRPr>
          </a:p>
        </p:txBody>
      </p:sp>
      <p:sp>
        <p:nvSpPr>
          <p:cNvPr id="335" name="CustomShape 3"/>
          <p:cNvSpPr/>
          <p:nvPr/>
        </p:nvSpPr>
        <p:spPr>
          <a:xfrm>
            <a:off x="3566160" y="1554480"/>
            <a:ext cx="5028840" cy="685440"/>
          </a:xfrm>
          <a:prstGeom prst="roundRect">
            <a:avLst>
              <a:gd name="adj" fmla="val 16667"/>
            </a:avLst>
          </a:prstGeom>
          <a:solidFill>
            <a:srgbClr val="1f2a44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ffff"/>
                </a:solidFill>
                <a:latin typeface="Yu Gothic"/>
              </a:rPr>
              <a:t>main.cpp -- </a:t>
            </a:r>
            <a:r>
              <a:rPr b="1" lang="zh-CN" sz="1400" spc="-1" strike="noStrike">
                <a:solidFill>
                  <a:srgbClr val="ffffff"/>
                </a:solidFill>
                <a:latin typeface="Yu Gothic"/>
              </a:rPr>
              <a:t>モード切り替え</a:t>
            </a:r>
            <a:r>
              <a:rPr b="1" lang="en-US" sz="1400" spc="-1" strike="noStrike">
                <a:solidFill>
                  <a:srgbClr val="ffffff"/>
                </a:solidFill>
                <a:latin typeface="Yu Gothic"/>
              </a:rPr>
              <a:t>(</a:t>
            </a:r>
            <a:r>
              <a:rPr b="1" lang="zh-CN" sz="1400" spc="-1" strike="noStrike">
                <a:solidFill>
                  <a:srgbClr val="ffffff"/>
                </a:solidFill>
                <a:latin typeface="Yu Gothic"/>
              </a:rPr>
              <a:t>ボタン長押し</a:t>
            </a:r>
            <a:r>
              <a:rPr b="1" lang="en-US" sz="1400" spc="-1" strike="noStrike">
                <a:solidFill>
                  <a:srgbClr val="ffffff"/>
                </a:solidFill>
                <a:latin typeface="Yu Gothic"/>
              </a:rPr>
              <a:t>)  ※</a:t>
            </a:r>
            <a:r>
              <a:rPr b="1" lang="zh-CN" sz="1400" spc="-1" strike="noStrike">
                <a:solidFill>
                  <a:srgbClr val="ffffff"/>
                </a:solidFill>
                <a:latin typeface="Yu Gothic"/>
              </a:rPr>
              <a:t>変更なし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336" name="Line 4"/>
          <p:cNvSpPr/>
          <p:nvPr/>
        </p:nvSpPr>
        <p:spPr>
          <a:xfrm>
            <a:off x="6080760" y="2240280"/>
            <a:ext cx="0" cy="137160"/>
          </a:xfrm>
          <a:prstGeom prst="line">
            <a:avLst/>
          </a:prstGeom>
          <a:ln>
            <a:solidFill>
              <a:srgbClr val="6b7280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/>
        </p:style>
      </p:sp>
      <p:sp>
        <p:nvSpPr>
          <p:cNvPr id="337" name="Line 5"/>
          <p:cNvSpPr/>
          <p:nvPr/>
        </p:nvSpPr>
        <p:spPr>
          <a:xfrm>
            <a:off x="2011680" y="2377440"/>
            <a:ext cx="7680960" cy="0"/>
          </a:xfrm>
          <a:prstGeom prst="line">
            <a:avLst/>
          </a:prstGeom>
          <a:ln>
            <a:solidFill>
              <a:srgbClr val="6b7280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/>
        </p:style>
      </p:sp>
      <p:sp>
        <p:nvSpPr>
          <p:cNvPr id="338" name="Line 6"/>
          <p:cNvSpPr/>
          <p:nvPr/>
        </p:nvSpPr>
        <p:spPr>
          <a:xfrm>
            <a:off x="2011680" y="2377440"/>
            <a:ext cx="0" cy="182880"/>
          </a:xfrm>
          <a:prstGeom prst="line">
            <a:avLst/>
          </a:prstGeom>
          <a:ln>
            <a:solidFill>
              <a:srgbClr val="6b7280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/>
        </p:style>
      </p:sp>
      <p:sp>
        <p:nvSpPr>
          <p:cNvPr id="339" name="Line 7"/>
          <p:cNvSpPr/>
          <p:nvPr/>
        </p:nvSpPr>
        <p:spPr>
          <a:xfrm>
            <a:off x="4572000" y="2377440"/>
            <a:ext cx="0" cy="182880"/>
          </a:xfrm>
          <a:prstGeom prst="line">
            <a:avLst/>
          </a:prstGeom>
          <a:ln>
            <a:solidFill>
              <a:srgbClr val="6b7280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/>
        </p:style>
      </p:sp>
      <p:sp>
        <p:nvSpPr>
          <p:cNvPr id="340" name="Line 8"/>
          <p:cNvSpPr/>
          <p:nvPr/>
        </p:nvSpPr>
        <p:spPr>
          <a:xfrm>
            <a:off x="7132320" y="2377440"/>
            <a:ext cx="0" cy="182880"/>
          </a:xfrm>
          <a:prstGeom prst="line">
            <a:avLst/>
          </a:prstGeom>
          <a:ln>
            <a:solidFill>
              <a:srgbClr val="6b7280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/>
        </p:style>
      </p:sp>
      <p:sp>
        <p:nvSpPr>
          <p:cNvPr id="341" name="Line 9"/>
          <p:cNvSpPr/>
          <p:nvPr/>
        </p:nvSpPr>
        <p:spPr>
          <a:xfrm>
            <a:off x="9692640" y="2377440"/>
            <a:ext cx="0" cy="182880"/>
          </a:xfrm>
          <a:prstGeom prst="line">
            <a:avLst/>
          </a:prstGeom>
          <a:ln>
            <a:solidFill>
              <a:srgbClr val="6b7280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/>
        </p:style>
      </p:sp>
      <p:sp>
        <p:nvSpPr>
          <p:cNvPr id="342" name="CustomShape 10"/>
          <p:cNvSpPr/>
          <p:nvPr/>
        </p:nvSpPr>
        <p:spPr>
          <a:xfrm>
            <a:off x="822960" y="2560320"/>
            <a:ext cx="2377080" cy="1051200"/>
          </a:xfrm>
          <a:prstGeom prst="roundRect">
            <a:avLst>
              <a:gd name="adj" fmla="val 16667"/>
            </a:avLst>
          </a:prstGeom>
          <a:solidFill>
            <a:srgbClr val="2e6fc7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Yu Gothic"/>
              </a:rPr>
              <a:t>BRIDGE</a:t>
            </a:r>
            <a:br/>
            <a:r>
              <a:rPr b="1" lang="zh-CN" sz="1300" spc="-1" strike="noStrike">
                <a:solidFill>
                  <a:srgbClr val="ffffff"/>
                </a:solidFill>
                <a:latin typeface="Yu Gothic"/>
              </a:rPr>
              <a:t>変更なし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343" name="CustomShape 11"/>
          <p:cNvSpPr/>
          <p:nvPr/>
        </p:nvSpPr>
        <p:spPr>
          <a:xfrm>
            <a:off x="3383280" y="2560320"/>
            <a:ext cx="2377080" cy="1051200"/>
          </a:xfrm>
          <a:prstGeom prst="roundRect">
            <a:avLst>
              <a:gd name="adj" fmla="val 16667"/>
            </a:avLst>
          </a:prstGeom>
          <a:solidFill>
            <a:srgbClr val="2e6fc7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Yu Gothic"/>
              </a:rPr>
              <a:t>STATUS</a:t>
            </a:r>
            <a:br/>
            <a:r>
              <a:rPr b="1" lang="zh-CN" sz="1300" spc="-1" strike="noStrike">
                <a:solidFill>
                  <a:srgbClr val="ffffff"/>
                </a:solidFill>
                <a:latin typeface="Yu Gothic"/>
              </a:rPr>
              <a:t>変更なし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344" name="CustomShape 12"/>
          <p:cNvSpPr/>
          <p:nvPr/>
        </p:nvSpPr>
        <p:spPr>
          <a:xfrm>
            <a:off x="5943600" y="2560320"/>
            <a:ext cx="2377080" cy="1051200"/>
          </a:xfrm>
          <a:prstGeom prst="roundRect">
            <a:avLst>
              <a:gd name="adj" fmla="val 16667"/>
            </a:avLst>
          </a:prstGeom>
          <a:solidFill>
            <a:srgbClr val="b03030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Yu Gothic"/>
              </a:rPr>
              <a:t>ROBOT</a:t>
            </a:r>
            <a:br/>
            <a:r>
              <a:rPr b="1" lang="zh-CN" sz="1300" spc="-1" strike="noStrike">
                <a:solidFill>
                  <a:srgbClr val="ffffff"/>
                </a:solidFill>
                <a:latin typeface="Yu Gothic"/>
              </a:rPr>
              <a:t>候補は</a:t>
            </a:r>
            <a:r>
              <a:rPr b="1" lang="en-US" sz="1300" spc="-1" strike="noStrike">
                <a:solidFill>
                  <a:srgbClr val="ffffff"/>
                </a:solidFill>
                <a:latin typeface="Yu Gothic"/>
              </a:rPr>
              <a:t>500</a:t>
            </a:r>
            <a:r>
              <a:rPr b="1" lang="zh-CN" sz="1300" spc="-1" strike="noStrike">
                <a:solidFill>
                  <a:srgbClr val="ffffff"/>
                </a:solidFill>
                <a:latin typeface="Yu Gothic"/>
              </a:rPr>
              <a:t>件、</a:t>
            </a:r>
            <a:br/>
            <a:r>
              <a:rPr b="1" lang="zh-CN" sz="1300" spc="-1" strike="noStrike">
                <a:solidFill>
                  <a:srgbClr val="ffffff"/>
                </a:solidFill>
                <a:latin typeface="Yu Gothic"/>
              </a:rPr>
              <a:t>選択後にダウンロード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345" name="CustomShape 13"/>
          <p:cNvSpPr/>
          <p:nvPr/>
        </p:nvSpPr>
        <p:spPr>
          <a:xfrm>
            <a:off x="8503920" y="2560320"/>
            <a:ext cx="2377080" cy="1051200"/>
          </a:xfrm>
          <a:prstGeom prst="roundRect">
            <a:avLst>
              <a:gd name="adj" fmla="val 16667"/>
            </a:avLst>
          </a:prstGeom>
          <a:solidFill>
            <a:srgbClr val="b03030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Yu Gothic"/>
              </a:rPr>
              <a:t>POLICY</a:t>
            </a:r>
            <a:br/>
            <a:r>
              <a:rPr b="1" lang="zh-CN" sz="1300" spc="-1" strike="noStrike">
                <a:solidFill>
                  <a:srgbClr val="ffffff"/>
                </a:solidFill>
                <a:latin typeface="Yu Gothic"/>
              </a:rPr>
              <a:t>汎用インタプリタで</a:t>
            </a:r>
            <a:br/>
            <a:r>
              <a:rPr b="1" lang="zh-CN" sz="1300" spc="-1" strike="noStrike">
                <a:solidFill>
                  <a:srgbClr val="ffffff"/>
                </a:solidFill>
                <a:latin typeface="Yu Gothic"/>
              </a:rPr>
              <a:t>ブロブを実行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346" name="CustomShape 14"/>
          <p:cNvSpPr/>
          <p:nvPr/>
        </p:nvSpPr>
        <p:spPr>
          <a:xfrm>
            <a:off x="822960" y="3886200"/>
            <a:ext cx="5486040" cy="2883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rgbClr val="6b7280"/>
                </a:solidFill>
                <a:latin typeface="Yu Gothic"/>
              </a:rPr>
              <a:t>4</a:t>
            </a:r>
            <a:r>
              <a:rPr b="1" lang="zh-CN" sz="1300" spc="-1" strike="noStrike">
                <a:solidFill>
                  <a:srgbClr val="6b7280"/>
                </a:solidFill>
                <a:latin typeface="Yu Gothic"/>
              </a:rPr>
              <a:t>つのモードが共有するライブラリ </a:t>
            </a:r>
            <a:r>
              <a:rPr b="1" lang="en-US" sz="1300" spc="-1" strike="noStrike">
                <a:solidFill>
                  <a:srgbClr val="6b7280"/>
                </a:solidFill>
                <a:latin typeface="Yu Gothic"/>
              </a:rPr>
              <a:t>-- </a:t>
            </a:r>
            <a:r>
              <a:rPr b="1" lang="zh-CN" sz="1300" spc="-1" strike="noStrike">
                <a:solidFill>
                  <a:srgbClr val="6b7280"/>
                </a:solidFill>
                <a:latin typeface="Yu Gothic"/>
              </a:rPr>
              <a:t>太字が変わる部分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347" name="CustomShape 15"/>
          <p:cNvSpPr/>
          <p:nvPr/>
        </p:nvSpPr>
        <p:spPr>
          <a:xfrm>
            <a:off x="822960" y="4251960"/>
            <a:ext cx="2605680" cy="1462680"/>
          </a:xfrm>
          <a:prstGeom prst="roundRect">
            <a:avLst>
              <a:gd name="adj" fmla="val 16667"/>
            </a:avLst>
          </a:prstGeom>
          <a:solidFill>
            <a:srgbClr val="2ea059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Yu Gothic"/>
              </a:rPr>
              <a:t>Rcb4Link</a:t>
            </a:r>
            <a:br/>
            <a:br/>
            <a:r>
              <a:rPr b="1" lang="en-US" sz="1200" spc="-1" strike="noStrike">
                <a:solidFill>
                  <a:srgbClr val="ffffff"/>
                </a:solidFill>
                <a:latin typeface="Yu Gothic"/>
              </a:rPr>
              <a:t>RCB-4 UART</a:t>
            </a:r>
            <a:r>
              <a:rPr b="1" lang="zh-CN" sz="1200" spc="-1" strike="noStrike">
                <a:solidFill>
                  <a:srgbClr val="ffffff"/>
                </a:solidFill>
                <a:latin typeface="Yu Gothic"/>
              </a:rPr>
              <a:t>制御</a:t>
            </a:r>
            <a:br/>
            <a:r>
              <a:rPr b="1" lang="en-US" sz="1200" spc="-1" strike="noStrike">
                <a:solidFill>
                  <a:srgbClr val="ffffff"/>
                </a:solidFill>
                <a:latin typeface="Yu Gothic"/>
              </a:rPr>
              <a:t>+ I2C</a:t>
            </a:r>
            <a:r>
              <a:rPr b="1" lang="zh-CN" sz="1200" spc="-1" strike="noStrike">
                <a:solidFill>
                  <a:srgbClr val="ffffff"/>
                </a:solidFill>
                <a:latin typeface="Yu Gothic"/>
              </a:rPr>
              <a:t>カメラ橋渡し</a:t>
            </a:r>
            <a:br/>
            <a:r>
              <a:rPr b="1" lang="en-US" sz="1200" spc="-1" strike="noStrike">
                <a:solidFill>
                  <a:srgbClr val="ffffff"/>
                </a:solidFill>
                <a:latin typeface="Yu Gothic"/>
              </a:rPr>
              <a:t>+ </a:t>
            </a:r>
            <a:r>
              <a:rPr b="1" lang="zh-CN" sz="1200" spc="-1" strike="noStrike">
                <a:solidFill>
                  <a:srgbClr val="ffffff"/>
                </a:solidFill>
                <a:latin typeface="Yu Gothic"/>
              </a:rPr>
              <a:t>内蔵</a:t>
            </a:r>
            <a:r>
              <a:rPr b="1" lang="en-US" sz="1200" spc="-1" strike="noStrike">
                <a:solidFill>
                  <a:srgbClr val="ffffff"/>
                </a:solidFill>
                <a:latin typeface="Yu Gothic"/>
              </a:rPr>
              <a:t>IMU</a:t>
            </a:r>
            <a:br/>
            <a:r>
              <a:rPr b="1" lang="en-US" sz="1200" spc="-1" strike="noStrike">
                <a:solidFill>
                  <a:srgbClr val="ffffff"/>
                </a:solidFill>
                <a:latin typeface="Yu Gothic"/>
              </a:rPr>
              <a:t>(</a:t>
            </a:r>
            <a:r>
              <a:rPr b="1" lang="zh-CN" sz="1200" spc="-1" strike="noStrike">
                <a:solidFill>
                  <a:srgbClr val="ffffff"/>
                </a:solidFill>
                <a:latin typeface="Yu Gothic"/>
              </a:rPr>
              <a:t>変更なし</a:t>
            </a:r>
            <a:r>
              <a:rPr b="1" lang="en-US" sz="1200" spc="-1" strike="noStrike">
                <a:solidFill>
                  <a:srgbClr val="ffffff"/>
                </a:solidFill>
                <a:latin typeface="Yu Gothic"/>
              </a:rPr>
              <a:t>)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348" name="CustomShape 16"/>
          <p:cNvSpPr/>
          <p:nvPr/>
        </p:nvSpPr>
        <p:spPr>
          <a:xfrm>
            <a:off x="3566160" y="4251960"/>
            <a:ext cx="2605680" cy="1462680"/>
          </a:xfrm>
          <a:prstGeom prst="roundRect">
            <a:avLst>
              <a:gd name="adj" fmla="val 16667"/>
            </a:avLst>
          </a:prstGeom>
          <a:solidFill>
            <a:srgbClr val="b03030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Yu Gothic"/>
              </a:rPr>
              <a:t>policy</a:t>
            </a:r>
            <a:br/>
            <a:r>
              <a:rPr b="1" lang="en-US" sz="1200" spc="-1" strike="noStrike">
                <a:solidFill>
                  <a:srgbClr val="ffffff"/>
                </a:solidFill>
                <a:latin typeface="Yu Gothic"/>
              </a:rPr>
              <a:t>(</a:t>
            </a:r>
            <a:r>
              <a:rPr b="1" lang="zh-CN" sz="1200" spc="-1" strike="noStrike">
                <a:solidFill>
                  <a:srgbClr val="ffffff"/>
                </a:solidFill>
                <a:latin typeface="Yu Gothic"/>
              </a:rPr>
              <a:t>汎用インタプリタ化</a:t>
            </a:r>
            <a:r>
              <a:rPr b="1" lang="en-US" sz="1200" spc="-1" strike="noStrike">
                <a:solidFill>
                  <a:srgbClr val="ffffff"/>
                </a:solidFill>
                <a:latin typeface="Yu Gothic"/>
              </a:rPr>
              <a:t>)</a:t>
            </a:r>
            <a:br/>
            <a:br/>
            <a:r>
              <a:rPr b="1" lang="zh-CN" sz="1200" spc="-1" strike="noStrike">
                <a:solidFill>
                  <a:srgbClr val="ffffff"/>
                </a:solidFill>
                <a:latin typeface="Yu Gothic"/>
              </a:rPr>
              <a:t>コンパイル時の固定テーブル</a:t>
            </a:r>
            <a:br/>
            <a:r>
              <a:rPr b="1" lang="zh-CN" sz="1200" spc="-1" strike="noStrike">
                <a:solidFill>
                  <a:srgbClr val="ffffff"/>
                </a:solidFill>
                <a:latin typeface="Yu Gothic"/>
              </a:rPr>
              <a:t>ではなく、ダウンロードした</a:t>
            </a:r>
            <a:br/>
            <a:r>
              <a:rPr b="1" lang="zh-CN" sz="1200" spc="-1" strike="noStrike">
                <a:solidFill>
                  <a:srgbClr val="ffffff"/>
                </a:solidFill>
                <a:latin typeface="Yu Gothic"/>
              </a:rPr>
              <a:t>ブロブを解釈して実行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349" name="CustomShape 17"/>
          <p:cNvSpPr/>
          <p:nvPr/>
        </p:nvSpPr>
        <p:spPr>
          <a:xfrm>
            <a:off x="6309360" y="4251960"/>
            <a:ext cx="2605680" cy="1462680"/>
          </a:xfrm>
          <a:prstGeom prst="roundRect">
            <a:avLst>
              <a:gd name="adj" fmla="val 16667"/>
            </a:avLst>
          </a:prstGeom>
          <a:solidFill>
            <a:srgbClr val="2ea059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Yu Gothic"/>
              </a:rPr>
              <a:t>net /</a:t>
            </a:r>
            <a:br/>
            <a:r>
              <a:rPr b="1" lang="en-US" sz="1200" spc="-1" strike="noStrike">
                <a:solidFill>
                  <a:srgbClr val="ffffff"/>
                </a:solidFill>
                <a:latin typeface="Yu Gothic"/>
              </a:rPr>
              <a:t>https_server</a:t>
            </a:r>
            <a:br/>
            <a:br/>
            <a:r>
              <a:rPr b="1" lang="zh-CN" sz="1200" spc="-1" strike="noStrike">
                <a:solidFill>
                  <a:srgbClr val="ffffff"/>
                </a:solidFill>
                <a:latin typeface="Yu Gothic"/>
              </a:rPr>
              <a:t>スマホ向け</a:t>
            </a:r>
            <a:br/>
            <a:r>
              <a:rPr b="1" lang="zh-CN" sz="1200" spc="-1" strike="noStrike">
                <a:solidFill>
                  <a:srgbClr val="ffffff"/>
                </a:solidFill>
                <a:latin typeface="Yu Gothic"/>
              </a:rPr>
              <a:t>制御ページ・</a:t>
            </a:r>
            <a:r>
              <a:rPr b="1" lang="en-US" sz="1200" spc="-1" strike="noStrike">
                <a:solidFill>
                  <a:srgbClr val="ffffff"/>
                </a:solidFill>
                <a:latin typeface="Yu Gothic"/>
              </a:rPr>
              <a:t>/info</a:t>
            </a:r>
            <a:r>
              <a:rPr b="1" lang="zh-CN" sz="1200" spc="-1" strike="noStrike">
                <a:solidFill>
                  <a:srgbClr val="ffffff"/>
                </a:solidFill>
                <a:latin typeface="Yu Gothic"/>
              </a:rPr>
              <a:t>・</a:t>
            </a:r>
            <a:br/>
            <a:r>
              <a:rPr b="1" lang="zh-CN" sz="1200" spc="-1" strike="noStrike">
                <a:solidFill>
                  <a:srgbClr val="ffffff"/>
                </a:solidFill>
                <a:latin typeface="Yu Gothic"/>
              </a:rPr>
              <a:t>ブロブ配信</a:t>
            </a:r>
            <a:br/>
            <a:r>
              <a:rPr b="1" lang="en-US" sz="1200" spc="-1" strike="noStrike">
                <a:solidFill>
                  <a:srgbClr val="ffffff"/>
                </a:solidFill>
                <a:latin typeface="Yu Gothic"/>
              </a:rPr>
              <a:t>(</a:t>
            </a:r>
            <a:r>
              <a:rPr b="1" lang="zh-CN" sz="1200" spc="-1" strike="noStrike">
                <a:solidFill>
                  <a:srgbClr val="ffffff"/>
                </a:solidFill>
                <a:latin typeface="Yu Gothic"/>
              </a:rPr>
              <a:t>候補が</a:t>
            </a:r>
            <a:r>
              <a:rPr b="1" lang="en-US" sz="1200" spc="-1" strike="noStrike">
                <a:solidFill>
                  <a:srgbClr val="ffffff"/>
                </a:solidFill>
                <a:latin typeface="Yu Gothic"/>
              </a:rPr>
              <a:t>500</a:t>
            </a:r>
            <a:r>
              <a:rPr b="1" lang="zh-CN" sz="1200" spc="-1" strike="noStrike">
                <a:solidFill>
                  <a:srgbClr val="ffffff"/>
                </a:solidFill>
                <a:latin typeface="Yu Gothic"/>
              </a:rPr>
              <a:t>件に</a:t>
            </a:r>
            <a:r>
              <a:rPr b="1" lang="en-US" sz="1200" spc="-1" strike="noStrike">
                <a:solidFill>
                  <a:srgbClr val="ffffff"/>
                </a:solidFill>
                <a:latin typeface="Yu Gothic"/>
              </a:rPr>
              <a:t>)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350" name="CustomShape 18"/>
          <p:cNvSpPr/>
          <p:nvPr/>
        </p:nvSpPr>
        <p:spPr>
          <a:xfrm>
            <a:off x="9052560" y="4251960"/>
            <a:ext cx="2605680" cy="1462680"/>
          </a:xfrm>
          <a:prstGeom prst="roundRect">
            <a:avLst>
              <a:gd name="adj" fmla="val 16667"/>
            </a:avLst>
          </a:prstGeom>
          <a:solidFill>
            <a:srgbClr val="2ea059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Yu Gothic"/>
              </a:rPr>
              <a:t>EspNowLink /</a:t>
            </a:r>
            <a:br/>
            <a:r>
              <a:rPr b="1" lang="en-US" sz="1200" spc="-1" strike="noStrike">
                <a:solidFill>
                  <a:srgbClr val="ffffff"/>
                </a:solidFill>
                <a:latin typeface="Yu Gothic"/>
              </a:rPr>
              <a:t>HostRelay</a:t>
            </a:r>
            <a:br/>
            <a:br/>
            <a:r>
              <a:rPr b="1" lang="en-US" sz="1200" spc="-1" strike="noStrike">
                <a:solidFill>
                  <a:srgbClr val="ffffff"/>
                </a:solidFill>
                <a:latin typeface="Yu Gothic"/>
              </a:rPr>
              <a:t>PC</a:t>
            </a:r>
            <a:r>
              <a:rPr b="1" lang="zh-CN" sz="1200" spc="-1" strike="noStrike">
                <a:solidFill>
                  <a:srgbClr val="ffffff"/>
                </a:solidFill>
                <a:latin typeface="Yu Gothic"/>
              </a:rPr>
              <a:t>・</a:t>
            </a:r>
            <a:r>
              <a:rPr b="1" lang="en-US" sz="1200" spc="-1" strike="noStrike">
                <a:solidFill>
                  <a:srgbClr val="ffffff"/>
                </a:solidFill>
                <a:latin typeface="Yu Gothic"/>
              </a:rPr>
              <a:t>ATOM Echo</a:t>
            </a:r>
            <a:r>
              <a:rPr b="1" lang="zh-CN" sz="1200" spc="-1" strike="noStrike">
                <a:solidFill>
                  <a:srgbClr val="ffffff"/>
                </a:solidFill>
                <a:latin typeface="Yu Gothic"/>
              </a:rPr>
              <a:t>との</a:t>
            </a:r>
            <a:br/>
            <a:r>
              <a:rPr b="1" lang="zh-CN" sz="1200" spc="-1" strike="noStrike">
                <a:solidFill>
                  <a:srgbClr val="ffffff"/>
                </a:solidFill>
                <a:latin typeface="Yu Gothic"/>
              </a:rPr>
              <a:t>無線</a:t>
            </a:r>
            <a:r>
              <a:rPr b="1" lang="en-US" sz="1200" spc="-1" strike="noStrike">
                <a:solidFill>
                  <a:srgbClr val="ffffff"/>
                </a:solidFill>
                <a:latin typeface="Yu Gothic"/>
              </a:rPr>
              <a:t>/USB</a:t>
            </a:r>
            <a:r>
              <a:rPr b="1" lang="zh-CN" sz="1200" spc="-1" strike="noStrike">
                <a:solidFill>
                  <a:srgbClr val="ffffff"/>
                </a:solidFill>
                <a:latin typeface="Yu Gothic"/>
              </a:rPr>
              <a:t>橋渡し</a:t>
            </a:r>
            <a:br/>
            <a:r>
              <a:rPr b="1" lang="en-US" sz="1200" spc="-1" strike="noStrike">
                <a:solidFill>
                  <a:srgbClr val="ffffff"/>
                </a:solidFill>
                <a:latin typeface="Yu Gothic"/>
              </a:rPr>
              <a:t>(</a:t>
            </a:r>
            <a:r>
              <a:rPr b="1" lang="zh-CN" sz="1200" spc="-1" strike="noStrike">
                <a:solidFill>
                  <a:srgbClr val="ffffff"/>
                </a:solidFill>
                <a:latin typeface="Yu Gothic"/>
              </a:rPr>
              <a:t>変更なし</a:t>
            </a:r>
            <a:r>
              <a:rPr b="1" lang="en-US" sz="1200" spc="-1" strike="noStrike">
                <a:solidFill>
                  <a:srgbClr val="ffffff"/>
                </a:solidFill>
                <a:latin typeface="Yu Gothic"/>
              </a:rPr>
              <a:t>)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351" name="CustomShape 19"/>
          <p:cNvSpPr/>
          <p:nvPr/>
        </p:nvSpPr>
        <p:spPr>
          <a:xfrm>
            <a:off x="548640" y="5943600"/>
            <a:ext cx="11063880" cy="6231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25000"/>
              </a:lnSpc>
            </a:pPr>
            <a:r>
              <a:rPr b="1" lang="zh-CN" sz="1400" spc="-1" strike="noStrike">
                <a:solidFill>
                  <a:srgbClr val="b03030"/>
                </a:solidFill>
                <a:latin typeface="Yu Gothic"/>
              </a:rPr>
              <a:t>モード構成・</a:t>
            </a:r>
            <a:r>
              <a:rPr b="1" lang="en-US" sz="1400" spc="-1" strike="noStrike">
                <a:solidFill>
                  <a:srgbClr val="b03030"/>
                </a:solidFill>
                <a:latin typeface="Yu Gothic"/>
              </a:rPr>
              <a:t>main.cpp</a:t>
            </a:r>
            <a:r>
              <a:rPr b="1" lang="zh-CN" sz="1400" spc="-1" strike="noStrike">
                <a:solidFill>
                  <a:srgbClr val="b03030"/>
                </a:solidFill>
                <a:latin typeface="Yu Gothic"/>
              </a:rPr>
              <a:t>・他ライブラリは</a:t>
            </a:r>
            <a:r>
              <a:rPr b="1" lang="en-US" sz="1400" spc="-1" strike="noStrike">
                <a:solidFill>
                  <a:srgbClr val="b03030"/>
                </a:solidFill>
                <a:latin typeface="Yu Gothic"/>
              </a:rPr>
              <a:t>5</a:t>
            </a:r>
            <a:r>
              <a:rPr b="1" lang="zh-CN" sz="1400" spc="-1" strike="noStrike">
                <a:solidFill>
                  <a:srgbClr val="b03030"/>
                </a:solidFill>
                <a:latin typeface="Yu Gothic"/>
              </a:rPr>
              <a:t>種類版と同一 </a:t>
            </a:r>
            <a:r>
              <a:rPr b="1" lang="en-US" sz="1400" spc="-1" strike="noStrike">
                <a:solidFill>
                  <a:srgbClr val="b03030"/>
                </a:solidFill>
                <a:latin typeface="Yu Gothic"/>
              </a:rPr>
              <a:t>-- policy </a:t>
            </a:r>
            <a:r>
              <a:rPr b="1" lang="zh-CN" sz="1400" spc="-1" strike="noStrike">
                <a:solidFill>
                  <a:srgbClr val="b03030"/>
                </a:solidFill>
                <a:latin typeface="Yu Gothic"/>
              </a:rPr>
              <a:t>ライブラリの内部実装だけが</a:t>
            </a:r>
            <a:endParaRPr b="0" lang="en-US" sz="1400" spc="-1" strike="noStrike">
              <a:latin typeface="Arial"/>
            </a:endParaRPr>
          </a:p>
          <a:p>
            <a:pPr>
              <a:lnSpc>
                <a:spcPct val="125000"/>
              </a:lnSpc>
            </a:pPr>
            <a:r>
              <a:rPr b="1" lang="zh-CN" sz="1400" spc="-1" strike="noStrike">
                <a:solidFill>
                  <a:srgbClr val="b03030"/>
                </a:solidFill>
                <a:latin typeface="Yu Gothic"/>
              </a:rPr>
              <a:t>「コンパイル済みテーブルを読む」から「ダウンロードしたブロブを読む」に置き換わる。</a:t>
            </a:r>
            <a:endParaRPr b="0" lang="en-US" sz="14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CustomShape 1"/>
          <p:cNvSpPr/>
          <p:nvPr/>
        </p:nvSpPr>
        <p:spPr>
          <a:xfrm>
            <a:off x="548640" y="320040"/>
            <a:ext cx="7314840" cy="3337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rgbClr val="2e6fc7"/>
                </a:solidFill>
                <a:latin typeface="Yu Gothic"/>
              </a:rPr>
              <a:t>500 ROBOTS -- DATA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353" name="CustomShape 2"/>
          <p:cNvSpPr/>
          <p:nvPr/>
        </p:nvSpPr>
        <p:spPr>
          <a:xfrm>
            <a:off x="548640" y="685800"/>
            <a:ext cx="10515240" cy="5472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3000" spc="-1" strike="noStrike">
                <a:solidFill>
                  <a:srgbClr val="1f2a44"/>
                </a:solidFill>
                <a:latin typeface="Yu Gothic"/>
              </a:rPr>
              <a:t>500</a:t>
            </a:r>
            <a:r>
              <a:rPr b="1" lang="zh-CN" sz="3000" spc="-1" strike="noStrike">
                <a:solidFill>
                  <a:srgbClr val="1f2a44"/>
                </a:solidFill>
                <a:latin typeface="Yu Gothic"/>
              </a:rPr>
              <a:t>種類スケールでのデータ構成</a:t>
            </a:r>
            <a:endParaRPr b="0" lang="en-US" sz="3000" spc="-1" strike="noStrike">
              <a:latin typeface="Arial"/>
            </a:endParaRPr>
          </a:p>
        </p:txBody>
      </p:sp>
      <p:sp>
        <p:nvSpPr>
          <p:cNvPr id="354" name="CustomShape 3"/>
          <p:cNvSpPr/>
          <p:nvPr/>
        </p:nvSpPr>
        <p:spPr>
          <a:xfrm>
            <a:off x="1234440" y="1463040"/>
            <a:ext cx="4434480" cy="502560"/>
          </a:xfrm>
          <a:prstGeom prst="roundRect">
            <a:avLst>
              <a:gd name="adj" fmla="val 16667"/>
            </a:avLst>
          </a:prstGeom>
          <a:solidFill>
            <a:srgbClr val="6b7280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zh-CN" sz="1400" spc="-1" strike="noStrike">
                <a:solidFill>
                  <a:srgbClr val="ffffff"/>
                </a:solidFill>
                <a:latin typeface="Yu Gothic"/>
              </a:rPr>
              <a:t>現状</a:t>
            </a:r>
            <a:r>
              <a:rPr b="1" lang="en-US" sz="1400" spc="-1" strike="noStrike">
                <a:solidFill>
                  <a:srgbClr val="ffffff"/>
                </a:solidFill>
                <a:latin typeface="Yu Gothic"/>
              </a:rPr>
              <a:t>: </a:t>
            </a:r>
            <a:r>
              <a:rPr b="1" lang="zh-CN" sz="1400" spc="-1" strike="noStrike">
                <a:solidFill>
                  <a:srgbClr val="ffffff"/>
                </a:solidFill>
                <a:latin typeface="Yu Gothic"/>
              </a:rPr>
              <a:t>コンパイル済みテーブル </a:t>
            </a:r>
            <a:r>
              <a:rPr b="1" lang="en-US" sz="1400" spc="-1" strike="noStrike">
                <a:solidFill>
                  <a:srgbClr val="ffffff"/>
                </a:solidFill>
                <a:latin typeface="Yu Gothic"/>
              </a:rPr>
              <a:t>kRobots[5]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355" name="CustomShape 4"/>
          <p:cNvSpPr/>
          <p:nvPr/>
        </p:nvSpPr>
        <p:spPr>
          <a:xfrm>
            <a:off x="6309360" y="1463040"/>
            <a:ext cx="4114440" cy="502560"/>
          </a:xfrm>
          <a:prstGeom prst="roundRect">
            <a:avLst>
              <a:gd name="adj" fmla="val 16667"/>
            </a:avLst>
          </a:prstGeom>
          <a:solidFill>
            <a:srgbClr val="1f2a44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ffff"/>
                </a:solidFill>
                <a:latin typeface="Yu Gothic"/>
              </a:rPr>
              <a:t>500</a:t>
            </a:r>
            <a:r>
              <a:rPr b="1" lang="zh-CN" sz="1400" spc="-1" strike="noStrike">
                <a:solidFill>
                  <a:srgbClr val="ffffff"/>
                </a:solidFill>
                <a:latin typeface="Yu Gothic"/>
              </a:rPr>
              <a:t>種</a:t>
            </a:r>
            <a:r>
              <a:rPr b="1" lang="en-US" sz="1400" spc="-1" strike="noStrike">
                <a:solidFill>
                  <a:srgbClr val="ffffff"/>
                </a:solidFill>
                <a:latin typeface="Yu Gothic"/>
              </a:rPr>
              <a:t>: </a:t>
            </a:r>
            <a:r>
              <a:rPr b="1" lang="zh-CN" sz="1400" spc="-1" strike="noStrike">
                <a:solidFill>
                  <a:srgbClr val="ffffff"/>
                </a:solidFill>
                <a:latin typeface="Yu Gothic"/>
              </a:rPr>
              <a:t>ダウンロードした記述ブロブ</a:t>
            </a:r>
            <a:r>
              <a:rPr b="1" lang="en-US" sz="1400" spc="-1" strike="noStrike">
                <a:solidFill>
                  <a:srgbClr val="ffffff"/>
                </a:solidFill>
                <a:latin typeface="Yu Gothic"/>
              </a:rPr>
              <a:t>(1</a:t>
            </a:r>
            <a:r>
              <a:rPr b="1" lang="zh-CN" sz="1400" spc="-1" strike="noStrike">
                <a:solidFill>
                  <a:srgbClr val="ffffff"/>
                </a:solidFill>
                <a:latin typeface="Yu Gothic"/>
              </a:rPr>
              <a:t>体分</a:t>
            </a:r>
            <a:r>
              <a:rPr b="1" lang="en-US" sz="1400" spc="-1" strike="noStrike">
                <a:solidFill>
                  <a:srgbClr val="ffffff"/>
                </a:solidFill>
                <a:latin typeface="Yu Gothic"/>
              </a:rPr>
              <a:t>)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356" name="CustomShape 5"/>
          <p:cNvSpPr/>
          <p:nvPr/>
        </p:nvSpPr>
        <p:spPr>
          <a:xfrm>
            <a:off x="1234440" y="2148840"/>
            <a:ext cx="4434480" cy="566640"/>
          </a:xfrm>
          <a:prstGeom prst="roundRect">
            <a:avLst>
              <a:gd name="adj" fmla="val 16667"/>
            </a:avLst>
          </a:prstGeom>
          <a:solidFill>
            <a:srgbClr val="b8bec9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300" spc="-1" strike="noStrike">
                <a:solidFill>
                  <a:srgbClr val="222222"/>
                </a:solidFill>
                <a:latin typeface="Yu Gothic"/>
              </a:rPr>
              <a:t>kxrl4t </a:t>
            </a:r>
            <a:r>
              <a:rPr b="1" lang="zh-CN" sz="1300" spc="-1" strike="noStrike">
                <a:solidFill>
                  <a:srgbClr val="222222"/>
                </a:solidFill>
                <a:latin typeface="Yu Gothic"/>
              </a:rPr>
              <a:t>用 </a:t>
            </a:r>
            <a:r>
              <a:rPr b="1" lang="en-US" sz="1300" spc="-1" strike="noStrike">
                <a:solidFill>
                  <a:srgbClr val="222222"/>
                </a:solidFill>
                <a:latin typeface="Yu Gothic"/>
              </a:rPr>
              <a:t>RobotEntry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357" name="CustomShape 6"/>
          <p:cNvSpPr/>
          <p:nvPr/>
        </p:nvSpPr>
        <p:spPr>
          <a:xfrm>
            <a:off x="548640" y="2176200"/>
            <a:ext cx="502560" cy="5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6b7280"/>
            </a:solidFill>
            <a:round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pic>
        <p:nvPicPr>
          <p:cNvPr id="358" name="Picture 7" descr="kxrl4t.png"/>
          <p:cNvPicPr/>
          <p:nvPr/>
        </p:nvPicPr>
        <p:blipFill>
          <a:blip r:embed="rId1"/>
          <a:stretch/>
        </p:blipFill>
        <p:spPr>
          <a:xfrm>
            <a:off x="567000" y="2233800"/>
            <a:ext cx="465840" cy="387360"/>
          </a:xfrm>
          <a:prstGeom prst="rect">
            <a:avLst/>
          </a:prstGeom>
          <a:ln>
            <a:noFill/>
          </a:ln>
        </p:spPr>
      </p:pic>
      <p:sp>
        <p:nvSpPr>
          <p:cNvPr id="359" name="CustomShape 7"/>
          <p:cNvSpPr/>
          <p:nvPr/>
        </p:nvSpPr>
        <p:spPr>
          <a:xfrm>
            <a:off x="1234440" y="2807280"/>
            <a:ext cx="4434480" cy="566640"/>
          </a:xfrm>
          <a:prstGeom prst="roundRect">
            <a:avLst>
              <a:gd name="adj" fmla="val 16667"/>
            </a:avLst>
          </a:prstGeom>
          <a:solidFill>
            <a:srgbClr val="b8bec9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300" spc="-1" strike="noStrike">
                <a:solidFill>
                  <a:srgbClr val="222222"/>
                </a:solidFill>
                <a:latin typeface="Yu Gothic"/>
              </a:rPr>
              <a:t>kxrl4d </a:t>
            </a:r>
            <a:r>
              <a:rPr b="1" lang="zh-CN" sz="1300" spc="-1" strike="noStrike">
                <a:solidFill>
                  <a:srgbClr val="222222"/>
                </a:solidFill>
                <a:latin typeface="Yu Gothic"/>
              </a:rPr>
              <a:t>用 </a:t>
            </a:r>
            <a:r>
              <a:rPr b="1" lang="en-US" sz="1300" spc="-1" strike="noStrike">
                <a:solidFill>
                  <a:srgbClr val="222222"/>
                </a:solidFill>
                <a:latin typeface="Yu Gothic"/>
              </a:rPr>
              <a:t>RobotEntry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360" name="CustomShape 8"/>
          <p:cNvSpPr/>
          <p:nvPr/>
        </p:nvSpPr>
        <p:spPr>
          <a:xfrm>
            <a:off x="548640" y="2834640"/>
            <a:ext cx="502560" cy="5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6b7280"/>
            </a:solidFill>
            <a:round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pic>
        <p:nvPicPr>
          <p:cNvPr id="361" name="Picture 10" descr="kxrl4d.png"/>
          <p:cNvPicPr/>
          <p:nvPr/>
        </p:nvPicPr>
        <p:blipFill>
          <a:blip r:embed="rId2"/>
          <a:stretch/>
        </p:blipFill>
        <p:spPr>
          <a:xfrm>
            <a:off x="656640" y="2853000"/>
            <a:ext cx="286560" cy="465840"/>
          </a:xfrm>
          <a:prstGeom prst="rect">
            <a:avLst/>
          </a:prstGeom>
          <a:ln>
            <a:noFill/>
          </a:ln>
        </p:spPr>
      </p:pic>
      <p:sp>
        <p:nvSpPr>
          <p:cNvPr id="362" name="CustomShape 9"/>
          <p:cNvSpPr/>
          <p:nvPr/>
        </p:nvSpPr>
        <p:spPr>
          <a:xfrm>
            <a:off x="1234440" y="3465720"/>
            <a:ext cx="4434480" cy="566640"/>
          </a:xfrm>
          <a:prstGeom prst="roundRect">
            <a:avLst>
              <a:gd name="adj" fmla="val 16667"/>
            </a:avLst>
          </a:prstGeom>
          <a:solidFill>
            <a:srgbClr val="b8bec9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300" spc="-1" strike="noStrike">
                <a:solidFill>
                  <a:srgbClr val="222222"/>
                </a:solidFill>
                <a:latin typeface="Yu Gothic"/>
              </a:rPr>
              <a:t>kxrl6 </a:t>
            </a:r>
            <a:r>
              <a:rPr b="1" lang="zh-CN" sz="1300" spc="-1" strike="noStrike">
                <a:solidFill>
                  <a:srgbClr val="222222"/>
                </a:solidFill>
                <a:latin typeface="Yu Gothic"/>
              </a:rPr>
              <a:t>用 </a:t>
            </a:r>
            <a:r>
              <a:rPr b="1" lang="en-US" sz="1300" spc="-1" strike="noStrike">
                <a:solidFill>
                  <a:srgbClr val="222222"/>
                </a:solidFill>
                <a:latin typeface="Yu Gothic"/>
              </a:rPr>
              <a:t>RobotEntry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363" name="CustomShape 10"/>
          <p:cNvSpPr/>
          <p:nvPr/>
        </p:nvSpPr>
        <p:spPr>
          <a:xfrm>
            <a:off x="548640" y="3493080"/>
            <a:ext cx="502560" cy="5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6b7280"/>
            </a:solidFill>
            <a:round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pic>
        <p:nvPicPr>
          <p:cNvPr id="364" name="Picture 13" descr="kxrl6.png"/>
          <p:cNvPicPr/>
          <p:nvPr/>
        </p:nvPicPr>
        <p:blipFill>
          <a:blip r:embed="rId3"/>
          <a:stretch/>
        </p:blipFill>
        <p:spPr>
          <a:xfrm>
            <a:off x="567000" y="3608280"/>
            <a:ext cx="465840" cy="272520"/>
          </a:xfrm>
          <a:prstGeom prst="rect">
            <a:avLst/>
          </a:prstGeom>
          <a:ln>
            <a:noFill/>
          </a:ln>
        </p:spPr>
      </p:pic>
      <p:sp>
        <p:nvSpPr>
          <p:cNvPr id="365" name="CustomShape 11"/>
          <p:cNvSpPr/>
          <p:nvPr/>
        </p:nvSpPr>
        <p:spPr>
          <a:xfrm>
            <a:off x="1234440" y="4123800"/>
            <a:ext cx="4434480" cy="566640"/>
          </a:xfrm>
          <a:prstGeom prst="roundRect">
            <a:avLst>
              <a:gd name="adj" fmla="val 16667"/>
            </a:avLst>
          </a:prstGeom>
          <a:solidFill>
            <a:srgbClr val="b8bec9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300" spc="-1" strike="noStrike">
                <a:solidFill>
                  <a:srgbClr val="222222"/>
                </a:solidFill>
                <a:latin typeface="Yu Gothic"/>
              </a:rPr>
              <a:t>kxrl2g </a:t>
            </a:r>
            <a:r>
              <a:rPr b="1" lang="zh-CN" sz="1300" spc="-1" strike="noStrike">
                <a:solidFill>
                  <a:srgbClr val="222222"/>
                </a:solidFill>
                <a:latin typeface="Yu Gothic"/>
              </a:rPr>
              <a:t>用 </a:t>
            </a:r>
            <a:r>
              <a:rPr b="1" lang="en-US" sz="1300" spc="-1" strike="noStrike">
                <a:solidFill>
                  <a:srgbClr val="222222"/>
                </a:solidFill>
                <a:latin typeface="Yu Gothic"/>
              </a:rPr>
              <a:t>RobotEntry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366" name="CustomShape 12"/>
          <p:cNvSpPr/>
          <p:nvPr/>
        </p:nvSpPr>
        <p:spPr>
          <a:xfrm>
            <a:off x="548640" y="4151520"/>
            <a:ext cx="502560" cy="5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6b7280"/>
            </a:solidFill>
            <a:round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pic>
        <p:nvPicPr>
          <p:cNvPr id="367" name="Picture 16" descr="kxrl2g.png"/>
          <p:cNvPicPr/>
          <p:nvPr/>
        </p:nvPicPr>
        <p:blipFill>
          <a:blip r:embed="rId4"/>
          <a:stretch/>
        </p:blipFill>
        <p:spPr>
          <a:xfrm>
            <a:off x="675720" y="4169520"/>
            <a:ext cx="248400" cy="465840"/>
          </a:xfrm>
          <a:prstGeom prst="rect">
            <a:avLst/>
          </a:prstGeom>
          <a:ln>
            <a:noFill/>
          </a:ln>
        </p:spPr>
      </p:pic>
      <p:sp>
        <p:nvSpPr>
          <p:cNvPr id="368" name="CustomShape 13"/>
          <p:cNvSpPr/>
          <p:nvPr/>
        </p:nvSpPr>
        <p:spPr>
          <a:xfrm>
            <a:off x="1234440" y="4782240"/>
            <a:ext cx="4434480" cy="566640"/>
          </a:xfrm>
          <a:prstGeom prst="roundRect">
            <a:avLst>
              <a:gd name="adj" fmla="val 16667"/>
            </a:avLst>
          </a:prstGeom>
          <a:solidFill>
            <a:srgbClr val="b8bec9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300" spc="-1" strike="noStrike">
                <a:solidFill>
                  <a:srgbClr val="222222"/>
                </a:solidFill>
                <a:latin typeface="Yu Gothic"/>
              </a:rPr>
              <a:t>kxra6g </a:t>
            </a:r>
            <a:r>
              <a:rPr b="1" lang="zh-CN" sz="1300" spc="-1" strike="noStrike">
                <a:solidFill>
                  <a:srgbClr val="222222"/>
                </a:solidFill>
                <a:latin typeface="Yu Gothic"/>
              </a:rPr>
              <a:t>用 </a:t>
            </a:r>
            <a:r>
              <a:rPr b="1" lang="en-US" sz="1300" spc="-1" strike="noStrike">
                <a:solidFill>
                  <a:srgbClr val="222222"/>
                </a:solidFill>
                <a:latin typeface="Yu Gothic"/>
              </a:rPr>
              <a:t>RobotEntry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369" name="CustomShape 14"/>
          <p:cNvSpPr/>
          <p:nvPr/>
        </p:nvSpPr>
        <p:spPr>
          <a:xfrm>
            <a:off x="548640" y="4809600"/>
            <a:ext cx="502560" cy="5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6b7280"/>
            </a:solidFill>
            <a:round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pic>
        <p:nvPicPr>
          <p:cNvPr id="370" name="Picture 19" descr="kxra6g.png"/>
          <p:cNvPicPr/>
          <p:nvPr/>
        </p:nvPicPr>
        <p:blipFill>
          <a:blip r:embed="rId5"/>
          <a:stretch/>
        </p:blipFill>
        <p:spPr>
          <a:xfrm>
            <a:off x="596880" y="4827960"/>
            <a:ext cx="406080" cy="465840"/>
          </a:xfrm>
          <a:prstGeom prst="rect">
            <a:avLst/>
          </a:prstGeom>
          <a:ln>
            <a:noFill/>
          </a:ln>
        </p:spPr>
      </p:pic>
      <p:sp>
        <p:nvSpPr>
          <p:cNvPr id="371" name="CustomShape 15"/>
          <p:cNvSpPr/>
          <p:nvPr/>
        </p:nvSpPr>
        <p:spPr>
          <a:xfrm>
            <a:off x="548640" y="5486400"/>
            <a:ext cx="5120280" cy="5281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20000"/>
              </a:lnSpc>
            </a:pPr>
            <a:r>
              <a:rPr b="0" lang="en-US" sz="1200" spc="-1" strike="noStrike">
                <a:solidFill>
                  <a:srgbClr val="b03030"/>
                </a:solidFill>
                <a:latin typeface="Yu Gothic"/>
              </a:rPr>
              <a:t>→ </a:t>
            </a:r>
            <a:r>
              <a:rPr b="0" lang="en-US" sz="1200" spc="-1" strike="noStrike">
                <a:solidFill>
                  <a:srgbClr val="b03030"/>
                </a:solidFill>
                <a:latin typeface="Yu Gothic"/>
              </a:rPr>
              <a:t>Flash</a:t>
            </a:r>
            <a:r>
              <a:rPr b="0" lang="zh-CN" sz="1200" spc="-1" strike="noStrike">
                <a:solidFill>
                  <a:srgbClr val="b03030"/>
                </a:solidFill>
                <a:latin typeface="Yu Gothic"/>
              </a:rPr>
              <a:t>に常時</a:t>
            </a:r>
            <a:r>
              <a:rPr b="0" lang="en-US" sz="1200" spc="-1" strike="noStrike">
                <a:solidFill>
                  <a:srgbClr val="b03030"/>
                </a:solidFill>
                <a:latin typeface="Yu Gothic"/>
              </a:rPr>
              <a:t>5</a:t>
            </a:r>
            <a:r>
              <a:rPr b="0" lang="zh-CN" sz="1200" spc="-1" strike="noStrike">
                <a:solidFill>
                  <a:srgbClr val="b03030"/>
                </a:solidFill>
                <a:latin typeface="Yu Gothic"/>
              </a:rPr>
              <a:t>体分が同居</a:t>
            </a:r>
            <a:endParaRPr b="0" lang="en-US" sz="1200" spc="-1" strike="noStrike">
              <a:latin typeface="Arial"/>
            </a:endParaRPr>
          </a:p>
          <a:p>
            <a:pPr>
              <a:lnSpc>
                <a:spcPct val="120000"/>
              </a:lnSpc>
            </a:pPr>
            <a:r>
              <a:rPr b="0" lang="en-US" sz="1200" spc="-1" strike="noStrike">
                <a:solidFill>
                  <a:srgbClr val="b03030"/>
                </a:solidFill>
                <a:latin typeface="Yu Gothic"/>
              </a:rPr>
              <a:t>  </a:t>
            </a:r>
            <a:r>
              <a:rPr b="0" lang="en-US" sz="1200" spc="-1" strike="noStrike">
                <a:solidFill>
                  <a:srgbClr val="b03030"/>
                </a:solidFill>
                <a:latin typeface="Yu Gothic"/>
              </a:rPr>
              <a:t>(</a:t>
            </a:r>
            <a:r>
              <a:rPr b="0" lang="zh-CN" sz="1200" spc="-1" strike="noStrike">
                <a:solidFill>
                  <a:srgbClr val="b03030"/>
                </a:solidFill>
                <a:latin typeface="Yu Gothic"/>
              </a:rPr>
              <a:t>ビルド時に選べない・全部載る</a:t>
            </a:r>
            <a:r>
              <a:rPr b="0" lang="en-US" sz="1200" spc="-1" strike="noStrike">
                <a:solidFill>
                  <a:srgbClr val="b03030"/>
                </a:solidFill>
                <a:latin typeface="Yu Gothic"/>
              </a:rPr>
              <a:t>)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372" name="CustomShape 16"/>
          <p:cNvSpPr/>
          <p:nvPr/>
        </p:nvSpPr>
        <p:spPr>
          <a:xfrm>
            <a:off x="6309360" y="2148840"/>
            <a:ext cx="4114440" cy="456840"/>
          </a:xfrm>
          <a:prstGeom prst="roundRect">
            <a:avLst>
              <a:gd name="adj" fmla="val 16667"/>
            </a:avLst>
          </a:prstGeom>
          <a:solidFill>
            <a:srgbClr val="2e6fc7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Yu Gothic"/>
              </a:rPr>
              <a:t>NN</a:t>
            </a:r>
            <a:r>
              <a:rPr b="1" lang="zh-CN" sz="1300" spc="-1" strike="noStrike">
                <a:solidFill>
                  <a:srgbClr val="ffffff"/>
                </a:solidFill>
                <a:latin typeface="Yu Gothic"/>
              </a:rPr>
              <a:t>の入出力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373" name="CustomShape 17"/>
          <p:cNvSpPr/>
          <p:nvPr/>
        </p:nvSpPr>
        <p:spPr>
          <a:xfrm>
            <a:off x="6309360" y="2679120"/>
            <a:ext cx="4114440" cy="456840"/>
          </a:xfrm>
          <a:prstGeom prst="roundRect">
            <a:avLst>
              <a:gd name="adj" fmla="val 16667"/>
            </a:avLst>
          </a:prstGeom>
          <a:solidFill>
            <a:srgbClr val="2e6fc7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Yu Gothic"/>
              </a:rPr>
              <a:t>NN</a:t>
            </a:r>
            <a:r>
              <a:rPr b="1" lang="zh-CN" sz="1300" spc="-1" strike="noStrike">
                <a:solidFill>
                  <a:srgbClr val="ffffff"/>
                </a:solidFill>
                <a:latin typeface="Yu Gothic"/>
              </a:rPr>
              <a:t>の構造・重み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374" name="CustomShape 18"/>
          <p:cNvSpPr/>
          <p:nvPr/>
        </p:nvSpPr>
        <p:spPr>
          <a:xfrm>
            <a:off x="6309360" y="3209400"/>
            <a:ext cx="4114440" cy="456840"/>
          </a:xfrm>
          <a:prstGeom prst="roundRect">
            <a:avLst>
              <a:gd name="adj" fmla="val 16667"/>
            </a:avLst>
          </a:prstGeom>
          <a:solidFill>
            <a:srgbClr val="2ea059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zh-CN" sz="1300" spc="-1" strike="noStrike">
                <a:solidFill>
                  <a:srgbClr val="ffffff"/>
                </a:solidFill>
                <a:latin typeface="Yu Gothic"/>
              </a:rPr>
              <a:t>身体パラメータ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375" name="CustomShape 19"/>
          <p:cNvSpPr/>
          <p:nvPr/>
        </p:nvSpPr>
        <p:spPr>
          <a:xfrm>
            <a:off x="6309360" y="3740040"/>
            <a:ext cx="4114440" cy="456840"/>
          </a:xfrm>
          <a:prstGeom prst="roundRect">
            <a:avLst>
              <a:gd name="adj" fmla="val 16667"/>
            </a:avLst>
          </a:prstGeom>
          <a:solidFill>
            <a:srgbClr val="2ea059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zh-CN" sz="1300" spc="-1" strike="noStrike">
                <a:solidFill>
                  <a:srgbClr val="ffffff"/>
                </a:solidFill>
                <a:latin typeface="Yu Gothic"/>
              </a:rPr>
              <a:t>歩行コマンド範囲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376" name="CustomShape 20"/>
          <p:cNvSpPr/>
          <p:nvPr/>
        </p:nvSpPr>
        <p:spPr>
          <a:xfrm>
            <a:off x="6309360" y="4270320"/>
            <a:ext cx="4114440" cy="456840"/>
          </a:xfrm>
          <a:prstGeom prst="roundRect">
            <a:avLst>
              <a:gd name="adj" fmla="val 16667"/>
            </a:avLst>
          </a:prstGeom>
          <a:solidFill>
            <a:srgbClr val="1f2a44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zh-CN" sz="1300" spc="-1" strike="noStrike">
                <a:solidFill>
                  <a:srgbClr val="ffffff"/>
                </a:solidFill>
                <a:latin typeface="Yu Gothic"/>
              </a:rPr>
              <a:t>モーションテーブル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377" name="CustomShape 21"/>
          <p:cNvSpPr/>
          <p:nvPr/>
        </p:nvSpPr>
        <p:spPr>
          <a:xfrm>
            <a:off x="6309360" y="4800600"/>
            <a:ext cx="4114440" cy="456840"/>
          </a:xfrm>
          <a:prstGeom prst="roundRect">
            <a:avLst>
              <a:gd name="adj" fmla="val 16667"/>
            </a:avLst>
          </a:prstGeom>
          <a:solidFill>
            <a:srgbClr val="1f2a44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zh-CN" sz="1300" spc="-1" strike="noStrike">
                <a:solidFill>
                  <a:srgbClr val="ffffff"/>
                </a:solidFill>
                <a:latin typeface="Yu Gothic"/>
              </a:rPr>
              <a:t>識別・表示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378" name="CustomShape 22"/>
          <p:cNvSpPr/>
          <p:nvPr/>
        </p:nvSpPr>
        <p:spPr>
          <a:xfrm>
            <a:off x="6309360" y="5376600"/>
            <a:ext cx="4114440" cy="5281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20000"/>
              </a:lnSpc>
            </a:pPr>
            <a:r>
              <a:rPr b="1" lang="en-US" sz="1200" spc="-1" strike="noStrike">
                <a:solidFill>
                  <a:srgbClr val="2ea059"/>
                </a:solidFill>
                <a:latin typeface="Yu Gothic"/>
              </a:rPr>
              <a:t>→ </a:t>
            </a:r>
            <a:r>
              <a:rPr b="1" lang="zh-CN" sz="1200" spc="-1" strike="noStrike">
                <a:solidFill>
                  <a:srgbClr val="2ea059"/>
                </a:solidFill>
                <a:latin typeface="Yu Gothic"/>
              </a:rPr>
              <a:t>選んだロボット</a:t>
            </a:r>
            <a:r>
              <a:rPr b="1" lang="en-US" sz="1200" spc="-1" strike="noStrike">
                <a:solidFill>
                  <a:srgbClr val="2ea059"/>
                </a:solidFill>
                <a:latin typeface="Yu Gothic"/>
              </a:rPr>
              <a:t>1</a:t>
            </a:r>
            <a:r>
              <a:rPr b="1" lang="zh-CN" sz="1200" spc="-1" strike="noStrike">
                <a:solidFill>
                  <a:srgbClr val="2ea059"/>
                </a:solidFill>
                <a:latin typeface="Yu Gothic"/>
              </a:rPr>
              <a:t>体分だけが</a:t>
            </a:r>
            <a:r>
              <a:rPr b="1" lang="en-US" sz="1200" spc="-1" strike="noStrike">
                <a:solidFill>
                  <a:srgbClr val="2ea059"/>
                </a:solidFill>
                <a:latin typeface="Yu Gothic"/>
              </a:rPr>
              <a:t>LittleFS</a:t>
            </a:r>
            <a:r>
              <a:rPr b="1" lang="zh-CN" sz="1200" spc="-1" strike="noStrike">
                <a:solidFill>
                  <a:srgbClr val="2ea059"/>
                </a:solidFill>
                <a:latin typeface="Yu Gothic"/>
              </a:rPr>
              <a:t>に存在</a:t>
            </a:r>
            <a:endParaRPr b="0" lang="en-US" sz="1200" spc="-1" strike="noStrike">
              <a:latin typeface="Arial"/>
            </a:endParaRPr>
          </a:p>
          <a:p>
            <a:pPr>
              <a:lnSpc>
                <a:spcPct val="120000"/>
              </a:lnSpc>
            </a:pPr>
            <a:r>
              <a:rPr b="1" lang="en-US" sz="1200" spc="-1" strike="noStrike">
                <a:solidFill>
                  <a:srgbClr val="2ea059"/>
                </a:solidFill>
                <a:latin typeface="Yu Gothic"/>
              </a:rPr>
              <a:t>  </a:t>
            </a:r>
            <a:r>
              <a:rPr b="1" lang="en-US" sz="1200" spc="-1" strike="noStrike">
                <a:solidFill>
                  <a:srgbClr val="2ea059"/>
                </a:solidFill>
                <a:latin typeface="Yu Gothic"/>
              </a:rPr>
              <a:t>(</a:t>
            </a:r>
            <a:r>
              <a:rPr b="1" lang="zh-CN" sz="1200" spc="-1" strike="noStrike">
                <a:solidFill>
                  <a:srgbClr val="2ea059"/>
                </a:solidFill>
                <a:latin typeface="Yu Gothic"/>
              </a:rPr>
              <a:t>残り</a:t>
            </a:r>
            <a:r>
              <a:rPr b="1" lang="en-US" sz="1200" spc="-1" strike="noStrike">
                <a:solidFill>
                  <a:srgbClr val="2ea059"/>
                </a:solidFill>
                <a:latin typeface="Yu Gothic"/>
              </a:rPr>
              <a:t>499</a:t>
            </a:r>
            <a:r>
              <a:rPr b="1" lang="zh-CN" sz="1200" spc="-1" strike="noStrike">
                <a:solidFill>
                  <a:srgbClr val="2ea059"/>
                </a:solidFill>
                <a:latin typeface="Yu Gothic"/>
              </a:rPr>
              <a:t>体分は</a:t>
            </a:r>
            <a:r>
              <a:rPr b="1" lang="en-US" sz="1200" spc="-1" strike="noStrike">
                <a:solidFill>
                  <a:srgbClr val="2ea059"/>
                </a:solidFill>
                <a:latin typeface="Yu Gothic"/>
              </a:rPr>
              <a:t>GitHub</a:t>
            </a:r>
            <a:r>
              <a:rPr b="1" lang="zh-CN" sz="1200" spc="-1" strike="noStrike">
                <a:solidFill>
                  <a:srgbClr val="2ea059"/>
                </a:solidFill>
                <a:latin typeface="Yu Gothic"/>
              </a:rPr>
              <a:t>に置いたまま</a:t>
            </a:r>
            <a:r>
              <a:rPr b="1" lang="en-US" sz="1200" spc="-1" strike="noStrike">
                <a:solidFill>
                  <a:srgbClr val="2ea059"/>
                </a:solidFill>
                <a:latin typeface="Yu Gothic"/>
              </a:rPr>
              <a:t>)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379" name="CustomShape 23"/>
          <p:cNvSpPr/>
          <p:nvPr/>
        </p:nvSpPr>
        <p:spPr>
          <a:xfrm>
            <a:off x="10561320" y="1463040"/>
            <a:ext cx="1234080" cy="4160160"/>
          </a:xfrm>
          <a:prstGeom prst="rect">
            <a:avLst/>
          </a:prstGeom>
          <a:solidFill>
            <a:srgbClr val="f2f4f8"/>
          </a:solidFill>
          <a:ln w="12600">
            <a:solidFill>
              <a:srgbClr val="6b7280"/>
            </a:solidFill>
            <a:round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pic>
        <p:nvPicPr>
          <p:cNvPr id="380" name="Picture 29" descr="_overlay_500.png"/>
          <p:cNvPicPr/>
          <p:nvPr/>
        </p:nvPicPr>
        <p:blipFill>
          <a:blip r:embed="rId6"/>
          <a:stretch/>
        </p:blipFill>
        <p:spPr>
          <a:xfrm>
            <a:off x="10598040" y="2962800"/>
            <a:ext cx="1161000" cy="1161000"/>
          </a:xfrm>
          <a:prstGeom prst="rect">
            <a:avLst/>
          </a:prstGeom>
          <a:ln>
            <a:noFill/>
          </a:ln>
        </p:spPr>
      </p:pic>
      <p:sp>
        <p:nvSpPr>
          <p:cNvPr id="381" name="CustomShape 24"/>
          <p:cNvSpPr/>
          <p:nvPr/>
        </p:nvSpPr>
        <p:spPr>
          <a:xfrm>
            <a:off x="10469880" y="5669280"/>
            <a:ext cx="1416960" cy="2275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6b7280"/>
                </a:solidFill>
                <a:latin typeface="Yu Gothic"/>
              </a:rPr>
              <a:t>500</a:t>
            </a:r>
            <a:r>
              <a:rPr b="0" lang="zh-CN" sz="900" spc="-1" strike="noStrike">
                <a:solidFill>
                  <a:srgbClr val="6b7280"/>
                </a:solidFill>
                <a:latin typeface="Yu Gothic"/>
              </a:rPr>
              <a:t>種を重畳</a:t>
            </a:r>
            <a:endParaRPr b="0" lang="en-US" sz="900" spc="-1" strike="noStrike">
              <a:latin typeface="Arial"/>
            </a:endParaRPr>
          </a:p>
        </p:txBody>
      </p:sp>
      <p:sp>
        <p:nvSpPr>
          <p:cNvPr id="382" name="CustomShape 25"/>
          <p:cNvSpPr/>
          <p:nvPr/>
        </p:nvSpPr>
        <p:spPr>
          <a:xfrm>
            <a:off x="548640" y="6172200"/>
            <a:ext cx="11063880" cy="2577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zh-CN" sz="1100" spc="-1" strike="noStrike">
                <a:solidFill>
                  <a:srgbClr val="6b7280"/>
                </a:solidFill>
                <a:latin typeface="Yu Gothic"/>
              </a:rPr>
              <a:t>ブロブの中身自体は現状の</a:t>
            </a:r>
            <a:r>
              <a:rPr b="0" lang="en-US" sz="1100" spc="-1" strike="noStrike">
                <a:solidFill>
                  <a:srgbClr val="6b7280"/>
                </a:solidFill>
                <a:latin typeface="Yu Gothic"/>
              </a:rPr>
              <a:t>6</a:t>
            </a:r>
            <a:r>
              <a:rPr b="0" lang="zh-CN" sz="1100" spc="-1" strike="noStrike">
                <a:solidFill>
                  <a:srgbClr val="6b7280"/>
                </a:solidFill>
                <a:latin typeface="Yu Gothic"/>
              </a:rPr>
              <a:t>カテゴリ</a:t>
            </a:r>
            <a:r>
              <a:rPr b="0" lang="en-US" sz="1100" spc="-1" strike="noStrike">
                <a:solidFill>
                  <a:srgbClr val="6b7280"/>
                </a:solidFill>
                <a:latin typeface="Yu Gothic"/>
              </a:rPr>
              <a:t>(</a:t>
            </a:r>
            <a:r>
              <a:rPr b="0" lang="zh-CN" sz="1100" spc="-1" strike="noStrike">
                <a:solidFill>
                  <a:srgbClr val="6b7280"/>
                </a:solidFill>
                <a:latin typeface="Yu Gothic"/>
              </a:rPr>
              <a:t>スライド「</a:t>
            </a:r>
            <a:r>
              <a:rPr b="0" lang="en-US" sz="1100" spc="-1" strike="noStrike">
                <a:solidFill>
                  <a:srgbClr val="6b7280"/>
                </a:solidFill>
                <a:latin typeface="Yu Gothic"/>
              </a:rPr>
              <a:t>policy</a:t>
            </a:r>
            <a:r>
              <a:rPr b="0" lang="zh-CN" sz="1100" spc="-1" strike="noStrike">
                <a:solidFill>
                  <a:srgbClr val="6b7280"/>
                </a:solidFill>
                <a:latin typeface="Yu Gothic"/>
              </a:rPr>
              <a:t>ライブラリが持つロボット依存データ」参照</a:t>
            </a:r>
            <a:r>
              <a:rPr b="0" lang="en-US" sz="1100" spc="-1" strike="noStrike">
                <a:solidFill>
                  <a:srgbClr val="6b7280"/>
                </a:solidFill>
                <a:latin typeface="Yu Gothic"/>
              </a:rPr>
              <a:t>)</a:t>
            </a:r>
            <a:r>
              <a:rPr b="0" lang="zh-CN" sz="1100" spc="-1" strike="noStrike">
                <a:solidFill>
                  <a:srgbClr val="6b7280"/>
                </a:solidFill>
                <a:latin typeface="Yu Gothic"/>
              </a:rPr>
              <a:t>と同じ </a:t>
            </a:r>
            <a:r>
              <a:rPr b="0" lang="en-US" sz="1100" spc="-1" strike="noStrike">
                <a:solidFill>
                  <a:srgbClr val="6b7280"/>
                </a:solidFill>
                <a:latin typeface="Yu Gothic"/>
              </a:rPr>
              <a:t>-- </a:t>
            </a:r>
            <a:r>
              <a:rPr b="0" lang="zh-CN" sz="1100" spc="-1" strike="noStrike">
                <a:solidFill>
                  <a:srgbClr val="6b7280"/>
                </a:solidFill>
                <a:latin typeface="Yu Gothic"/>
              </a:rPr>
              <a:t>保存場所と生成タイミングが変わるだけ。</a:t>
            </a:r>
            <a:endParaRPr b="0" lang="en-US" sz="11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CustomShape 1"/>
          <p:cNvSpPr/>
          <p:nvPr/>
        </p:nvSpPr>
        <p:spPr>
          <a:xfrm>
            <a:off x="548640" y="320040"/>
            <a:ext cx="7314840" cy="3337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rgbClr val="2e6fc7"/>
                </a:solidFill>
                <a:latin typeface="Yu Gothic"/>
              </a:rPr>
              <a:t>5 vs 500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384" name="CustomShape 2"/>
          <p:cNvSpPr/>
          <p:nvPr/>
        </p:nvSpPr>
        <p:spPr>
          <a:xfrm>
            <a:off x="548640" y="685800"/>
            <a:ext cx="10515240" cy="5472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3000" spc="-1" strike="noStrike">
                <a:solidFill>
                  <a:srgbClr val="1f2a44"/>
                </a:solidFill>
                <a:latin typeface="Yu Gothic"/>
              </a:rPr>
              <a:t>5</a:t>
            </a:r>
            <a:r>
              <a:rPr b="1" lang="zh-CN" sz="3000" spc="-1" strike="noStrike">
                <a:solidFill>
                  <a:srgbClr val="1f2a44"/>
                </a:solidFill>
                <a:latin typeface="Yu Gothic"/>
              </a:rPr>
              <a:t>種類版 と </a:t>
            </a:r>
            <a:r>
              <a:rPr b="1" lang="en-US" sz="3000" spc="-1" strike="noStrike">
                <a:solidFill>
                  <a:srgbClr val="1f2a44"/>
                </a:solidFill>
                <a:latin typeface="Yu Gothic"/>
              </a:rPr>
              <a:t>500</a:t>
            </a:r>
            <a:r>
              <a:rPr b="1" lang="zh-CN" sz="3000" spc="-1" strike="noStrike">
                <a:solidFill>
                  <a:srgbClr val="1f2a44"/>
                </a:solidFill>
                <a:latin typeface="Yu Gothic"/>
              </a:rPr>
              <a:t>種類版 の違い</a:t>
            </a:r>
            <a:endParaRPr b="0" lang="en-US" sz="3000" spc="-1" strike="noStrike">
              <a:latin typeface="Arial"/>
            </a:endParaRPr>
          </a:p>
        </p:txBody>
      </p:sp>
      <p:sp>
        <p:nvSpPr>
          <p:cNvPr id="385" name="CustomShape 3"/>
          <p:cNvSpPr/>
          <p:nvPr/>
        </p:nvSpPr>
        <p:spPr>
          <a:xfrm>
            <a:off x="548640" y="1417320"/>
            <a:ext cx="2377080" cy="456840"/>
          </a:xfrm>
          <a:prstGeom prst="roundRect">
            <a:avLst>
              <a:gd name="adj" fmla="val 16667"/>
            </a:avLst>
          </a:prstGeom>
          <a:solidFill>
            <a:srgbClr val="1f2a44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zh-CN" sz="1300" spc="-1" strike="noStrike">
                <a:solidFill>
                  <a:srgbClr val="ffffff"/>
                </a:solidFill>
                <a:latin typeface="Yu Gothic"/>
              </a:rPr>
              <a:t>項目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386" name="CustomShape 4"/>
          <p:cNvSpPr/>
          <p:nvPr/>
        </p:nvSpPr>
        <p:spPr>
          <a:xfrm>
            <a:off x="3017520" y="1417320"/>
            <a:ext cx="4480200" cy="456840"/>
          </a:xfrm>
          <a:prstGeom prst="roundRect">
            <a:avLst>
              <a:gd name="adj" fmla="val 16667"/>
            </a:avLst>
          </a:prstGeom>
          <a:solidFill>
            <a:srgbClr val="1f2a44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Yu Gothic"/>
              </a:rPr>
              <a:t>5</a:t>
            </a:r>
            <a:r>
              <a:rPr b="1" lang="zh-CN" sz="1300" spc="-1" strike="noStrike">
                <a:solidFill>
                  <a:srgbClr val="ffffff"/>
                </a:solidFill>
                <a:latin typeface="Yu Gothic"/>
              </a:rPr>
              <a:t>種類</a:t>
            </a:r>
            <a:r>
              <a:rPr b="1" lang="en-US" sz="1300" spc="-1" strike="noStrike">
                <a:solidFill>
                  <a:srgbClr val="ffffff"/>
                </a:solidFill>
                <a:latin typeface="Yu Gothic"/>
              </a:rPr>
              <a:t>(</a:t>
            </a:r>
            <a:r>
              <a:rPr b="1" lang="zh-CN" sz="1300" spc="-1" strike="noStrike">
                <a:solidFill>
                  <a:srgbClr val="ffffff"/>
                </a:solidFill>
                <a:latin typeface="Yu Gothic"/>
              </a:rPr>
              <a:t>現状の</a:t>
            </a:r>
            <a:r>
              <a:rPr b="1" lang="en-US" sz="1300" spc="-1" strike="noStrike">
                <a:solidFill>
                  <a:srgbClr val="ffffff"/>
                </a:solidFill>
                <a:latin typeface="Yu Gothic"/>
              </a:rPr>
              <a:t>kxr5s)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387" name="CustomShape 5"/>
          <p:cNvSpPr/>
          <p:nvPr/>
        </p:nvSpPr>
        <p:spPr>
          <a:xfrm>
            <a:off x="7589520" y="1417320"/>
            <a:ext cx="4023000" cy="456840"/>
          </a:xfrm>
          <a:prstGeom prst="roundRect">
            <a:avLst>
              <a:gd name="adj" fmla="val 16667"/>
            </a:avLst>
          </a:prstGeom>
          <a:solidFill>
            <a:srgbClr val="1f2a44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Yu Gothic"/>
              </a:rPr>
              <a:t>500</a:t>
            </a:r>
            <a:r>
              <a:rPr b="1" lang="zh-CN" sz="1300" spc="-1" strike="noStrike">
                <a:solidFill>
                  <a:srgbClr val="ffffff"/>
                </a:solidFill>
                <a:latin typeface="Yu Gothic"/>
              </a:rPr>
              <a:t>種類</a:t>
            </a:r>
            <a:r>
              <a:rPr b="1" lang="en-US" sz="1300" spc="-1" strike="noStrike">
                <a:solidFill>
                  <a:srgbClr val="ffffff"/>
                </a:solidFill>
                <a:latin typeface="Yu Gothic"/>
              </a:rPr>
              <a:t>(</a:t>
            </a:r>
            <a:r>
              <a:rPr b="1" lang="zh-CN" sz="1300" spc="-1" strike="noStrike">
                <a:solidFill>
                  <a:srgbClr val="ffffff"/>
                </a:solidFill>
                <a:latin typeface="Yu Gothic"/>
              </a:rPr>
              <a:t>目指す姿</a:t>
            </a:r>
            <a:r>
              <a:rPr b="1" lang="en-US" sz="1300" spc="-1" strike="noStrike">
                <a:solidFill>
                  <a:srgbClr val="ffffff"/>
                </a:solidFill>
                <a:latin typeface="Yu Gothic"/>
              </a:rPr>
              <a:t>)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388" name="CustomShape 6"/>
          <p:cNvSpPr/>
          <p:nvPr/>
        </p:nvSpPr>
        <p:spPr>
          <a:xfrm>
            <a:off x="548640" y="1965960"/>
            <a:ext cx="2377080" cy="712800"/>
          </a:xfrm>
          <a:prstGeom prst="roundRect">
            <a:avLst>
              <a:gd name="adj" fmla="val 16667"/>
            </a:avLst>
          </a:prstGeom>
          <a:solidFill>
            <a:srgbClr val="6b7280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zh-CN" sz="1200" spc="-1" strike="noStrike">
                <a:solidFill>
                  <a:srgbClr val="ffffff"/>
                </a:solidFill>
                <a:latin typeface="Yu Gothic"/>
              </a:rPr>
              <a:t>保存場所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389" name="CustomShape 7"/>
          <p:cNvSpPr/>
          <p:nvPr/>
        </p:nvSpPr>
        <p:spPr>
          <a:xfrm>
            <a:off x="3108960" y="1993320"/>
            <a:ext cx="4297320" cy="2908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10000"/>
              </a:lnSpc>
            </a:pPr>
            <a:r>
              <a:rPr b="0" lang="zh-CN" sz="1200" spc="-1" strike="noStrike">
                <a:solidFill>
                  <a:srgbClr val="222222"/>
                </a:solidFill>
                <a:latin typeface="Yu Gothic"/>
              </a:rPr>
              <a:t>コンパイル時に</a:t>
            </a:r>
            <a:r>
              <a:rPr b="0" lang="en-US" sz="1200" spc="-1" strike="noStrike">
                <a:solidFill>
                  <a:srgbClr val="222222"/>
                </a:solidFill>
                <a:latin typeface="Yu Gothic"/>
              </a:rPr>
              <a:t>Flash</a:t>
            </a:r>
            <a:r>
              <a:rPr b="0" lang="zh-CN" sz="1200" spc="-1" strike="noStrike">
                <a:solidFill>
                  <a:srgbClr val="222222"/>
                </a:solidFill>
                <a:latin typeface="Yu Gothic"/>
              </a:rPr>
              <a:t>へ埋め込み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390" name="CustomShape 8"/>
          <p:cNvSpPr/>
          <p:nvPr/>
        </p:nvSpPr>
        <p:spPr>
          <a:xfrm>
            <a:off x="7680960" y="1993320"/>
            <a:ext cx="3840120" cy="2908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10000"/>
              </a:lnSpc>
            </a:pPr>
            <a:r>
              <a:rPr b="0" lang="en-US" sz="1200" spc="-1" strike="noStrike">
                <a:solidFill>
                  <a:srgbClr val="222222"/>
                </a:solidFill>
                <a:latin typeface="Yu Gothic"/>
              </a:rPr>
              <a:t>GitHub</a:t>
            </a:r>
            <a:r>
              <a:rPr b="0" lang="zh-CN" sz="1200" spc="-1" strike="noStrike">
                <a:solidFill>
                  <a:srgbClr val="222222"/>
                </a:solidFill>
                <a:latin typeface="Yu Gothic"/>
              </a:rPr>
              <a:t>の記述ブロブ</a:t>
            </a:r>
            <a:r>
              <a:rPr b="0" lang="en-US" sz="1200" spc="-1" strike="noStrike">
                <a:solidFill>
                  <a:srgbClr val="222222"/>
                </a:solidFill>
                <a:latin typeface="Yu Gothic"/>
              </a:rPr>
              <a:t>(</a:t>
            </a:r>
            <a:r>
              <a:rPr b="0" lang="zh-CN" sz="1200" spc="-1" strike="noStrike">
                <a:solidFill>
                  <a:srgbClr val="222222"/>
                </a:solidFill>
                <a:latin typeface="Yu Gothic"/>
              </a:rPr>
              <a:t>必要な</a:t>
            </a:r>
            <a:r>
              <a:rPr b="0" lang="en-US" sz="1200" spc="-1" strike="noStrike">
                <a:solidFill>
                  <a:srgbClr val="222222"/>
                </a:solidFill>
                <a:latin typeface="Yu Gothic"/>
              </a:rPr>
              <a:t>1</a:t>
            </a:r>
            <a:r>
              <a:rPr b="0" lang="zh-CN" sz="1200" spc="-1" strike="noStrike">
                <a:solidFill>
                  <a:srgbClr val="222222"/>
                </a:solidFill>
                <a:latin typeface="Yu Gothic"/>
              </a:rPr>
              <a:t>体だけ</a:t>
            </a:r>
            <a:r>
              <a:rPr b="0" lang="en-US" sz="1200" spc="-1" strike="noStrike">
                <a:solidFill>
                  <a:srgbClr val="222222"/>
                </a:solidFill>
                <a:latin typeface="Yu Gothic"/>
              </a:rPr>
              <a:t>DL)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391" name="CustomShape 9"/>
          <p:cNvSpPr/>
          <p:nvPr/>
        </p:nvSpPr>
        <p:spPr>
          <a:xfrm>
            <a:off x="548640" y="2734200"/>
            <a:ext cx="2377080" cy="712800"/>
          </a:xfrm>
          <a:prstGeom prst="roundRect">
            <a:avLst>
              <a:gd name="adj" fmla="val 16667"/>
            </a:avLst>
          </a:prstGeom>
          <a:solidFill>
            <a:srgbClr val="6b7280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zh-CN" sz="1200" spc="-1" strike="noStrike">
                <a:solidFill>
                  <a:srgbClr val="ffffff"/>
                </a:solidFill>
                <a:latin typeface="Yu Gothic"/>
              </a:rPr>
              <a:t>ファームウェア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392" name="CustomShape 10"/>
          <p:cNvSpPr/>
          <p:nvPr/>
        </p:nvSpPr>
        <p:spPr>
          <a:xfrm>
            <a:off x="3108960" y="2761560"/>
            <a:ext cx="4297320" cy="2908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10000"/>
              </a:lnSpc>
            </a:pPr>
            <a:r>
              <a:rPr b="0" lang="en-US" sz="1200" spc="-1" strike="noStrike">
                <a:solidFill>
                  <a:srgbClr val="222222"/>
                </a:solidFill>
                <a:latin typeface="Yu Gothic"/>
              </a:rPr>
              <a:t>5</a:t>
            </a:r>
            <a:r>
              <a:rPr b="0" lang="zh-CN" sz="1200" spc="-1" strike="noStrike">
                <a:solidFill>
                  <a:srgbClr val="222222"/>
                </a:solidFill>
                <a:latin typeface="Yu Gothic"/>
              </a:rPr>
              <a:t>体分を</a:t>
            </a:r>
            <a:r>
              <a:rPr b="0" lang="en-US" sz="1200" spc="-1" strike="noStrike">
                <a:solidFill>
                  <a:srgbClr val="222222"/>
                </a:solidFill>
                <a:latin typeface="Yu Gothic"/>
              </a:rPr>
              <a:t>1</a:t>
            </a:r>
            <a:r>
              <a:rPr b="0" lang="zh-CN" sz="1200" spc="-1" strike="noStrike">
                <a:solidFill>
                  <a:srgbClr val="222222"/>
                </a:solidFill>
                <a:latin typeface="Yu Gothic"/>
              </a:rPr>
              <a:t>つのイメージに同梱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393" name="CustomShape 11"/>
          <p:cNvSpPr/>
          <p:nvPr/>
        </p:nvSpPr>
        <p:spPr>
          <a:xfrm>
            <a:off x="7680960" y="2761560"/>
            <a:ext cx="3840120" cy="2908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10000"/>
              </a:lnSpc>
            </a:pPr>
            <a:r>
              <a:rPr b="0" lang="zh-CN" sz="1200" spc="-1" strike="noStrike">
                <a:solidFill>
                  <a:srgbClr val="222222"/>
                </a:solidFill>
                <a:latin typeface="Yu Gothic"/>
              </a:rPr>
              <a:t>全ロボット共通の</a:t>
            </a:r>
            <a:r>
              <a:rPr b="0" lang="en-US" sz="1200" spc="-1" strike="noStrike">
                <a:solidFill>
                  <a:srgbClr val="222222"/>
                </a:solidFill>
                <a:latin typeface="Yu Gothic"/>
              </a:rPr>
              <a:t>1</a:t>
            </a:r>
            <a:r>
              <a:rPr b="0" lang="zh-CN" sz="1200" spc="-1" strike="noStrike">
                <a:solidFill>
                  <a:srgbClr val="222222"/>
                </a:solidFill>
                <a:latin typeface="Yu Gothic"/>
              </a:rPr>
              <a:t>種類のみ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394" name="CustomShape 12"/>
          <p:cNvSpPr/>
          <p:nvPr/>
        </p:nvSpPr>
        <p:spPr>
          <a:xfrm>
            <a:off x="548640" y="3502080"/>
            <a:ext cx="2377080" cy="712800"/>
          </a:xfrm>
          <a:prstGeom prst="roundRect">
            <a:avLst>
              <a:gd name="adj" fmla="val 16667"/>
            </a:avLst>
          </a:prstGeom>
          <a:solidFill>
            <a:srgbClr val="6b7280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zh-CN" sz="1200" spc="-1" strike="noStrike">
                <a:solidFill>
                  <a:srgbClr val="ffffff"/>
                </a:solidFill>
                <a:latin typeface="Yu Gothic"/>
              </a:rPr>
              <a:t>ロボット追加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395" name="CustomShape 13"/>
          <p:cNvSpPr/>
          <p:nvPr/>
        </p:nvSpPr>
        <p:spPr>
          <a:xfrm>
            <a:off x="3108960" y="3529440"/>
            <a:ext cx="4297320" cy="4914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10000"/>
              </a:lnSpc>
            </a:pPr>
            <a:r>
              <a:rPr b="0" lang="zh-CN" sz="1200" spc="-1" strike="noStrike">
                <a:solidFill>
                  <a:srgbClr val="222222"/>
                </a:solidFill>
                <a:latin typeface="Yu Gothic"/>
              </a:rPr>
              <a:t>重み・仕様を</a:t>
            </a:r>
            <a:r>
              <a:rPr b="0" lang="en-US" sz="1200" spc="-1" strike="noStrike">
                <a:solidFill>
                  <a:srgbClr val="222222"/>
                </a:solidFill>
                <a:latin typeface="Yu Gothic"/>
              </a:rPr>
              <a:t>firmware</a:t>
            </a:r>
            <a:r>
              <a:rPr b="0" lang="zh-CN" sz="1200" spc="-1" strike="noStrike">
                <a:solidFill>
                  <a:srgbClr val="222222"/>
                </a:solidFill>
                <a:latin typeface="Yu Gothic"/>
              </a:rPr>
              <a:t>に追加して</a:t>
            </a:r>
            <a:endParaRPr b="0" lang="en-US" sz="1200" spc="-1" strike="noStrike">
              <a:latin typeface="Arial"/>
            </a:endParaRPr>
          </a:p>
          <a:p>
            <a:pPr>
              <a:lnSpc>
                <a:spcPct val="110000"/>
              </a:lnSpc>
            </a:pPr>
            <a:r>
              <a:rPr b="0" lang="zh-CN" sz="1200" spc="-1" strike="noStrike">
                <a:solidFill>
                  <a:srgbClr val="222222"/>
                </a:solidFill>
                <a:latin typeface="Yu Gothic"/>
              </a:rPr>
              <a:t>再ビルド・再フラッシュ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396" name="CustomShape 14"/>
          <p:cNvSpPr/>
          <p:nvPr/>
        </p:nvSpPr>
        <p:spPr>
          <a:xfrm>
            <a:off x="7680960" y="3529440"/>
            <a:ext cx="3840120" cy="4914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10000"/>
              </a:lnSpc>
            </a:pPr>
            <a:r>
              <a:rPr b="0" lang="zh-CN" sz="1200" spc="-1" strike="noStrike">
                <a:solidFill>
                  <a:srgbClr val="222222"/>
                </a:solidFill>
                <a:latin typeface="Yu Gothic"/>
              </a:rPr>
              <a:t>ブロブを</a:t>
            </a:r>
            <a:r>
              <a:rPr b="0" lang="en-US" sz="1200" spc="-1" strike="noStrike">
                <a:solidFill>
                  <a:srgbClr val="222222"/>
                </a:solidFill>
                <a:latin typeface="Yu Gothic"/>
              </a:rPr>
              <a:t>1</a:t>
            </a:r>
            <a:r>
              <a:rPr b="0" lang="zh-CN" sz="1200" spc="-1" strike="noStrike">
                <a:solidFill>
                  <a:srgbClr val="222222"/>
                </a:solidFill>
                <a:latin typeface="Yu Gothic"/>
              </a:rPr>
              <a:t>個生成して</a:t>
            </a:r>
            <a:r>
              <a:rPr b="0" lang="en-US" sz="1200" spc="-1" strike="noStrike">
                <a:solidFill>
                  <a:srgbClr val="222222"/>
                </a:solidFill>
                <a:latin typeface="Yu Gothic"/>
              </a:rPr>
              <a:t>GitHub</a:t>
            </a:r>
            <a:r>
              <a:rPr b="0" lang="zh-CN" sz="1200" spc="-1" strike="noStrike">
                <a:solidFill>
                  <a:srgbClr val="222222"/>
                </a:solidFill>
                <a:latin typeface="Yu Gothic"/>
              </a:rPr>
              <a:t>に</a:t>
            </a:r>
            <a:endParaRPr b="0" lang="en-US" sz="1200" spc="-1" strike="noStrike">
              <a:latin typeface="Arial"/>
            </a:endParaRPr>
          </a:p>
          <a:p>
            <a:pPr>
              <a:lnSpc>
                <a:spcPct val="110000"/>
              </a:lnSpc>
            </a:pPr>
            <a:r>
              <a:rPr b="0" lang="zh-CN" sz="1200" spc="-1" strike="noStrike">
                <a:solidFill>
                  <a:srgbClr val="222222"/>
                </a:solidFill>
                <a:latin typeface="Yu Gothic"/>
              </a:rPr>
              <a:t>置くだけ</a:t>
            </a:r>
            <a:r>
              <a:rPr b="0" lang="en-US" sz="1200" spc="-1" strike="noStrike">
                <a:solidFill>
                  <a:srgbClr val="222222"/>
                </a:solidFill>
                <a:latin typeface="Yu Gothic"/>
              </a:rPr>
              <a:t>(firmware</a:t>
            </a:r>
            <a:r>
              <a:rPr b="0" lang="zh-CN" sz="1200" spc="-1" strike="noStrike">
                <a:solidFill>
                  <a:srgbClr val="222222"/>
                </a:solidFill>
                <a:latin typeface="Yu Gothic"/>
              </a:rPr>
              <a:t>変更なし</a:t>
            </a:r>
            <a:r>
              <a:rPr b="0" lang="en-US" sz="1200" spc="-1" strike="noStrike">
                <a:solidFill>
                  <a:srgbClr val="222222"/>
                </a:solidFill>
                <a:latin typeface="Yu Gothic"/>
              </a:rPr>
              <a:t>)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397" name="CustomShape 15"/>
          <p:cNvSpPr/>
          <p:nvPr/>
        </p:nvSpPr>
        <p:spPr>
          <a:xfrm>
            <a:off x="548640" y="4270320"/>
            <a:ext cx="2377080" cy="712800"/>
          </a:xfrm>
          <a:prstGeom prst="roundRect">
            <a:avLst>
              <a:gd name="adj" fmla="val 16667"/>
            </a:avLst>
          </a:prstGeom>
          <a:solidFill>
            <a:srgbClr val="6b7280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zh-CN" sz="1200" spc="-1" strike="noStrike">
                <a:solidFill>
                  <a:srgbClr val="ffffff"/>
                </a:solidFill>
                <a:latin typeface="Yu Gothic"/>
              </a:rPr>
              <a:t>切り替え方法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398" name="CustomShape 16"/>
          <p:cNvSpPr/>
          <p:nvPr/>
        </p:nvSpPr>
        <p:spPr>
          <a:xfrm>
            <a:off x="3108960" y="4297680"/>
            <a:ext cx="4297320" cy="4914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10000"/>
              </a:lnSpc>
            </a:pPr>
            <a:r>
              <a:rPr b="0" lang="en-US" sz="1200" spc="-1" strike="noStrike">
                <a:solidFill>
                  <a:srgbClr val="222222"/>
                </a:solidFill>
                <a:latin typeface="Yu Gothic"/>
              </a:rPr>
              <a:t>NVS</a:t>
            </a:r>
            <a:r>
              <a:rPr b="0" lang="zh-CN" sz="1200" spc="-1" strike="noStrike">
                <a:solidFill>
                  <a:srgbClr val="222222"/>
                </a:solidFill>
                <a:latin typeface="Yu Gothic"/>
              </a:rPr>
              <a:t>に</a:t>
            </a:r>
            <a:r>
              <a:rPr b="0" lang="en-US" sz="1200" spc="-1" strike="noStrike">
                <a:solidFill>
                  <a:srgbClr val="222222"/>
                </a:solidFill>
                <a:latin typeface="Yu Gothic"/>
              </a:rPr>
              <a:t>ID</a:t>
            </a:r>
            <a:r>
              <a:rPr b="0" lang="zh-CN" sz="1200" spc="-1" strike="noStrike">
                <a:solidFill>
                  <a:srgbClr val="222222"/>
                </a:solidFill>
                <a:latin typeface="Yu Gothic"/>
              </a:rPr>
              <a:t>を保存して再起動</a:t>
            </a:r>
            <a:endParaRPr b="0" lang="en-US" sz="1200" spc="-1" strike="noStrike">
              <a:latin typeface="Arial"/>
            </a:endParaRPr>
          </a:p>
          <a:p>
            <a:pPr>
              <a:lnSpc>
                <a:spcPct val="110000"/>
              </a:lnSpc>
            </a:pPr>
            <a:r>
              <a:rPr b="0" lang="en-US" sz="1200" spc="-1" strike="noStrike">
                <a:solidFill>
                  <a:srgbClr val="222222"/>
                </a:solidFill>
                <a:latin typeface="Yu Gothic"/>
              </a:rPr>
              <a:t>(</a:t>
            </a:r>
            <a:r>
              <a:rPr b="0" lang="zh-CN" sz="1200" spc="-1" strike="noStrike">
                <a:solidFill>
                  <a:srgbClr val="222222"/>
                </a:solidFill>
                <a:latin typeface="Yu Gothic"/>
              </a:rPr>
              <a:t>重みは既に</a:t>
            </a:r>
            <a:r>
              <a:rPr b="0" lang="en-US" sz="1200" spc="-1" strike="noStrike">
                <a:solidFill>
                  <a:srgbClr val="222222"/>
                </a:solidFill>
                <a:latin typeface="Yu Gothic"/>
              </a:rPr>
              <a:t>Flash</a:t>
            </a:r>
            <a:r>
              <a:rPr b="0" lang="zh-CN" sz="1200" spc="-1" strike="noStrike">
                <a:solidFill>
                  <a:srgbClr val="222222"/>
                </a:solidFill>
                <a:latin typeface="Yu Gothic"/>
              </a:rPr>
              <a:t>上</a:t>
            </a:r>
            <a:r>
              <a:rPr b="0" lang="en-US" sz="1200" spc="-1" strike="noStrike">
                <a:solidFill>
                  <a:srgbClr val="222222"/>
                </a:solidFill>
                <a:latin typeface="Yu Gothic"/>
              </a:rPr>
              <a:t>)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399" name="CustomShape 17"/>
          <p:cNvSpPr/>
          <p:nvPr/>
        </p:nvSpPr>
        <p:spPr>
          <a:xfrm>
            <a:off x="7680960" y="4297680"/>
            <a:ext cx="3840120" cy="4914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10000"/>
              </a:lnSpc>
            </a:pPr>
            <a:r>
              <a:rPr b="0" lang="zh-CN" sz="1200" spc="-1" strike="noStrike">
                <a:solidFill>
                  <a:srgbClr val="222222"/>
                </a:solidFill>
                <a:latin typeface="Yu Gothic"/>
              </a:rPr>
              <a:t>ブロブをダウンロード・</a:t>
            </a:r>
            <a:r>
              <a:rPr b="0" lang="en-US" sz="1200" spc="-1" strike="noStrike">
                <a:solidFill>
                  <a:srgbClr val="222222"/>
                </a:solidFill>
                <a:latin typeface="Yu Gothic"/>
              </a:rPr>
              <a:t>LittleFS</a:t>
            </a:r>
            <a:r>
              <a:rPr b="0" lang="zh-CN" sz="1200" spc="-1" strike="noStrike">
                <a:solidFill>
                  <a:srgbClr val="222222"/>
                </a:solidFill>
                <a:latin typeface="Yu Gothic"/>
              </a:rPr>
              <a:t>に</a:t>
            </a:r>
            <a:endParaRPr b="0" lang="en-US" sz="1200" spc="-1" strike="noStrike">
              <a:latin typeface="Arial"/>
            </a:endParaRPr>
          </a:p>
          <a:p>
            <a:pPr>
              <a:lnSpc>
                <a:spcPct val="110000"/>
              </a:lnSpc>
            </a:pPr>
            <a:r>
              <a:rPr b="0" lang="zh-CN" sz="1200" spc="-1" strike="noStrike">
                <a:solidFill>
                  <a:srgbClr val="222222"/>
                </a:solidFill>
                <a:latin typeface="Yu Gothic"/>
              </a:rPr>
              <a:t>保存して再起動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400" name="CustomShape 18"/>
          <p:cNvSpPr/>
          <p:nvPr/>
        </p:nvSpPr>
        <p:spPr>
          <a:xfrm>
            <a:off x="548640" y="5038200"/>
            <a:ext cx="2377080" cy="712800"/>
          </a:xfrm>
          <a:prstGeom prst="roundRect">
            <a:avLst>
              <a:gd name="adj" fmla="val 16667"/>
            </a:avLst>
          </a:prstGeom>
          <a:solidFill>
            <a:srgbClr val="6b7280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Yu Gothic"/>
              </a:rPr>
              <a:t>Flash</a:t>
            </a:r>
            <a:r>
              <a:rPr b="1" lang="zh-CN" sz="1200" spc="-1" strike="noStrike">
                <a:solidFill>
                  <a:srgbClr val="ffffff"/>
                </a:solidFill>
                <a:latin typeface="Yu Gothic"/>
              </a:rPr>
              <a:t>使用量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401" name="CustomShape 19"/>
          <p:cNvSpPr/>
          <p:nvPr/>
        </p:nvSpPr>
        <p:spPr>
          <a:xfrm>
            <a:off x="3108960" y="5065920"/>
            <a:ext cx="4297320" cy="4914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10000"/>
              </a:lnSpc>
            </a:pPr>
            <a:r>
              <a:rPr b="0" lang="zh-CN" sz="1200" spc="-1" strike="noStrike">
                <a:solidFill>
                  <a:srgbClr val="222222"/>
                </a:solidFill>
                <a:latin typeface="Yu Gothic"/>
              </a:rPr>
              <a:t>ロボット数に比例して増加</a:t>
            </a:r>
            <a:endParaRPr b="0" lang="en-US" sz="1200" spc="-1" strike="noStrike">
              <a:latin typeface="Arial"/>
            </a:endParaRPr>
          </a:p>
          <a:p>
            <a:pPr>
              <a:lnSpc>
                <a:spcPct val="110000"/>
              </a:lnSpc>
            </a:pPr>
            <a:r>
              <a:rPr b="0" lang="en-US" sz="1200" spc="-1" strike="noStrike">
                <a:solidFill>
                  <a:srgbClr val="222222"/>
                </a:solidFill>
                <a:latin typeface="Yu Gothic"/>
              </a:rPr>
              <a:t>(5</a:t>
            </a:r>
            <a:r>
              <a:rPr b="0" lang="zh-CN" sz="1200" spc="-1" strike="noStrike">
                <a:solidFill>
                  <a:srgbClr val="222222"/>
                </a:solidFill>
                <a:latin typeface="Yu Gothic"/>
              </a:rPr>
              <a:t>種で</a:t>
            </a:r>
            <a:r>
              <a:rPr b="0" lang="en-US" sz="1200" spc="-1" strike="noStrike">
                <a:solidFill>
                  <a:srgbClr val="222222"/>
                </a:solidFill>
                <a:latin typeface="Yu Gothic"/>
              </a:rPr>
              <a:t>78</a:t>
            </a:r>
            <a:r>
              <a:rPr b="0" lang="zh-CN" sz="1200" spc="-1" strike="noStrike">
                <a:solidFill>
                  <a:srgbClr val="222222"/>
                </a:solidFill>
                <a:latin typeface="Yu Gothic"/>
              </a:rPr>
              <a:t>〜</a:t>
            </a:r>
            <a:r>
              <a:rPr b="0" lang="en-US" sz="1200" spc="-1" strike="noStrike">
                <a:solidFill>
                  <a:srgbClr val="222222"/>
                </a:solidFill>
                <a:latin typeface="Yu Gothic"/>
              </a:rPr>
              <a:t>83%)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402" name="CustomShape 20"/>
          <p:cNvSpPr/>
          <p:nvPr/>
        </p:nvSpPr>
        <p:spPr>
          <a:xfrm>
            <a:off x="7680960" y="5065920"/>
            <a:ext cx="3840120" cy="4914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10000"/>
              </a:lnSpc>
            </a:pPr>
            <a:r>
              <a:rPr b="0" lang="zh-CN" sz="1200" spc="-1" strike="noStrike">
                <a:solidFill>
                  <a:srgbClr val="222222"/>
                </a:solidFill>
                <a:latin typeface="Yu Gothic"/>
              </a:rPr>
              <a:t>ほぼ一定</a:t>
            </a:r>
            <a:endParaRPr b="0" lang="en-US" sz="1200" spc="-1" strike="noStrike">
              <a:latin typeface="Arial"/>
            </a:endParaRPr>
          </a:p>
          <a:p>
            <a:pPr>
              <a:lnSpc>
                <a:spcPct val="110000"/>
              </a:lnSpc>
            </a:pPr>
            <a:r>
              <a:rPr b="0" lang="en-US" sz="1200" spc="-1" strike="noStrike">
                <a:solidFill>
                  <a:srgbClr val="222222"/>
                </a:solidFill>
                <a:latin typeface="Yu Gothic"/>
              </a:rPr>
              <a:t>(</a:t>
            </a:r>
            <a:r>
              <a:rPr b="0" lang="zh-CN" sz="1200" spc="-1" strike="noStrike">
                <a:solidFill>
                  <a:srgbClr val="222222"/>
                </a:solidFill>
                <a:latin typeface="Yu Gothic"/>
              </a:rPr>
              <a:t>インタプリタのコードサイズのみ</a:t>
            </a:r>
            <a:r>
              <a:rPr b="0" lang="en-US" sz="1200" spc="-1" strike="noStrike">
                <a:solidFill>
                  <a:srgbClr val="222222"/>
                </a:solidFill>
                <a:latin typeface="Yu Gothic"/>
              </a:rPr>
              <a:t>)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403" name="CustomShape 21"/>
          <p:cNvSpPr/>
          <p:nvPr/>
        </p:nvSpPr>
        <p:spPr>
          <a:xfrm>
            <a:off x="548640" y="5806440"/>
            <a:ext cx="2377080" cy="712800"/>
          </a:xfrm>
          <a:prstGeom prst="roundRect">
            <a:avLst>
              <a:gd name="adj" fmla="val 16667"/>
            </a:avLst>
          </a:prstGeom>
          <a:solidFill>
            <a:srgbClr val="6b7280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zh-CN" sz="1200" spc="-1" strike="noStrike">
                <a:solidFill>
                  <a:srgbClr val="ffffff"/>
                </a:solidFill>
                <a:latin typeface="Yu Gothic"/>
              </a:rPr>
              <a:t>サーボ</a:t>
            </a:r>
            <a:r>
              <a:rPr b="1" lang="en-US" sz="1200" spc="-1" strike="noStrike">
                <a:solidFill>
                  <a:srgbClr val="ffffff"/>
                </a:solidFill>
                <a:latin typeface="Yu Gothic"/>
              </a:rPr>
              <a:t>ID</a:t>
            </a:r>
            <a:r>
              <a:rPr b="1" lang="zh-CN" sz="1200" spc="-1" strike="noStrike">
                <a:solidFill>
                  <a:srgbClr val="ffffff"/>
                </a:solidFill>
                <a:latin typeface="Yu Gothic"/>
              </a:rPr>
              <a:t>検出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404" name="CustomShape 22"/>
          <p:cNvSpPr/>
          <p:nvPr/>
        </p:nvSpPr>
        <p:spPr>
          <a:xfrm>
            <a:off x="3108960" y="5833800"/>
            <a:ext cx="4297320" cy="2908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10000"/>
              </a:lnSpc>
            </a:pPr>
            <a:r>
              <a:rPr b="0" lang="zh-CN" sz="1200" spc="-1" strike="noStrike">
                <a:solidFill>
                  <a:srgbClr val="222222"/>
                </a:solidFill>
                <a:latin typeface="Yu Gothic"/>
              </a:rPr>
              <a:t>既知</a:t>
            </a:r>
            <a:r>
              <a:rPr b="0" lang="en-US" sz="1200" spc="-1" strike="noStrike">
                <a:solidFill>
                  <a:srgbClr val="222222"/>
                </a:solidFill>
                <a:latin typeface="Yu Gothic"/>
              </a:rPr>
              <a:t>5</a:t>
            </a:r>
            <a:r>
              <a:rPr b="0" lang="zh-CN" sz="1200" spc="-1" strike="noStrike">
                <a:solidFill>
                  <a:srgbClr val="222222"/>
                </a:solidFill>
                <a:latin typeface="Yu Gothic"/>
              </a:rPr>
              <a:t>体をスコアリング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405" name="CustomShape 23"/>
          <p:cNvSpPr/>
          <p:nvPr/>
        </p:nvSpPr>
        <p:spPr>
          <a:xfrm>
            <a:off x="7680960" y="5833800"/>
            <a:ext cx="3840120" cy="4914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10000"/>
              </a:lnSpc>
            </a:pPr>
            <a:r>
              <a:rPr b="0" lang="zh-CN" sz="1200" spc="-1" strike="noStrike">
                <a:solidFill>
                  <a:srgbClr val="222222"/>
                </a:solidFill>
                <a:latin typeface="Yu Gothic"/>
              </a:rPr>
              <a:t>同じロジックで</a:t>
            </a:r>
            <a:r>
              <a:rPr b="0" lang="en-US" sz="1200" spc="-1" strike="noStrike">
                <a:solidFill>
                  <a:srgbClr val="222222"/>
                </a:solidFill>
                <a:latin typeface="Yu Gothic"/>
              </a:rPr>
              <a:t>GitHub</a:t>
            </a:r>
            <a:r>
              <a:rPr b="0" lang="zh-CN" sz="1200" spc="-1" strike="noStrike">
                <a:solidFill>
                  <a:srgbClr val="222222"/>
                </a:solidFill>
                <a:latin typeface="Yu Gothic"/>
              </a:rPr>
              <a:t>上の</a:t>
            </a:r>
            <a:endParaRPr b="0" lang="en-US" sz="1200" spc="-1" strike="noStrike">
              <a:latin typeface="Arial"/>
            </a:endParaRPr>
          </a:p>
          <a:p>
            <a:pPr>
              <a:lnSpc>
                <a:spcPct val="110000"/>
              </a:lnSpc>
            </a:pPr>
            <a:r>
              <a:rPr b="0" lang="en-US" sz="1200" spc="-1" strike="noStrike">
                <a:solidFill>
                  <a:srgbClr val="222222"/>
                </a:solidFill>
                <a:latin typeface="Yu Gothic"/>
              </a:rPr>
              <a:t>manifest(500</a:t>
            </a:r>
            <a:r>
              <a:rPr b="0" lang="zh-CN" sz="1200" spc="-1" strike="noStrike">
                <a:solidFill>
                  <a:srgbClr val="222222"/>
                </a:solidFill>
                <a:latin typeface="Yu Gothic"/>
              </a:rPr>
              <a:t>件</a:t>
            </a:r>
            <a:r>
              <a:rPr b="0" lang="en-US" sz="1200" spc="-1" strike="noStrike">
                <a:solidFill>
                  <a:srgbClr val="222222"/>
                </a:solidFill>
                <a:latin typeface="Yu Gothic"/>
              </a:rPr>
              <a:t>)</a:t>
            </a:r>
            <a:r>
              <a:rPr b="0" lang="zh-CN" sz="1200" spc="-1" strike="noStrike">
                <a:solidFill>
                  <a:srgbClr val="222222"/>
                </a:solidFill>
                <a:latin typeface="Yu Gothic"/>
              </a:rPr>
              <a:t>をスコアリング</a:t>
            </a:r>
            <a:endParaRPr b="0" lang="en-US" sz="1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6" name="CustomShape 1"/>
          <p:cNvSpPr/>
          <p:nvPr/>
        </p:nvSpPr>
        <p:spPr>
          <a:xfrm>
            <a:off x="548640" y="320040"/>
            <a:ext cx="7314840" cy="3337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rgbClr val="2e6fc7"/>
                </a:solidFill>
                <a:latin typeface="Yu Gothic"/>
              </a:rPr>
              <a:t>500 ROBOTS -- MEMORY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407" name="CustomShape 2"/>
          <p:cNvSpPr/>
          <p:nvPr/>
        </p:nvSpPr>
        <p:spPr>
          <a:xfrm>
            <a:off x="548640" y="685800"/>
            <a:ext cx="10515240" cy="5472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zh-CN" sz="3000" spc="-1" strike="noStrike">
                <a:solidFill>
                  <a:srgbClr val="1f2a44"/>
                </a:solidFill>
                <a:latin typeface="Yu Gothic"/>
              </a:rPr>
              <a:t>ファームウェア上の</a:t>
            </a:r>
            <a:r>
              <a:rPr b="1" lang="en-US" sz="3000" spc="-1" strike="noStrike">
                <a:solidFill>
                  <a:srgbClr val="1f2a44"/>
                </a:solidFill>
                <a:latin typeface="Yu Gothic"/>
              </a:rPr>
              <a:t>Flash</a:t>
            </a:r>
            <a:r>
              <a:rPr b="1" lang="zh-CN" sz="3000" spc="-1" strike="noStrike">
                <a:solidFill>
                  <a:srgbClr val="1f2a44"/>
                </a:solidFill>
                <a:latin typeface="Yu Gothic"/>
              </a:rPr>
              <a:t>使用量はどう変わるか</a:t>
            </a:r>
            <a:endParaRPr b="0" lang="en-US" sz="3000" spc="-1" strike="noStrike">
              <a:latin typeface="Arial"/>
            </a:endParaRPr>
          </a:p>
        </p:txBody>
      </p:sp>
      <p:sp>
        <p:nvSpPr>
          <p:cNvPr id="408" name="Line 3"/>
          <p:cNvSpPr/>
          <p:nvPr/>
        </p:nvSpPr>
        <p:spPr>
          <a:xfrm>
            <a:off x="1005840" y="4869000"/>
            <a:ext cx="10332720" cy="0"/>
          </a:xfrm>
          <a:prstGeom prst="line">
            <a:avLst/>
          </a:prstGeom>
          <a:ln w="9360">
            <a:solidFill>
              <a:srgbClr val="dddddd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/>
        </p:style>
      </p:sp>
      <p:sp>
        <p:nvSpPr>
          <p:cNvPr id="409" name="CustomShape 4"/>
          <p:cNvSpPr/>
          <p:nvPr/>
        </p:nvSpPr>
        <p:spPr>
          <a:xfrm>
            <a:off x="274320" y="4759560"/>
            <a:ext cx="822600" cy="2426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r">
              <a:lnSpc>
                <a:spcPct val="100000"/>
              </a:lnSpc>
            </a:pPr>
            <a:r>
              <a:rPr b="0" lang="en-US" sz="1000" spc="-1" strike="noStrike">
                <a:solidFill>
                  <a:srgbClr val="6b7280"/>
                </a:solidFill>
                <a:latin typeface="Yu Gothic"/>
              </a:rPr>
              <a:t>25%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410" name="Line 5"/>
          <p:cNvSpPr/>
          <p:nvPr/>
        </p:nvSpPr>
        <p:spPr>
          <a:xfrm>
            <a:off x="1005840" y="3977640"/>
            <a:ext cx="10332720" cy="0"/>
          </a:xfrm>
          <a:prstGeom prst="line">
            <a:avLst/>
          </a:prstGeom>
          <a:ln w="9360">
            <a:solidFill>
              <a:srgbClr val="dddddd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/>
        </p:style>
      </p:sp>
      <p:sp>
        <p:nvSpPr>
          <p:cNvPr id="411" name="CustomShape 6"/>
          <p:cNvSpPr/>
          <p:nvPr/>
        </p:nvSpPr>
        <p:spPr>
          <a:xfrm>
            <a:off x="274320" y="3867840"/>
            <a:ext cx="822600" cy="2426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r">
              <a:lnSpc>
                <a:spcPct val="100000"/>
              </a:lnSpc>
            </a:pPr>
            <a:r>
              <a:rPr b="0" lang="en-US" sz="1000" spc="-1" strike="noStrike">
                <a:solidFill>
                  <a:srgbClr val="6b7280"/>
                </a:solidFill>
                <a:latin typeface="Yu Gothic"/>
              </a:rPr>
              <a:t>50%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412" name="Line 7"/>
          <p:cNvSpPr/>
          <p:nvPr/>
        </p:nvSpPr>
        <p:spPr>
          <a:xfrm>
            <a:off x="1005840" y="3085920"/>
            <a:ext cx="10332720" cy="0"/>
          </a:xfrm>
          <a:prstGeom prst="line">
            <a:avLst/>
          </a:prstGeom>
          <a:ln w="9360">
            <a:solidFill>
              <a:srgbClr val="dddddd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/>
        </p:style>
      </p:sp>
      <p:sp>
        <p:nvSpPr>
          <p:cNvPr id="413" name="CustomShape 8"/>
          <p:cNvSpPr/>
          <p:nvPr/>
        </p:nvSpPr>
        <p:spPr>
          <a:xfrm>
            <a:off x="274320" y="2976480"/>
            <a:ext cx="822600" cy="2426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r">
              <a:lnSpc>
                <a:spcPct val="100000"/>
              </a:lnSpc>
            </a:pPr>
            <a:r>
              <a:rPr b="0" lang="en-US" sz="1000" spc="-1" strike="noStrike">
                <a:solidFill>
                  <a:srgbClr val="6b7280"/>
                </a:solidFill>
                <a:latin typeface="Yu Gothic"/>
              </a:rPr>
              <a:t>75%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414" name="Line 9"/>
          <p:cNvSpPr/>
          <p:nvPr/>
        </p:nvSpPr>
        <p:spPr>
          <a:xfrm>
            <a:off x="1005840" y="2194560"/>
            <a:ext cx="10332720" cy="0"/>
          </a:xfrm>
          <a:prstGeom prst="line">
            <a:avLst/>
          </a:prstGeom>
          <a:ln w="9360">
            <a:solidFill>
              <a:srgbClr val="dddddd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/>
        </p:style>
      </p:sp>
      <p:sp>
        <p:nvSpPr>
          <p:cNvPr id="415" name="CustomShape 10"/>
          <p:cNvSpPr/>
          <p:nvPr/>
        </p:nvSpPr>
        <p:spPr>
          <a:xfrm>
            <a:off x="274320" y="2084760"/>
            <a:ext cx="822600" cy="2426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r">
              <a:lnSpc>
                <a:spcPct val="100000"/>
              </a:lnSpc>
            </a:pPr>
            <a:r>
              <a:rPr b="0" lang="en-US" sz="1000" spc="-1" strike="noStrike">
                <a:solidFill>
                  <a:srgbClr val="6b7280"/>
                </a:solidFill>
                <a:latin typeface="Yu Gothic"/>
              </a:rPr>
              <a:t>100%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416" name="CustomShape 11"/>
          <p:cNvSpPr/>
          <p:nvPr/>
        </p:nvSpPr>
        <p:spPr>
          <a:xfrm>
            <a:off x="1097280" y="2975400"/>
            <a:ext cx="1737000" cy="2784960"/>
          </a:xfrm>
          <a:prstGeom prst="rect">
            <a:avLst/>
          </a:prstGeom>
          <a:solidFill>
            <a:srgbClr val="2e6fc7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17" name="CustomShape 12"/>
          <p:cNvSpPr/>
          <p:nvPr/>
        </p:nvSpPr>
        <p:spPr>
          <a:xfrm>
            <a:off x="1097280" y="2655360"/>
            <a:ext cx="1737000" cy="2728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ctr">
              <a:lnSpc>
                <a:spcPct val="100000"/>
              </a:lnSpc>
            </a:pPr>
            <a:r>
              <a:rPr b="1" lang="en-US" sz="1200" spc="-1" strike="noStrike">
                <a:solidFill>
                  <a:srgbClr val="222222"/>
                </a:solidFill>
                <a:latin typeface="Yu Gothic"/>
              </a:rPr>
              <a:t>78%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418" name="CustomShape 13"/>
          <p:cNvSpPr/>
          <p:nvPr/>
        </p:nvSpPr>
        <p:spPr>
          <a:xfrm>
            <a:off x="1097280" y="5806440"/>
            <a:ext cx="1737000" cy="4417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ctr">
              <a:lnSpc>
                <a:spcPct val="105000"/>
              </a:lnSpc>
            </a:pPr>
            <a:r>
              <a:rPr b="0" lang="en-US" sz="1100" spc="-1" strike="noStrike">
                <a:solidFill>
                  <a:srgbClr val="222222"/>
                </a:solidFill>
                <a:latin typeface="Yu Gothic"/>
              </a:rPr>
              <a:t>5</a:t>
            </a:r>
            <a:r>
              <a:rPr b="0" lang="zh-CN" sz="1100" spc="-1" strike="noStrike">
                <a:solidFill>
                  <a:srgbClr val="222222"/>
                </a:solidFill>
                <a:latin typeface="Yu Gothic"/>
              </a:rPr>
              <a:t>種類</a:t>
            </a:r>
            <a:endParaRPr b="0" lang="en-US" sz="1100" spc="-1" strike="noStrike">
              <a:latin typeface="Arial"/>
            </a:endParaRPr>
          </a:p>
          <a:p>
            <a:pPr algn="ctr">
              <a:lnSpc>
                <a:spcPct val="105000"/>
              </a:lnSpc>
            </a:pPr>
            <a:r>
              <a:rPr b="0" lang="en-US" sz="1100" spc="-1" strike="noStrike">
                <a:solidFill>
                  <a:srgbClr val="222222"/>
                </a:solidFill>
                <a:latin typeface="Yu Gothic"/>
              </a:rPr>
              <a:t>(atoms3)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419" name="CustomShape 14"/>
          <p:cNvSpPr/>
          <p:nvPr/>
        </p:nvSpPr>
        <p:spPr>
          <a:xfrm>
            <a:off x="3154680" y="3086280"/>
            <a:ext cx="1737000" cy="2674440"/>
          </a:xfrm>
          <a:prstGeom prst="rect">
            <a:avLst/>
          </a:prstGeom>
          <a:solidFill>
            <a:srgbClr val="2e6fc7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20" name="CustomShape 15"/>
          <p:cNvSpPr/>
          <p:nvPr/>
        </p:nvSpPr>
        <p:spPr>
          <a:xfrm>
            <a:off x="3154680" y="2766240"/>
            <a:ext cx="1737000" cy="2728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ctr">
              <a:lnSpc>
                <a:spcPct val="100000"/>
              </a:lnSpc>
            </a:pPr>
            <a:r>
              <a:rPr b="1" lang="en-US" sz="1200" spc="-1" strike="noStrike">
                <a:solidFill>
                  <a:srgbClr val="222222"/>
                </a:solidFill>
                <a:latin typeface="Yu Gothic"/>
              </a:rPr>
              <a:t>75%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421" name="CustomShape 16"/>
          <p:cNvSpPr/>
          <p:nvPr/>
        </p:nvSpPr>
        <p:spPr>
          <a:xfrm>
            <a:off x="3154680" y="5806440"/>
            <a:ext cx="1737000" cy="4417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ctr">
              <a:lnSpc>
                <a:spcPct val="105000"/>
              </a:lnSpc>
            </a:pPr>
            <a:r>
              <a:rPr b="0" lang="en-US" sz="1100" spc="-1" strike="noStrike">
                <a:solidFill>
                  <a:srgbClr val="222222"/>
                </a:solidFill>
                <a:latin typeface="Yu Gothic"/>
              </a:rPr>
              <a:t>5</a:t>
            </a:r>
            <a:r>
              <a:rPr b="0" lang="zh-CN" sz="1100" spc="-1" strike="noStrike">
                <a:solidFill>
                  <a:srgbClr val="222222"/>
                </a:solidFill>
                <a:latin typeface="Yu Gothic"/>
              </a:rPr>
              <a:t>種類</a:t>
            </a:r>
            <a:endParaRPr b="0" lang="en-US" sz="1100" spc="-1" strike="noStrike">
              <a:latin typeface="Arial"/>
            </a:endParaRPr>
          </a:p>
          <a:p>
            <a:pPr algn="ctr">
              <a:lnSpc>
                <a:spcPct val="105000"/>
              </a:lnSpc>
            </a:pPr>
            <a:r>
              <a:rPr b="0" lang="en-US" sz="1100" spc="-1" strike="noStrike">
                <a:solidFill>
                  <a:srgbClr val="222222"/>
                </a:solidFill>
                <a:latin typeface="Yu Gothic"/>
              </a:rPr>
              <a:t>(m5stickc)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422" name="CustomShape 17"/>
          <p:cNvSpPr/>
          <p:nvPr/>
        </p:nvSpPr>
        <p:spPr>
          <a:xfrm>
            <a:off x="5212080" y="2194560"/>
            <a:ext cx="1737000" cy="3565800"/>
          </a:xfrm>
          <a:prstGeom prst="rect">
            <a:avLst/>
          </a:prstGeom>
          <a:solidFill>
            <a:srgbClr val="b03030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23" name="CustomShape 18"/>
          <p:cNvSpPr/>
          <p:nvPr/>
        </p:nvSpPr>
        <p:spPr>
          <a:xfrm>
            <a:off x="5212080" y="2267640"/>
            <a:ext cx="1737000" cy="2577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ctr">
              <a:lnSpc>
                <a:spcPct val="100000"/>
              </a:lnSpc>
            </a:pPr>
            <a:r>
              <a:rPr b="1" lang="zh-CN" sz="1100" spc="-1" strike="noStrike">
                <a:solidFill>
                  <a:srgbClr val="ffffff"/>
                </a:solidFill>
                <a:latin typeface="Yu Gothic"/>
              </a:rPr>
              <a:t>収まらない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424" name="CustomShape 19"/>
          <p:cNvSpPr/>
          <p:nvPr/>
        </p:nvSpPr>
        <p:spPr>
          <a:xfrm>
            <a:off x="5212080" y="5806440"/>
            <a:ext cx="1737000" cy="4417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ctr">
              <a:lnSpc>
                <a:spcPct val="105000"/>
              </a:lnSpc>
            </a:pPr>
            <a:r>
              <a:rPr b="0" lang="en-US" sz="1100" spc="-1" strike="noStrike">
                <a:solidFill>
                  <a:srgbClr val="222222"/>
                </a:solidFill>
                <a:latin typeface="Yu Gothic"/>
              </a:rPr>
              <a:t>52</a:t>
            </a:r>
            <a:r>
              <a:rPr b="0" lang="zh-CN" sz="1100" spc="-1" strike="noStrike">
                <a:solidFill>
                  <a:srgbClr val="222222"/>
                </a:solidFill>
                <a:latin typeface="Yu Gothic"/>
              </a:rPr>
              <a:t>種類</a:t>
            </a:r>
            <a:endParaRPr b="0" lang="en-US" sz="1100" spc="-1" strike="noStrike">
              <a:latin typeface="Arial"/>
            </a:endParaRPr>
          </a:p>
          <a:p>
            <a:pPr algn="ctr">
              <a:lnSpc>
                <a:spcPct val="105000"/>
              </a:lnSpc>
            </a:pPr>
            <a:r>
              <a:rPr b="0" lang="zh-CN" sz="1100" spc="-1" strike="noStrike">
                <a:solidFill>
                  <a:srgbClr val="222222"/>
                </a:solidFill>
                <a:latin typeface="Yu Gothic"/>
              </a:rPr>
              <a:t>に拡張したら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425" name="CustomShape 20"/>
          <p:cNvSpPr/>
          <p:nvPr/>
        </p:nvSpPr>
        <p:spPr>
          <a:xfrm>
            <a:off x="7269480" y="2194560"/>
            <a:ext cx="1737000" cy="3565800"/>
          </a:xfrm>
          <a:prstGeom prst="rect">
            <a:avLst/>
          </a:prstGeom>
          <a:solidFill>
            <a:srgbClr val="b03030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26" name="CustomShape 21"/>
          <p:cNvSpPr/>
          <p:nvPr/>
        </p:nvSpPr>
        <p:spPr>
          <a:xfrm>
            <a:off x="7269480" y="2267640"/>
            <a:ext cx="1737000" cy="2577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ctr">
              <a:lnSpc>
                <a:spcPct val="100000"/>
              </a:lnSpc>
            </a:pPr>
            <a:r>
              <a:rPr b="1" lang="zh-CN" sz="1100" spc="-1" strike="noStrike">
                <a:solidFill>
                  <a:srgbClr val="ffffff"/>
                </a:solidFill>
                <a:latin typeface="Yu Gothic"/>
              </a:rPr>
              <a:t>収まらない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427" name="CustomShape 22"/>
          <p:cNvSpPr/>
          <p:nvPr/>
        </p:nvSpPr>
        <p:spPr>
          <a:xfrm>
            <a:off x="7269480" y="5806440"/>
            <a:ext cx="1737000" cy="4417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ctr">
              <a:lnSpc>
                <a:spcPct val="105000"/>
              </a:lnSpc>
            </a:pPr>
            <a:r>
              <a:rPr b="0" lang="en-US" sz="1100" spc="-1" strike="noStrike">
                <a:solidFill>
                  <a:srgbClr val="222222"/>
                </a:solidFill>
                <a:latin typeface="Yu Gothic"/>
              </a:rPr>
              <a:t>500</a:t>
            </a:r>
            <a:r>
              <a:rPr b="0" lang="zh-CN" sz="1100" spc="-1" strike="noStrike">
                <a:solidFill>
                  <a:srgbClr val="222222"/>
                </a:solidFill>
                <a:latin typeface="Yu Gothic"/>
              </a:rPr>
              <a:t>種類</a:t>
            </a:r>
            <a:endParaRPr b="0" lang="en-US" sz="1100" spc="-1" strike="noStrike">
              <a:latin typeface="Arial"/>
            </a:endParaRPr>
          </a:p>
          <a:p>
            <a:pPr algn="ctr">
              <a:lnSpc>
                <a:spcPct val="105000"/>
              </a:lnSpc>
            </a:pPr>
            <a:r>
              <a:rPr b="0" lang="en-US" sz="1100" spc="-1" strike="noStrike">
                <a:solidFill>
                  <a:srgbClr val="222222"/>
                </a:solidFill>
                <a:latin typeface="Yu Gothic"/>
              </a:rPr>
              <a:t>(</a:t>
            </a:r>
            <a:r>
              <a:rPr b="0" lang="zh-CN" sz="1100" spc="-1" strike="noStrike">
                <a:solidFill>
                  <a:srgbClr val="222222"/>
                </a:solidFill>
                <a:latin typeface="Yu Gothic"/>
              </a:rPr>
              <a:t>現方式のまま</a:t>
            </a:r>
            <a:r>
              <a:rPr b="0" lang="en-US" sz="1100" spc="-1" strike="noStrike">
                <a:solidFill>
                  <a:srgbClr val="222222"/>
                </a:solidFill>
                <a:latin typeface="Yu Gothic"/>
              </a:rPr>
              <a:t>)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428" name="CustomShape 23"/>
          <p:cNvSpPr/>
          <p:nvPr/>
        </p:nvSpPr>
        <p:spPr>
          <a:xfrm>
            <a:off x="9326880" y="4619520"/>
            <a:ext cx="1737000" cy="1140840"/>
          </a:xfrm>
          <a:prstGeom prst="rect">
            <a:avLst/>
          </a:prstGeom>
          <a:solidFill>
            <a:srgbClr val="2ea059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29" name="CustomShape 24"/>
          <p:cNvSpPr/>
          <p:nvPr/>
        </p:nvSpPr>
        <p:spPr>
          <a:xfrm>
            <a:off x="9326880" y="4299480"/>
            <a:ext cx="1737000" cy="2728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ctr">
              <a:lnSpc>
                <a:spcPct val="100000"/>
              </a:lnSpc>
            </a:pPr>
            <a:r>
              <a:rPr b="1" lang="en-US" sz="1200" spc="-1" strike="noStrike">
                <a:solidFill>
                  <a:srgbClr val="222222"/>
                </a:solidFill>
                <a:latin typeface="Yu Gothic"/>
              </a:rPr>
              <a:t>32%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430" name="CustomShape 25"/>
          <p:cNvSpPr/>
          <p:nvPr/>
        </p:nvSpPr>
        <p:spPr>
          <a:xfrm>
            <a:off x="9326880" y="5806440"/>
            <a:ext cx="1737000" cy="4417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ctr">
              <a:lnSpc>
                <a:spcPct val="105000"/>
              </a:lnSpc>
            </a:pPr>
            <a:r>
              <a:rPr b="0" lang="en-US" sz="1100" spc="-1" strike="noStrike">
                <a:solidFill>
                  <a:srgbClr val="222222"/>
                </a:solidFill>
                <a:latin typeface="Yu Gothic"/>
              </a:rPr>
              <a:t>500</a:t>
            </a:r>
            <a:r>
              <a:rPr b="0" lang="zh-CN" sz="1100" spc="-1" strike="noStrike">
                <a:solidFill>
                  <a:srgbClr val="222222"/>
                </a:solidFill>
                <a:latin typeface="Yu Gothic"/>
              </a:rPr>
              <a:t>種類</a:t>
            </a:r>
            <a:endParaRPr b="0" lang="en-US" sz="1100" spc="-1" strike="noStrike">
              <a:latin typeface="Arial"/>
            </a:endParaRPr>
          </a:p>
          <a:p>
            <a:pPr algn="ctr">
              <a:lnSpc>
                <a:spcPct val="105000"/>
              </a:lnSpc>
            </a:pPr>
            <a:r>
              <a:rPr b="0" lang="en-US" sz="1100" spc="-1" strike="noStrike">
                <a:solidFill>
                  <a:srgbClr val="222222"/>
                </a:solidFill>
                <a:latin typeface="Yu Gothic"/>
              </a:rPr>
              <a:t>(</a:t>
            </a:r>
            <a:r>
              <a:rPr b="0" lang="zh-CN" sz="1100" spc="-1" strike="noStrike">
                <a:solidFill>
                  <a:srgbClr val="222222"/>
                </a:solidFill>
                <a:latin typeface="Yu Gothic"/>
              </a:rPr>
              <a:t>データ駆動方式</a:t>
            </a:r>
            <a:r>
              <a:rPr b="0" lang="en-US" sz="1100" spc="-1" strike="noStrike">
                <a:solidFill>
                  <a:srgbClr val="222222"/>
                </a:solidFill>
                <a:latin typeface="Yu Gothic"/>
              </a:rPr>
              <a:t>)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431" name="CustomShape 26"/>
          <p:cNvSpPr/>
          <p:nvPr/>
        </p:nvSpPr>
        <p:spPr>
          <a:xfrm>
            <a:off x="548640" y="1371600"/>
            <a:ext cx="11063880" cy="5655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20000"/>
              </a:lnSpc>
            </a:pPr>
            <a:r>
              <a:rPr b="0" lang="zh-CN" sz="1300" spc="-1" strike="noStrike">
                <a:solidFill>
                  <a:srgbClr val="222222"/>
                </a:solidFill>
                <a:latin typeface="Yu Gothic"/>
              </a:rPr>
              <a:t>現方式はロボット</a:t>
            </a:r>
            <a:r>
              <a:rPr b="0" lang="en-US" sz="1300" spc="-1" strike="noStrike">
                <a:solidFill>
                  <a:srgbClr val="222222"/>
                </a:solidFill>
                <a:latin typeface="Yu Gothic"/>
              </a:rPr>
              <a:t>1</a:t>
            </a:r>
            <a:r>
              <a:rPr b="0" lang="zh-CN" sz="1300" spc="-1" strike="noStrike">
                <a:solidFill>
                  <a:srgbClr val="222222"/>
                </a:solidFill>
                <a:latin typeface="Yu Gothic"/>
              </a:rPr>
              <a:t>体につき約</a:t>
            </a:r>
            <a:r>
              <a:rPr b="0" lang="en-US" sz="1300" spc="-1" strike="noStrike">
                <a:solidFill>
                  <a:srgbClr val="222222"/>
                </a:solidFill>
                <a:latin typeface="Yu Gothic"/>
              </a:rPr>
              <a:t>100</a:t>
            </a:r>
            <a:r>
              <a:rPr b="0" lang="zh-CN" sz="1300" spc="-1" strike="noStrike">
                <a:solidFill>
                  <a:srgbClr val="222222"/>
                </a:solidFill>
                <a:latin typeface="Yu Gothic"/>
              </a:rPr>
              <a:t>〜</a:t>
            </a:r>
            <a:r>
              <a:rPr b="0" lang="en-US" sz="1300" spc="-1" strike="noStrike">
                <a:solidFill>
                  <a:srgbClr val="222222"/>
                </a:solidFill>
                <a:latin typeface="Yu Gothic"/>
              </a:rPr>
              <a:t>200KB</a:t>
            </a:r>
            <a:r>
              <a:rPr b="0" lang="zh-CN" sz="1300" spc="-1" strike="noStrike">
                <a:solidFill>
                  <a:srgbClr val="222222"/>
                </a:solidFill>
                <a:latin typeface="Yu Gothic"/>
              </a:rPr>
              <a:t>を消費し線形に増える </a:t>
            </a:r>
            <a:r>
              <a:rPr b="0" lang="en-US" sz="1300" spc="-1" strike="noStrike">
                <a:solidFill>
                  <a:srgbClr val="222222"/>
                </a:solidFill>
                <a:latin typeface="Yu Gothic"/>
              </a:rPr>
              <a:t>-- 52</a:t>
            </a:r>
            <a:r>
              <a:rPr b="0" lang="zh-CN" sz="1300" spc="-1" strike="noStrike">
                <a:solidFill>
                  <a:srgbClr val="222222"/>
                </a:solidFill>
                <a:latin typeface="Yu Gothic"/>
              </a:rPr>
              <a:t>種類で</a:t>
            </a:r>
            <a:r>
              <a:rPr b="0" lang="en-US" sz="1300" spc="-1" strike="noStrike">
                <a:solidFill>
                  <a:srgbClr val="222222"/>
                </a:solidFill>
                <a:latin typeface="Yu Gothic"/>
              </a:rPr>
              <a:t>Flash</a:t>
            </a:r>
            <a:r>
              <a:rPr b="0" lang="zh-CN" sz="1300" spc="-1" strike="noStrike">
                <a:solidFill>
                  <a:srgbClr val="222222"/>
                </a:solidFill>
                <a:latin typeface="Yu Gothic"/>
              </a:rPr>
              <a:t>を使い切る。</a:t>
            </a:r>
            <a:endParaRPr b="0" lang="en-US" sz="1300" spc="-1" strike="noStrike">
              <a:latin typeface="Arial"/>
            </a:endParaRPr>
          </a:p>
          <a:p>
            <a:pPr>
              <a:lnSpc>
                <a:spcPct val="120000"/>
              </a:lnSpc>
            </a:pPr>
            <a:r>
              <a:rPr b="0" lang="zh-CN" sz="1300" spc="-1" strike="noStrike">
                <a:solidFill>
                  <a:srgbClr val="222222"/>
                </a:solidFill>
                <a:latin typeface="Yu Gothic"/>
              </a:rPr>
              <a:t>データ駆動方式は端末が保持するのは選んだ</a:t>
            </a:r>
            <a:r>
              <a:rPr b="0" lang="en-US" sz="1300" spc="-1" strike="noStrike">
                <a:solidFill>
                  <a:srgbClr val="222222"/>
                </a:solidFill>
                <a:latin typeface="Yu Gothic"/>
              </a:rPr>
              <a:t>1</a:t>
            </a:r>
            <a:r>
              <a:rPr b="0" lang="zh-CN" sz="1300" spc="-1" strike="noStrike">
                <a:solidFill>
                  <a:srgbClr val="222222"/>
                </a:solidFill>
                <a:latin typeface="Yu Gothic"/>
              </a:rPr>
              <a:t>体分のブロブのみで、台数に依らずほぼ一定。</a:t>
            </a:r>
            <a:endParaRPr b="0" lang="en-US" sz="13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CustomShape 1"/>
          <p:cNvSpPr/>
          <p:nvPr/>
        </p:nvSpPr>
        <p:spPr>
          <a:xfrm>
            <a:off x="548640" y="320040"/>
            <a:ext cx="7314840" cy="3337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rgbClr val="2e6fc7"/>
                </a:solidFill>
                <a:latin typeface="Yu Gothic"/>
              </a:rPr>
              <a:t>USER EXPERIENCE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433" name="CustomShape 2"/>
          <p:cNvSpPr/>
          <p:nvPr/>
        </p:nvSpPr>
        <p:spPr>
          <a:xfrm>
            <a:off x="548640" y="685800"/>
            <a:ext cx="10515240" cy="5472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zh-CN" sz="3000" spc="-1" strike="noStrike">
                <a:solidFill>
                  <a:srgbClr val="1f2a44"/>
                </a:solidFill>
                <a:latin typeface="Yu Gothic"/>
              </a:rPr>
              <a:t>サーボ</a:t>
            </a:r>
            <a:r>
              <a:rPr b="1" lang="en-US" sz="3000" spc="-1" strike="noStrike">
                <a:solidFill>
                  <a:srgbClr val="1f2a44"/>
                </a:solidFill>
                <a:latin typeface="Yu Gothic"/>
              </a:rPr>
              <a:t>ID</a:t>
            </a:r>
            <a:r>
              <a:rPr b="1" lang="zh-CN" sz="3000" spc="-1" strike="noStrike">
                <a:solidFill>
                  <a:srgbClr val="1f2a44"/>
                </a:solidFill>
                <a:latin typeface="Yu Gothic"/>
              </a:rPr>
              <a:t>自動検出 </a:t>
            </a:r>
            <a:r>
              <a:rPr b="1" lang="en-US" sz="3000" spc="-1" strike="noStrike">
                <a:solidFill>
                  <a:srgbClr val="1f2a44"/>
                </a:solidFill>
                <a:latin typeface="Yu Gothic"/>
              </a:rPr>
              <a:t>x 3D</a:t>
            </a:r>
            <a:r>
              <a:rPr b="1" lang="zh-CN" sz="3000" spc="-1" strike="noStrike">
                <a:solidFill>
                  <a:srgbClr val="1f2a44"/>
                </a:solidFill>
                <a:latin typeface="Yu Gothic"/>
              </a:rPr>
              <a:t>モデル選択</a:t>
            </a:r>
            <a:endParaRPr b="0" lang="en-US" sz="3000" spc="-1" strike="noStrike">
              <a:latin typeface="Arial"/>
            </a:endParaRPr>
          </a:p>
        </p:txBody>
      </p:sp>
      <p:sp>
        <p:nvSpPr>
          <p:cNvPr id="434" name="CustomShape 3"/>
          <p:cNvSpPr/>
          <p:nvPr/>
        </p:nvSpPr>
        <p:spPr>
          <a:xfrm>
            <a:off x="457200" y="1417320"/>
            <a:ext cx="2102760" cy="776880"/>
          </a:xfrm>
          <a:prstGeom prst="roundRect">
            <a:avLst>
              <a:gd name="adj" fmla="val 16667"/>
            </a:avLst>
          </a:prstGeom>
          <a:solidFill>
            <a:srgbClr val="2e6fc7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250" spc="-1" strike="noStrike">
                <a:solidFill>
                  <a:srgbClr val="ffffff"/>
                </a:solidFill>
                <a:latin typeface="Yu Gothic"/>
              </a:rPr>
              <a:t>① </a:t>
            </a:r>
            <a:r>
              <a:rPr b="1" lang="en-US" sz="1250" spc="-1" strike="noStrike">
                <a:solidFill>
                  <a:srgbClr val="ffffff"/>
                </a:solidFill>
                <a:latin typeface="Yu Gothic"/>
              </a:rPr>
              <a:t>RCB-4</a:t>
            </a:r>
            <a:r>
              <a:rPr b="1" lang="zh-CN" sz="1250" spc="-1" strike="noStrike">
                <a:solidFill>
                  <a:srgbClr val="ffffff"/>
                </a:solidFill>
                <a:latin typeface="Yu Gothic"/>
              </a:rPr>
              <a:t>に配線されている</a:t>
            </a:r>
            <a:br/>
            <a:r>
              <a:rPr b="1" lang="zh-CN" sz="1250" spc="-1" strike="noStrike">
                <a:solidFill>
                  <a:srgbClr val="ffffff"/>
                </a:solidFill>
                <a:latin typeface="Yu Gothic"/>
              </a:rPr>
              <a:t>サーボ</a:t>
            </a:r>
            <a:r>
              <a:rPr b="1" lang="en-US" sz="1250" spc="-1" strike="noStrike">
                <a:solidFill>
                  <a:srgbClr val="ffffff"/>
                </a:solidFill>
                <a:latin typeface="Yu Gothic"/>
              </a:rPr>
              <a:t>ID</a:t>
            </a:r>
            <a:r>
              <a:rPr b="1" lang="zh-CN" sz="1250" spc="-1" strike="noStrike">
                <a:solidFill>
                  <a:srgbClr val="ffffff"/>
                </a:solidFill>
                <a:latin typeface="Yu Gothic"/>
              </a:rPr>
              <a:t>を読み取る</a:t>
            </a:r>
            <a:endParaRPr b="0" lang="en-US" sz="1250" spc="-1" strike="noStrike">
              <a:latin typeface="Arial"/>
            </a:endParaRPr>
          </a:p>
        </p:txBody>
      </p:sp>
      <p:sp>
        <p:nvSpPr>
          <p:cNvPr id="435" name="CustomShape 4"/>
          <p:cNvSpPr/>
          <p:nvPr/>
        </p:nvSpPr>
        <p:spPr>
          <a:xfrm>
            <a:off x="2697480" y="1417320"/>
            <a:ext cx="2102760" cy="776880"/>
          </a:xfrm>
          <a:prstGeom prst="roundRect">
            <a:avLst>
              <a:gd name="adj" fmla="val 16667"/>
            </a:avLst>
          </a:prstGeom>
          <a:solidFill>
            <a:srgbClr val="2e6fc7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250" spc="-1" strike="noStrike">
                <a:solidFill>
                  <a:srgbClr val="ffffff"/>
                </a:solidFill>
                <a:latin typeface="Yu Gothic"/>
              </a:rPr>
              <a:t>② </a:t>
            </a:r>
            <a:r>
              <a:rPr b="1" lang="zh-CN" sz="1250" spc="-1" strike="noStrike">
                <a:solidFill>
                  <a:srgbClr val="ffffff"/>
                </a:solidFill>
                <a:latin typeface="Yu Gothic"/>
              </a:rPr>
              <a:t>既存のスコアリングで</a:t>
            </a:r>
            <a:br/>
            <a:r>
              <a:rPr b="1" lang="zh-CN" sz="1250" spc="-1" strike="noStrike">
                <a:solidFill>
                  <a:srgbClr val="ffffff"/>
                </a:solidFill>
                <a:latin typeface="Yu Gothic"/>
              </a:rPr>
              <a:t>候補ロボットを絞り込む</a:t>
            </a:r>
            <a:endParaRPr b="0" lang="en-US" sz="1250" spc="-1" strike="noStrike">
              <a:latin typeface="Arial"/>
            </a:endParaRPr>
          </a:p>
        </p:txBody>
      </p:sp>
      <p:sp>
        <p:nvSpPr>
          <p:cNvPr id="436" name="CustomShape 5"/>
          <p:cNvSpPr/>
          <p:nvPr/>
        </p:nvSpPr>
        <p:spPr>
          <a:xfrm>
            <a:off x="4937760" y="1417320"/>
            <a:ext cx="2102760" cy="776880"/>
          </a:xfrm>
          <a:prstGeom prst="roundRect">
            <a:avLst>
              <a:gd name="adj" fmla="val 16667"/>
            </a:avLst>
          </a:prstGeom>
          <a:solidFill>
            <a:srgbClr val="2ea059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250" spc="-1" strike="noStrike">
                <a:solidFill>
                  <a:srgbClr val="ffffff"/>
                </a:solidFill>
                <a:latin typeface="Yu Gothic"/>
              </a:rPr>
              <a:t>③ </a:t>
            </a:r>
            <a:r>
              <a:rPr b="1" lang="zh-CN" sz="1250" spc="-1" strike="noStrike">
                <a:solidFill>
                  <a:srgbClr val="ffffff"/>
                </a:solidFill>
                <a:latin typeface="Yu Gothic"/>
              </a:rPr>
              <a:t>スマホのブラウザで</a:t>
            </a:r>
            <a:br/>
            <a:r>
              <a:rPr b="1" lang="zh-CN" sz="1250" spc="-1" strike="noStrike">
                <a:solidFill>
                  <a:srgbClr val="ffffff"/>
                </a:solidFill>
                <a:latin typeface="Yu Gothic"/>
              </a:rPr>
              <a:t>候補の</a:t>
            </a:r>
            <a:r>
              <a:rPr b="1" lang="en-US" sz="1250" spc="-1" strike="noStrike">
                <a:solidFill>
                  <a:srgbClr val="ffffff"/>
                </a:solidFill>
                <a:latin typeface="Yu Gothic"/>
              </a:rPr>
              <a:t>3D</a:t>
            </a:r>
            <a:r>
              <a:rPr b="1" lang="zh-CN" sz="1250" spc="-1" strike="noStrike">
                <a:solidFill>
                  <a:srgbClr val="ffffff"/>
                </a:solidFill>
                <a:latin typeface="Yu Gothic"/>
              </a:rPr>
              <a:t>モデルを表示</a:t>
            </a:r>
            <a:endParaRPr b="0" lang="en-US" sz="1250" spc="-1" strike="noStrike">
              <a:latin typeface="Arial"/>
            </a:endParaRPr>
          </a:p>
        </p:txBody>
      </p:sp>
      <p:sp>
        <p:nvSpPr>
          <p:cNvPr id="437" name="CustomShape 6"/>
          <p:cNvSpPr/>
          <p:nvPr/>
        </p:nvSpPr>
        <p:spPr>
          <a:xfrm>
            <a:off x="7178040" y="1417320"/>
            <a:ext cx="2102760" cy="776880"/>
          </a:xfrm>
          <a:prstGeom prst="roundRect">
            <a:avLst>
              <a:gd name="adj" fmla="val 16667"/>
            </a:avLst>
          </a:prstGeom>
          <a:solidFill>
            <a:srgbClr val="2ea059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250" spc="-1" strike="noStrike">
                <a:solidFill>
                  <a:srgbClr val="ffffff"/>
                </a:solidFill>
                <a:latin typeface="Yu Gothic"/>
              </a:rPr>
              <a:t>④ </a:t>
            </a:r>
            <a:r>
              <a:rPr b="1" lang="zh-CN" sz="1250" spc="-1" strike="noStrike">
                <a:solidFill>
                  <a:srgbClr val="ffffff"/>
                </a:solidFill>
                <a:latin typeface="Yu Gothic"/>
              </a:rPr>
              <a:t>見た目を見て</a:t>
            </a:r>
            <a:br/>
            <a:r>
              <a:rPr b="1" lang="zh-CN" sz="1250" spc="-1" strike="noStrike">
                <a:solidFill>
                  <a:srgbClr val="ffffff"/>
                </a:solidFill>
                <a:latin typeface="Yu Gothic"/>
              </a:rPr>
              <a:t>タップして選ぶ</a:t>
            </a:r>
            <a:endParaRPr b="0" lang="en-US" sz="1250" spc="-1" strike="noStrike">
              <a:latin typeface="Arial"/>
            </a:endParaRPr>
          </a:p>
        </p:txBody>
      </p:sp>
      <p:sp>
        <p:nvSpPr>
          <p:cNvPr id="438" name="CustomShape 7"/>
          <p:cNvSpPr/>
          <p:nvPr/>
        </p:nvSpPr>
        <p:spPr>
          <a:xfrm>
            <a:off x="9418320" y="1417320"/>
            <a:ext cx="2102760" cy="776880"/>
          </a:xfrm>
          <a:prstGeom prst="roundRect">
            <a:avLst>
              <a:gd name="adj" fmla="val 16667"/>
            </a:avLst>
          </a:prstGeom>
          <a:solidFill>
            <a:srgbClr val="1f2a44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250" spc="-1" strike="noStrike">
                <a:solidFill>
                  <a:srgbClr val="ffffff"/>
                </a:solidFill>
                <a:latin typeface="Yu Gothic"/>
              </a:rPr>
              <a:t>⑤ </a:t>
            </a:r>
            <a:r>
              <a:rPr b="1" lang="zh-CN" sz="1250" spc="-1" strike="noStrike">
                <a:solidFill>
                  <a:srgbClr val="ffffff"/>
                </a:solidFill>
                <a:latin typeface="Yu Gothic"/>
              </a:rPr>
              <a:t>ロボット記述ブロブが</a:t>
            </a:r>
            <a:br/>
            <a:r>
              <a:rPr b="1" lang="zh-CN" sz="1250" spc="-1" strike="noStrike">
                <a:solidFill>
                  <a:srgbClr val="ffffff"/>
                </a:solidFill>
                <a:latin typeface="Yu Gothic"/>
              </a:rPr>
              <a:t>ダウンロード・保存される</a:t>
            </a:r>
            <a:endParaRPr b="0" lang="en-US" sz="1250" spc="-1" strike="noStrike">
              <a:latin typeface="Arial"/>
            </a:endParaRPr>
          </a:p>
        </p:txBody>
      </p:sp>
      <p:sp>
        <p:nvSpPr>
          <p:cNvPr id="439" name="CustomShape 8"/>
          <p:cNvSpPr/>
          <p:nvPr/>
        </p:nvSpPr>
        <p:spPr>
          <a:xfrm>
            <a:off x="800280" y="2286000"/>
            <a:ext cx="1416960" cy="2514240"/>
          </a:xfrm>
          <a:prstGeom prst="roundRect">
            <a:avLst>
              <a:gd name="adj" fmla="val 16667"/>
            </a:avLst>
          </a:prstGeom>
          <a:solidFill>
            <a:srgbClr val="222222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40" name="CustomShape 9"/>
          <p:cNvSpPr/>
          <p:nvPr/>
        </p:nvSpPr>
        <p:spPr>
          <a:xfrm>
            <a:off x="864000" y="2350080"/>
            <a:ext cx="1288800" cy="22946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41" name="CustomShape 10"/>
          <p:cNvSpPr/>
          <p:nvPr/>
        </p:nvSpPr>
        <p:spPr>
          <a:xfrm>
            <a:off x="864000" y="2350080"/>
            <a:ext cx="1288800" cy="200880"/>
          </a:xfrm>
          <a:prstGeom prst="roundRect">
            <a:avLst>
              <a:gd name="adj" fmla="val 16667"/>
            </a:avLst>
          </a:prstGeom>
          <a:solidFill>
            <a:srgbClr val="6b7280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800" spc="-1" strike="noStrike">
                <a:solidFill>
                  <a:srgbClr val="ffffff"/>
                </a:solidFill>
                <a:latin typeface="Yu Gothic"/>
              </a:rPr>
              <a:t>kxr</a:t>
            </a:r>
            <a:endParaRPr b="0" lang="en-US" sz="800" spc="-1" strike="noStrike">
              <a:latin typeface="Arial"/>
            </a:endParaRPr>
          </a:p>
        </p:txBody>
      </p:sp>
      <p:sp>
        <p:nvSpPr>
          <p:cNvPr id="442" name="CustomShape 11"/>
          <p:cNvSpPr/>
          <p:nvPr/>
        </p:nvSpPr>
        <p:spPr>
          <a:xfrm>
            <a:off x="973800" y="3173040"/>
            <a:ext cx="1069560" cy="365400"/>
          </a:xfrm>
          <a:prstGeom prst="roundRect">
            <a:avLst>
              <a:gd name="adj" fmla="val 16667"/>
            </a:avLst>
          </a:prstGeom>
          <a:solidFill>
            <a:srgbClr val="2e6fc7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zh-CN" sz="1000" spc="-1" strike="noStrike">
                <a:solidFill>
                  <a:srgbClr val="ffffff"/>
                </a:solidFill>
                <a:latin typeface="Yu Gothic"/>
              </a:rPr>
              <a:t>候補を探す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443" name="CustomShape 12"/>
          <p:cNvSpPr/>
          <p:nvPr/>
        </p:nvSpPr>
        <p:spPr>
          <a:xfrm>
            <a:off x="1769400" y="3355920"/>
            <a:ext cx="219240" cy="219240"/>
          </a:xfrm>
          <a:prstGeom prst="ellipse">
            <a:avLst/>
          </a:prstGeom>
          <a:noFill/>
          <a:ln w="25560">
            <a:solidFill>
              <a:srgbClr val="ff8a00"/>
            </a:solidFill>
            <a:round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44" name="CustomShape 13"/>
          <p:cNvSpPr/>
          <p:nvPr/>
        </p:nvSpPr>
        <p:spPr>
          <a:xfrm>
            <a:off x="1848240" y="3434760"/>
            <a:ext cx="61200" cy="61200"/>
          </a:xfrm>
          <a:prstGeom prst="ellipse">
            <a:avLst/>
          </a:prstGeom>
          <a:solidFill>
            <a:srgbClr val="ff8a00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45" name="CustomShape 14"/>
          <p:cNvSpPr/>
          <p:nvPr/>
        </p:nvSpPr>
        <p:spPr>
          <a:xfrm>
            <a:off x="864000" y="3721680"/>
            <a:ext cx="1288800" cy="2199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ctr">
              <a:lnSpc>
                <a:spcPct val="100000"/>
              </a:lnSpc>
            </a:pPr>
            <a:r>
              <a:rPr b="0" lang="zh-CN" sz="850" spc="-1" strike="noStrike">
                <a:solidFill>
                  <a:srgbClr val="6b7280"/>
                </a:solidFill>
                <a:latin typeface="Yu Gothic"/>
              </a:rPr>
              <a:t>タップして開始</a:t>
            </a:r>
            <a:endParaRPr b="0" lang="en-US" sz="850" spc="-1" strike="noStrike">
              <a:latin typeface="Arial"/>
            </a:endParaRPr>
          </a:p>
        </p:txBody>
      </p:sp>
      <p:sp>
        <p:nvSpPr>
          <p:cNvPr id="446" name="CustomShape 15"/>
          <p:cNvSpPr/>
          <p:nvPr/>
        </p:nvSpPr>
        <p:spPr>
          <a:xfrm>
            <a:off x="3040560" y="2286000"/>
            <a:ext cx="1416960" cy="2514240"/>
          </a:xfrm>
          <a:prstGeom prst="roundRect">
            <a:avLst>
              <a:gd name="adj" fmla="val 16667"/>
            </a:avLst>
          </a:prstGeom>
          <a:solidFill>
            <a:srgbClr val="222222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47" name="CustomShape 16"/>
          <p:cNvSpPr/>
          <p:nvPr/>
        </p:nvSpPr>
        <p:spPr>
          <a:xfrm>
            <a:off x="3104280" y="2350080"/>
            <a:ext cx="1288800" cy="22946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48" name="CustomShape 17"/>
          <p:cNvSpPr/>
          <p:nvPr/>
        </p:nvSpPr>
        <p:spPr>
          <a:xfrm>
            <a:off x="3104280" y="2350080"/>
            <a:ext cx="1288800" cy="200880"/>
          </a:xfrm>
          <a:prstGeom prst="roundRect">
            <a:avLst>
              <a:gd name="adj" fmla="val 16667"/>
            </a:avLst>
          </a:prstGeom>
          <a:solidFill>
            <a:srgbClr val="6b7280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zh-CN" sz="800" spc="-1" strike="noStrike">
                <a:solidFill>
                  <a:srgbClr val="ffffff"/>
                </a:solidFill>
                <a:latin typeface="Yu Gothic"/>
              </a:rPr>
              <a:t>候補ロボット</a:t>
            </a:r>
            <a:endParaRPr b="0" lang="en-US" sz="800" spc="-1" strike="noStrike">
              <a:latin typeface="Arial"/>
            </a:endParaRPr>
          </a:p>
        </p:txBody>
      </p:sp>
      <p:sp>
        <p:nvSpPr>
          <p:cNvPr id="449" name="CustomShape 18"/>
          <p:cNvSpPr/>
          <p:nvPr/>
        </p:nvSpPr>
        <p:spPr>
          <a:xfrm>
            <a:off x="3177720" y="2642760"/>
            <a:ext cx="1142640" cy="328680"/>
          </a:xfrm>
          <a:prstGeom prst="roundRect">
            <a:avLst>
              <a:gd name="adj" fmla="val 16667"/>
            </a:avLst>
          </a:prstGeom>
          <a:solidFill>
            <a:srgbClr val="2ea059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800" spc="-1" strike="noStrike">
                <a:solidFill>
                  <a:srgbClr val="ffffff"/>
                </a:solidFill>
                <a:latin typeface="Yu Gothic"/>
              </a:rPr>
              <a:t>kxrl4t  diff:0</a:t>
            </a:r>
            <a:endParaRPr b="0" lang="en-US" sz="800" spc="-1" strike="noStrike">
              <a:latin typeface="Arial"/>
            </a:endParaRPr>
          </a:p>
        </p:txBody>
      </p:sp>
      <p:sp>
        <p:nvSpPr>
          <p:cNvPr id="450" name="CustomShape 19"/>
          <p:cNvSpPr/>
          <p:nvPr/>
        </p:nvSpPr>
        <p:spPr>
          <a:xfrm>
            <a:off x="3177720" y="3044880"/>
            <a:ext cx="1142640" cy="328680"/>
          </a:xfrm>
          <a:prstGeom prst="roundRect">
            <a:avLst>
              <a:gd name="adj" fmla="val 16667"/>
            </a:avLst>
          </a:prstGeom>
          <a:solidFill>
            <a:srgbClr val="f2f4f8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800" spc="-1" strike="noStrike">
                <a:solidFill>
                  <a:srgbClr val="222222"/>
                </a:solidFill>
                <a:latin typeface="Yu Gothic"/>
              </a:rPr>
              <a:t>kxrl4d  diff:3</a:t>
            </a:r>
            <a:endParaRPr b="0" lang="en-US" sz="800" spc="-1" strike="noStrike">
              <a:latin typeface="Arial"/>
            </a:endParaRPr>
          </a:p>
        </p:txBody>
      </p:sp>
      <p:sp>
        <p:nvSpPr>
          <p:cNvPr id="451" name="CustomShape 20"/>
          <p:cNvSpPr/>
          <p:nvPr/>
        </p:nvSpPr>
        <p:spPr>
          <a:xfrm>
            <a:off x="3177720" y="3447360"/>
            <a:ext cx="1142640" cy="328680"/>
          </a:xfrm>
          <a:prstGeom prst="roundRect">
            <a:avLst>
              <a:gd name="adj" fmla="val 16667"/>
            </a:avLst>
          </a:prstGeom>
          <a:solidFill>
            <a:srgbClr val="f2f4f8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800" spc="-1" strike="noStrike">
                <a:solidFill>
                  <a:srgbClr val="222222"/>
                </a:solidFill>
                <a:latin typeface="Yu Gothic"/>
              </a:rPr>
              <a:t>kxra6g  diff:5</a:t>
            </a:r>
            <a:endParaRPr b="0" lang="en-US" sz="800" spc="-1" strike="noStrike">
              <a:latin typeface="Arial"/>
            </a:endParaRPr>
          </a:p>
        </p:txBody>
      </p:sp>
      <p:sp>
        <p:nvSpPr>
          <p:cNvPr id="452" name="CustomShape 21"/>
          <p:cNvSpPr/>
          <p:nvPr/>
        </p:nvSpPr>
        <p:spPr>
          <a:xfrm>
            <a:off x="4174200" y="2843640"/>
            <a:ext cx="200880" cy="200880"/>
          </a:xfrm>
          <a:prstGeom prst="ellipse">
            <a:avLst/>
          </a:prstGeom>
          <a:noFill/>
          <a:ln w="25560">
            <a:solidFill>
              <a:srgbClr val="ff8a00"/>
            </a:solidFill>
            <a:round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53" name="CustomShape 22"/>
          <p:cNvSpPr/>
          <p:nvPr/>
        </p:nvSpPr>
        <p:spPr>
          <a:xfrm>
            <a:off x="4246560" y="2916360"/>
            <a:ext cx="55800" cy="55800"/>
          </a:xfrm>
          <a:prstGeom prst="ellipse">
            <a:avLst/>
          </a:prstGeom>
          <a:solidFill>
            <a:srgbClr val="ff8a00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54" name="CustomShape 23"/>
          <p:cNvSpPr/>
          <p:nvPr/>
        </p:nvSpPr>
        <p:spPr>
          <a:xfrm>
            <a:off x="5280840" y="2286000"/>
            <a:ext cx="1416960" cy="2514240"/>
          </a:xfrm>
          <a:prstGeom prst="roundRect">
            <a:avLst>
              <a:gd name="adj" fmla="val 16667"/>
            </a:avLst>
          </a:prstGeom>
          <a:solidFill>
            <a:srgbClr val="222222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55" name="CustomShape 24"/>
          <p:cNvSpPr/>
          <p:nvPr/>
        </p:nvSpPr>
        <p:spPr>
          <a:xfrm>
            <a:off x="5344560" y="2350080"/>
            <a:ext cx="1288800" cy="22946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56" name="CustomShape 25"/>
          <p:cNvSpPr/>
          <p:nvPr/>
        </p:nvSpPr>
        <p:spPr>
          <a:xfrm>
            <a:off x="5344560" y="2350080"/>
            <a:ext cx="1288800" cy="200880"/>
          </a:xfrm>
          <a:prstGeom prst="roundRect">
            <a:avLst>
              <a:gd name="adj" fmla="val 16667"/>
            </a:avLst>
          </a:prstGeom>
          <a:solidFill>
            <a:srgbClr val="6b7280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800" spc="-1" strike="noStrike">
                <a:solidFill>
                  <a:srgbClr val="ffffff"/>
                </a:solidFill>
                <a:latin typeface="Yu Gothic"/>
              </a:rPr>
              <a:t>3D</a:t>
            </a:r>
            <a:r>
              <a:rPr b="1" lang="zh-CN" sz="800" spc="-1" strike="noStrike">
                <a:solidFill>
                  <a:srgbClr val="ffffff"/>
                </a:solidFill>
                <a:latin typeface="Yu Gothic"/>
              </a:rPr>
              <a:t>ビューア</a:t>
            </a:r>
            <a:endParaRPr b="0" lang="en-US" sz="800" spc="-1" strike="noStrike">
              <a:latin typeface="Arial"/>
            </a:endParaRPr>
          </a:p>
        </p:txBody>
      </p:sp>
      <p:sp>
        <p:nvSpPr>
          <p:cNvPr id="457" name="CustomShape 26"/>
          <p:cNvSpPr/>
          <p:nvPr/>
        </p:nvSpPr>
        <p:spPr>
          <a:xfrm>
            <a:off x="5399640" y="2624400"/>
            <a:ext cx="1179360" cy="1554120"/>
          </a:xfrm>
          <a:prstGeom prst="roundRect">
            <a:avLst>
              <a:gd name="adj" fmla="val 16667"/>
            </a:avLst>
          </a:prstGeom>
          <a:solidFill>
            <a:srgbClr val="f2f4f8"/>
          </a:solidFill>
          <a:ln w="12600">
            <a:solidFill>
              <a:srgbClr val="6b7280"/>
            </a:solidFill>
            <a:round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58" name="CustomShape 27"/>
          <p:cNvSpPr/>
          <p:nvPr/>
        </p:nvSpPr>
        <p:spPr>
          <a:xfrm>
            <a:off x="5799240" y="2997360"/>
            <a:ext cx="380160" cy="380160"/>
          </a:xfrm>
          <a:prstGeom prst="ellipse">
            <a:avLst/>
          </a:prstGeom>
          <a:solidFill>
            <a:srgbClr val="6b7280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59" name="CustomShape 28"/>
          <p:cNvSpPr/>
          <p:nvPr/>
        </p:nvSpPr>
        <p:spPr>
          <a:xfrm>
            <a:off x="5787360" y="3235320"/>
            <a:ext cx="403920" cy="475200"/>
          </a:xfrm>
          <a:prstGeom prst="roundRect">
            <a:avLst>
              <a:gd name="adj" fmla="val 16667"/>
            </a:avLst>
          </a:prstGeom>
          <a:solidFill>
            <a:srgbClr val="6b7280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60" name="CustomShape 29"/>
          <p:cNvSpPr/>
          <p:nvPr/>
        </p:nvSpPr>
        <p:spPr>
          <a:xfrm>
            <a:off x="5344560" y="4251960"/>
            <a:ext cx="1288800" cy="2199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ctr">
              <a:lnSpc>
                <a:spcPct val="100000"/>
              </a:lnSpc>
            </a:pPr>
            <a:r>
              <a:rPr b="0" lang="zh-CN" sz="850" spc="-1" strike="noStrike">
                <a:solidFill>
                  <a:srgbClr val="6b7280"/>
                </a:solidFill>
                <a:latin typeface="Yu Gothic"/>
              </a:rPr>
              <a:t>指でドラッグして回転</a:t>
            </a:r>
            <a:endParaRPr b="0" lang="en-US" sz="850" spc="-1" strike="noStrike">
              <a:latin typeface="Arial"/>
            </a:endParaRPr>
          </a:p>
        </p:txBody>
      </p:sp>
      <p:sp>
        <p:nvSpPr>
          <p:cNvPr id="461" name="CustomShape 30"/>
          <p:cNvSpPr/>
          <p:nvPr/>
        </p:nvSpPr>
        <p:spPr>
          <a:xfrm>
            <a:off x="7521120" y="2286000"/>
            <a:ext cx="1416960" cy="2514240"/>
          </a:xfrm>
          <a:prstGeom prst="roundRect">
            <a:avLst>
              <a:gd name="adj" fmla="val 16667"/>
            </a:avLst>
          </a:prstGeom>
          <a:solidFill>
            <a:srgbClr val="222222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62" name="CustomShape 31"/>
          <p:cNvSpPr/>
          <p:nvPr/>
        </p:nvSpPr>
        <p:spPr>
          <a:xfrm>
            <a:off x="7584840" y="2350080"/>
            <a:ext cx="1288800" cy="22946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63" name="CustomShape 32"/>
          <p:cNvSpPr/>
          <p:nvPr/>
        </p:nvSpPr>
        <p:spPr>
          <a:xfrm>
            <a:off x="7584840" y="2350080"/>
            <a:ext cx="1288800" cy="200880"/>
          </a:xfrm>
          <a:prstGeom prst="roundRect">
            <a:avLst>
              <a:gd name="adj" fmla="val 16667"/>
            </a:avLst>
          </a:prstGeom>
          <a:solidFill>
            <a:srgbClr val="6b7280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800" spc="-1" strike="noStrike">
                <a:solidFill>
                  <a:srgbClr val="ffffff"/>
                </a:solidFill>
                <a:latin typeface="Yu Gothic"/>
              </a:rPr>
              <a:t>3D</a:t>
            </a:r>
            <a:r>
              <a:rPr b="1" lang="zh-CN" sz="800" spc="-1" strike="noStrike">
                <a:solidFill>
                  <a:srgbClr val="ffffff"/>
                </a:solidFill>
                <a:latin typeface="Yu Gothic"/>
              </a:rPr>
              <a:t>ビューア</a:t>
            </a:r>
            <a:endParaRPr b="0" lang="en-US" sz="800" spc="-1" strike="noStrike">
              <a:latin typeface="Arial"/>
            </a:endParaRPr>
          </a:p>
        </p:txBody>
      </p:sp>
      <p:sp>
        <p:nvSpPr>
          <p:cNvPr id="464" name="CustomShape 33"/>
          <p:cNvSpPr/>
          <p:nvPr/>
        </p:nvSpPr>
        <p:spPr>
          <a:xfrm>
            <a:off x="7639920" y="2624400"/>
            <a:ext cx="1179360" cy="1096920"/>
          </a:xfrm>
          <a:prstGeom prst="roundRect">
            <a:avLst>
              <a:gd name="adj" fmla="val 16667"/>
            </a:avLst>
          </a:prstGeom>
          <a:solidFill>
            <a:srgbClr val="f2f4f8"/>
          </a:solidFill>
          <a:ln w="12600">
            <a:solidFill>
              <a:srgbClr val="6b7280"/>
            </a:solidFill>
            <a:round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65" name="CustomShape 34"/>
          <p:cNvSpPr/>
          <p:nvPr/>
        </p:nvSpPr>
        <p:spPr>
          <a:xfrm>
            <a:off x="8090640" y="2877480"/>
            <a:ext cx="277560" cy="277560"/>
          </a:xfrm>
          <a:prstGeom prst="ellipse">
            <a:avLst/>
          </a:prstGeom>
          <a:solidFill>
            <a:srgbClr val="6b7280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66" name="CustomShape 35"/>
          <p:cNvSpPr/>
          <p:nvPr/>
        </p:nvSpPr>
        <p:spPr>
          <a:xfrm>
            <a:off x="8082000" y="3051360"/>
            <a:ext cx="294840" cy="347040"/>
          </a:xfrm>
          <a:prstGeom prst="roundRect">
            <a:avLst>
              <a:gd name="adj" fmla="val 16667"/>
            </a:avLst>
          </a:prstGeom>
          <a:solidFill>
            <a:srgbClr val="6b7280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67" name="CustomShape 36"/>
          <p:cNvSpPr/>
          <p:nvPr/>
        </p:nvSpPr>
        <p:spPr>
          <a:xfrm>
            <a:off x="7676280" y="3858840"/>
            <a:ext cx="1105920" cy="383760"/>
          </a:xfrm>
          <a:prstGeom prst="roundRect">
            <a:avLst>
              <a:gd name="adj" fmla="val 16667"/>
            </a:avLst>
          </a:prstGeom>
          <a:solidFill>
            <a:srgbClr val="ff8a00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zh-CN" sz="950" spc="-1" strike="noStrike">
                <a:solidFill>
                  <a:srgbClr val="ffffff"/>
                </a:solidFill>
                <a:latin typeface="Yu Gothic"/>
              </a:rPr>
              <a:t>この子に決定</a:t>
            </a:r>
            <a:endParaRPr b="0" lang="en-US" sz="950" spc="-1" strike="noStrike">
              <a:latin typeface="Arial"/>
            </a:endParaRPr>
          </a:p>
        </p:txBody>
      </p:sp>
      <p:sp>
        <p:nvSpPr>
          <p:cNvPr id="468" name="CustomShape 37"/>
          <p:cNvSpPr/>
          <p:nvPr/>
        </p:nvSpPr>
        <p:spPr>
          <a:xfrm>
            <a:off x="8508600" y="4041720"/>
            <a:ext cx="219240" cy="219240"/>
          </a:xfrm>
          <a:prstGeom prst="ellipse">
            <a:avLst/>
          </a:prstGeom>
          <a:noFill/>
          <a:ln w="25560">
            <a:solidFill>
              <a:srgbClr val="ff8a00"/>
            </a:solidFill>
            <a:round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69" name="CustomShape 38"/>
          <p:cNvSpPr/>
          <p:nvPr/>
        </p:nvSpPr>
        <p:spPr>
          <a:xfrm>
            <a:off x="8587440" y="4120560"/>
            <a:ext cx="61200" cy="61200"/>
          </a:xfrm>
          <a:prstGeom prst="ellipse">
            <a:avLst/>
          </a:prstGeom>
          <a:solidFill>
            <a:srgbClr val="ff8a00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70" name="CustomShape 39"/>
          <p:cNvSpPr/>
          <p:nvPr/>
        </p:nvSpPr>
        <p:spPr>
          <a:xfrm>
            <a:off x="9761400" y="2286000"/>
            <a:ext cx="1416960" cy="2514240"/>
          </a:xfrm>
          <a:prstGeom prst="roundRect">
            <a:avLst>
              <a:gd name="adj" fmla="val 16667"/>
            </a:avLst>
          </a:prstGeom>
          <a:solidFill>
            <a:srgbClr val="222222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71" name="CustomShape 40"/>
          <p:cNvSpPr/>
          <p:nvPr/>
        </p:nvSpPr>
        <p:spPr>
          <a:xfrm>
            <a:off x="9825120" y="2350080"/>
            <a:ext cx="1288800" cy="22946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72" name="CustomShape 41"/>
          <p:cNvSpPr/>
          <p:nvPr/>
        </p:nvSpPr>
        <p:spPr>
          <a:xfrm>
            <a:off x="9825120" y="2350080"/>
            <a:ext cx="1288800" cy="200880"/>
          </a:xfrm>
          <a:prstGeom prst="roundRect">
            <a:avLst>
              <a:gd name="adj" fmla="val 16667"/>
            </a:avLst>
          </a:prstGeom>
          <a:solidFill>
            <a:srgbClr val="6b7280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zh-CN" sz="800" spc="-1" strike="noStrike">
                <a:solidFill>
                  <a:srgbClr val="ffffff"/>
                </a:solidFill>
                <a:latin typeface="Yu Gothic"/>
              </a:rPr>
              <a:t>保存中</a:t>
            </a:r>
            <a:endParaRPr b="0" lang="en-US" sz="800" spc="-1" strike="noStrike">
              <a:latin typeface="Arial"/>
            </a:endParaRPr>
          </a:p>
        </p:txBody>
      </p:sp>
      <p:sp>
        <p:nvSpPr>
          <p:cNvPr id="473" name="CustomShape 42"/>
          <p:cNvSpPr/>
          <p:nvPr/>
        </p:nvSpPr>
        <p:spPr>
          <a:xfrm>
            <a:off x="9953280" y="3127320"/>
            <a:ext cx="1032840" cy="200880"/>
          </a:xfrm>
          <a:prstGeom prst="roundRect">
            <a:avLst>
              <a:gd name="adj" fmla="val 16667"/>
            </a:avLst>
          </a:prstGeom>
          <a:solidFill>
            <a:srgbClr val="f2f4f8"/>
          </a:solidFill>
          <a:ln w="12600">
            <a:solidFill>
              <a:srgbClr val="6b7280"/>
            </a:solidFill>
            <a:round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74" name="CustomShape 43"/>
          <p:cNvSpPr/>
          <p:nvPr/>
        </p:nvSpPr>
        <p:spPr>
          <a:xfrm>
            <a:off x="9953280" y="3127320"/>
            <a:ext cx="722880" cy="200880"/>
          </a:xfrm>
          <a:prstGeom prst="roundRect">
            <a:avLst>
              <a:gd name="adj" fmla="val 16667"/>
            </a:avLst>
          </a:prstGeom>
          <a:solidFill>
            <a:srgbClr val="2ea059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75" name="CustomShape 44"/>
          <p:cNvSpPr/>
          <p:nvPr/>
        </p:nvSpPr>
        <p:spPr>
          <a:xfrm>
            <a:off x="9825120" y="3401640"/>
            <a:ext cx="1288800" cy="2199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ctr">
              <a:lnSpc>
                <a:spcPct val="100000"/>
              </a:lnSpc>
            </a:pPr>
            <a:r>
              <a:rPr b="0" lang="zh-CN" sz="850" spc="-1" strike="noStrike">
                <a:solidFill>
                  <a:srgbClr val="222222"/>
                </a:solidFill>
                <a:latin typeface="Yu Gothic"/>
              </a:rPr>
              <a:t>ダウンロード中…</a:t>
            </a:r>
            <a:endParaRPr b="0" lang="en-US" sz="850" spc="-1" strike="noStrike">
              <a:latin typeface="Arial"/>
            </a:endParaRPr>
          </a:p>
        </p:txBody>
      </p:sp>
      <p:sp>
        <p:nvSpPr>
          <p:cNvPr id="476" name="CustomShape 45"/>
          <p:cNvSpPr/>
          <p:nvPr/>
        </p:nvSpPr>
        <p:spPr>
          <a:xfrm>
            <a:off x="10323720" y="3904560"/>
            <a:ext cx="292320" cy="292320"/>
          </a:xfrm>
          <a:prstGeom prst="ellipse">
            <a:avLst/>
          </a:prstGeom>
          <a:solidFill>
            <a:srgbClr val="2ea059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Yu Gothic"/>
              </a:rPr>
              <a:t>✓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477" name="CustomShape 46"/>
          <p:cNvSpPr/>
          <p:nvPr/>
        </p:nvSpPr>
        <p:spPr>
          <a:xfrm>
            <a:off x="548640" y="5074920"/>
            <a:ext cx="11063880" cy="6440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30000"/>
              </a:lnSpc>
            </a:pPr>
            <a:r>
              <a:rPr b="0" lang="zh-CN" sz="1400" spc="-1" strike="noStrike">
                <a:solidFill>
                  <a:srgbClr val="222222"/>
                </a:solidFill>
                <a:latin typeface="Yu Gothic"/>
              </a:rPr>
              <a:t>既に実機で動いている部分</a:t>
            </a:r>
            <a:r>
              <a:rPr b="0" lang="en-US" sz="1400" spc="-1" strike="noStrike">
                <a:solidFill>
                  <a:srgbClr val="222222"/>
                </a:solidFill>
                <a:latin typeface="Yu Gothic"/>
              </a:rPr>
              <a:t>: </a:t>
            </a:r>
            <a:r>
              <a:rPr b="0" lang="zh-CN" sz="1400" spc="-1" strike="noStrike">
                <a:solidFill>
                  <a:srgbClr val="222222"/>
                </a:solidFill>
                <a:latin typeface="Yu Gothic"/>
              </a:rPr>
              <a:t>サーボ</a:t>
            </a:r>
            <a:r>
              <a:rPr b="0" lang="en-US" sz="1400" spc="-1" strike="noStrike">
                <a:solidFill>
                  <a:srgbClr val="222222"/>
                </a:solidFill>
                <a:latin typeface="Yu Gothic"/>
              </a:rPr>
              <a:t>ID</a:t>
            </a:r>
            <a:r>
              <a:rPr b="0" lang="zh-CN" sz="1400" spc="-1" strike="noStrike">
                <a:solidFill>
                  <a:srgbClr val="222222"/>
                </a:solidFill>
                <a:latin typeface="Yu Gothic"/>
              </a:rPr>
              <a:t>の対称差スコアで最良候補を選ぶロジック</a:t>
            </a:r>
            <a:r>
              <a:rPr b="0" lang="en-US" sz="1400" spc="-1" strike="noStrike">
                <a:solidFill>
                  <a:srgbClr val="222222"/>
                </a:solidFill>
                <a:latin typeface="Yu Gothic"/>
              </a:rPr>
              <a:t>(</a:t>
            </a:r>
            <a:r>
              <a:rPr b="0" lang="zh-CN" sz="1400" spc="-1" strike="noStrike">
                <a:solidFill>
                  <a:srgbClr val="222222"/>
                </a:solidFill>
                <a:latin typeface="Yu Gothic"/>
              </a:rPr>
              <a:t>本体液晶で確認可能</a:t>
            </a:r>
            <a:r>
              <a:rPr b="0" lang="en-US" sz="1400" spc="-1" strike="noStrike">
                <a:solidFill>
                  <a:srgbClr val="222222"/>
                </a:solidFill>
                <a:latin typeface="Yu Gothic"/>
              </a:rPr>
              <a:t>)</a:t>
            </a:r>
            <a:r>
              <a:rPr b="0" lang="zh-CN" sz="1400" spc="-1" strike="noStrike">
                <a:solidFill>
                  <a:srgbClr val="222222"/>
                </a:solidFill>
                <a:latin typeface="Yu Gothic"/>
              </a:rPr>
              <a:t>。</a:t>
            </a:r>
            <a:endParaRPr b="0" lang="en-US" sz="1400" spc="-1" strike="noStrike">
              <a:latin typeface="Arial"/>
            </a:endParaRPr>
          </a:p>
          <a:p>
            <a:pPr>
              <a:lnSpc>
                <a:spcPct val="130000"/>
              </a:lnSpc>
            </a:pPr>
            <a:r>
              <a:rPr b="0" lang="zh-CN" sz="1400" spc="-1" strike="noStrike">
                <a:solidFill>
                  <a:srgbClr val="222222"/>
                </a:solidFill>
                <a:latin typeface="Yu Gothic"/>
              </a:rPr>
              <a:t>これから作る部分</a:t>
            </a:r>
            <a:r>
              <a:rPr b="0" lang="en-US" sz="1400" spc="-1" strike="noStrike">
                <a:solidFill>
                  <a:srgbClr val="222222"/>
                </a:solidFill>
                <a:latin typeface="Yu Gothic"/>
              </a:rPr>
              <a:t>: </a:t>
            </a:r>
            <a:r>
              <a:rPr b="0" lang="zh-CN" sz="1400" spc="-1" strike="noStrike">
                <a:solidFill>
                  <a:srgbClr val="222222"/>
                </a:solidFill>
                <a:latin typeface="Yu Gothic"/>
              </a:rPr>
              <a:t>候補の複数提示</a:t>
            </a:r>
            <a:r>
              <a:rPr b="0" lang="en-US" sz="1400" spc="-1" strike="noStrike">
                <a:solidFill>
                  <a:srgbClr val="222222"/>
                </a:solidFill>
                <a:latin typeface="Yu Gothic"/>
              </a:rPr>
              <a:t>(</a:t>
            </a:r>
            <a:r>
              <a:rPr b="0" lang="zh-CN" sz="1400" spc="-1" strike="noStrike">
                <a:solidFill>
                  <a:srgbClr val="222222"/>
                </a:solidFill>
                <a:latin typeface="Yu Gothic"/>
              </a:rPr>
              <a:t>フェーズ</a:t>
            </a:r>
            <a:r>
              <a:rPr b="0" lang="en-US" sz="1400" spc="-1" strike="noStrike">
                <a:solidFill>
                  <a:srgbClr val="222222"/>
                </a:solidFill>
                <a:latin typeface="Yu Gothic"/>
              </a:rPr>
              <a:t>1)/ 3D</a:t>
            </a:r>
            <a:r>
              <a:rPr b="0" lang="zh-CN" sz="1400" spc="-1" strike="noStrike">
                <a:solidFill>
                  <a:srgbClr val="222222"/>
                </a:solidFill>
                <a:latin typeface="Yu Gothic"/>
              </a:rPr>
              <a:t>ビューア</a:t>
            </a:r>
            <a:r>
              <a:rPr b="0" lang="en-US" sz="1400" spc="-1" strike="noStrike">
                <a:solidFill>
                  <a:srgbClr val="222222"/>
                </a:solidFill>
                <a:latin typeface="Yu Gothic"/>
              </a:rPr>
              <a:t>(</a:t>
            </a:r>
            <a:r>
              <a:rPr b="0" lang="zh-CN" sz="1400" spc="-1" strike="noStrike">
                <a:solidFill>
                  <a:srgbClr val="222222"/>
                </a:solidFill>
                <a:latin typeface="Yu Gothic"/>
              </a:rPr>
              <a:t>フェーズ</a:t>
            </a:r>
            <a:r>
              <a:rPr b="0" lang="en-US" sz="1400" spc="-1" strike="noStrike">
                <a:solidFill>
                  <a:srgbClr val="222222"/>
                </a:solidFill>
                <a:latin typeface="Yu Gothic"/>
              </a:rPr>
              <a:t>2)/ </a:t>
            </a:r>
            <a:r>
              <a:rPr b="0" lang="zh-CN" sz="1400" spc="-1" strike="noStrike">
                <a:solidFill>
                  <a:srgbClr val="222222"/>
                </a:solidFill>
                <a:latin typeface="Yu Gothic"/>
              </a:rPr>
              <a:t>選択</a:t>
            </a:r>
            <a:r>
              <a:rPr b="0" lang="en-US" sz="1400" spc="-1" strike="noStrike">
                <a:solidFill>
                  <a:srgbClr val="222222"/>
                </a:solidFill>
                <a:latin typeface="Yu Gothic"/>
              </a:rPr>
              <a:t>UI</a:t>
            </a:r>
            <a:r>
              <a:rPr b="0" lang="zh-CN" sz="1400" spc="-1" strike="noStrike">
                <a:solidFill>
                  <a:srgbClr val="222222"/>
                </a:solidFill>
                <a:latin typeface="Yu Gothic"/>
              </a:rPr>
              <a:t>の統合</a:t>
            </a:r>
            <a:r>
              <a:rPr b="0" lang="en-US" sz="1400" spc="-1" strike="noStrike">
                <a:solidFill>
                  <a:srgbClr val="222222"/>
                </a:solidFill>
                <a:latin typeface="Yu Gothic"/>
              </a:rPr>
              <a:t>(</a:t>
            </a:r>
            <a:r>
              <a:rPr b="0" lang="zh-CN" sz="1400" spc="-1" strike="noStrike">
                <a:solidFill>
                  <a:srgbClr val="222222"/>
                </a:solidFill>
                <a:latin typeface="Yu Gothic"/>
              </a:rPr>
              <a:t>フェーズ</a:t>
            </a:r>
            <a:r>
              <a:rPr b="0" lang="en-US" sz="1400" spc="-1" strike="noStrike">
                <a:solidFill>
                  <a:srgbClr val="222222"/>
                </a:solidFill>
                <a:latin typeface="Yu Gothic"/>
              </a:rPr>
              <a:t>3)</a:t>
            </a:r>
            <a:r>
              <a:rPr b="0" lang="zh-CN" sz="1400" spc="-1" strike="noStrike">
                <a:solidFill>
                  <a:srgbClr val="222222"/>
                </a:solidFill>
                <a:latin typeface="Yu Gothic"/>
              </a:rPr>
              <a:t>。</a:t>
            </a:r>
            <a:endParaRPr b="0" lang="en-US" sz="14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8" name="CustomShape 1"/>
          <p:cNvSpPr/>
          <p:nvPr/>
        </p:nvSpPr>
        <p:spPr>
          <a:xfrm>
            <a:off x="548640" y="320040"/>
            <a:ext cx="7314840" cy="3337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rgbClr val="2e6fc7"/>
                </a:solidFill>
                <a:latin typeface="Yu Gothic"/>
              </a:rPr>
              <a:t>SERVO-ID DETECTION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479" name="CustomShape 2"/>
          <p:cNvSpPr/>
          <p:nvPr/>
        </p:nvSpPr>
        <p:spPr>
          <a:xfrm>
            <a:off x="548640" y="685800"/>
            <a:ext cx="10515240" cy="5472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zh-CN" sz="3000" spc="-1" strike="noStrike">
                <a:solidFill>
                  <a:srgbClr val="1f2a44"/>
                </a:solidFill>
                <a:latin typeface="Yu Gothic"/>
              </a:rPr>
              <a:t>サーボ</a:t>
            </a:r>
            <a:r>
              <a:rPr b="1" lang="en-US" sz="3000" spc="-1" strike="noStrike">
                <a:solidFill>
                  <a:srgbClr val="1f2a44"/>
                </a:solidFill>
                <a:latin typeface="Yu Gothic"/>
              </a:rPr>
              <a:t>ID</a:t>
            </a:r>
            <a:r>
              <a:rPr b="1" lang="zh-CN" sz="3000" spc="-1" strike="noStrike">
                <a:solidFill>
                  <a:srgbClr val="1f2a44"/>
                </a:solidFill>
                <a:latin typeface="Yu Gothic"/>
              </a:rPr>
              <a:t>ベクトルからのロボット認識方法</a:t>
            </a:r>
            <a:endParaRPr b="0" lang="en-US" sz="3000" spc="-1" strike="noStrike">
              <a:latin typeface="Arial"/>
            </a:endParaRPr>
          </a:p>
        </p:txBody>
      </p:sp>
      <p:sp>
        <p:nvSpPr>
          <p:cNvPr id="480" name="CustomShape 3"/>
          <p:cNvSpPr/>
          <p:nvPr/>
        </p:nvSpPr>
        <p:spPr>
          <a:xfrm>
            <a:off x="548640" y="1554480"/>
            <a:ext cx="6034680" cy="8031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20000"/>
              </a:lnSpc>
            </a:pPr>
            <a:r>
              <a:rPr b="0" lang="en-US" sz="1300" spc="-1" strike="noStrike">
                <a:solidFill>
                  <a:srgbClr val="222222"/>
                </a:solidFill>
                <a:latin typeface="Yu Gothic"/>
              </a:rPr>
              <a:t>① </a:t>
            </a:r>
            <a:r>
              <a:rPr b="0" lang="en-US" sz="1300" spc="-1" strike="noStrike">
                <a:solidFill>
                  <a:srgbClr val="222222"/>
                </a:solidFill>
                <a:latin typeface="Yu Gothic"/>
              </a:rPr>
              <a:t>RCB-4</a:t>
            </a:r>
            <a:r>
              <a:rPr b="0" lang="zh-CN" sz="1300" spc="-1" strike="noStrike">
                <a:solidFill>
                  <a:srgbClr val="222222"/>
                </a:solidFill>
                <a:latin typeface="Yu Gothic"/>
              </a:rPr>
              <a:t>の全サーボスロットの</a:t>
            </a:r>
            <a:r>
              <a:rPr b="0" lang="en-US" sz="1300" spc="-1" strike="noStrike">
                <a:solidFill>
                  <a:srgbClr val="222222"/>
                </a:solidFill>
                <a:latin typeface="Yu Gothic"/>
              </a:rPr>
              <a:t>MotorPosition</a:t>
            </a:r>
            <a:r>
              <a:rPr b="0" lang="zh-CN" sz="1300" spc="-1" strike="noStrike">
                <a:solidFill>
                  <a:srgbClr val="222222"/>
                </a:solidFill>
                <a:latin typeface="Yu Gothic"/>
              </a:rPr>
              <a:t>を読み取る</a:t>
            </a:r>
            <a:endParaRPr b="0" lang="en-US" sz="1300" spc="-1" strike="noStrike">
              <a:latin typeface="Arial"/>
            </a:endParaRPr>
          </a:p>
          <a:p>
            <a:pPr>
              <a:lnSpc>
                <a:spcPct val="120000"/>
              </a:lnSpc>
            </a:pPr>
            <a:r>
              <a:rPr b="0" lang="en-US" sz="1300" spc="-1" strike="noStrike">
                <a:solidFill>
                  <a:srgbClr val="222222"/>
                </a:solidFill>
                <a:latin typeface="Yu Gothic"/>
              </a:rPr>
              <a:t>   </a:t>
            </a:r>
            <a:r>
              <a:rPr b="0" lang="en-US" sz="1300" spc="-1" strike="noStrike">
                <a:solidFill>
                  <a:srgbClr val="222222"/>
                </a:solidFill>
                <a:latin typeface="Yu Gothic"/>
              </a:rPr>
              <a:t>(readServoPulses()) -- </a:t>
            </a:r>
            <a:r>
              <a:rPr b="0" lang="zh-CN" sz="1300" spc="-1" strike="noStrike">
                <a:solidFill>
                  <a:srgbClr val="222222"/>
                </a:solidFill>
                <a:latin typeface="Yu Gothic"/>
              </a:rPr>
              <a:t>値が</a:t>
            </a:r>
            <a:r>
              <a:rPr b="0" lang="en-US" sz="1300" spc="-1" strike="noStrike">
                <a:solidFill>
                  <a:srgbClr val="222222"/>
                </a:solidFill>
                <a:latin typeface="Yu Gothic"/>
              </a:rPr>
              <a:t>0</a:t>
            </a:r>
            <a:r>
              <a:rPr b="0" lang="zh-CN" sz="1300" spc="-1" strike="noStrike">
                <a:solidFill>
                  <a:srgbClr val="222222"/>
                </a:solidFill>
                <a:latin typeface="Yu Gothic"/>
              </a:rPr>
              <a:t>でないスロット番号の</a:t>
            </a:r>
            <a:endParaRPr b="0" lang="en-US" sz="1300" spc="-1" strike="noStrike">
              <a:latin typeface="Arial"/>
            </a:endParaRPr>
          </a:p>
          <a:p>
            <a:pPr>
              <a:lnSpc>
                <a:spcPct val="120000"/>
              </a:lnSpc>
            </a:pPr>
            <a:r>
              <a:rPr b="0" lang="en-US" sz="1300" spc="-1" strike="noStrike">
                <a:solidFill>
                  <a:srgbClr val="222222"/>
                </a:solidFill>
                <a:latin typeface="Yu Gothic"/>
              </a:rPr>
              <a:t>   </a:t>
            </a:r>
            <a:r>
              <a:rPr b="0" lang="zh-CN" sz="1300" spc="-1" strike="noStrike">
                <a:solidFill>
                  <a:srgbClr val="222222"/>
                </a:solidFill>
                <a:latin typeface="Yu Gothic"/>
              </a:rPr>
              <a:t>集合を「配線されているサーボ</a:t>
            </a:r>
            <a:r>
              <a:rPr b="0" lang="en-US" sz="1300" spc="-1" strike="noStrike">
                <a:solidFill>
                  <a:srgbClr val="222222"/>
                </a:solidFill>
                <a:latin typeface="Yu Gothic"/>
              </a:rPr>
              <a:t>ID</a:t>
            </a:r>
            <a:r>
              <a:rPr b="0" lang="zh-CN" sz="1300" spc="-1" strike="noStrike">
                <a:solidFill>
                  <a:srgbClr val="222222"/>
                </a:solidFill>
                <a:latin typeface="Yu Gothic"/>
              </a:rPr>
              <a:t>」とする</a:t>
            </a:r>
            <a:r>
              <a:rPr b="0" lang="en-US" sz="1300" spc="-1" strike="noStrike">
                <a:solidFill>
                  <a:srgbClr val="222222"/>
                </a:solidFill>
                <a:latin typeface="Yu Gothic"/>
              </a:rPr>
              <a:t>(wired[])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481" name="CustomShape 4"/>
          <p:cNvSpPr/>
          <p:nvPr/>
        </p:nvSpPr>
        <p:spPr>
          <a:xfrm>
            <a:off x="548640" y="2697480"/>
            <a:ext cx="6034680" cy="5655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20000"/>
              </a:lnSpc>
            </a:pPr>
            <a:r>
              <a:rPr b="0" lang="en-US" sz="1300" spc="-1" strike="noStrike">
                <a:solidFill>
                  <a:srgbClr val="222222"/>
                </a:solidFill>
                <a:latin typeface="Yu Gothic"/>
              </a:rPr>
              <a:t>② </a:t>
            </a:r>
            <a:r>
              <a:rPr b="0" lang="zh-CN" sz="1300" spc="-1" strike="noStrike">
                <a:solidFill>
                  <a:srgbClr val="222222"/>
                </a:solidFill>
                <a:latin typeface="Yu Gothic"/>
              </a:rPr>
              <a:t>各ロボット定義は「そのロボットで使われるはずの</a:t>
            </a:r>
            <a:endParaRPr b="0" lang="en-US" sz="1300" spc="-1" strike="noStrike">
              <a:latin typeface="Arial"/>
            </a:endParaRPr>
          </a:p>
          <a:p>
            <a:pPr>
              <a:lnSpc>
                <a:spcPct val="120000"/>
              </a:lnSpc>
            </a:pPr>
            <a:r>
              <a:rPr b="0" lang="en-US" sz="1300" spc="-1" strike="noStrike">
                <a:solidFill>
                  <a:srgbClr val="222222"/>
                </a:solidFill>
                <a:latin typeface="Yu Gothic"/>
              </a:rPr>
              <a:t>   </a:t>
            </a:r>
            <a:r>
              <a:rPr b="0" lang="zh-CN" sz="1300" spc="-1" strike="noStrike">
                <a:solidFill>
                  <a:srgbClr val="222222"/>
                </a:solidFill>
                <a:latin typeface="Yu Gothic"/>
              </a:rPr>
              <a:t>サーボ</a:t>
            </a:r>
            <a:r>
              <a:rPr b="0" lang="en-US" sz="1300" spc="-1" strike="noStrike">
                <a:solidFill>
                  <a:srgbClr val="222222"/>
                </a:solidFill>
                <a:latin typeface="Yu Gothic"/>
              </a:rPr>
              <a:t>ID</a:t>
            </a:r>
            <a:r>
              <a:rPr b="0" lang="zh-CN" sz="1300" spc="-1" strike="noStrike">
                <a:solidFill>
                  <a:srgbClr val="222222"/>
                </a:solidFill>
                <a:latin typeface="Yu Gothic"/>
              </a:rPr>
              <a:t>集合」を持つ</a:t>
            </a:r>
            <a:r>
              <a:rPr b="0" lang="en-US" sz="1300" spc="-1" strike="noStrike">
                <a:solidFill>
                  <a:srgbClr val="222222"/>
                </a:solidFill>
                <a:latin typeface="Yu Gothic"/>
              </a:rPr>
              <a:t>(policy::servoIdsOfRobot())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482" name="CustomShape 5"/>
          <p:cNvSpPr/>
          <p:nvPr/>
        </p:nvSpPr>
        <p:spPr>
          <a:xfrm>
            <a:off x="548640" y="3840480"/>
            <a:ext cx="6034680" cy="10407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20000"/>
              </a:lnSpc>
            </a:pPr>
            <a:r>
              <a:rPr b="0" lang="en-US" sz="1300" spc="-1" strike="noStrike">
                <a:solidFill>
                  <a:srgbClr val="222222"/>
                </a:solidFill>
                <a:latin typeface="Yu Gothic"/>
              </a:rPr>
              <a:t>③ </a:t>
            </a:r>
            <a:r>
              <a:rPr b="0" lang="en-US" sz="1300" spc="-1" strike="noStrike">
                <a:solidFill>
                  <a:srgbClr val="222222"/>
                </a:solidFill>
                <a:latin typeface="Yu Gothic"/>
              </a:rPr>
              <a:t>wired[] </a:t>
            </a:r>
            <a:r>
              <a:rPr b="0" lang="zh-CN" sz="1300" spc="-1" strike="noStrike">
                <a:solidFill>
                  <a:srgbClr val="222222"/>
                </a:solidFill>
                <a:latin typeface="Yu Gothic"/>
              </a:rPr>
              <a:t>と各ロボットの期待集合の対称差</a:t>
            </a:r>
            <a:endParaRPr b="0" lang="en-US" sz="1300" spc="-1" strike="noStrike">
              <a:latin typeface="Arial"/>
            </a:endParaRPr>
          </a:p>
          <a:p>
            <a:pPr>
              <a:lnSpc>
                <a:spcPct val="120000"/>
              </a:lnSpc>
            </a:pPr>
            <a:r>
              <a:rPr b="0" lang="en-US" sz="1300" spc="-1" strike="noStrike">
                <a:solidFill>
                  <a:srgbClr val="222222"/>
                </a:solidFill>
                <a:latin typeface="Yu Gothic"/>
              </a:rPr>
              <a:t>   </a:t>
            </a:r>
            <a:r>
              <a:rPr b="0" lang="en-US" sz="1300" spc="-1" strike="noStrike">
                <a:solidFill>
                  <a:srgbClr val="222222"/>
                </a:solidFill>
                <a:latin typeface="Yu Gothic"/>
              </a:rPr>
              <a:t>(</a:t>
            </a:r>
            <a:r>
              <a:rPr b="0" lang="zh-CN" sz="1300" spc="-1" strike="noStrike">
                <a:solidFill>
                  <a:srgbClr val="222222"/>
                </a:solidFill>
                <a:latin typeface="Yu Gothic"/>
              </a:rPr>
              <a:t>どちらか一方にしかない</a:t>
            </a:r>
            <a:r>
              <a:rPr b="0" lang="en-US" sz="1300" spc="-1" strike="noStrike">
                <a:solidFill>
                  <a:srgbClr val="222222"/>
                </a:solidFill>
                <a:latin typeface="Yu Gothic"/>
              </a:rPr>
              <a:t>ID</a:t>
            </a:r>
            <a:r>
              <a:rPr b="0" lang="zh-CN" sz="1300" spc="-1" strike="noStrike">
                <a:solidFill>
                  <a:srgbClr val="222222"/>
                </a:solidFill>
                <a:latin typeface="Yu Gothic"/>
              </a:rPr>
              <a:t>の個数</a:t>
            </a:r>
            <a:r>
              <a:rPr b="0" lang="en-US" sz="1300" spc="-1" strike="noStrike">
                <a:solidFill>
                  <a:srgbClr val="222222"/>
                </a:solidFill>
                <a:latin typeface="Yu Gothic"/>
              </a:rPr>
              <a:t>)</a:t>
            </a:r>
            <a:r>
              <a:rPr b="0" lang="zh-CN" sz="1300" spc="-1" strike="noStrike">
                <a:solidFill>
                  <a:srgbClr val="222222"/>
                </a:solidFill>
                <a:latin typeface="Yu Gothic"/>
              </a:rPr>
              <a:t>を </a:t>
            </a:r>
            <a:r>
              <a:rPr b="0" lang="en-US" sz="1300" spc="-1" strike="noStrike">
                <a:solidFill>
                  <a:srgbClr val="222222"/>
                </a:solidFill>
                <a:latin typeface="Yu Gothic"/>
              </a:rPr>
              <a:t>diff </a:t>
            </a:r>
            <a:r>
              <a:rPr b="0" lang="zh-CN" sz="1300" spc="-1" strike="noStrike">
                <a:solidFill>
                  <a:srgbClr val="222222"/>
                </a:solidFill>
                <a:latin typeface="Yu Gothic"/>
              </a:rPr>
              <a:t>として、</a:t>
            </a:r>
            <a:endParaRPr b="0" lang="en-US" sz="1300" spc="-1" strike="noStrike">
              <a:latin typeface="Arial"/>
            </a:endParaRPr>
          </a:p>
          <a:p>
            <a:pPr>
              <a:lnSpc>
                <a:spcPct val="120000"/>
              </a:lnSpc>
            </a:pPr>
            <a:r>
              <a:rPr b="0" lang="en-US" sz="1300" spc="-1" strike="noStrike">
                <a:solidFill>
                  <a:srgbClr val="222222"/>
                </a:solidFill>
                <a:latin typeface="Yu Gothic"/>
              </a:rPr>
              <a:t>   </a:t>
            </a:r>
            <a:r>
              <a:rPr b="0" lang="zh-CN" sz="1300" spc="-1" strike="noStrike">
                <a:solidFill>
                  <a:srgbClr val="222222"/>
                </a:solidFill>
                <a:latin typeface="Yu Gothic"/>
              </a:rPr>
              <a:t>全ロボットに対して同時に計算する</a:t>
            </a:r>
            <a:endParaRPr b="0" lang="en-US" sz="1300" spc="-1" strike="noStrike">
              <a:latin typeface="Arial"/>
            </a:endParaRPr>
          </a:p>
          <a:p>
            <a:pPr>
              <a:lnSpc>
                <a:spcPct val="120000"/>
              </a:lnSpc>
            </a:pPr>
            <a:r>
              <a:rPr b="0" lang="en-US" sz="1300" spc="-1" strike="noStrike">
                <a:solidFill>
                  <a:srgbClr val="222222"/>
                </a:solidFill>
                <a:latin typeface="Yu Gothic"/>
              </a:rPr>
              <a:t>   </a:t>
            </a:r>
            <a:r>
              <a:rPr b="0" lang="en-US" sz="1300" spc="-1" strike="noStrike">
                <a:solidFill>
                  <a:srgbClr val="222222"/>
                </a:solidFill>
                <a:latin typeface="Yu Gothic"/>
              </a:rPr>
              <a:t>(policy::scoreRobotsAgainstWired())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483" name="CustomShape 6"/>
          <p:cNvSpPr/>
          <p:nvPr/>
        </p:nvSpPr>
        <p:spPr>
          <a:xfrm>
            <a:off x="548640" y="4983480"/>
            <a:ext cx="6034680" cy="8031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20000"/>
              </a:lnSpc>
            </a:pPr>
            <a:r>
              <a:rPr b="0" lang="en-US" sz="1300" spc="-1" strike="noStrike">
                <a:solidFill>
                  <a:srgbClr val="222222"/>
                </a:solidFill>
                <a:latin typeface="Yu Gothic"/>
              </a:rPr>
              <a:t>④ </a:t>
            </a:r>
            <a:r>
              <a:rPr b="0" lang="en-US" sz="1300" spc="-1" strike="noStrike">
                <a:solidFill>
                  <a:srgbClr val="222222"/>
                </a:solidFill>
                <a:latin typeface="Yu Gothic"/>
              </a:rPr>
              <a:t>diff </a:t>
            </a:r>
            <a:r>
              <a:rPr b="0" lang="zh-CN" sz="1300" spc="-1" strike="noStrike">
                <a:solidFill>
                  <a:srgbClr val="222222"/>
                </a:solidFill>
                <a:latin typeface="Yu Gothic"/>
              </a:rPr>
              <a:t>が小さい順に並べ替える </a:t>
            </a:r>
            <a:r>
              <a:rPr b="0" lang="en-US" sz="1300" spc="-1" strike="noStrike">
                <a:solidFill>
                  <a:srgbClr val="222222"/>
                </a:solidFill>
                <a:latin typeface="Yu Gothic"/>
              </a:rPr>
              <a:t>-- diff = 0 </a:t>
            </a:r>
            <a:r>
              <a:rPr b="0" lang="zh-CN" sz="1300" spc="-1" strike="noStrike">
                <a:solidFill>
                  <a:srgbClr val="222222"/>
                </a:solidFill>
                <a:latin typeface="Yu Gothic"/>
              </a:rPr>
              <a:t>は完全一致、</a:t>
            </a:r>
            <a:endParaRPr b="0" lang="en-US" sz="1300" spc="-1" strike="noStrike">
              <a:latin typeface="Arial"/>
            </a:endParaRPr>
          </a:p>
          <a:p>
            <a:pPr>
              <a:lnSpc>
                <a:spcPct val="120000"/>
              </a:lnSpc>
            </a:pPr>
            <a:r>
              <a:rPr b="0" lang="en-US" sz="1300" spc="-1" strike="noStrike">
                <a:solidFill>
                  <a:srgbClr val="222222"/>
                </a:solidFill>
                <a:latin typeface="Yu Gothic"/>
              </a:rPr>
              <a:t>   </a:t>
            </a:r>
            <a:r>
              <a:rPr b="0" lang="en-US" sz="1300" spc="-1" strike="noStrike">
                <a:solidFill>
                  <a:srgbClr val="222222"/>
                </a:solidFill>
                <a:latin typeface="Yu Gothic"/>
              </a:rPr>
              <a:t>500</a:t>
            </a:r>
            <a:r>
              <a:rPr b="0" lang="zh-CN" sz="1300" spc="-1" strike="noStrike">
                <a:solidFill>
                  <a:srgbClr val="222222"/>
                </a:solidFill>
                <a:latin typeface="Yu Gothic"/>
              </a:rPr>
              <a:t>種類に増えても比較ロジック自体は変わらず、</a:t>
            </a:r>
            <a:endParaRPr b="0" lang="en-US" sz="1300" spc="-1" strike="noStrike">
              <a:latin typeface="Arial"/>
            </a:endParaRPr>
          </a:p>
          <a:p>
            <a:pPr>
              <a:lnSpc>
                <a:spcPct val="120000"/>
              </a:lnSpc>
            </a:pPr>
            <a:r>
              <a:rPr b="0" lang="en-US" sz="1300" spc="-1" strike="noStrike">
                <a:solidFill>
                  <a:srgbClr val="222222"/>
                </a:solidFill>
                <a:latin typeface="Yu Gothic"/>
              </a:rPr>
              <a:t>   </a:t>
            </a:r>
            <a:r>
              <a:rPr b="0" lang="zh-CN" sz="1300" spc="-1" strike="noStrike">
                <a:solidFill>
                  <a:srgbClr val="222222"/>
                </a:solidFill>
                <a:latin typeface="Yu Gothic"/>
              </a:rPr>
              <a:t>比較対象が</a:t>
            </a:r>
            <a:r>
              <a:rPr b="0" lang="en-US" sz="1300" spc="-1" strike="noStrike">
                <a:solidFill>
                  <a:srgbClr val="222222"/>
                </a:solidFill>
                <a:latin typeface="Yu Gothic"/>
              </a:rPr>
              <a:t>GitHub</a:t>
            </a:r>
            <a:r>
              <a:rPr b="0" lang="zh-CN" sz="1300" spc="-1" strike="noStrike">
                <a:solidFill>
                  <a:srgbClr val="222222"/>
                </a:solidFill>
                <a:latin typeface="Yu Gothic"/>
              </a:rPr>
              <a:t>上の</a:t>
            </a:r>
            <a:r>
              <a:rPr b="0" lang="en-US" sz="1300" spc="-1" strike="noStrike">
                <a:solidFill>
                  <a:srgbClr val="222222"/>
                </a:solidFill>
                <a:latin typeface="Yu Gothic"/>
              </a:rPr>
              <a:t>manifest</a:t>
            </a:r>
            <a:r>
              <a:rPr b="0" lang="zh-CN" sz="1300" spc="-1" strike="noStrike">
                <a:solidFill>
                  <a:srgbClr val="222222"/>
                </a:solidFill>
                <a:latin typeface="Yu Gothic"/>
              </a:rPr>
              <a:t>の</a:t>
            </a:r>
            <a:r>
              <a:rPr b="0" lang="en-US" sz="1300" spc="-1" strike="noStrike">
                <a:solidFill>
                  <a:srgbClr val="222222"/>
                </a:solidFill>
                <a:latin typeface="Yu Gothic"/>
              </a:rPr>
              <a:t>500</a:t>
            </a:r>
            <a:r>
              <a:rPr b="0" lang="zh-CN" sz="1300" spc="-1" strike="noStrike">
                <a:solidFill>
                  <a:srgbClr val="222222"/>
                </a:solidFill>
                <a:latin typeface="Yu Gothic"/>
              </a:rPr>
              <a:t>件になるだけ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484" name="CustomShape 7"/>
          <p:cNvSpPr/>
          <p:nvPr/>
        </p:nvSpPr>
        <p:spPr>
          <a:xfrm>
            <a:off x="6949440" y="1554480"/>
            <a:ext cx="4663080" cy="3034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zh-CN" sz="1400" spc="-1" strike="noStrike">
                <a:solidFill>
                  <a:srgbClr val="1f2a44"/>
                </a:solidFill>
                <a:latin typeface="Yu Gothic"/>
              </a:rPr>
              <a:t>例</a:t>
            </a:r>
            <a:r>
              <a:rPr b="1" lang="en-US" sz="1400" spc="-1" strike="noStrike">
                <a:solidFill>
                  <a:srgbClr val="1f2a44"/>
                </a:solidFill>
                <a:latin typeface="Yu Gothic"/>
              </a:rPr>
              <a:t>: </a:t>
            </a:r>
            <a:r>
              <a:rPr b="1" lang="zh-CN" sz="1400" spc="-1" strike="noStrike">
                <a:solidFill>
                  <a:srgbClr val="1f2a44"/>
                </a:solidFill>
                <a:latin typeface="Yu Gothic"/>
              </a:rPr>
              <a:t>配線サーボ</a:t>
            </a:r>
            <a:r>
              <a:rPr b="1" lang="en-US" sz="1400" spc="-1" strike="noStrike">
                <a:solidFill>
                  <a:srgbClr val="1f2a44"/>
                </a:solidFill>
                <a:latin typeface="Yu Gothic"/>
              </a:rPr>
              <a:t>ID = {1,2,3,5,8}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485" name="CustomShape 8"/>
          <p:cNvSpPr/>
          <p:nvPr/>
        </p:nvSpPr>
        <p:spPr>
          <a:xfrm>
            <a:off x="6949440" y="2011680"/>
            <a:ext cx="4663080" cy="639720"/>
          </a:xfrm>
          <a:prstGeom prst="roundRect">
            <a:avLst>
              <a:gd name="adj" fmla="val 16667"/>
            </a:avLst>
          </a:prstGeom>
          <a:solidFill>
            <a:srgbClr val="2ea059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zh-CN" sz="1300" spc="-1" strike="noStrike">
                <a:solidFill>
                  <a:srgbClr val="ffffff"/>
                </a:solidFill>
                <a:latin typeface="Yu Gothic"/>
              </a:rPr>
              <a:t>ロボット</a:t>
            </a:r>
            <a:r>
              <a:rPr b="1" lang="en-US" sz="1300" spc="-1" strike="noStrike">
                <a:solidFill>
                  <a:srgbClr val="ffffff"/>
                </a:solidFill>
                <a:latin typeface="Yu Gothic"/>
              </a:rPr>
              <a:t>A </a:t>
            </a:r>
            <a:r>
              <a:rPr b="1" lang="zh-CN" sz="1300" spc="-1" strike="noStrike">
                <a:solidFill>
                  <a:srgbClr val="ffffff"/>
                </a:solidFill>
                <a:latin typeface="Yu Gothic"/>
              </a:rPr>
              <a:t>期待</a:t>
            </a:r>
            <a:r>
              <a:rPr b="1" lang="en-US" sz="1300" spc="-1" strike="noStrike">
                <a:solidFill>
                  <a:srgbClr val="ffffff"/>
                </a:solidFill>
                <a:latin typeface="Yu Gothic"/>
              </a:rPr>
              <a:t>ID = {1,2,3,5,8}</a:t>
            </a:r>
            <a:br/>
            <a:r>
              <a:rPr b="1" lang="en-US" sz="1300" spc="-1" strike="noStrike">
                <a:solidFill>
                  <a:srgbClr val="ffffff"/>
                </a:solidFill>
                <a:latin typeface="Yu Gothic"/>
              </a:rPr>
              <a:t>diff = 0  → </a:t>
            </a:r>
            <a:r>
              <a:rPr b="1" lang="zh-CN" sz="1300" spc="-1" strike="noStrike">
                <a:solidFill>
                  <a:srgbClr val="ffffff"/>
                </a:solidFill>
                <a:latin typeface="Yu Gothic"/>
              </a:rPr>
              <a:t>最有力候補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486" name="CustomShape 9"/>
          <p:cNvSpPr/>
          <p:nvPr/>
        </p:nvSpPr>
        <p:spPr>
          <a:xfrm>
            <a:off x="6949440" y="2788920"/>
            <a:ext cx="4663080" cy="639720"/>
          </a:xfrm>
          <a:prstGeom prst="roundRect">
            <a:avLst>
              <a:gd name="adj" fmla="val 16667"/>
            </a:avLst>
          </a:prstGeom>
          <a:solidFill>
            <a:srgbClr val="6b7280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zh-CN" sz="1300" spc="-1" strike="noStrike">
                <a:solidFill>
                  <a:srgbClr val="ffffff"/>
                </a:solidFill>
                <a:latin typeface="Yu Gothic"/>
              </a:rPr>
              <a:t>ロボット</a:t>
            </a:r>
            <a:r>
              <a:rPr b="1" lang="en-US" sz="1300" spc="-1" strike="noStrike">
                <a:solidFill>
                  <a:srgbClr val="ffffff"/>
                </a:solidFill>
                <a:latin typeface="Yu Gothic"/>
              </a:rPr>
              <a:t>B </a:t>
            </a:r>
            <a:r>
              <a:rPr b="1" lang="zh-CN" sz="1300" spc="-1" strike="noStrike">
                <a:solidFill>
                  <a:srgbClr val="ffffff"/>
                </a:solidFill>
                <a:latin typeface="Yu Gothic"/>
              </a:rPr>
              <a:t>期待</a:t>
            </a:r>
            <a:r>
              <a:rPr b="1" lang="en-US" sz="1300" spc="-1" strike="noStrike">
                <a:solidFill>
                  <a:srgbClr val="ffffff"/>
                </a:solidFill>
                <a:latin typeface="Yu Gothic"/>
              </a:rPr>
              <a:t>ID = {1,2,3,4,7}</a:t>
            </a:r>
            <a:br/>
            <a:r>
              <a:rPr b="1" lang="en-US" sz="1300" spc="-1" strike="noStrike">
                <a:solidFill>
                  <a:srgbClr val="ffffff"/>
                </a:solidFill>
                <a:latin typeface="Yu Gothic"/>
              </a:rPr>
              <a:t>diff = 4  → </a:t>
            </a:r>
            <a:r>
              <a:rPr b="1" lang="zh-CN" sz="1300" spc="-1" strike="noStrike">
                <a:solidFill>
                  <a:srgbClr val="ffffff"/>
                </a:solidFill>
                <a:latin typeface="Yu Gothic"/>
              </a:rPr>
              <a:t>候補から外れる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487" name="CustomShape 10"/>
          <p:cNvSpPr/>
          <p:nvPr/>
        </p:nvSpPr>
        <p:spPr>
          <a:xfrm>
            <a:off x="6949440" y="3566160"/>
            <a:ext cx="4663080" cy="639720"/>
          </a:xfrm>
          <a:prstGeom prst="roundRect">
            <a:avLst>
              <a:gd name="adj" fmla="val 16667"/>
            </a:avLst>
          </a:prstGeom>
          <a:solidFill>
            <a:srgbClr val="e0a530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zh-CN" sz="1300" spc="-1" strike="noStrike">
                <a:solidFill>
                  <a:srgbClr val="ffffff"/>
                </a:solidFill>
                <a:latin typeface="Yu Gothic"/>
              </a:rPr>
              <a:t>ロボット</a:t>
            </a:r>
            <a:r>
              <a:rPr b="1" lang="en-US" sz="1300" spc="-1" strike="noStrike">
                <a:solidFill>
                  <a:srgbClr val="ffffff"/>
                </a:solidFill>
                <a:latin typeface="Yu Gothic"/>
              </a:rPr>
              <a:t>C </a:t>
            </a:r>
            <a:r>
              <a:rPr b="1" lang="zh-CN" sz="1300" spc="-1" strike="noStrike">
                <a:solidFill>
                  <a:srgbClr val="ffffff"/>
                </a:solidFill>
                <a:latin typeface="Yu Gothic"/>
              </a:rPr>
              <a:t>期待</a:t>
            </a:r>
            <a:r>
              <a:rPr b="1" lang="en-US" sz="1300" spc="-1" strike="noStrike">
                <a:solidFill>
                  <a:srgbClr val="ffffff"/>
                </a:solidFill>
                <a:latin typeface="Yu Gothic"/>
              </a:rPr>
              <a:t>ID = {1,2,3,5,8,9}</a:t>
            </a:r>
            <a:br/>
            <a:r>
              <a:rPr b="1" lang="en-US" sz="1300" spc="-1" strike="noStrike">
                <a:solidFill>
                  <a:srgbClr val="ffffff"/>
                </a:solidFill>
                <a:latin typeface="Yu Gothic"/>
              </a:rPr>
              <a:t>diff = 1  → </a:t>
            </a:r>
            <a:r>
              <a:rPr b="1" lang="zh-CN" sz="1300" spc="-1" strike="noStrike">
                <a:solidFill>
                  <a:srgbClr val="ffffff"/>
                </a:solidFill>
                <a:latin typeface="Yu Gothic"/>
              </a:rPr>
              <a:t>次点候補</a:t>
            </a:r>
            <a:br/>
            <a:r>
              <a:rPr b="1" lang="en-US" sz="1300" spc="-1" strike="noStrike">
                <a:solidFill>
                  <a:srgbClr val="ffffff"/>
                </a:solidFill>
                <a:latin typeface="Yu Gothic"/>
              </a:rPr>
              <a:t>(9</a:t>
            </a:r>
            <a:r>
              <a:rPr b="1" lang="zh-CN" sz="1300" spc="-1" strike="noStrike">
                <a:solidFill>
                  <a:srgbClr val="ffffff"/>
                </a:solidFill>
                <a:latin typeface="Yu Gothic"/>
              </a:rPr>
              <a:t>番だけ未配線、と分かる</a:t>
            </a:r>
            <a:r>
              <a:rPr b="1" lang="en-US" sz="1300" spc="-1" strike="noStrike">
                <a:solidFill>
                  <a:srgbClr val="ffffff"/>
                </a:solidFill>
                <a:latin typeface="Yu Gothic"/>
              </a:rPr>
              <a:t>)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488" name="CustomShape 11"/>
          <p:cNvSpPr/>
          <p:nvPr/>
        </p:nvSpPr>
        <p:spPr>
          <a:xfrm>
            <a:off x="6949440" y="4480560"/>
            <a:ext cx="4663080" cy="12297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25000"/>
              </a:lnSpc>
            </a:pPr>
            <a:r>
              <a:rPr b="0" lang="zh-CN" sz="1200" spc="-1" strike="noStrike">
                <a:solidFill>
                  <a:srgbClr val="222222"/>
                </a:solidFill>
                <a:latin typeface="Yu Gothic"/>
              </a:rPr>
              <a:t>実機での確認方法</a:t>
            </a:r>
            <a:r>
              <a:rPr b="0" lang="en-US" sz="1200" spc="-1" strike="noStrike">
                <a:solidFill>
                  <a:srgbClr val="222222"/>
                </a:solidFill>
                <a:latin typeface="Yu Gothic"/>
              </a:rPr>
              <a:t>:</a:t>
            </a:r>
            <a:endParaRPr b="0" lang="en-US" sz="1200" spc="-1" strike="noStrike">
              <a:latin typeface="Arial"/>
            </a:endParaRPr>
          </a:p>
          <a:p>
            <a:pPr>
              <a:lnSpc>
                <a:spcPct val="125000"/>
              </a:lnSpc>
            </a:pPr>
            <a:r>
              <a:rPr b="0" lang="zh-CN" sz="1200" spc="-1" strike="noStrike">
                <a:solidFill>
                  <a:srgbClr val="222222"/>
                </a:solidFill>
                <a:latin typeface="Yu Gothic"/>
              </a:rPr>
              <a:t>・</a:t>
            </a:r>
            <a:r>
              <a:rPr b="0" lang="en-US" sz="1200" spc="-1" strike="noStrike">
                <a:solidFill>
                  <a:srgbClr val="222222"/>
                </a:solidFill>
                <a:latin typeface="Yu Gothic"/>
              </a:rPr>
              <a:t>ROBOT</a:t>
            </a:r>
            <a:r>
              <a:rPr b="0" lang="zh-CN" sz="1200" spc="-1" strike="noStrike">
                <a:solidFill>
                  <a:srgbClr val="222222"/>
                </a:solidFill>
                <a:latin typeface="Yu Gothic"/>
              </a:rPr>
              <a:t>モード画面に </a:t>
            </a:r>
            <a:r>
              <a:rPr b="0" lang="en-US" sz="1200" spc="-1" strike="noStrike">
                <a:solidFill>
                  <a:srgbClr val="222222"/>
                </a:solidFill>
                <a:latin typeface="Yu Gothic"/>
              </a:rPr>
              <a:t>diff </a:t>
            </a:r>
            <a:r>
              <a:rPr b="0" lang="zh-CN" sz="1200" spc="-1" strike="noStrike">
                <a:solidFill>
                  <a:srgbClr val="222222"/>
                </a:solidFill>
                <a:latin typeface="Yu Gothic"/>
              </a:rPr>
              <a:t>と</a:t>
            </a:r>
            <a:r>
              <a:rPr b="0" lang="en-US" sz="1200" spc="-1" strike="noStrike">
                <a:solidFill>
                  <a:srgbClr val="222222"/>
                </a:solidFill>
                <a:latin typeface="Yu Gothic"/>
              </a:rPr>
              <a:t>ID</a:t>
            </a:r>
            <a:r>
              <a:rPr b="0" lang="zh-CN" sz="1200" spc="-1" strike="noStrike">
                <a:solidFill>
                  <a:srgbClr val="222222"/>
                </a:solidFill>
                <a:latin typeface="Yu Gothic"/>
              </a:rPr>
              <a:t>一覧が表示される</a:t>
            </a:r>
            <a:endParaRPr b="0" lang="en-US" sz="1200" spc="-1" strike="noStrike">
              <a:latin typeface="Arial"/>
            </a:endParaRPr>
          </a:p>
          <a:p>
            <a:pPr>
              <a:lnSpc>
                <a:spcPct val="125000"/>
              </a:lnSpc>
            </a:pPr>
            <a:r>
              <a:rPr b="0" lang="en-US" sz="1200" spc="-1" strike="noStrike">
                <a:solidFill>
                  <a:srgbClr val="222222"/>
                </a:solidFill>
                <a:latin typeface="Yu Gothic"/>
              </a:rPr>
              <a:t>  </a:t>
            </a:r>
            <a:r>
              <a:rPr b="0" lang="en-US" sz="1200" spc="-1" strike="noStrike">
                <a:solidFill>
                  <a:srgbClr val="222222"/>
                </a:solidFill>
                <a:latin typeface="Yu Gothic"/>
              </a:rPr>
              <a:t>(RobotSelectMode::detectFromHardware())</a:t>
            </a:r>
            <a:endParaRPr b="0" lang="en-US" sz="1200" spc="-1" strike="noStrike">
              <a:latin typeface="Arial"/>
            </a:endParaRPr>
          </a:p>
          <a:p>
            <a:pPr>
              <a:lnSpc>
                <a:spcPct val="125000"/>
              </a:lnSpc>
            </a:pPr>
            <a:r>
              <a:rPr b="0" lang="zh-CN" sz="1200" spc="-1" strike="noStrike">
                <a:solidFill>
                  <a:srgbClr val="222222"/>
                </a:solidFill>
                <a:latin typeface="Yu Gothic"/>
              </a:rPr>
              <a:t>・フェーズ</a:t>
            </a:r>
            <a:r>
              <a:rPr b="0" lang="en-US" sz="1200" spc="-1" strike="noStrike">
                <a:solidFill>
                  <a:srgbClr val="222222"/>
                </a:solidFill>
                <a:latin typeface="Yu Gothic"/>
              </a:rPr>
              <a:t>1</a:t>
            </a:r>
            <a:r>
              <a:rPr b="0" lang="zh-CN" sz="1200" spc="-1" strike="noStrike">
                <a:solidFill>
                  <a:srgbClr val="222222"/>
                </a:solidFill>
                <a:latin typeface="Yu Gothic"/>
              </a:rPr>
              <a:t>で </a:t>
            </a:r>
            <a:r>
              <a:rPr b="0" lang="en-US" sz="1200" spc="-1" strike="noStrike">
                <a:solidFill>
                  <a:srgbClr val="222222"/>
                </a:solidFill>
                <a:latin typeface="Yu Gothic"/>
              </a:rPr>
              <a:t>/info JSON </a:t>
            </a:r>
            <a:r>
              <a:rPr b="0" lang="zh-CN" sz="1200" spc="-1" strike="noStrike">
                <a:solidFill>
                  <a:srgbClr val="222222"/>
                </a:solidFill>
                <a:latin typeface="Yu Gothic"/>
              </a:rPr>
              <a:t>にも </a:t>
            </a:r>
            <a:r>
              <a:rPr b="0" lang="en-US" sz="1200" spc="-1" strike="noStrike">
                <a:solidFill>
                  <a:srgbClr val="222222"/>
                </a:solidFill>
                <a:latin typeface="Yu Gothic"/>
              </a:rPr>
              <a:t>wiredIds / candidates</a:t>
            </a:r>
            <a:endParaRPr b="0" lang="en-US" sz="1200" spc="-1" strike="noStrike">
              <a:latin typeface="Arial"/>
            </a:endParaRPr>
          </a:p>
          <a:p>
            <a:pPr>
              <a:lnSpc>
                <a:spcPct val="125000"/>
              </a:lnSpc>
            </a:pPr>
            <a:r>
              <a:rPr b="0" lang="en-US" sz="1200" spc="-1" strike="noStrike">
                <a:solidFill>
                  <a:srgbClr val="222222"/>
                </a:solidFill>
                <a:latin typeface="Yu Gothic"/>
              </a:rPr>
              <a:t>  </a:t>
            </a:r>
            <a:r>
              <a:rPr b="0" lang="zh-CN" sz="1200" spc="-1" strike="noStrike">
                <a:solidFill>
                  <a:srgbClr val="222222"/>
                </a:solidFill>
                <a:latin typeface="Yu Gothic"/>
              </a:rPr>
              <a:t>として公開済み</a:t>
            </a:r>
            <a:r>
              <a:rPr b="0" lang="en-US" sz="1200" spc="-1" strike="noStrike">
                <a:solidFill>
                  <a:srgbClr val="222222"/>
                </a:solidFill>
                <a:latin typeface="Yu Gothic"/>
              </a:rPr>
              <a:t>(</a:t>
            </a:r>
            <a:r>
              <a:rPr b="0" lang="zh-CN" sz="1200" spc="-1" strike="noStrike">
                <a:solidFill>
                  <a:srgbClr val="222222"/>
                </a:solidFill>
                <a:latin typeface="Yu Gothic"/>
              </a:rPr>
              <a:t>全ロボットのスコア付きリスト</a:t>
            </a:r>
            <a:r>
              <a:rPr b="0" lang="en-US" sz="1200" spc="-1" strike="noStrike">
                <a:solidFill>
                  <a:srgbClr val="222222"/>
                </a:solidFill>
                <a:latin typeface="Yu Gothic"/>
              </a:rPr>
              <a:t>)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489" name="CustomShape 12"/>
          <p:cNvSpPr/>
          <p:nvPr/>
        </p:nvSpPr>
        <p:spPr>
          <a:xfrm>
            <a:off x="548640" y="6126480"/>
            <a:ext cx="11063880" cy="2577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zh-CN" sz="1100" spc="-1" strike="noStrike">
                <a:solidFill>
                  <a:srgbClr val="6b7280"/>
                </a:solidFill>
                <a:latin typeface="Yu Gothic"/>
              </a:rPr>
              <a:t>この方法は配線トポロジのみを見るため、同じサーボ数・同じ</a:t>
            </a:r>
            <a:r>
              <a:rPr b="0" lang="en-US" sz="1100" spc="-1" strike="noStrike">
                <a:solidFill>
                  <a:srgbClr val="6b7280"/>
                </a:solidFill>
                <a:latin typeface="Yu Gothic"/>
              </a:rPr>
              <a:t>ID</a:t>
            </a:r>
            <a:r>
              <a:rPr b="0" lang="zh-CN" sz="1100" spc="-1" strike="noStrike">
                <a:solidFill>
                  <a:srgbClr val="6b7280"/>
                </a:solidFill>
                <a:latin typeface="Yu Gothic"/>
              </a:rPr>
              <a:t>配置のロボットは区別できない </a:t>
            </a:r>
            <a:r>
              <a:rPr b="0" lang="en-US" sz="1100" spc="-1" strike="noStrike">
                <a:solidFill>
                  <a:srgbClr val="6b7280"/>
                </a:solidFill>
                <a:latin typeface="Yu Gothic"/>
              </a:rPr>
              <a:t>-- </a:t>
            </a:r>
            <a:r>
              <a:rPr b="0" lang="zh-CN" sz="1100" spc="-1" strike="noStrike">
                <a:solidFill>
                  <a:srgbClr val="6b7280"/>
                </a:solidFill>
                <a:latin typeface="Yu Gothic"/>
              </a:rPr>
              <a:t>その場合は</a:t>
            </a:r>
            <a:r>
              <a:rPr b="0" lang="en-US" sz="1100" spc="-1" strike="noStrike">
                <a:solidFill>
                  <a:srgbClr val="6b7280"/>
                </a:solidFill>
                <a:latin typeface="Yu Gothic"/>
              </a:rPr>
              <a:t>3D</a:t>
            </a:r>
            <a:r>
              <a:rPr b="0" lang="zh-CN" sz="1100" spc="-1" strike="noStrike">
                <a:solidFill>
                  <a:srgbClr val="6b7280"/>
                </a:solidFill>
                <a:latin typeface="Yu Gothic"/>
              </a:rPr>
              <a:t>モデルを見て人が最終判断する</a:t>
            </a:r>
            <a:r>
              <a:rPr b="0" lang="en-US" sz="1100" spc="-1" strike="noStrike">
                <a:solidFill>
                  <a:srgbClr val="6b7280"/>
                </a:solidFill>
                <a:latin typeface="Yu Gothic"/>
              </a:rPr>
              <a:t>(</a:t>
            </a:r>
            <a:r>
              <a:rPr b="0" lang="zh-CN" sz="1100" spc="-1" strike="noStrike">
                <a:solidFill>
                  <a:srgbClr val="6b7280"/>
                </a:solidFill>
                <a:latin typeface="Yu Gothic"/>
              </a:rPr>
              <a:t>フェーズ</a:t>
            </a:r>
            <a:r>
              <a:rPr b="0" lang="en-US" sz="1100" spc="-1" strike="noStrike">
                <a:solidFill>
                  <a:srgbClr val="6b7280"/>
                </a:solidFill>
                <a:latin typeface="Yu Gothic"/>
              </a:rPr>
              <a:t>2/3</a:t>
            </a:r>
            <a:r>
              <a:rPr b="0" lang="zh-CN" sz="1100" spc="-1" strike="noStrike">
                <a:solidFill>
                  <a:srgbClr val="6b7280"/>
                </a:solidFill>
                <a:latin typeface="Yu Gothic"/>
              </a:rPr>
              <a:t>の</a:t>
            </a:r>
            <a:r>
              <a:rPr b="0" lang="en-US" sz="1100" spc="-1" strike="noStrike">
                <a:solidFill>
                  <a:srgbClr val="6b7280"/>
                </a:solidFill>
                <a:latin typeface="Yu Gothic"/>
              </a:rPr>
              <a:t>UX)</a:t>
            </a:r>
            <a:r>
              <a:rPr b="0" lang="zh-CN" sz="1100" spc="-1" strike="noStrike">
                <a:solidFill>
                  <a:srgbClr val="6b7280"/>
                </a:solidFill>
                <a:latin typeface="Yu Gothic"/>
              </a:rPr>
              <a:t>。</a:t>
            </a:r>
            <a:endParaRPr b="0" lang="en-US" sz="11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0" name="CustomShape 1"/>
          <p:cNvSpPr/>
          <p:nvPr/>
        </p:nvSpPr>
        <p:spPr>
          <a:xfrm>
            <a:off x="548640" y="320040"/>
            <a:ext cx="7314840" cy="3337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rgbClr val="2e6fc7"/>
                </a:solidFill>
                <a:latin typeface="Yu Gothic"/>
              </a:rPr>
              <a:t>ROADMAP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491" name="CustomShape 2"/>
          <p:cNvSpPr/>
          <p:nvPr/>
        </p:nvSpPr>
        <p:spPr>
          <a:xfrm>
            <a:off x="548640" y="685800"/>
            <a:ext cx="10515240" cy="5472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zh-CN" sz="3000" spc="-1" strike="noStrike">
                <a:solidFill>
                  <a:srgbClr val="1f2a44"/>
                </a:solidFill>
                <a:latin typeface="Yu Gothic"/>
              </a:rPr>
              <a:t>段階的ロードマップ</a:t>
            </a:r>
            <a:r>
              <a:rPr b="1" lang="en-US" sz="3000" spc="-1" strike="noStrike">
                <a:solidFill>
                  <a:srgbClr val="1f2a44"/>
                </a:solidFill>
                <a:latin typeface="Yu Gothic"/>
              </a:rPr>
              <a:t>(</a:t>
            </a:r>
            <a:r>
              <a:rPr b="1" lang="zh-CN" sz="3000" spc="-1" strike="noStrike">
                <a:solidFill>
                  <a:srgbClr val="1f2a44"/>
                </a:solidFill>
                <a:latin typeface="Yu Gothic"/>
              </a:rPr>
              <a:t>推奨順</a:t>
            </a:r>
            <a:r>
              <a:rPr b="1" lang="en-US" sz="3000" spc="-1" strike="noStrike">
                <a:solidFill>
                  <a:srgbClr val="1f2a44"/>
                </a:solidFill>
                <a:latin typeface="Yu Gothic"/>
              </a:rPr>
              <a:t>)</a:t>
            </a:r>
            <a:endParaRPr b="0" lang="en-US" sz="3000" spc="-1" strike="noStrike">
              <a:latin typeface="Arial"/>
            </a:endParaRPr>
          </a:p>
        </p:txBody>
      </p:sp>
      <p:sp>
        <p:nvSpPr>
          <p:cNvPr id="492" name="CustomShape 3"/>
          <p:cNvSpPr/>
          <p:nvPr/>
        </p:nvSpPr>
        <p:spPr>
          <a:xfrm>
            <a:off x="548640" y="1737360"/>
            <a:ext cx="1554120" cy="822600"/>
          </a:xfrm>
          <a:prstGeom prst="roundRect">
            <a:avLst>
              <a:gd name="adj" fmla="val 16667"/>
            </a:avLst>
          </a:prstGeom>
          <a:solidFill>
            <a:srgbClr val="2e6fc7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zh-CN" sz="1500" spc="-1" strike="noStrike">
                <a:solidFill>
                  <a:srgbClr val="ffffff"/>
                </a:solidFill>
                <a:latin typeface="Yu Gothic"/>
              </a:rPr>
              <a:t>フェーズ</a:t>
            </a:r>
            <a:r>
              <a:rPr b="1" lang="en-US" sz="1500" spc="-1" strike="noStrike">
                <a:solidFill>
                  <a:srgbClr val="ffffff"/>
                </a:solidFill>
                <a:latin typeface="Yu Gothic"/>
              </a:rPr>
              <a:t>1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493" name="CustomShape 4"/>
          <p:cNvSpPr/>
          <p:nvPr/>
        </p:nvSpPr>
        <p:spPr>
          <a:xfrm>
            <a:off x="2286000" y="1783080"/>
            <a:ext cx="5760360" cy="3495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zh-CN" sz="1700" spc="-1" strike="noStrike">
                <a:solidFill>
                  <a:srgbClr val="222222"/>
                </a:solidFill>
                <a:latin typeface="Yu Gothic"/>
              </a:rPr>
              <a:t>サーボ</a:t>
            </a:r>
            <a:r>
              <a:rPr b="1" lang="en-US" sz="1700" spc="-1" strike="noStrike">
                <a:solidFill>
                  <a:srgbClr val="222222"/>
                </a:solidFill>
                <a:latin typeface="Yu Gothic"/>
              </a:rPr>
              <a:t>ID</a:t>
            </a:r>
            <a:r>
              <a:rPr b="1" lang="zh-CN" sz="1700" spc="-1" strike="noStrike">
                <a:solidFill>
                  <a:srgbClr val="222222"/>
                </a:solidFill>
                <a:latin typeface="Yu Gothic"/>
              </a:rPr>
              <a:t>候補検出をスマホに公開</a:t>
            </a:r>
            <a:endParaRPr b="0" lang="en-US" sz="1700" spc="-1" strike="noStrike">
              <a:latin typeface="Arial"/>
            </a:endParaRPr>
          </a:p>
        </p:txBody>
      </p:sp>
      <p:sp>
        <p:nvSpPr>
          <p:cNvPr id="494" name="CustomShape 5"/>
          <p:cNvSpPr/>
          <p:nvPr/>
        </p:nvSpPr>
        <p:spPr>
          <a:xfrm>
            <a:off x="8138160" y="1847160"/>
            <a:ext cx="3291480" cy="3279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20000"/>
              </a:lnSpc>
            </a:pPr>
            <a:r>
              <a:rPr b="0" lang="zh-CN" sz="1300" spc="-1" strike="noStrike">
                <a:solidFill>
                  <a:srgbClr val="6b7280"/>
                </a:solidFill>
                <a:latin typeface="Yu Gothic"/>
              </a:rPr>
              <a:t>既存</a:t>
            </a:r>
            <a:r>
              <a:rPr b="0" lang="en-US" sz="1300" spc="-1" strike="noStrike">
                <a:solidFill>
                  <a:srgbClr val="6b7280"/>
                </a:solidFill>
                <a:latin typeface="Yu Gothic"/>
              </a:rPr>
              <a:t>5</a:t>
            </a:r>
            <a:r>
              <a:rPr b="0" lang="zh-CN" sz="1300" spc="-1" strike="noStrike">
                <a:solidFill>
                  <a:srgbClr val="6b7280"/>
                </a:solidFill>
                <a:latin typeface="Yu Gothic"/>
              </a:rPr>
              <a:t>種・</a:t>
            </a:r>
            <a:r>
              <a:rPr b="0" lang="en-US" sz="1300" spc="-1" strike="noStrike">
                <a:solidFill>
                  <a:srgbClr val="6b7280"/>
                </a:solidFill>
                <a:latin typeface="Yu Gothic"/>
              </a:rPr>
              <a:t>firmware</a:t>
            </a:r>
            <a:r>
              <a:rPr b="0" lang="zh-CN" sz="1300" spc="-1" strike="noStrike">
                <a:solidFill>
                  <a:srgbClr val="6b7280"/>
                </a:solidFill>
                <a:latin typeface="Yu Gothic"/>
              </a:rPr>
              <a:t>小変更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495" name="CustomShape 6"/>
          <p:cNvSpPr/>
          <p:nvPr/>
        </p:nvSpPr>
        <p:spPr>
          <a:xfrm>
            <a:off x="548640" y="2697480"/>
            <a:ext cx="1554120" cy="822600"/>
          </a:xfrm>
          <a:prstGeom prst="roundRect">
            <a:avLst>
              <a:gd name="adj" fmla="val 16667"/>
            </a:avLst>
          </a:prstGeom>
          <a:solidFill>
            <a:srgbClr val="2ea059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zh-CN" sz="1500" spc="-1" strike="noStrike">
                <a:solidFill>
                  <a:srgbClr val="ffffff"/>
                </a:solidFill>
                <a:latin typeface="Yu Gothic"/>
              </a:rPr>
              <a:t>フェーズ</a:t>
            </a:r>
            <a:r>
              <a:rPr b="1" lang="en-US" sz="1500" spc="-1" strike="noStrike">
                <a:solidFill>
                  <a:srgbClr val="ffffff"/>
                </a:solidFill>
                <a:latin typeface="Yu Gothic"/>
              </a:rPr>
              <a:t>2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496" name="CustomShape 7"/>
          <p:cNvSpPr/>
          <p:nvPr/>
        </p:nvSpPr>
        <p:spPr>
          <a:xfrm>
            <a:off x="2286000" y="2743200"/>
            <a:ext cx="5760360" cy="3495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1700" spc="-1" strike="noStrike">
                <a:solidFill>
                  <a:srgbClr val="222222"/>
                </a:solidFill>
                <a:latin typeface="Yu Gothic"/>
              </a:rPr>
              <a:t>3D</a:t>
            </a:r>
            <a:r>
              <a:rPr b="1" lang="zh-CN" sz="1700" spc="-1" strike="noStrike">
                <a:solidFill>
                  <a:srgbClr val="222222"/>
                </a:solidFill>
                <a:latin typeface="Yu Gothic"/>
              </a:rPr>
              <a:t>ビューア用の静的ページを作る</a:t>
            </a:r>
            <a:endParaRPr b="0" lang="en-US" sz="1700" spc="-1" strike="noStrike">
              <a:latin typeface="Arial"/>
            </a:endParaRPr>
          </a:p>
        </p:txBody>
      </p:sp>
      <p:sp>
        <p:nvSpPr>
          <p:cNvPr id="497" name="CustomShape 8"/>
          <p:cNvSpPr/>
          <p:nvPr/>
        </p:nvSpPr>
        <p:spPr>
          <a:xfrm>
            <a:off x="8138160" y="2807280"/>
            <a:ext cx="3291480" cy="3279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20000"/>
              </a:lnSpc>
            </a:pPr>
            <a:r>
              <a:rPr b="0" lang="en-US" sz="1300" spc="-1" strike="noStrike">
                <a:solidFill>
                  <a:srgbClr val="6b7280"/>
                </a:solidFill>
                <a:latin typeface="Yu Gothic"/>
              </a:rPr>
              <a:t>firmware</a:t>
            </a:r>
            <a:r>
              <a:rPr b="0" lang="zh-CN" sz="1300" spc="-1" strike="noStrike">
                <a:solidFill>
                  <a:srgbClr val="6b7280"/>
                </a:solidFill>
                <a:latin typeface="Yu Gothic"/>
              </a:rPr>
              <a:t>変更なし・独立成果物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498" name="CustomShape 9"/>
          <p:cNvSpPr/>
          <p:nvPr/>
        </p:nvSpPr>
        <p:spPr>
          <a:xfrm>
            <a:off x="548640" y="3657600"/>
            <a:ext cx="1554120" cy="822600"/>
          </a:xfrm>
          <a:prstGeom prst="roundRect">
            <a:avLst>
              <a:gd name="adj" fmla="val 16667"/>
            </a:avLst>
          </a:prstGeom>
          <a:solidFill>
            <a:srgbClr val="2e6fc7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zh-CN" sz="1500" spc="-1" strike="noStrike">
                <a:solidFill>
                  <a:srgbClr val="ffffff"/>
                </a:solidFill>
                <a:latin typeface="Yu Gothic"/>
              </a:rPr>
              <a:t>フェーズ</a:t>
            </a:r>
            <a:r>
              <a:rPr b="1" lang="en-US" sz="1500" spc="-1" strike="noStrike">
                <a:solidFill>
                  <a:srgbClr val="ffffff"/>
                </a:solidFill>
                <a:latin typeface="Yu Gothic"/>
              </a:rPr>
              <a:t>3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499" name="CustomShape 10"/>
          <p:cNvSpPr/>
          <p:nvPr/>
        </p:nvSpPr>
        <p:spPr>
          <a:xfrm>
            <a:off x="2286000" y="3703320"/>
            <a:ext cx="5760360" cy="3495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zh-CN" sz="1700" spc="-1" strike="noStrike">
                <a:solidFill>
                  <a:srgbClr val="222222"/>
                </a:solidFill>
                <a:latin typeface="Yu Gothic"/>
              </a:rPr>
              <a:t>候補リスト </a:t>
            </a:r>
            <a:r>
              <a:rPr b="1" lang="en-US" sz="1700" spc="-1" strike="noStrike">
                <a:solidFill>
                  <a:srgbClr val="222222"/>
                </a:solidFill>
                <a:latin typeface="Yu Gothic"/>
              </a:rPr>
              <a:t>+ 3D</a:t>
            </a:r>
            <a:r>
              <a:rPr b="1" lang="zh-CN" sz="1700" spc="-1" strike="noStrike">
                <a:solidFill>
                  <a:srgbClr val="222222"/>
                </a:solidFill>
                <a:latin typeface="Yu Gothic"/>
              </a:rPr>
              <a:t>ビューアを統合</a:t>
            </a:r>
            <a:endParaRPr b="0" lang="en-US" sz="1700" spc="-1" strike="noStrike">
              <a:latin typeface="Arial"/>
            </a:endParaRPr>
          </a:p>
        </p:txBody>
      </p:sp>
      <p:sp>
        <p:nvSpPr>
          <p:cNvPr id="500" name="CustomShape 11"/>
          <p:cNvSpPr/>
          <p:nvPr/>
        </p:nvSpPr>
        <p:spPr>
          <a:xfrm>
            <a:off x="8138160" y="3767400"/>
            <a:ext cx="3291480" cy="3279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20000"/>
              </a:lnSpc>
            </a:pPr>
            <a:r>
              <a:rPr b="0" lang="zh-CN" sz="1300" spc="-1" strike="noStrike">
                <a:solidFill>
                  <a:srgbClr val="6b7280"/>
                </a:solidFill>
                <a:latin typeface="Yu Gothic"/>
              </a:rPr>
              <a:t>既存</a:t>
            </a:r>
            <a:r>
              <a:rPr b="0" lang="en-US" sz="1300" spc="-1" strike="noStrike">
                <a:solidFill>
                  <a:srgbClr val="6b7280"/>
                </a:solidFill>
                <a:latin typeface="Yu Gothic"/>
              </a:rPr>
              <a:t>5</a:t>
            </a:r>
            <a:r>
              <a:rPr b="0" lang="zh-CN" sz="1300" spc="-1" strike="noStrike">
                <a:solidFill>
                  <a:srgbClr val="6b7280"/>
                </a:solidFill>
                <a:latin typeface="Yu Gothic"/>
              </a:rPr>
              <a:t>種で</a:t>
            </a:r>
            <a:r>
              <a:rPr b="0" lang="en-US" sz="1300" spc="-1" strike="noStrike">
                <a:solidFill>
                  <a:srgbClr val="6b7280"/>
                </a:solidFill>
                <a:latin typeface="Yu Gothic"/>
              </a:rPr>
              <a:t>UX</a:t>
            </a:r>
            <a:r>
              <a:rPr b="0" lang="zh-CN" sz="1300" spc="-1" strike="noStrike">
                <a:solidFill>
                  <a:srgbClr val="6b7280"/>
                </a:solidFill>
                <a:latin typeface="Yu Gothic"/>
              </a:rPr>
              <a:t>ループを完成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501" name="CustomShape 12"/>
          <p:cNvSpPr/>
          <p:nvPr/>
        </p:nvSpPr>
        <p:spPr>
          <a:xfrm>
            <a:off x="548640" y="4617720"/>
            <a:ext cx="1554120" cy="822600"/>
          </a:xfrm>
          <a:prstGeom prst="roundRect">
            <a:avLst>
              <a:gd name="adj" fmla="val 16667"/>
            </a:avLst>
          </a:prstGeom>
          <a:solidFill>
            <a:srgbClr val="1f2a44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zh-CN" sz="1500" spc="-1" strike="noStrike">
                <a:solidFill>
                  <a:srgbClr val="ffffff"/>
                </a:solidFill>
                <a:latin typeface="Yu Gothic"/>
              </a:rPr>
              <a:t>フェーズ</a:t>
            </a:r>
            <a:r>
              <a:rPr b="1" lang="en-US" sz="1500" spc="-1" strike="noStrike">
                <a:solidFill>
                  <a:srgbClr val="ffffff"/>
                </a:solidFill>
                <a:latin typeface="Yu Gothic"/>
              </a:rPr>
              <a:t>4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502" name="CustomShape 13"/>
          <p:cNvSpPr/>
          <p:nvPr/>
        </p:nvSpPr>
        <p:spPr>
          <a:xfrm>
            <a:off x="2286000" y="4663440"/>
            <a:ext cx="5760360" cy="3495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zh-CN" sz="1700" spc="-1" strike="noStrike">
                <a:solidFill>
                  <a:srgbClr val="222222"/>
                </a:solidFill>
                <a:latin typeface="Yu Gothic"/>
              </a:rPr>
              <a:t>ロボット記述をデータ駆動化</a:t>
            </a:r>
            <a:endParaRPr b="0" lang="en-US" sz="1700" spc="-1" strike="noStrike">
              <a:latin typeface="Arial"/>
            </a:endParaRPr>
          </a:p>
        </p:txBody>
      </p:sp>
      <p:sp>
        <p:nvSpPr>
          <p:cNvPr id="503" name="CustomShape 14"/>
          <p:cNvSpPr/>
          <p:nvPr/>
        </p:nvSpPr>
        <p:spPr>
          <a:xfrm>
            <a:off x="8138160" y="4727520"/>
            <a:ext cx="3291480" cy="3279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20000"/>
              </a:lnSpc>
            </a:pPr>
            <a:r>
              <a:rPr b="0" lang="zh-CN" sz="1300" spc="-1" strike="noStrike">
                <a:solidFill>
                  <a:srgbClr val="6b7280"/>
                </a:solidFill>
                <a:latin typeface="Yu Gothic"/>
              </a:rPr>
              <a:t>アーキテクチャ変更・本命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504" name="CustomShape 15"/>
          <p:cNvSpPr/>
          <p:nvPr/>
        </p:nvSpPr>
        <p:spPr>
          <a:xfrm>
            <a:off x="548640" y="5577840"/>
            <a:ext cx="1554120" cy="822600"/>
          </a:xfrm>
          <a:prstGeom prst="roundRect">
            <a:avLst>
              <a:gd name="adj" fmla="val 16667"/>
            </a:avLst>
          </a:prstGeom>
          <a:solidFill>
            <a:srgbClr val="1f2a44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zh-CN" sz="1500" spc="-1" strike="noStrike">
                <a:solidFill>
                  <a:srgbClr val="ffffff"/>
                </a:solidFill>
                <a:latin typeface="Yu Gothic"/>
              </a:rPr>
              <a:t>フェーズ</a:t>
            </a:r>
            <a:r>
              <a:rPr b="1" lang="en-US" sz="1500" spc="-1" strike="noStrike">
                <a:solidFill>
                  <a:srgbClr val="ffffff"/>
                </a:solidFill>
                <a:latin typeface="Yu Gothic"/>
              </a:rPr>
              <a:t>5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505" name="CustomShape 16"/>
          <p:cNvSpPr/>
          <p:nvPr/>
        </p:nvSpPr>
        <p:spPr>
          <a:xfrm>
            <a:off x="2286000" y="5623560"/>
            <a:ext cx="5760360" cy="3495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zh-CN" sz="1700" spc="-1" strike="noStrike">
                <a:solidFill>
                  <a:srgbClr val="222222"/>
                </a:solidFill>
                <a:latin typeface="Yu Gothic"/>
              </a:rPr>
              <a:t>候補選択→ダウンロード→即実行</a:t>
            </a:r>
            <a:endParaRPr b="0" lang="en-US" sz="1700" spc="-1" strike="noStrike">
              <a:latin typeface="Arial"/>
            </a:endParaRPr>
          </a:p>
        </p:txBody>
      </p:sp>
      <p:sp>
        <p:nvSpPr>
          <p:cNvPr id="506" name="CustomShape 17"/>
          <p:cNvSpPr/>
          <p:nvPr/>
        </p:nvSpPr>
        <p:spPr>
          <a:xfrm>
            <a:off x="8138160" y="5687640"/>
            <a:ext cx="3291480" cy="3279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20000"/>
              </a:lnSpc>
            </a:pPr>
            <a:r>
              <a:rPr b="0" lang="en-US" sz="1300" spc="-1" strike="noStrike">
                <a:solidFill>
                  <a:srgbClr val="6b7280"/>
                </a:solidFill>
                <a:latin typeface="Yu Gothic"/>
              </a:rPr>
              <a:t>500</a:t>
            </a:r>
            <a:r>
              <a:rPr b="0" lang="zh-CN" sz="1300" spc="-1" strike="noStrike">
                <a:solidFill>
                  <a:srgbClr val="6b7280"/>
                </a:solidFill>
                <a:latin typeface="Yu Gothic"/>
              </a:rPr>
              <a:t>種類のシステムが完成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507" name="CustomShape 18"/>
          <p:cNvSpPr/>
          <p:nvPr/>
        </p:nvSpPr>
        <p:spPr>
          <a:xfrm>
            <a:off x="548640" y="6446520"/>
            <a:ext cx="10972440" cy="2883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zh-CN" sz="1300" spc="-1" strike="noStrike">
                <a:solidFill>
                  <a:srgbClr val="6b7280"/>
                </a:solidFill>
                <a:latin typeface="Yu Gothic"/>
              </a:rPr>
              <a:t>各フェーズごとに実機で動作確認してから次に進む。フェーズ</a:t>
            </a:r>
            <a:r>
              <a:rPr b="0" lang="en-US" sz="1300" spc="-1" strike="noStrike">
                <a:solidFill>
                  <a:srgbClr val="6b7280"/>
                </a:solidFill>
                <a:latin typeface="Yu Gothic"/>
              </a:rPr>
              <a:t>4</a:t>
            </a:r>
            <a:r>
              <a:rPr b="0" lang="zh-CN" sz="1300" spc="-1" strike="noStrike">
                <a:solidFill>
                  <a:srgbClr val="6b7280"/>
                </a:solidFill>
                <a:latin typeface="Yu Gothic"/>
              </a:rPr>
              <a:t>は着手前に改めて詳細設計を相談する。</a:t>
            </a:r>
            <a:endParaRPr b="0" lang="en-US" sz="13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8" name="CustomShape 1"/>
          <p:cNvSpPr/>
          <p:nvPr/>
        </p:nvSpPr>
        <p:spPr>
          <a:xfrm>
            <a:off x="548640" y="320040"/>
            <a:ext cx="7314840" cy="3337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rgbClr val="2e6fc7"/>
                </a:solidFill>
                <a:latin typeface="Yu Gothic"/>
              </a:rPr>
              <a:t>PHASE 1 -- IMPLEMENTED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509" name="CustomShape 2"/>
          <p:cNvSpPr/>
          <p:nvPr/>
        </p:nvSpPr>
        <p:spPr>
          <a:xfrm>
            <a:off x="548640" y="685800"/>
            <a:ext cx="10515240" cy="5472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zh-CN" sz="3000" spc="-1" strike="noStrike">
                <a:solidFill>
                  <a:srgbClr val="1f2a44"/>
                </a:solidFill>
                <a:latin typeface="Yu Gothic"/>
              </a:rPr>
              <a:t>フェーズ</a:t>
            </a:r>
            <a:r>
              <a:rPr b="1" lang="en-US" sz="3000" spc="-1" strike="noStrike">
                <a:solidFill>
                  <a:srgbClr val="1f2a44"/>
                </a:solidFill>
                <a:latin typeface="Yu Gothic"/>
              </a:rPr>
              <a:t>1: </a:t>
            </a:r>
            <a:r>
              <a:rPr b="1" lang="zh-CN" sz="3000" spc="-1" strike="noStrike">
                <a:solidFill>
                  <a:srgbClr val="1f2a44"/>
                </a:solidFill>
                <a:latin typeface="Yu Gothic"/>
              </a:rPr>
              <a:t>サーボ</a:t>
            </a:r>
            <a:r>
              <a:rPr b="1" lang="en-US" sz="3000" spc="-1" strike="noStrike">
                <a:solidFill>
                  <a:srgbClr val="1f2a44"/>
                </a:solidFill>
                <a:latin typeface="Yu Gothic"/>
              </a:rPr>
              <a:t>ID</a:t>
            </a:r>
            <a:r>
              <a:rPr b="1" lang="zh-CN" sz="3000" spc="-1" strike="noStrike">
                <a:solidFill>
                  <a:srgbClr val="1f2a44"/>
                </a:solidFill>
                <a:latin typeface="Yu Gothic"/>
              </a:rPr>
              <a:t>候補検出を</a:t>
            </a:r>
            <a:r>
              <a:rPr b="1" lang="en-US" sz="3000" spc="-1" strike="noStrike">
                <a:solidFill>
                  <a:srgbClr val="1f2a44"/>
                </a:solidFill>
                <a:latin typeface="Yu Gothic"/>
              </a:rPr>
              <a:t>/info</a:t>
            </a:r>
            <a:r>
              <a:rPr b="1" lang="zh-CN" sz="3000" spc="-1" strike="noStrike">
                <a:solidFill>
                  <a:srgbClr val="1f2a44"/>
                </a:solidFill>
                <a:latin typeface="Yu Gothic"/>
              </a:rPr>
              <a:t>に公開</a:t>
            </a:r>
            <a:endParaRPr b="0" lang="en-US" sz="3000" spc="-1" strike="noStrike">
              <a:latin typeface="Arial"/>
            </a:endParaRPr>
          </a:p>
        </p:txBody>
      </p:sp>
      <p:sp>
        <p:nvSpPr>
          <p:cNvPr id="510" name="CustomShape 3"/>
          <p:cNvSpPr/>
          <p:nvPr/>
        </p:nvSpPr>
        <p:spPr>
          <a:xfrm>
            <a:off x="914400" y="2377440"/>
            <a:ext cx="2377080" cy="1005480"/>
          </a:xfrm>
          <a:prstGeom prst="roundRect">
            <a:avLst>
              <a:gd name="adj" fmla="val 16667"/>
            </a:avLst>
          </a:prstGeom>
          <a:solidFill>
            <a:srgbClr val="1f2a44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Yu Gothic"/>
              </a:rPr>
              <a:t>kxr5s</a:t>
            </a:r>
            <a:br/>
            <a:r>
              <a:rPr b="1" lang="en-US" sz="1300" spc="-1" strike="noStrike">
                <a:solidFill>
                  <a:srgbClr val="ffffff"/>
                </a:solidFill>
                <a:latin typeface="Yu Gothic"/>
              </a:rPr>
              <a:t>firmware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511" name="CustomShape 4"/>
          <p:cNvSpPr/>
          <p:nvPr/>
        </p:nvSpPr>
        <p:spPr>
          <a:xfrm>
            <a:off x="914400" y="3931920"/>
            <a:ext cx="2377080" cy="731160"/>
          </a:xfrm>
          <a:prstGeom prst="roundRect">
            <a:avLst>
              <a:gd name="adj" fmla="val 16667"/>
            </a:avLst>
          </a:prstGeom>
          <a:solidFill>
            <a:srgbClr val="2ea059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Yu Gothic"/>
              </a:rPr>
              <a:t>RCB-4</a:t>
            </a:r>
            <a:br/>
            <a:r>
              <a:rPr b="1" lang="en-US" sz="1200" spc="-1" strike="noStrike">
                <a:solidFill>
                  <a:srgbClr val="ffffff"/>
                </a:solidFill>
                <a:latin typeface="Yu Gothic"/>
              </a:rPr>
              <a:t>(</a:t>
            </a:r>
            <a:r>
              <a:rPr b="1" lang="zh-CN" sz="1200" spc="-1" strike="noStrike">
                <a:solidFill>
                  <a:srgbClr val="ffffff"/>
                </a:solidFill>
                <a:latin typeface="Yu Gothic"/>
              </a:rPr>
              <a:t>サーボ配線</a:t>
            </a:r>
            <a:r>
              <a:rPr b="1" lang="en-US" sz="1200" spc="-1" strike="noStrike">
                <a:solidFill>
                  <a:srgbClr val="ffffff"/>
                </a:solidFill>
                <a:latin typeface="Yu Gothic"/>
              </a:rPr>
              <a:t>)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512" name="Line 5"/>
          <p:cNvSpPr/>
          <p:nvPr/>
        </p:nvSpPr>
        <p:spPr>
          <a:xfrm flipV="1">
            <a:off x="2103120" y="3383280"/>
            <a:ext cx="0" cy="548640"/>
          </a:xfrm>
          <a:prstGeom prst="line">
            <a:avLst/>
          </a:prstGeom>
          <a:ln w="31680">
            <a:solidFill>
              <a:srgbClr val="2e6fc7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/>
        </p:style>
      </p:sp>
      <p:sp>
        <p:nvSpPr>
          <p:cNvPr id="513" name="CustomShape 6"/>
          <p:cNvSpPr/>
          <p:nvPr/>
        </p:nvSpPr>
        <p:spPr>
          <a:xfrm>
            <a:off x="2240280" y="3520440"/>
            <a:ext cx="2011320" cy="2426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2e6fc7"/>
                </a:solidFill>
                <a:latin typeface="Yu Gothic"/>
              </a:rPr>
              <a:t>readServoPulses()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514" name="CustomShape 7"/>
          <p:cNvSpPr/>
          <p:nvPr/>
        </p:nvSpPr>
        <p:spPr>
          <a:xfrm>
            <a:off x="3931920" y="2377440"/>
            <a:ext cx="2377080" cy="1005480"/>
          </a:xfrm>
          <a:prstGeom prst="roundRect">
            <a:avLst>
              <a:gd name="adj" fmla="val 16667"/>
            </a:avLst>
          </a:prstGeom>
          <a:solidFill>
            <a:srgbClr val="2e6fc7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100" spc="-1" strike="noStrike">
                <a:solidFill>
                  <a:srgbClr val="ffffff"/>
                </a:solidFill>
                <a:latin typeface="Yu Gothic"/>
              </a:rPr>
              <a:t>policy::</a:t>
            </a:r>
            <a:br/>
            <a:r>
              <a:rPr b="1" lang="en-US" sz="1100" spc="-1" strike="noStrike">
                <a:solidFill>
                  <a:srgbClr val="ffffff"/>
                </a:solidFill>
                <a:latin typeface="Yu Gothic"/>
              </a:rPr>
              <a:t>scoreRobots</a:t>
            </a:r>
            <a:br/>
            <a:r>
              <a:rPr b="1" lang="en-US" sz="1100" spc="-1" strike="noStrike">
                <a:solidFill>
                  <a:srgbClr val="ffffff"/>
                </a:solidFill>
                <a:latin typeface="Yu Gothic"/>
              </a:rPr>
              <a:t>AgainstWired()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515" name="Line 8"/>
          <p:cNvSpPr/>
          <p:nvPr/>
        </p:nvSpPr>
        <p:spPr>
          <a:xfrm>
            <a:off x="3291840" y="2880360"/>
            <a:ext cx="640080" cy="0"/>
          </a:xfrm>
          <a:prstGeom prst="line">
            <a:avLst/>
          </a:prstGeom>
          <a:ln w="31680">
            <a:solidFill>
              <a:srgbClr val="2e6fc7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/>
        </p:style>
      </p:sp>
      <p:sp>
        <p:nvSpPr>
          <p:cNvPr id="516" name="CustomShape 9"/>
          <p:cNvSpPr/>
          <p:nvPr/>
        </p:nvSpPr>
        <p:spPr>
          <a:xfrm>
            <a:off x="6949440" y="2377440"/>
            <a:ext cx="2194200" cy="1005480"/>
          </a:xfrm>
          <a:prstGeom prst="roundRect">
            <a:avLst>
              <a:gd name="adj" fmla="val 16667"/>
            </a:avLst>
          </a:prstGeom>
          <a:solidFill>
            <a:srgbClr val="2e6fc7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Yu Gothic"/>
              </a:rPr>
              <a:t>net::buildInfoJson()</a:t>
            </a:r>
            <a:br/>
            <a:r>
              <a:rPr b="1" lang="en-US" sz="1200" spc="-1" strike="noStrike">
                <a:solidFill>
                  <a:srgbClr val="ffffff"/>
                </a:solidFill>
                <a:latin typeface="Yu Gothic"/>
              </a:rPr>
              <a:t>/info </a:t>
            </a:r>
            <a:r>
              <a:rPr b="1" lang="zh-CN" sz="1200" spc="-1" strike="noStrike">
                <a:solidFill>
                  <a:srgbClr val="ffffff"/>
                </a:solidFill>
                <a:latin typeface="Yu Gothic"/>
              </a:rPr>
              <a:t>エンドポイント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517" name="Line 10"/>
          <p:cNvSpPr/>
          <p:nvPr/>
        </p:nvSpPr>
        <p:spPr>
          <a:xfrm>
            <a:off x="6309360" y="2880360"/>
            <a:ext cx="640080" cy="0"/>
          </a:xfrm>
          <a:prstGeom prst="line">
            <a:avLst/>
          </a:prstGeom>
          <a:ln w="31680">
            <a:solidFill>
              <a:srgbClr val="2e6fc7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/>
        </p:style>
      </p:sp>
      <p:sp>
        <p:nvSpPr>
          <p:cNvPr id="518" name="CustomShape 11"/>
          <p:cNvSpPr/>
          <p:nvPr/>
        </p:nvSpPr>
        <p:spPr>
          <a:xfrm>
            <a:off x="9692640" y="2377440"/>
            <a:ext cx="1919880" cy="1005480"/>
          </a:xfrm>
          <a:prstGeom prst="roundRect">
            <a:avLst>
              <a:gd name="adj" fmla="val 16667"/>
            </a:avLst>
          </a:prstGeom>
          <a:solidFill>
            <a:srgbClr val="2e6fc7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zh-CN" sz="1300" spc="-1" strike="noStrike">
                <a:solidFill>
                  <a:srgbClr val="ffffff"/>
                </a:solidFill>
                <a:latin typeface="Yu Gothic"/>
              </a:rPr>
              <a:t>スマホ</a:t>
            </a:r>
            <a:br/>
            <a:r>
              <a:rPr b="1" lang="zh-CN" sz="1300" spc="-1" strike="noStrike">
                <a:solidFill>
                  <a:srgbClr val="ffffff"/>
                </a:solidFill>
                <a:latin typeface="Yu Gothic"/>
              </a:rPr>
              <a:t>ブラウザ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519" name="Line 12"/>
          <p:cNvSpPr/>
          <p:nvPr/>
        </p:nvSpPr>
        <p:spPr>
          <a:xfrm>
            <a:off x="9144000" y="2880360"/>
            <a:ext cx="548640" cy="0"/>
          </a:xfrm>
          <a:prstGeom prst="line">
            <a:avLst/>
          </a:prstGeom>
          <a:ln w="31680">
            <a:solidFill>
              <a:srgbClr val="2e6fc7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/>
        </p:style>
      </p:sp>
      <p:sp>
        <p:nvSpPr>
          <p:cNvPr id="520" name="CustomShape 13"/>
          <p:cNvSpPr/>
          <p:nvPr/>
        </p:nvSpPr>
        <p:spPr>
          <a:xfrm>
            <a:off x="9098280" y="2011680"/>
            <a:ext cx="1462680" cy="2426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2e6fc7"/>
                </a:solidFill>
                <a:latin typeface="Yu Gothic"/>
              </a:rPr>
              <a:t>GET /info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521" name="CustomShape 14"/>
          <p:cNvSpPr/>
          <p:nvPr/>
        </p:nvSpPr>
        <p:spPr>
          <a:xfrm>
            <a:off x="548640" y="5029200"/>
            <a:ext cx="5943240" cy="2883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zh-CN" sz="1300" spc="-1" strike="noStrike">
                <a:solidFill>
                  <a:srgbClr val="1f2a44"/>
                </a:solidFill>
                <a:latin typeface="Yu Gothic"/>
              </a:rPr>
              <a:t>追加された </a:t>
            </a:r>
            <a:r>
              <a:rPr b="1" lang="en-US" sz="1300" spc="-1" strike="noStrike">
                <a:solidFill>
                  <a:srgbClr val="1f2a44"/>
                </a:solidFill>
                <a:latin typeface="Yu Gothic"/>
              </a:rPr>
              <a:t>/info JSON </a:t>
            </a:r>
            <a:r>
              <a:rPr b="1" lang="zh-CN" sz="1300" spc="-1" strike="noStrike">
                <a:solidFill>
                  <a:srgbClr val="1f2a44"/>
                </a:solidFill>
                <a:latin typeface="Yu Gothic"/>
              </a:rPr>
              <a:t>のフィールド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522" name="CustomShape 15"/>
          <p:cNvSpPr/>
          <p:nvPr/>
        </p:nvSpPr>
        <p:spPr>
          <a:xfrm>
            <a:off x="548640" y="5440680"/>
            <a:ext cx="5943240" cy="1051200"/>
          </a:xfrm>
          <a:prstGeom prst="rect">
            <a:avLst/>
          </a:prstGeom>
          <a:solidFill>
            <a:srgbClr val="1a1d22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rgbClr val="ffffff"/>
                </a:solidFill>
                <a:latin typeface="Yu Gothic"/>
              </a:rPr>
              <a:t>"wiredIds":[1,2,3,5,8,...],</a:t>
            </a:r>
            <a:br/>
            <a:r>
              <a:rPr b="0" lang="en-US" sz="1200" spc="-1" strike="noStrike">
                <a:solidFill>
                  <a:srgbClr val="ffffff"/>
                </a:solidFill>
                <a:latin typeface="Yu Gothic"/>
              </a:rPr>
              <a:t>"candidates":[{"name":"kxrl4t","diff":0},</a:t>
            </a:r>
            <a:br/>
            <a:r>
              <a:rPr b="0" lang="en-US" sz="1200" spc="-1" strike="noStrike">
                <a:solidFill>
                  <a:srgbClr val="ffffff"/>
                </a:solidFill>
                <a:latin typeface="Yu Gothic"/>
              </a:rPr>
              <a:t>              {"name":"kxrl4d","diff":3}, ...]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523" name="CustomShape 16"/>
          <p:cNvSpPr/>
          <p:nvPr/>
        </p:nvSpPr>
        <p:spPr>
          <a:xfrm>
            <a:off x="6858000" y="5029200"/>
            <a:ext cx="4754520" cy="19162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25000"/>
              </a:lnSpc>
            </a:pPr>
            <a:r>
              <a:rPr b="0" lang="zh-CN" sz="1300" spc="-1" strike="noStrike">
                <a:solidFill>
                  <a:srgbClr val="222222"/>
                </a:solidFill>
                <a:latin typeface="Yu Gothic"/>
              </a:rPr>
              <a:t>変更範囲は </a:t>
            </a:r>
            <a:r>
              <a:rPr b="0" lang="en-US" sz="1300" spc="-1" strike="noStrike">
                <a:solidFill>
                  <a:srgbClr val="222222"/>
                </a:solidFill>
                <a:latin typeface="Yu Gothic"/>
              </a:rPr>
              <a:t>firmware </a:t>
            </a:r>
            <a:r>
              <a:rPr b="0" lang="zh-CN" sz="1300" spc="-1" strike="noStrike">
                <a:solidFill>
                  <a:srgbClr val="222222"/>
                </a:solidFill>
                <a:latin typeface="Yu Gothic"/>
              </a:rPr>
              <a:t>のみ </a:t>
            </a:r>
            <a:r>
              <a:rPr b="0" lang="en-US" sz="1300" spc="-1" strike="noStrike">
                <a:solidFill>
                  <a:srgbClr val="222222"/>
                </a:solidFill>
                <a:latin typeface="Yu Gothic"/>
              </a:rPr>
              <a:t>-- GitHub</a:t>
            </a:r>
            <a:r>
              <a:rPr b="0" lang="zh-CN" sz="1300" spc="-1" strike="noStrike">
                <a:solidFill>
                  <a:srgbClr val="222222"/>
                </a:solidFill>
                <a:latin typeface="Yu Gothic"/>
              </a:rPr>
              <a:t>上のデータは増えていない</a:t>
            </a:r>
            <a:endParaRPr b="0" lang="en-US" sz="1300" spc="-1" strike="noStrike">
              <a:latin typeface="Arial"/>
            </a:endParaRPr>
          </a:p>
          <a:p>
            <a:pPr>
              <a:lnSpc>
                <a:spcPct val="125000"/>
              </a:lnSpc>
            </a:pPr>
            <a:r>
              <a:rPr b="0" lang="en-US" sz="1300" spc="-1" strike="noStrike">
                <a:solidFill>
                  <a:srgbClr val="222222"/>
                </a:solidFill>
                <a:latin typeface="Yu Gothic"/>
              </a:rPr>
              <a:t>(</a:t>
            </a:r>
            <a:r>
              <a:rPr b="0" lang="zh-CN" sz="1300" spc="-1" strike="noStrike">
                <a:solidFill>
                  <a:srgbClr val="222222"/>
                </a:solidFill>
                <a:latin typeface="Yu Gothic"/>
              </a:rPr>
              <a:t>既存の </a:t>
            </a:r>
            <a:r>
              <a:rPr b="0" lang="en-US" sz="1300" spc="-1" strike="noStrike">
                <a:solidFill>
                  <a:srgbClr val="222222"/>
                </a:solidFill>
                <a:latin typeface="Yu Gothic"/>
              </a:rPr>
              <a:t>downloadable_policies/ </a:t>
            </a:r>
            <a:r>
              <a:rPr b="0" lang="zh-CN" sz="1300" spc="-1" strike="noStrike">
                <a:solidFill>
                  <a:srgbClr val="222222"/>
                </a:solidFill>
                <a:latin typeface="Yu Gothic"/>
              </a:rPr>
              <a:t>をそのまま使用</a:t>
            </a:r>
            <a:r>
              <a:rPr b="0" lang="en-US" sz="1300" spc="-1" strike="noStrike">
                <a:solidFill>
                  <a:srgbClr val="222222"/>
                </a:solidFill>
                <a:latin typeface="Yu Gothic"/>
              </a:rPr>
              <a:t>)</a:t>
            </a:r>
            <a:r>
              <a:rPr b="0" lang="zh-CN" sz="1300" spc="-1" strike="noStrike">
                <a:solidFill>
                  <a:srgbClr val="222222"/>
                </a:solidFill>
                <a:latin typeface="Yu Gothic"/>
              </a:rPr>
              <a:t>。</a:t>
            </a:r>
            <a:endParaRPr b="0" lang="en-US" sz="1300" spc="-1" strike="noStrike">
              <a:latin typeface="Arial"/>
            </a:endParaRPr>
          </a:p>
          <a:p>
            <a:pPr>
              <a:lnSpc>
                <a:spcPct val="125000"/>
              </a:lnSpc>
            </a:pPr>
            <a:endParaRPr b="0" lang="en-US" sz="1300" spc="-1" strike="noStrike">
              <a:latin typeface="Arial"/>
            </a:endParaRPr>
          </a:p>
          <a:p>
            <a:pPr>
              <a:lnSpc>
                <a:spcPct val="125000"/>
              </a:lnSpc>
            </a:pPr>
            <a:r>
              <a:rPr b="0" lang="zh-CN" sz="1300" spc="-1" strike="noStrike">
                <a:solidFill>
                  <a:srgbClr val="222222"/>
                </a:solidFill>
                <a:latin typeface="Yu Gothic"/>
              </a:rPr>
              <a:t>状態</a:t>
            </a:r>
            <a:r>
              <a:rPr b="0" lang="en-US" sz="1300" spc="-1" strike="noStrike">
                <a:solidFill>
                  <a:srgbClr val="222222"/>
                </a:solidFill>
                <a:latin typeface="Yu Gothic"/>
              </a:rPr>
              <a:t>: </a:t>
            </a:r>
            <a:r>
              <a:rPr b="0" lang="zh-CN" sz="1300" spc="-1" strike="noStrike">
                <a:solidFill>
                  <a:srgbClr val="222222"/>
                </a:solidFill>
                <a:latin typeface="Yu Gothic"/>
              </a:rPr>
              <a:t>コード実装・ビルド検証済み</a:t>
            </a:r>
            <a:r>
              <a:rPr b="0" lang="en-US" sz="1300" spc="-1" strike="noStrike">
                <a:solidFill>
                  <a:srgbClr val="222222"/>
                </a:solidFill>
                <a:latin typeface="Yu Gothic"/>
              </a:rPr>
              <a:t>(atoms3 / m5stickc </a:t>
            </a:r>
            <a:r>
              <a:rPr b="0" lang="zh-CN" sz="1300" spc="-1" strike="noStrike">
                <a:solidFill>
                  <a:srgbClr val="222222"/>
                </a:solidFill>
                <a:latin typeface="Yu Gothic"/>
              </a:rPr>
              <a:t>両方</a:t>
            </a:r>
            <a:r>
              <a:rPr b="0" lang="en-US" sz="1300" spc="-1" strike="noStrike">
                <a:solidFill>
                  <a:srgbClr val="222222"/>
                </a:solidFill>
                <a:latin typeface="Yu Gothic"/>
              </a:rPr>
              <a:t>)</a:t>
            </a:r>
            <a:r>
              <a:rPr b="0" lang="zh-CN" sz="1300" spc="-1" strike="noStrike">
                <a:solidFill>
                  <a:srgbClr val="222222"/>
                </a:solidFill>
                <a:latin typeface="Yu Gothic"/>
              </a:rPr>
              <a:t>、</a:t>
            </a:r>
            <a:endParaRPr b="0" lang="en-US" sz="1300" spc="-1" strike="noStrike">
              <a:latin typeface="Arial"/>
            </a:endParaRPr>
          </a:p>
          <a:p>
            <a:pPr>
              <a:lnSpc>
                <a:spcPct val="125000"/>
              </a:lnSpc>
            </a:pPr>
            <a:r>
              <a:rPr b="0" lang="zh-CN" sz="1300" spc="-1" strike="noStrike">
                <a:solidFill>
                  <a:srgbClr val="222222"/>
                </a:solidFill>
                <a:latin typeface="Yu Gothic"/>
              </a:rPr>
              <a:t>実機への書き込みと</a:t>
            </a:r>
            <a:r>
              <a:rPr b="0" lang="en-US" sz="1300" spc="-1" strike="noStrike">
                <a:solidFill>
                  <a:srgbClr val="222222"/>
                </a:solidFill>
                <a:latin typeface="Yu Gothic"/>
              </a:rPr>
              <a:t>git commit</a:t>
            </a:r>
            <a:r>
              <a:rPr b="0" lang="zh-CN" sz="1300" spc="-1" strike="noStrike">
                <a:solidFill>
                  <a:srgbClr val="222222"/>
                </a:solidFill>
                <a:latin typeface="Yu Gothic"/>
              </a:rPr>
              <a:t>はこれから。</a:t>
            </a:r>
            <a:endParaRPr b="0" lang="en-US" sz="13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4" name="CustomShape 1"/>
          <p:cNvSpPr/>
          <p:nvPr/>
        </p:nvSpPr>
        <p:spPr>
          <a:xfrm>
            <a:off x="548640" y="320040"/>
            <a:ext cx="7314840" cy="3337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rgbClr val="2e6fc7"/>
                </a:solidFill>
                <a:latin typeface="Yu Gothic"/>
              </a:rPr>
              <a:t>PHASE 2 -- IN PROGRESS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525" name="CustomShape 2"/>
          <p:cNvSpPr/>
          <p:nvPr/>
        </p:nvSpPr>
        <p:spPr>
          <a:xfrm>
            <a:off x="548640" y="685800"/>
            <a:ext cx="10515240" cy="10033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zh-CN" sz="3000" spc="-1" strike="noStrike">
                <a:solidFill>
                  <a:srgbClr val="1f2a44"/>
                </a:solidFill>
                <a:latin typeface="Yu Gothic"/>
              </a:rPr>
              <a:t>フェーズ</a:t>
            </a:r>
            <a:r>
              <a:rPr b="1" lang="en-US" sz="3000" spc="-1" strike="noStrike">
                <a:solidFill>
                  <a:srgbClr val="1f2a44"/>
                </a:solidFill>
                <a:latin typeface="Yu Gothic"/>
              </a:rPr>
              <a:t>2: URDF+3D</a:t>
            </a:r>
            <a:r>
              <a:rPr b="1" lang="zh-CN" sz="3000" spc="-1" strike="noStrike">
                <a:solidFill>
                  <a:srgbClr val="1f2a44"/>
                </a:solidFill>
                <a:latin typeface="Yu Gothic"/>
              </a:rPr>
              <a:t>メッシュの</a:t>
            </a:r>
            <a:r>
              <a:rPr b="1" lang="en-US" sz="3000" spc="-1" strike="noStrike">
                <a:solidFill>
                  <a:srgbClr val="1f2a44"/>
                </a:solidFill>
                <a:latin typeface="Yu Gothic"/>
              </a:rPr>
              <a:t>GitHub Pages</a:t>
            </a:r>
            <a:r>
              <a:rPr b="1" lang="zh-CN" sz="3000" spc="-1" strike="noStrike">
                <a:solidFill>
                  <a:srgbClr val="1f2a44"/>
                </a:solidFill>
                <a:latin typeface="Yu Gothic"/>
              </a:rPr>
              <a:t>ビューア</a:t>
            </a:r>
            <a:endParaRPr b="0" lang="en-US" sz="3000" spc="-1" strike="noStrike">
              <a:latin typeface="Arial"/>
            </a:endParaRPr>
          </a:p>
        </p:txBody>
      </p:sp>
      <p:sp>
        <p:nvSpPr>
          <p:cNvPr id="526" name="CustomShape 3"/>
          <p:cNvSpPr/>
          <p:nvPr/>
        </p:nvSpPr>
        <p:spPr>
          <a:xfrm>
            <a:off x="457200" y="1828800"/>
            <a:ext cx="1782720" cy="1188360"/>
          </a:xfrm>
          <a:prstGeom prst="roundRect">
            <a:avLst>
              <a:gd name="adj" fmla="val 16667"/>
            </a:avLst>
          </a:prstGeom>
          <a:solidFill>
            <a:srgbClr val="6b7280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100" spc="-1" strike="noStrike">
                <a:solidFill>
                  <a:srgbClr val="ffffff"/>
                </a:solidFill>
                <a:latin typeface="Yu Gothic"/>
              </a:rPr>
              <a:t>rcb4robotconfig.l</a:t>
            </a:r>
            <a:br/>
            <a:r>
              <a:rPr b="1" lang="en-US" sz="1100" spc="-1" strike="noStrike">
                <a:solidFill>
                  <a:srgbClr val="ffffff"/>
                </a:solidFill>
                <a:latin typeface="Yu Gothic"/>
              </a:rPr>
              <a:t>+ URDF</a:t>
            </a:r>
            <a:r>
              <a:rPr b="1" lang="zh-CN" sz="1100" spc="-1" strike="noStrike">
                <a:solidFill>
                  <a:srgbClr val="ffffff"/>
                </a:solidFill>
                <a:latin typeface="Yu Gothic"/>
              </a:rPr>
              <a:t>生成</a:t>
            </a:r>
            <a:br/>
            <a:r>
              <a:rPr b="1" lang="en-US" sz="1100" spc="-1" strike="noStrike">
                <a:solidFill>
                  <a:srgbClr val="ffffff"/>
                </a:solidFill>
                <a:latin typeface="Yu Gothic"/>
              </a:rPr>
              <a:t>(</a:t>
            </a:r>
            <a:r>
              <a:rPr b="1" lang="zh-CN" sz="1100" spc="-1" strike="noStrike">
                <a:solidFill>
                  <a:srgbClr val="ffffff"/>
                </a:solidFill>
                <a:latin typeface="Yu Gothic"/>
              </a:rPr>
              <a:t>既存</a:t>
            </a:r>
            <a:r>
              <a:rPr b="1" lang="en-US" sz="1100" spc="-1" strike="noStrike">
                <a:solidFill>
                  <a:srgbClr val="ffffff"/>
                </a:solidFill>
                <a:latin typeface="Yu Gothic"/>
              </a:rPr>
              <a:t>)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527" name="Line 4"/>
          <p:cNvSpPr/>
          <p:nvPr/>
        </p:nvSpPr>
        <p:spPr>
          <a:xfrm>
            <a:off x="2240280" y="2423160"/>
            <a:ext cx="109440" cy="0"/>
          </a:xfrm>
          <a:prstGeom prst="line">
            <a:avLst/>
          </a:prstGeom>
          <a:ln>
            <a:solidFill>
              <a:srgbClr val="6b7280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/>
        </p:style>
      </p:sp>
      <p:sp>
        <p:nvSpPr>
          <p:cNvPr id="528" name="CustomShape 5"/>
          <p:cNvSpPr/>
          <p:nvPr/>
        </p:nvSpPr>
        <p:spPr>
          <a:xfrm>
            <a:off x="2350080" y="1828800"/>
            <a:ext cx="1782720" cy="1188360"/>
          </a:xfrm>
          <a:prstGeom prst="roundRect">
            <a:avLst>
              <a:gd name="adj" fmla="val 16667"/>
            </a:avLst>
          </a:prstGeom>
          <a:solidFill>
            <a:srgbClr val="6b7280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100" spc="-1" strike="noStrike">
                <a:solidFill>
                  <a:srgbClr val="ffffff"/>
                </a:solidFill>
                <a:latin typeface="Yu Gothic"/>
              </a:rPr>
              <a:t>urdfs/&lt;robot&gt;/</a:t>
            </a:r>
            <a:br/>
            <a:r>
              <a:rPr b="1" lang="en-US" sz="1100" spc="-1" strike="noStrike">
                <a:solidFill>
                  <a:srgbClr val="ffffff"/>
                </a:solidFill>
                <a:latin typeface="Yu Gothic"/>
              </a:rPr>
              <a:t>urdf + meshes(.dae)</a:t>
            </a:r>
            <a:br/>
            <a:r>
              <a:rPr b="1" lang="en-US" sz="1100" spc="-1" strike="noStrike">
                <a:solidFill>
                  <a:srgbClr val="ffffff"/>
                </a:solidFill>
                <a:latin typeface="Yu Gothic"/>
              </a:rPr>
              <a:t>(</a:t>
            </a:r>
            <a:r>
              <a:rPr b="1" lang="zh-CN" sz="1100" spc="-1" strike="noStrike">
                <a:solidFill>
                  <a:srgbClr val="ffffff"/>
                </a:solidFill>
                <a:latin typeface="Yu Gothic"/>
              </a:rPr>
              <a:t>ローカル</a:t>
            </a:r>
            <a:r>
              <a:rPr b="1" lang="en-US" sz="1100" spc="-1" strike="noStrike">
                <a:solidFill>
                  <a:srgbClr val="ffffff"/>
                </a:solidFill>
                <a:latin typeface="Yu Gothic"/>
              </a:rPr>
              <a:t>, 198MB)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529" name="Line 6"/>
          <p:cNvSpPr/>
          <p:nvPr/>
        </p:nvSpPr>
        <p:spPr>
          <a:xfrm>
            <a:off x="4132800" y="2423160"/>
            <a:ext cx="109800" cy="0"/>
          </a:xfrm>
          <a:prstGeom prst="line">
            <a:avLst/>
          </a:prstGeom>
          <a:ln>
            <a:solidFill>
              <a:srgbClr val="6b7280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/>
        </p:style>
      </p:sp>
      <p:sp>
        <p:nvSpPr>
          <p:cNvPr id="530" name="CustomShape 7"/>
          <p:cNvSpPr/>
          <p:nvPr/>
        </p:nvSpPr>
        <p:spPr>
          <a:xfrm>
            <a:off x="4242960" y="1828800"/>
            <a:ext cx="1782720" cy="1188360"/>
          </a:xfrm>
          <a:prstGeom prst="roundRect">
            <a:avLst>
              <a:gd name="adj" fmla="val 16667"/>
            </a:avLst>
          </a:prstGeom>
          <a:solidFill>
            <a:srgbClr val="b03030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zh-CN" sz="1100" spc="-1" strike="noStrike">
                <a:solidFill>
                  <a:srgbClr val="ffffff"/>
                </a:solidFill>
                <a:latin typeface="Yu Gothic"/>
              </a:rPr>
              <a:t>変換</a:t>
            </a:r>
            <a:r>
              <a:rPr b="1" lang="en-US" sz="1100" spc="-1" strike="noStrike">
                <a:solidFill>
                  <a:srgbClr val="ffffff"/>
                </a:solidFill>
                <a:latin typeface="Yu Gothic"/>
              </a:rPr>
              <a:t>(NEW)</a:t>
            </a:r>
            <a:br/>
            <a:r>
              <a:rPr b="1" lang="en-US" sz="1100" spc="-1" strike="noStrike">
                <a:solidFill>
                  <a:srgbClr val="ffffff"/>
                </a:solidFill>
                <a:latin typeface="Yu Gothic"/>
              </a:rPr>
              <a:t>dae→glb→Draco</a:t>
            </a:r>
            <a:r>
              <a:rPr b="1" lang="zh-CN" sz="1100" spc="-1" strike="noStrike">
                <a:solidFill>
                  <a:srgbClr val="ffffff"/>
                </a:solidFill>
                <a:latin typeface="Yu Gothic"/>
              </a:rPr>
              <a:t>圧縮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531" name="Line 8"/>
          <p:cNvSpPr/>
          <p:nvPr/>
        </p:nvSpPr>
        <p:spPr>
          <a:xfrm>
            <a:off x="6025680" y="2423160"/>
            <a:ext cx="109800" cy="0"/>
          </a:xfrm>
          <a:prstGeom prst="line">
            <a:avLst/>
          </a:prstGeom>
          <a:ln>
            <a:solidFill>
              <a:srgbClr val="6b7280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/>
        </p:style>
      </p:sp>
      <p:sp>
        <p:nvSpPr>
          <p:cNvPr id="532" name="CustomShape 9"/>
          <p:cNvSpPr/>
          <p:nvPr/>
        </p:nvSpPr>
        <p:spPr>
          <a:xfrm>
            <a:off x="6135480" y="1828800"/>
            <a:ext cx="1782720" cy="1188360"/>
          </a:xfrm>
          <a:prstGeom prst="roundRect">
            <a:avLst>
              <a:gd name="adj" fmla="val 16667"/>
            </a:avLst>
          </a:prstGeom>
          <a:solidFill>
            <a:srgbClr val="222222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100" spc="-1" strike="noStrike">
                <a:solidFill>
                  <a:srgbClr val="ffffff"/>
                </a:solidFill>
                <a:latin typeface="Yu Gothic"/>
              </a:rPr>
              <a:t>GitHub</a:t>
            </a:r>
            <a:br/>
            <a:r>
              <a:rPr b="1" lang="en-US" sz="1100" spc="-1" strike="noStrike">
                <a:solidFill>
                  <a:srgbClr val="ffffff"/>
                </a:solidFill>
                <a:latin typeface="Yu Gothic"/>
              </a:rPr>
              <a:t>docs/urdf_viewer/</a:t>
            </a:r>
            <a:br/>
            <a:r>
              <a:rPr b="1" lang="en-US" sz="1100" spc="-1" strike="noStrike">
                <a:solidFill>
                  <a:srgbClr val="ffffff"/>
                </a:solidFill>
                <a:latin typeface="Yu Gothic"/>
              </a:rPr>
              <a:t>models/&lt;robot&gt;/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533" name="Line 10"/>
          <p:cNvSpPr/>
          <p:nvPr/>
        </p:nvSpPr>
        <p:spPr>
          <a:xfrm>
            <a:off x="7918560" y="2423160"/>
            <a:ext cx="109800" cy="0"/>
          </a:xfrm>
          <a:prstGeom prst="line">
            <a:avLst/>
          </a:prstGeom>
          <a:ln>
            <a:solidFill>
              <a:srgbClr val="6b7280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/>
        </p:style>
      </p:sp>
      <p:sp>
        <p:nvSpPr>
          <p:cNvPr id="534" name="CustomShape 11"/>
          <p:cNvSpPr/>
          <p:nvPr/>
        </p:nvSpPr>
        <p:spPr>
          <a:xfrm>
            <a:off x="8028360" y="1828800"/>
            <a:ext cx="1782720" cy="1188360"/>
          </a:xfrm>
          <a:prstGeom prst="roundRect">
            <a:avLst>
              <a:gd name="adj" fmla="val 16667"/>
            </a:avLst>
          </a:prstGeom>
          <a:solidFill>
            <a:srgbClr val="222222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100" spc="-1" strike="noStrike">
                <a:solidFill>
                  <a:srgbClr val="ffffff"/>
                </a:solidFill>
                <a:latin typeface="Yu Gothic"/>
              </a:rPr>
              <a:t>GitHub Pages</a:t>
            </a:r>
            <a:br/>
            <a:r>
              <a:rPr b="1" lang="en-US" sz="1100" spc="-1" strike="noStrike">
                <a:solidFill>
                  <a:srgbClr val="ffffff"/>
                </a:solidFill>
                <a:latin typeface="Yu Gothic"/>
              </a:rPr>
              <a:t>(</a:t>
            </a:r>
            <a:r>
              <a:rPr b="1" lang="zh-CN" sz="1100" spc="-1" strike="noStrike">
                <a:solidFill>
                  <a:srgbClr val="ffffff"/>
                </a:solidFill>
                <a:latin typeface="Yu Gothic"/>
              </a:rPr>
              <a:t>静的サイト</a:t>
            </a:r>
            <a:r>
              <a:rPr b="1" lang="en-US" sz="1100" spc="-1" strike="noStrike">
                <a:solidFill>
                  <a:srgbClr val="ffffff"/>
                </a:solidFill>
                <a:latin typeface="Yu Gothic"/>
              </a:rPr>
              <a:t>)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535" name="Line 12"/>
          <p:cNvSpPr/>
          <p:nvPr/>
        </p:nvSpPr>
        <p:spPr>
          <a:xfrm>
            <a:off x="9811440" y="2423160"/>
            <a:ext cx="109800" cy="0"/>
          </a:xfrm>
          <a:prstGeom prst="line">
            <a:avLst/>
          </a:prstGeom>
          <a:ln>
            <a:solidFill>
              <a:srgbClr val="6b7280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/>
        </p:style>
      </p:sp>
      <p:sp>
        <p:nvSpPr>
          <p:cNvPr id="536" name="CustomShape 13"/>
          <p:cNvSpPr/>
          <p:nvPr/>
        </p:nvSpPr>
        <p:spPr>
          <a:xfrm>
            <a:off x="9921240" y="1828800"/>
            <a:ext cx="1782720" cy="1188360"/>
          </a:xfrm>
          <a:prstGeom prst="roundRect">
            <a:avLst>
              <a:gd name="adj" fmla="val 16667"/>
            </a:avLst>
          </a:prstGeom>
          <a:solidFill>
            <a:srgbClr val="2e6fc7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zh-CN" sz="1100" spc="-1" strike="noStrike">
                <a:solidFill>
                  <a:srgbClr val="ffffff"/>
                </a:solidFill>
                <a:latin typeface="Yu Gothic"/>
              </a:rPr>
              <a:t>ブラウザ</a:t>
            </a:r>
            <a:br/>
            <a:r>
              <a:rPr b="1" lang="en-US" sz="1100" spc="-1" strike="noStrike">
                <a:solidFill>
                  <a:srgbClr val="ffffff"/>
                </a:solidFill>
                <a:latin typeface="Yu Gothic"/>
              </a:rPr>
              <a:t>three.js + URDFLoader</a:t>
            </a:r>
            <a:br/>
            <a:r>
              <a:rPr b="1" lang="en-US" sz="1100" spc="-1" strike="noStrike">
                <a:solidFill>
                  <a:srgbClr val="ffffff"/>
                </a:solidFill>
                <a:latin typeface="Yu Gothic"/>
              </a:rPr>
              <a:t>+ DRACOLoader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537" name="CustomShape 14"/>
          <p:cNvSpPr/>
          <p:nvPr/>
        </p:nvSpPr>
        <p:spPr>
          <a:xfrm>
            <a:off x="548640" y="3383280"/>
            <a:ext cx="11063880" cy="585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25000"/>
              </a:lnSpc>
            </a:pPr>
            <a:r>
              <a:rPr b="0" lang="en-US" sz="1300" spc="-1" strike="noStrike">
                <a:solidFill>
                  <a:srgbClr val="222222"/>
                </a:solidFill>
                <a:latin typeface="Yu Gothic"/>
              </a:rPr>
              <a:t>firmware</a:t>
            </a:r>
            <a:r>
              <a:rPr b="0" lang="zh-CN" sz="1300" spc="-1" strike="noStrike">
                <a:solidFill>
                  <a:srgbClr val="222222"/>
                </a:solidFill>
                <a:latin typeface="Yu Gothic"/>
              </a:rPr>
              <a:t>とも</a:t>
            </a:r>
            <a:r>
              <a:rPr b="0" lang="en-US" sz="1300" spc="-1" strike="noStrike">
                <a:solidFill>
                  <a:srgbClr val="222222"/>
                </a:solidFill>
                <a:latin typeface="Yu Gothic"/>
              </a:rPr>
              <a:t>RCB-4</a:t>
            </a:r>
            <a:r>
              <a:rPr b="0" lang="zh-CN" sz="1300" spc="-1" strike="noStrike">
                <a:solidFill>
                  <a:srgbClr val="222222"/>
                </a:solidFill>
                <a:latin typeface="Yu Gothic"/>
              </a:rPr>
              <a:t>とも無関係の、完全に独立したデータ</a:t>
            </a:r>
            <a:r>
              <a:rPr b="0" lang="en-US" sz="1300" spc="-1" strike="noStrike">
                <a:solidFill>
                  <a:srgbClr val="222222"/>
                </a:solidFill>
                <a:latin typeface="Yu Gothic"/>
              </a:rPr>
              <a:t>+</a:t>
            </a:r>
            <a:r>
              <a:rPr b="0" lang="zh-CN" sz="1300" spc="-1" strike="noStrike">
                <a:solidFill>
                  <a:srgbClr val="222222"/>
                </a:solidFill>
                <a:latin typeface="Yu Gothic"/>
              </a:rPr>
              <a:t>ビューア</a:t>
            </a:r>
            <a:r>
              <a:rPr b="0" lang="en-US" sz="1300" spc="-1" strike="noStrike">
                <a:solidFill>
                  <a:srgbClr val="222222"/>
                </a:solidFill>
                <a:latin typeface="Yu Gothic"/>
              </a:rPr>
              <a:t>(</a:t>
            </a:r>
            <a:r>
              <a:rPr b="0" lang="zh-CN" sz="1300" spc="-1" strike="noStrike">
                <a:solidFill>
                  <a:srgbClr val="222222"/>
                </a:solidFill>
                <a:latin typeface="Yu Gothic"/>
              </a:rPr>
              <a:t>ロードマップのフェーズ</a:t>
            </a:r>
            <a:r>
              <a:rPr b="0" lang="en-US" sz="1300" spc="-1" strike="noStrike">
                <a:solidFill>
                  <a:srgbClr val="222222"/>
                </a:solidFill>
                <a:latin typeface="Yu Gothic"/>
              </a:rPr>
              <a:t>2</a:t>
            </a:r>
            <a:r>
              <a:rPr b="0" lang="zh-CN" sz="1300" spc="-1" strike="noStrike">
                <a:solidFill>
                  <a:srgbClr val="222222"/>
                </a:solidFill>
                <a:latin typeface="Yu Gothic"/>
              </a:rPr>
              <a:t>どおり</a:t>
            </a:r>
            <a:r>
              <a:rPr b="0" lang="en-US" sz="1300" spc="-1" strike="noStrike">
                <a:solidFill>
                  <a:srgbClr val="222222"/>
                </a:solidFill>
                <a:latin typeface="Yu Gothic"/>
              </a:rPr>
              <a:t>)</a:t>
            </a:r>
            <a:r>
              <a:rPr b="0" lang="zh-CN" sz="1300" spc="-1" strike="noStrike">
                <a:solidFill>
                  <a:srgbClr val="222222"/>
                </a:solidFill>
                <a:latin typeface="Yu Gothic"/>
              </a:rPr>
              <a:t>。</a:t>
            </a:r>
            <a:endParaRPr b="0" lang="en-US" sz="1300" spc="-1" strike="noStrike">
              <a:latin typeface="Arial"/>
            </a:endParaRPr>
          </a:p>
          <a:p>
            <a:pPr>
              <a:lnSpc>
                <a:spcPct val="125000"/>
              </a:lnSpc>
            </a:pPr>
            <a:r>
              <a:rPr b="0" lang="en-US" sz="1300" spc="-1" strike="noStrike">
                <a:solidFill>
                  <a:srgbClr val="222222"/>
                </a:solidFill>
                <a:latin typeface="Yu Gothic"/>
              </a:rPr>
              <a:t>URDF</a:t>
            </a:r>
            <a:r>
              <a:rPr b="0" lang="zh-CN" sz="1300" spc="-1" strike="noStrike">
                <a:solidFill>
                  <a:srgbClr val="222222"/>
                </a:solidFill>
                <a:latin typeface="Yu Gothic"/>
              </a:rPr>
              <a:t>の </a:t>
            </a:r>
            <a:r>
              <a:rPr b="0" lang="en-US" sz="1300" spc="-1" strike="noStrike">
                <a:solidFill>
                  <a:srgbClr val="222222"/>
                </a:solidFill>
                <a:latin typeface="Yu Gothic"/>
              </a:rPr>
              <a:t>package://&lt;robot&gt;/meshes/xxx.dae </a:t>
            </a:r>
            <a:r>
              <a:rPr b="0" lang="zh-CN" sz="1300" spc="-1" strike="noStrike">
                <a:solidFill>
                  <a:srgbClr val="222222"/>
                </a:solidFill>
                <a:latin typeface="Yu Gothic"/>
              </a:rPr>
              <a:t>参照はそのまま活かし、コピーした</a:t>
            </a:r>
            <a:r>
              <a:rPr b="0" lang="en-US" sz="1300" spc="-1" strike="noStrike">
                <a:solidFill>
                  <a:srgbClr val="222222"/>
                </a:solidFill>
                <a:latin typeface="Yu Gothic"/>
              </a:rPr>
              <a:t>URDF</a:t>
            </a:r>
            <a:r>
              <a:rPr b="0" lang="zh-CN" sz="1300" spc="-1" strike="noStrike">
                <a:solidFill>
                  <a:srgbClr val="222222"/>
                </a:solidFill>
                <a:latin typeface="Yu Gothic"/>
              </a:rPr>
              <a:t>だけ拡張子を </a:t>
            </a:r>
            <a:r>
              <a:rPr b="0" lang="en-US" sz="1300" spc="-1" strike="noStrike">
                <a:solidFill>
                  <a:srgbClr val="222222"/>
                </a:solidFill>
                <a:latin typeface="Yu Gothic"/>
              </a:rPr>
              <a:t>.glb </a:t>
            </a:r>
            <a:r>
              <a:rPr b="0" lang="zh-CN" sz="1300" spc="-1" strike="noStrike">
                <a:solidFill>
                  <a:srgbClr val="222222"/>
                </a:solidFill>
                <a:latin typeface="Yu Gothic"/>
              </a:rPr>
              <a:t>に一括置換。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538" name="CustomShape 15"/>
          <p:cNvSpPr/>
          <p:nvPr/>
        </p:nvSpPr>
        <p:spPr>
          <a:xfrm>
            <a:off x="548640" y="4343400"/>
            <a:ext cx="5303160" cy="456840"/>
          </a:xfrm>
          <a:prstGeom prst="roundRect">
            <a:avLst>
              <a:gd name="adj" fmla="val 16667"/>
            </a:avLst>
          </a:prstGeom>
          <a:solidFill>
            <a:srgbClr val="6b7280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zh-CN" sz="1200" spc="-1" strike="noStrike">
                <a:solidFill>
                  <a:srgbClr val="ffffff"/>
                </a:solidFill>
                <a:latin typeface="Yu Gothic"/>
              </a:rPr>
              <a:t>使用ライブラリ</a:t>
            </a:r>
            <a:r>
              <a:rPr b="1" lang="en-US" sz="1200" spc="-1" strike="noStrike">
                <a:solidFill>
                  <a:srgbClr val="ffffff"/>
                </a:solidFill>
                <a:latin typeface="Yu Gothic"/>
              </a:rPr>
              <a:t>(</a:t>
            </a:r>
            <a:r>
              <a:rPr b="1" lang="zh-CN" sz="1200" spc="-1" strike="noStrike">
                <a:solidFill>
                  <a:srgbClr val="ffffff"/>
                </a:solidFill>
                <a:latin typeface="Yu Gothic"/>
              </a:rPr>
              <a:t>すべて</a:t>
            </a:r>
            <a:r>
              <a:rPr b="1" lang="en-US" sz="1200" spc="-1" strike="noStrike">
                <a:solidFill>
                  <a:srgbClr val="ffffff"/>
                </a:solidFill>
                <a:latin typeface="Yu Gothic"/>
              </a:rPr>
              <a:t>jsdelivr</a:t>
            </a:r>
            <a:r>
              <a:rPr b="1" lang="zh-CN" sz="1200" spc="-1" strike="noStrike">
                <a:solidFill>
                  <a:srgbClr val="ffffff"/>
                </a:solidFill>
                <a:latin typeface="Yu Gothic"/>
              </a:rPr>
              <a:t>経由の</a:t>
            </a:r>
            <a:r>
              <a:rPr b="1" lang="en-US" sz="1200" spc="-1" strike="noStrike">
                <a:solidFill>
                  <a:srgbClr val="ffffff"/>
                </a:solidFill>
                <a:latin typeface="Yu Gothic"/>
              </a:rPr>
              <a:t>ES</a:t>
            </a:r>
            <a:r>
              <a:rPr b="1" lang="zh-CN" sz="1200" spc="-1" strike="noStrike">
                <a:solidFill>
                  <a:srgbClr val="ffffff"/>
                </a:solidFill>
                <a:latin typeface="Yu Gothic"/>
              </a:rPr>
              <a:t>モジュール</a:t>
            </a:r>
            <a:r>
              <a:rPr b="1" lang="en-US" sz="1200" spc="-1" strike="noStrike">
                <a:solidFill>
                  <a:srgbClr val="ffffff"/>
                </a:solidFill>
                <a:latin typeface="Yu Gothic"/>
              </a:rPr>
              <a:t>)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539" name="CustomShape 16"/>
          <p:cNvSpPr/>
          <p:nvPr/>
        </p:nvSpPr>
        <p:spPr>
          <a:xfrm>
            <a:off x="548640" y="4846320"/>
            <a:ext cx="5303160" cy="8020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30000"/>
              </a:lnSpc>
            </a:pPr>
            <a:r>
              <a:rPr b="0" lang="zh-CN" sz="1200" spc="-1" strike="noStrike">
                <a:solidFill>
                  <a:srgbClr val="222222"/>
                </a:solidFill>
                <a:latin typeface="Yu Gothic"/>
              </a:rPr>
              <a:t>・</a:t>
            </a:r>
            <a:r>
              <a:rPr b="0" lang="en-US" sz="1200" spc="-1" strike="noStrike">
                <a:solidFill>
                  <a:srgbClr val="222222"/>
                </a:solidFill>
                <a:latin typeface="Yu Gothic"/>
              </a:rPr>
              <a:t>three.js 0.160.0(WebGL</a:t>
            </a:r>
            <a:r>
              <a:rPr b="0" lang="zh-CN" sz="1200" spc="-1" strike="noStrike">
                <a:solidFill>
                  <a:srgbClr val="222222"/>
                </a:solidFill>
                <a:latin typeface="Yu Gothic"/>
              </a:rPr>
              <a:t>描画・</a:t>
            </a:r>
            <a:r>
              <a:rPr b="0" lang="en-US" sz="1200" spc="-1" strike="noStrike">
                <a:solidFill>
                  <a:srgbClr val="222222"/>
                </a:solidFill>
                <a:latin typeface="Yu Gothic"/>
              </a:rPr>
              <a:t>OrbitControls)</a:t>
            </a:r>
            <a:endParaRPr b="0" lang="en-US" sz="1200" spc="-1" strike="noStrike">
              <a:latin typeface="Arial"/>
            </a:endParaRPr>
          </a:p>
          <a:p>
            <a:pPr>
              <a:lnSpc>
                <a:spcPct val="130000"/>
              </a:lnSpc>
            </a:pPr>
            <a:r>
              <a:rPr b="0" lang="zh-CN" sz="1200" spc="-1" strike="noStrike">
                <a:solidFill>
                  <a:srgbClr val="222222"/>
                </a:solidFill>
                <a:latin typeface="Yu Gothic"/>
              </a:rPr>
              <a:t>・</a:t>
            </a:r>
            <a:r>
              <a:rPr b="0" lang="en-US" sz="1200" spc="-1" strike="noStrike">
                <a:solidFill>
                  <a:srgbClr val="222222"/>
                </a:solidFill>
                <a:latin typeface="Yu Gothic"/>
              </a:rPr>
              <a:t>urdf-loader 0.13.1(URDF</a:t>
            </a:r>
            <a:r>
              <a:rPr b="0" lang="zh-CN" sz="1200" spc="-1" strike="noStrike">
                <a:solidFill>
                  <a:srgbClr val="222222"/>
                </a:solidFill>
                <a:latin typeface="Yu Gothic"/>
              </a:rPr>
              <a:t>の</a:t>
            </a:r>
            <a:r>
              <a:rPr b="0" lang="en-US" sz="1200" spc="-1" strike="noStrike">
                <a:solidFill>
                  <a:srgbClr val="222222"/>
                </a:solidFill>
                <a:latin typeface="Yu Gothic"/>
              </a:rPr>
              <a:t>kinematic tree</a:t>
            </a:r>
            <a:r>
              <a:rPr b="0" lang="zh-CN" sz="1200" spc="-1" strike="noStrike">
                <a:solidFill>
                  <a:srgbClr val="222222"/>
                </a:solidFill>
                <a:latin typeface="Yu Gothic"/>
              </a:rPr>
              <a:t>解析</a:t>
            </a:r>
            <a:r>
              <a:rPr b="0" lang="en-US" sz="1200" spc="-1" strike="noStrike">
                <a:solidFill>
                  <a:srgbClr val="222222"/>
                </a:solidFill>
                <a:latin typeface="Yu Gothic"/>
              </a:rPr>
              <a:t>)</a:t>
            </a:r>
            <a:endParaRPr b="0" lang="en-US" sz="1200" spc="-1" strike="noStrike">
              <a:latin typeface="Arial"/>
            </a:endParaRPr>
          </a:p>
          <a:p>
            <a:pPr>
              <a:lnSpc>
                <a:spcPct val="130000"/>
              </a:lnSpc>
            </a:pPr>
            <a:r>
              <a:rPr b="0" lang="zh-CN" sz="1200" spc="-1" strike="noStrike">
                <a:solidFill>
                  <a:srgbClr val="222222"/>
                </a:solidFill>
                <a:latin typeface="Yu Gothic"/>
              </a:rPr>
              <a:t>・</a:t>
            </a:r>
            <a:r>
              <a:rPr b="0" lang="en-US" sz="1200" spc="-1" strike="noStrike">
                <a:solidFill>
                  <a:srgbClr val="222222"/>
                </a:solidFill>
                <a:latin typeface="Yu Gothic"/>
              </a:rPr>
              <a:t>GLTFLoader + DRACOLoader(</a:t>
            </a:r>
            <a:r>
              <a:rPr b="0" lang="zh-CN" sz="1200" spc="-1" strike="noStrike">
                <a:solidFill>
                  <a:srgbClr val="222222"/>
                </a:solidFill>
                <a:latin typeface="Yu Gothic"/>
              </a:rPr>
              <a:t>圧縮メッシュの復元</a:t>
            </a:r>
            <a:r>
              <a:rPr b="0" lang="en-US" sz="1200" spc="-1" strike="noStrike">
                <a:solidFill>
                  <a:srgbClr val="222222"/>
                </a:solidFill>
                <a:latin typeface="Yu Gothic"/>
              </a:rPr>
              <a:t>)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540" name="CustomShape 17"/>
          <p:cNvSpPr/>
          <p:nvPr/>
        </p:nvSpPr>
        <p:spPr>
          <a:xfrm>
            <a:off x="6126480" y="4343400"/>
            <a:ext cx="5303160" cy="456840"/>
          </a:xfrm>
          <a:prstGeom prst="roundRect">
            <a:avLst>
              <a:gd name="adj" fmla="val 16667"/>
            </a:avLst>
          </a:prstGeom>
          <a:solidFill>
            <a:srgbClr val="b03030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zh-CN" sz="1200" spc="-1" strike="noStrike">
                <a:solidFill>
                  <a:srgbClr val="ffffff"/>
                </a:solidFill>
                <a:latin typeface="Yu Gothic"/>
              </a:rPr>
              <a:t>設計上の判断</a:t>
            </a:r>
            <a:r>
              <a:rPr b="1" lang="en-US" sz="1200" spc="-1" strike="noStrike">
                <a:solidFill>
                  <a:srgbClr val="ffffff"/>
                </a:solidFill>
                <a:latin typeface="Yu Gothic"/>
              </a:rPr>
              <a:t>: </a:t>
            </a:r>
            <a:r>
              <a:rPr b="1" lang="zh-CN" sz="1200" spc="-1" strike="noStrike">
                <a:solidFill>
                  <a:srgbClr val="ffffff"/>
                </a:solidFill>
                <a:latin typeface="Yu Gothic"/>
              </a:rPr>
              <a:t>なぜ </a:t>
            </a:r>
            <a:r>
              <a:rPr b="1" lang="en-US" sz="1200" spc="-1" strike="noStrike">
                <a:solidFill>
                  <a:srgbClr val="ffffff"/>
                </a:solidFill>
                <a:latin typeface="Yu Gothic"/>
              </a:rPr>
              <a:t>Artifact </a:t>
            </a:r>
            <a:r>
              <a:rPr b="1" lang="zh-CN" sz="1200" spc="-1" strike="noStrike">
                <a:solidFill>
                  <a:srgbClr val="ffffff"/>
                </a:solidFill>
                <a:latin typeface="Yu Gothic"/>
              </a:rPr>
              <a:t>ではないか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541" name="CustomShape 18"/>
          <p:cNvSpPr/>
          <p:nvPr/>
        </p:nvSpPr>
        <p:spPr>
          <a:xfrm>
            <a:off x="6126480" y="4846320"/>
            <a:ext cx="5303160" cy="10393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30000"/>
              </a:lnSpc>
            </a:pPr>
            <a:r>
              <a:rPr b="0" lang="en-US" sz="1200" spc="-1" strike="noStrike">
                <a:solidFill>
                  <a:srgbClr val="222222"/>
                </a:solidFill>
                <a:latin typeface="Yu Gothic"/>
              </a:rPr>
              <a:t>claude.ai</a:t>
            </a:r>
            <a:r>
              <a:rPr b="0" lang="zh-CN" sz="1200" spc="-1" strike="noStrike">
                <a:solidFill>
                  <a:srgbClr val="222222"/>
                </a:solidFill>
                <a:latin typeface="Yu Gothic"/>
              </a:rPr>
              <a:t>の</a:t>
            </a:r>
            <a:r>
              <a:rPr b="0" lang="en-US" sz="1200" spc="-1" strike="noStrike">
                <a:solidFill>
                  <a:srgbClr val="222222"/>
                </a:solidFill>
                <a:latin typeface="Yu Gothic"/>
              </a:rPr>
              <a:t>Artifact</a:t>
            </a:r>
            <a:r>
              <a:rPr b="0" lang="zh-CN" sz="1200" spc="-1" strike="noStrike">
                <a:solidFill>
                  <a:srgbClr val="222222"/>
                </a:solidFill>
                <a:latin typeface="Yu Gothic"/>
              </a:rPr>
              <a:t>サンドボックスは</a:t>
            </a:r>
            <a:r>
              <a:rPr b="0" lang="en-US" sz="1200" spc="-1" strike="noStrike">
                <a:solidFill>
                  <a:srgbClr val="222222"/>
                </a:solidFill>
                <a:latin typeface="Yu Gothic"/>
              </a:rPr>
              <a:t>CSP</a:t>
            </a:r>
            <a:r>
              <a:rPr b="0" lang="zh-CN" sz="1200" spc="-1" strike="noStrike">
                <a:solidFill>
                  <a:srgbClr val="222222"/>
                </a:solidFill>
                <a:latin typeface="Yu Gothic"/>
              </a:rPr>
              <a:t>で外部</a:t>
            </a:r>
            <a:r>
              <a:rPr b="0" lang="en-US" sz="1200" spc="-1" strike="noStrike">
                <a:solidFill>
                  <a:srgbClr val="222222"/>
                </a:solidFill>
                <a:latin typeface="Yu Gothic"/>
              </a:rPr>
              <a:t>fetch(XHR)</a:t>
            </a:r>
            <a:r>
              <a:rPr b="0" lang="zh-CN" sz="1200" spc="-1" strike="noStrike">
                <a:solidFill>
                  <a:srgbClr val="222222"/>
                </a:solidFill>
                <a:latin typeface="Yu Gothic"/>
              </a:rPr>
              <a:t>を</a:t>
            </a:r>
            <a:endParaRPr b="0" lang="en-US" sz="1200" spc="-1" strike="noStrike">
              <a:latin typeface="Arial"/>
            </a:endParaRPr>
          </a:p>
          <a:p>
            <a:pPr>
              <a:lnSpc>
                <a:spcPct val="130000"/>
              </a:lnSpc>
            </a:pPr>
            <a:r>
              <a:rPr b="0" lang="zh-CN" sz="1200" spc="-1" strike="noStrike">
                <a:solidFill>
                  <a:srgbClr val="222222"/>
                </a:solidFill>
                <a:latin typeface="Yu Gothic"/>
              </a:rPr>
              <a:t>遮断するため、</a:t>
            </a:r>
            <a:r>
              <a:rPr b="0" lang="en-US" sz="1200" spc="-1" strike="noStrike">
                <a:solidFill>
                  <a:srgbClr val="222222"/>
                </a:solidFill>
                <a:latin typeface="Yu Gothic"/>
              </a:rPr>
              <a:t>GitHub</a:t>
            </a:r>
            <a:r>
              <a:rPr b="0" lang="zh-CN" sz="1200" spc="-1" strike="noStrike">
                <a:solidFill>
                  <a:srgbClr val="222222"/>
                </a:solidFill>
                <a:latin typeface="Yu Gothic"/>
              </a:rPr>
              <a:t>生データの取得ができない。</a:t>
            </a:r>
            <a:endParaRPr b="0" lang="en-US" sz="1200" spc="-1" strike="noStrike">
              <a:latin typeface="Arial"/>
            </a:endParaRPr>
          </a:p>
          <a:p>
            <a:pPr>
              <a:lnSpc>
                <a:spcPct val="130000"/>
              </a:lnSpc>
            </a:pPr>
            <a:r>
              <a:rPr b="0" lang="en-US" sz="1200" spc="-1" strike="noStrike">
                <a:solidFill>
                  <a:srgbClr val="222222"/>
                </a:solidFill>
                <a:latin typeface="Yu Gothic"/>
              </a:rPr>
              <a:t>urdfeus</a:t>
            </a:r>
            <a:r>
              <a:rPr b="0" lang="zh-CN" sz="1200" spc="-1" strike="noStrike">
                <a:solidFill>
                  <a:srgbClr val="222222"/>
                </a:solidFill>
                <a:latin typeface="Yu Gothic"/>
              </a:rPr>
              <a:t>同様、ページ自身を</a:t>
            </a:r>
            <a:r>
              <a:rPr b="0" lang="en-US" sz="1200" spc="-1" strike="noStrike">
                <a:solidFill>
                  <a:srgbClr val="222222"/>
                </a:solidFill>
                <a:latin typeface="Yu Gothic"/>
              </a:rPr>
              <a:t>GitHub Pages</a:t>
            </a:r>
            <a:r>
              <a:rPr b="0" lang="zh-CN" sz="1200" spc="-1" strike="noStrike">
                <a:solidFill>
                  <a:srgbClr val="222222"/>
                </a:solidFill>
                <a:latin typeface="Yu Gothic"/>
              </a:rPr>
              <a:t>という</a:t>
            </a:r>
            <a:endParaRPr b="0" lang="en-US" sz="1200" spc="-1" strike="noStrike">
              <a:latin typeface="Arial"/>
            </a:endParaRPr>
          </a:p>
          <a:p>
            <a:pPr>
              <a:lnSpc>
                <a:spcPct val="130000"/>
              </a:lnSpc>
            </a:pPr>
            <a:r>
              <a:rPr b="0" lang="zh-CN" sz="1200" spc="-1" strike="noStrike">
                <a:solidFill>
                  <a:srgbClr val="222222"/>
                </a:solidFill>
                <a:latin typeface="Yu Gothic"/>
              </a:rPr>
              <a:t>普通の静的サイトとして公開する方式を採用。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542" name="CustomShape 19"/>
          <p:cNvSpPr/>
          <p:nvPr/>
        </p:nvSpPr>
        <p:spPr>
          <a:xfrm>
            <a:off x="548640" y="6263640"/>
            <a:ext cx="11063880" cy="4554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zh-CN" sz="1200" spc="-1" strike="noStrike">
                <a:solidFill>
                  <a:srgbClr val="b03030"/>
                </a:solidFill>
                <a:latin typeface="Yu Gothic"/>
              </a:rPr>
              <a:t>状態</a:t>
            </a:r>
            <a:r>
              <a:rPr b="1" lang="en-US" sz="1200" spc="-1" strike="noStrike">
                <a:solidFill>
                  <a:srgbClr val="b03030"/>
                </a:solidFill>
                <a:latin typeface="Yu Gothic"/>
              </a:rPr>
              <a:t>: 52</a:t>
            </a:r>
            <a:r>
              <a:rPr b="1" lang="zh-CN" sz="1200" spc="-1" strike="noStrike">
                <a:solidFill>
                  <a:srgbClr val="b03030"/>
                </a:solidFill>
                <a:latin typeface="Yu Gothic"/>
              </a:rPr>
              <a:t>体すべて変換・</a:t>
            </a:r>
            <a:r>
              <a:rPr b="1" lang="en-US" sz="1200" spc="-1" strike="noStrike">
                <a:solidFill>
                  <a:srgbClr val="b03030"/>
                </a:solidFill>
                <a:latin typeface="Yu Gothic"/>
              </a:rPr>
              <a:t>push</a:t>
            </a:r>
            <a:r>
              <a:rPr b="1" lang="zh-CN" sz="1200" spc="-1" strike="noStrike">
                <a:solidFill>
                  <a:srgbClr val="b03030"/>
                </a:solidFill>
                <a:latin typeface="Yu Gothic"/>
              </a:rPr>
              <a:t>・</a:t>
            </a:r>
            <a:r>
              <a:rPr b="1" lang="en-US" sz="1200" spc="-1" strike="noStrike">
                <a:solidFill>
                  <a:srgbClr val="b03030"/>
                </a:solidFill>
                <a:latin typeface="Yu Gothic"/>
              </a:rPr>
              <a:t>GitHub Pages</a:t>
            </a:r>
            <a:r>
              <a:rPr b="1" lang="zh-CN" sz="1200" spc="-1" strike="noStrike">
                <a:solidFill>
                  <a:srgbClr val="b03030"/>
                </a:solidFill>
                <a:latin typeface="Yu Gothic"/>
              </a:rPr>
              <a:t>公開・ヘッドレスブラウザでの読み込み確認まで完了。公開</a:t>
            </a:r>
            <a:r>
              <a:rPr b="1" lang="en-US" sz="1200" spc="-1" strike="noStrike">
                <a:solidFill>
                  <a:srgbClr val="b03030"/>
                </a:solidFill>
                <a:latin typeface="Yu Gothic"/>
              </a:rPr>
              <a:t>URL: inabajsk.github.io/kxreus/urdf_viewer/</a:t>
            </a:r>
            <a:endParaRPr b="0" lang="en-US" sz="1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3" name="CustomShape 1"/>
          <p:cNvSpPr/>
          <p:nvPr/>
        </p:nvSpPr>
        <p:spPr>
          <a:xfrm>
            <a:off x="548640" y="320040"/>
            <a:ext cx="7314840" cy="3337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rgbClr val="2e6fc7"/>
                </a:solidFill>
                <a:latin typeface="Yu Gothic"/>
              </a:rPr>
              <a:t>GITHUB DATA LAYOUT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544" name="CustomShape 2"/>
          <p:cNvSpPr/>
          <p:nvPr/>
        </p:nvSpPr>
        <p:spPr>
          <a:xfrm>
            <a:off x="548640" y="685800"/>
            <a:ext cx="10515240" cy="5472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3000" spc="-1" strike="noStrike">
                <a:solidFill>
                  <a:srgbClr val="1f2a44"/>
                </a:solidFill>
                <a:latin typeface="Yu Gothic"/>
              </a:rPr>
              <a:t>GitHub</a:t>
            </a:r>
            <a:r>
              <a:rPr b="1" lang="zh-CN" sz="3000" spc="-1" strike="noStrike">
                <a:solidFill>
                  <a:srgbClr val="1f2a44"/>
                </a:solidFill>
                <a:latin typeface="Yu Gothic"/>
              </a:rPr>
              <a:t>に置くデータの全体像</a:t>
            </a:r>
            <a:r>
              <a:rPr b="1" lang="en-US" sz="3000" spc="-1" strike="noStrike">
                <a:solidFill>
                  <a:srgbClr val="1f2a44"/>
                </a:solidFill>
                <a:latin typeface="Yu Gothic"/>
              </a:rPr>
              <a:t>(kxreus</a:t>
            </a:r>
            <a:r>
              <a:rPr b="1" lang="zh-CN" sz="3000" spc="-1" strike="noStrike">
                <a:solidFill>
                  <a:srgbClr val="1f2a44"/>
                </a:solidFill>
                <a:latin typeface="Yu Gothic"/>
              </a:rPr>
              <a:t>リポジトリ</a:t>
            </a:r>
            <a:r>
              <a:rPr b="1" lang="en-US" sz="3000" spc="-1" strike="noStrike">
                <a:solidFill>
                  <a:srgbClr val="1f2a44"/>
                </a:solidFill>
                <a:latin typeface="Yu Gothic"/>
              </a:rPr>
              <a:t>)</a:t>
            </a:r>
            <a:endParaRPr b="0" lang="en-US" sz="3000" spc="-1" strike="noStrike">
              <a:latin typeface="Arial"/>
            </a:endParaRPr>
          </a:p>
        </p:txBody>
      </p:sp>
      <p:sp>
        <p:nvSpPr>
          <p:cNvPr id="545" name="CustomShape 3"/>
          <p:cNvSpPr/>
          <p:nvPr/>
        </p:nvSpPr>
        <p:spPr>
          <a:xfrm>
            <a:off x="548640" y="1508760"/>
            <a:ext cx="2651400" cy="456840"/>
          </a:xfrm>
          <a:prstGeom prst="roundRect">
            <a:avLst>
              <a:gd name="adj" fmla="val 16667"/>
            </a:avLst>
          </a:prstGeom>
          <a:solidFill>
            <a:srgbClr val="1f2a44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zh-CN" sz="1200" spc="-1" strike="noStrike">
                <a:solidFill>
                  <a:srgbClr val="ffffff"/>
                </a:solidFill>
                <a:latin typeface="Yu Gothic"/>
              </a:rPr>
              <a:t>パス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546" name="CustomShape 4"/>
          <p:cNvSpPr/>
          <p:nvPr/>
        </p:nvSpPr>
        <p:spPr>
          <a:xfrm>
            <a:off x="3200400" y="1508760"/>
            <a:ext cx="3200040" cy="456840"/>
          </a:xfrm>
          <a:prstGeom prst="roundRect">
            <a:avLst>
              <a:gd name="adj" fmla="val 16667"/>
            </a:avLst>
          </a:prstGeom>
          <a:solidFill>
            <a:srgbClr val="1f2a44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zh-CN" sz="1200" spc="-1" strike="noStrike">
                <a:solidFill>
                  <a:srgbClr val="ffffff"/>
                </a:solidFill>
                <a:latin typeface="Yu Gothic"/>
              </a:rPr>
              <a:t>内容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547" name="CustomShape 5"/>
          <p:cNvSpPr/>
          <p:nvPr/>
        </p:nvSpPr>
        <p:spPr>
          <a:xfrm>
            <a:off x="6400800" y="1508760"/>
            <a:ext cx="2834280" cy="456840"/>
          </a:xfrm>
          <a:prstGeom prst="roundRect">
            <a:avLst>
              <a:gd name="adj" fmla="val 16667"/>
            </a:avLst>
          </a:prstGeom>
          <a:solidFill>
            <a:srgbClr val="1f2a44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zh-CN" sz="1200" spc="-1" strike="noStrike">
                <a:solidFill>
                  <a:srgbClr val="ffffff"/>
                </a:solidFill>
                <a:latin typeface="Yu Gothic"/>
              </a:rPr>
              <a:t>用途 </a:t>
            </a:r>
            <a:r>
              <a:rPr b="1" lang="en-US" sz="1200" spc="-1" strike="noStrike">
                <a:solidFill>
                  <a:srgbClr val="ffffff"/>
                </a:solidFill>
                <a:latin typeface="Yu Gothic"/>
              </a:rPr>
              <a:t>/ </a:t>
            </a:r>
            <a:r>
              <a:rPr b="1" lang="zh-CN" sz="1200" spc="-1" strike="noStrike">
                <a:solidFill>
                  <a:srgbClr val="ffffff"/>
                </a:solidFill>
                <a:latin typeface="Yu Gothic"/>
              </a:rPr>
              <a:t>フェーズ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548" name="CustomShape 6"/>
          <p:cNvSpPr/>
          <p:nvPr/>
        </p:nvSpPr>
        <p:spPr>
          <a:xfrm>
            <a:off x="9235440" y="1508760"/>
            <a:ext cx="2285640" cy="456840"/>
          </a:xfrm>
          <a:prstGeom prst="roundRect">
            <a:avLst>
              <a:gd name="adj" fmla="val 16667"/>
            </a:avLst>
          </a:prstGeom>
          <a:solidFill>
            <a:srgbClr val="1f2a44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zh-CN" sz="1200" spc="-1" strike="noStrike">
                <a:solidFill>
                  <a:srgbClr val="ffffff"/>
                </a:solidFill>
                <a:latin typeface="Yu Gothic"/>
              </a:rPr>
              <a:t>誰が取得するか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549" name="CustomShape 7"/>
          <p:cNvSpPr/>
          <p:nvPr/>
        </p:nvSpPr>
        <p:spPr>
          <a:xfrm>
            <a:off x="548640" y="2057400"/>
            <a:ext cx="2651400" cy="1234080"/>
          </a:xfrm>
          <a:prstGeom prst="roundRect">
            <a:avLst>
              <a:gd name="adj" fmla="val 16667"/>
            </a:avLst>
          </a:prstGeom>
          <a:solidFill>
            <a:srgbClr val="6b7280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000" spc="-1" strike="noStrike">
                <a:solidFill>
                  <a:srgbClr val="ffffff"/>
                </a:solidFill>
                <a:latin typeface="Yu Gothic"/>
              </a:rPr>
              <a:t>m5stack/*/</a:t>
            </a:r>
            <a:br/>
            <a:r>
              <a:rPr b="1" lang="en-US" sz="1000" spc="-1" strike="noStrike">
                <a:solidFill>
                  <a:srgbClr val="ffffff"/>
                </a:solidFill>
                <a:latin typeface="Yu Gothic"/>
              </a:rPr>
              <a:t>downloadable_policies/</a:t>
            </a:r>
            <a:br/>
            <a:r>
              <a:rPr b="1" lang="en-US" sz="1000" spc="-1" strike="noStrike">
                <a:solidFill>
                  <a:srgbClr val="ffffff"/>
                </a:solidFill>
                <a:latin typeface="Yu Gothic"/>
              </a:rPr>
              <a:t>&lt;robot&gt;/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550" name="CustomShape 8"/>
          <p:cNvSpPr/>
          <p:nvPr/>
        </p:nvSpPr>
        <p:spPr>
          <a:xfrm>
            <a:off x="3246120" y="2103120"/>
            <a:ext cx="3108600" cy="4748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15000"/>
              </a:lnSpc>
            </a:pPr>
            <a:r>
              <a:rPr b="0" lang="zh-CN" sz="1100" spc="-1" strike="noStrike">
                <a:solidFill>
                  <a:srgbClr val="222222"/>
                </a:solidFill>
                <a:latin typeface="Yu Gothic"/>
              </a:rPr>
              <a:t>学習済み</a:t>
            </a:r>
            <a:r>
              <a:rPr b="0" lang="en-US" sz="1100" spc="-1" strike="noStrike">
                <a:solidFill>
                  <a:srgbClr val="222222"/>
                </a:solidFill>
                <a:latin typeface="Yu Gothic"/>
              </a:rPr>
              <a:t>NN</a:t>
            </a:r>
            <a:r>
              <a:rPr b="0" lang="zh-CN" sz="1100" spc="-1" strike="noStrike">
                <a:solidFill>
                  <a:srgbClr val="222222"/>
                </a:solidFill>
                <a:latin typeface="Yu Gothic"/>
              </a:rPr>
              <a:t>重み</a:t>
            </a:r>
            <a:r>
              <a:rPr b="0" lang="en-US" sz="1100" spc="-1" strike="noStrike">
                <a:solidFill>
                  <a:srgbClr val="222222"/>
                </a:solidFill>
                <a:latin typeface="Yu Gothic"/>
              </a:rPr>
              <a:t>(.bin)</a:t>
            </a:r>
            <a:endParaRPr b="0" lang="en-US" sz="1100" spc="-1" strike="noStrike">
              <a:latin typeface="Arial"/>
            </a:endParaRPr>
          </a:p>
          <a:p>
            <a:pPr>
              <a:lnSpc>
                <a:spcPct val="115000"/>
              </a:lnSpc>
            </a:pPr>
            <a:r>
              <a:rPr b="0" lang="en-US" sz="1100" spc="-1" strike="noStrike">
                <a:solidFill>
                  <a:srgbClr val="222222"/>
                </a:solidFill>
                <a:latin typeface="Yu Gothic"/>
              </a:rPr>
              <a:t>+ manifest.json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551" name="CustomShape 9"/>
          <p:cNvSpPr/>
          <p:nvPr/>
        </p:nvSpPr>
        <p:spPr>
          <a:xfrm>
            <a:off x="6446520" y="2103120"/>
            <a:ext cx="2742840" cy="4748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15000"/>
              </a:lnSpc>
            </a:pPr>
            <a:r>
              <a:rPr b="0" lang="zh-CN" sz="1100" spc="-1" strike="noStrike">
                <a:solidFill>
                  <a:srgbClr val="222222"/>
                </a:solidFill>
                <a:latin typeface="Yu Gothic"/>
              </a:rPr>
              <a:t>フェーズ</a:t>
            </a:r>
            <a:r>
              <a:rPr b="0" lang="en-US" sz="1100" spc="-1" strike="noStrike">
                <a:solidFill>
                  <a:srgbClr val="222222"/>
                </a:solidFill>
                <a:latin typeface="Yu Gothic"/>
              </a:rPr>
              <a:t>1</a:t>
            </a:r>
            <a:r>
              <a:rPr b="0" lang="zh-CN" sz="1100" spc="-1" strike="noStrike">
                <a:solidFill>
                  <a:srgbClr val="222222"/>
                </a:solidFill>
                <a:latin typeface="Yu Gothic"/>
              </a:rPr>
              <a:t>で候補提示</a:t>
            </a:r>
            <a:endParaRPr b="0" lang="en-US" sz="1100" spc="-1" strike="noStrike">
              <a:latin typeface="Arial"/>
            </a:endParaRPr>
          </a:p>
          <a:p>
            <a:pPr>
              <a:lnSpc>
                <a:spcPct val="115000"/>
              </a:lnSpc>
            </a:pPr>
            <a:r>
              <a:rPr b="0" lang="zh-CN" sz="1100" spc="-1" strike="noStrike">
                <a:solidFill>
                  <a:srgbClr val="222222"/>
                </a:solidFill>
                <a:latin typeface="Yu Gothic"/>
              </a:rPr>
              <a:t>フェーズ</a:t>
            </a:r>
            <a:r>
              <a:rPr b="0" lang="en-US" sz="1100" spc="-1" strike="noStrike">
                <a:solidFill>
                  <a:srgbClr val="222222"/>
                </a:solidFill>
                <a:latin typeface="Yu Gothic"/>
              </a:rPr>
              <a:t>4-5</a:t>
            </a:r>
            <a:r>
              <a:rPr b="0" lang="zh-CN" sz="1100" spc="-1" strike="noStrike">
                <a:solidFill>
                  <a:srgbClr val="222222"/>
                </a:solidFill>
                <a:latin typeface="Yu Gothic"/>
              </a:rPr>
              <a:t>で切替実行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552" name="CustomShape 10"/>
          <p:cNvSpPr/>
          <p:nvPr/>
        </p:nvSpPr>
        <p:spPr>
          <a:xfrm>
            <a:off x="9281160" y="2103120"/>
            <a:ext cx="2194200" cy="4748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15000"/>
              </a:lnSpc>
            </a:pPr>
            <a:r>
              <a:rPr b="0" lang="zh-CN" sz="1100" spc="-1" strike="noStrike">
                <a:solidFill>
                  <a:srgbClr val="222222"/>
                </a:solidFill>
                <a:latin typeface="Yu Gothic"/>
              </a:rPr>
              <a:t>スマホが</a:t>
            </a:r>
            <a:r>
              <a:rPr b="0" lang="en-US" sz="1100" spc="-1" strike="noStrike">
                <a:solidFill>
                  <a:srgbClr val="222222"/>
                </a:solidFill>
                <a:latin typeface="Yu Gothic"/>
              </a:rPr>
              <a:t>POST</a:t>
            </a:r>
            <a:r>
              <a:rPr b="0" lang="zh-CN" sz="1100" spc="-1" strike="noStrike">
                <a:solidFill>
                  <a:srgbClr val="222222"/>
                </a:solidFill>
                <a:latin typeface="Yu Gothic"/>
              </a:rPr>
              <a:t>転送</a:t>
            </a:r>
            <a:endParaRPr b="0" lang="en-US" sz="1100" spc="-1" strike="noStrike">
              <a:latin typeface="Arial"/>
            </a:endParaRPr>
          </a:p>
          <a:p>
            <a:pPr>
              <a:lnSpc>
                <a:spcPct val="115000"/>
              </a:lnSpc>
            </a:pPr>
            <a:r>
              <a:rPr b="0" lang="en-US" sz="1100" spc="-1" strike="noStrike">
                <a:solidFill>
                  <a:srgbClr val="222222"/>
                </a:solidFill>
                <a:latin typeface="Yu Gothic"/>
              </a:rPr>
              <a:t>(firmware</a:t>
            </a:r>
            <a:r>
              <a:rPr b="0" lang="zh-CN" sz="1100" spc="-1" strike="noStrike">
                <a:solidFill>
                  <a:srgbClr val="222222"/>
                </a:solidFill>
                <a:latin typeface="Yu Gothic"/>
              </a:rPr>
              <a:t>は直接触れない</a:t>
            </a:r>
            <a:r>
              <a:rPr b="0" lang="en-US" sz="1100" spc="-1" strike="noStrike">
                <a:solidFill>
                  <a:srgbClr val="222222"/>
                </a:solidFill>
                <a:latin typeface="Yu Gothic"/>
              </a:rPr>
              <a:t>)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553" name="CustomShape 11"/>
          <p:cNvSpPr/>
          <p:nvPr/>
        </p:nvSpPr>
        <p:spPr>
          <a:xfrm>
            <a:off x="548640" y="3383280"/>
            <a:ext cx="2651400" cy="1234080"/>
          </a:xfrm>
          <a:prstGeom prst="roundRect">
            <a:avLst>
              <a:gd name="adj" fmla="val 16667"/>
            </a:avLst>
          </a:prstGeom>
          <a:solidFill>
            <a:srgbClr val="6b7280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000" spc="-1" strike="noStrike">
                <a:solidFill>
                  <a:srgbClr val="ffffff"/>
                </a:solidFill>
                <a:latin typeface="Yu Gothic"/>
              </a:rPr>
              <a:t>docs/urdf_viewer/</a:t>
            </a:r>
            <a:br/>
            <a:r>
              <a:rPr b="1" lang="en-US" sz="1000" spc="-1" strike="noStrike">
                <a:solidFill>
                  <a:srgbClr val="ffffff"/>
                </a:solidFill>
                <a:latin typeface="Yu Gothic"/>
              </a:rPr>
              <a:t>models/&lt;robot&gt;/</a:t>
            </a:r>
            <a:br/>
            <a:r>
              <a:rPr b="1" lang="en-US" sz="1000" spc="-1" strike="noStrike">
                <a:solidFill>
                  <a:srgbClr val="ffffff"/>
                </a:solidFill>
                <a:latin typeface="Yu Gothic"/>
              </a:rPr>
              <a:t>{urdf/*.urdf, meshes/*.glb}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554" name="CustomShape 12"/>
          <p:cNvSpPr/>
          <p:nvPr/>
        </p:nvSpPr>
        <p:spPr>
          <a:xfrm>
            <a:off x="3246120" y="3429000"/>
            <a:ext cx="3108600" cy="4748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15000"/>
              </a:lnSpc>
            </a:pPr>
            <a:r>
              <a:rPr b="0" lang="en-US" sz="1100" spc="-1" strike="noStrike">
                <a:solidFill>
                  <a:srgbClr val="222222"/>
                </a:solidFill>
                <a:latin typeface="Yu Gothic"/>
              </a:rPr>
              <a:t>URDF + Draco</a:t>
            </a:r>
            <a:r>
              <a:rPr b="0" lang="zh-CN" sz="1100" spc="-1" strike="noStrike">
                <a:solidFill>
                  <a:srgbClr val="222222"/>
                </a:solidFill>
                <a:latin typeface="Yu Gothic"/>
              </a:rPr>
              <a:t>圧縮</a:t>
            </a:r>
            <a:endParaRPr b="0" lang="en-US" sz="1100" spc="-1" strike="noStrike">
              <a:latin typeface="Arial"/>
            </a:endParaRPr>
          </a:p>
          <a:p>
            <a:pPr>
              <a:lnSpc>
                <a:spcPct val="115000"/>
              </a:lnSpc>
            </a:pPr>
            <a:r>
              <a:rPr b="0" lang="en-US" sz="1100" spc="-1" strike="noStrike">
                <a:solidFill>
                  <a:srgbClr val="222222"/>
                </a:solidFill>
                <a:latin typeface="Yu Gothic"/>
              </a:rPr>
              <a:t>3D</a:t>
            </a:r>
            <a:r>
              <a:rPr b="0" lang="zh-CN" sz="1100" spc="-1" strike="noStrike">
                <a:solidFill>
                  <a:srgbClr val="222222"/>
                </a:solidFill>
                <a:latin typeface="Yu Gothic"/>
              </a:rPr>
              <a:t>メッシュ</a:t>
            </a:r>
            <a:r>
              <a:rPr b="0" lang="en-US" sz="1100" spc="-1" strike="noStrike">
                <a:solidFill>
                  <a:srgbClr val="222222"/>
                </a:solidFill>
                <a:latin typeface="Yu Gothic"/>
              </a:rPr>
              <a:t>(NEW)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555" name="CustomShape 13"/>
          <p:cNvSpPr/>
          <p:nvPr/>
        </p:nvSpPr>
        <p:spPr>
          <a:xfrm>
            <a:off x="6446520" y="3429000"/>
            <a:ext cx="2742840" cy="4748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15000"/>
              </a:lnSpc>
            </a:pPr>
            <a:r>
              <a:rPr b="0" lang="zh-CN" sz="1100" spc="-1" strike="noStrike">
                <a:solidFill>
                  <a:srgbClr val="222222"/>
                </a:solidFill>
                <a:latin typeface="Yu Gothic"/>
              </a:rPr>
              <a:t>フェーズ</a:t>
            </a:r>
            <a:r>
              <a:rPr b="0" lang="en-US" sz="1100" spc="-1" strike="noStrike">
                <a:solidFill>
                  <a:srgbClr val="222222"/>
                </a:solidFill>
                <a:latin typeface="Yu Gothic"/>
              </a:rPr>
              <a:t>2</a:t>
            </a:r>
            <a:r>
              <a:rPr b="0" lang="zh-CN" sz="1100" spc="-1" strike="noStrike">
                <a:solidFill>
                  <a:srgbClr val="222222"/>
                </a:solidFill>
                <a:latin typeface="Yu Gothic"/>
              </a:rPr>
              <a:t>の</a:t>
            </a:r>
            <a:r>
              <a:rPr b="0" lang="en-US" sz="1100" spc="-1" strike="noStrike">
                <a:solidFill>
                  <a:srgbClr val="222222"/>
                </a:solidFill>
                <a:latin typeface="Yu Gothic"/>
              </a:rPr>
              <a:t>3D</a:t>
            </a:r>
            <a:r>
              <a:rPr b="0" lang="zh-CN" sz="1100" spc="-1" strike="noStrike">
                <a:solidFill>
                  <a:srgbClr val="222222"/>
                </a:solidFill>
                <a:latin typeface="Yu Gothic"/>
              </a:rPr>
              <a:t>ビューア</a:t>
            </a:r>
            <a:endParaRPr b="0" lang="en-US" sz="1100" spc="-1" strike="noStrike">
              <a:latin typeface="Arial"/>
            </a:endParaRPr>
          </a:p>
          <a:p>
            <a:pPr>
              <a:lnSpc>
                <a:spcPct val="115000"/>
              </a:lnSpc>
            </a:pPr>
            <a:r>
              <a:rPr b="0" lang="zh-CN" sz="1100" spc="-1" strike="noStrike">
                <a:solidFill>
                  <a:srgbClr val="222222"/>
                </a:solidFill>
                <a:latin typeface="Yu Gothic"/>
              </a:rPr>
              <a:t>表示専用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556" name="CustomShape 14"/>
          <p:cNvSpPr/>
          <p:nvPr/>
        </p:nvSpPr>
        <p:spPr>
          <a:xfrm>
            <a:off x="9281160" y="3429000"/>
            <a:ext cx="2194200" cy="6670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15000"/>
              </a:lnSpc>
            </a:pPr>
            <a:r>
              <a:rPr b="0" lang="zh-CN" sz="1100" spc="-1" strike="noStrike">
                <a:solidFill>
                  <a:srgbClr val="222222"/>
                </a:solidFill>
                <a:latin typeface="Yu Gothic"/>
              </a:rPr>
              <a:t>ブラウザが直接</a:t>
            </a:r>
            <a:r>
              <a:rPr b="0" lang="en-US" sz="1100" spc="-1" strike="noStrike">
                <a:solidFill>
                  <a:srgbClr val="222222"/>
                </a:solidFill>
                <a:latin typeface="Yu Gothic"/>
              </a:rPr>
              <a:t>fetch</a:t>
            </a:r>
            <a:endParaRPr b="0" lang="en-US" sz="1100" spc="-1" strike="noStrike">
              <a:latin typeface="Arial"/>
            </a:endParaRPr>
          </a:p>
          <a:p>
            <a:pPr>
              <a:lnSpc>
                <a:spcPct val="115000"/>
              </a:lnSpc>
            </a:pPr>
            <a:r>
              <a:rPr b="0" lang="en-US" sz="1100" spc="-1" strike="noStrike">
                <a:solidFill>
                  <a:srgbClr val="222222"/>
                </a:solidFill>
                <a:latin typeface="Yu Gothic"/>
              </a:rPr>
              <a:t>(GitHub Pages, </a:t>
            </a:r>
            <a:r>
              <a:rPr b="0" lang="zh-CN" sz="1100" spc="-1" strike="noStrike">
                <a:solidFill>
                  <a:srgbClr val="222222"/>
                </a:solidFill>
                <a:latin typeface="Yu Gothic"/>
              </a:rPr>
              <a:t>同一オリジン</a:t>
            </a:r>
            <a:r>
              <a:rPr b="0" lang="en-US" sz="1100" spc="-1" strike="noStrike">
                <a:solidFill>
                  <a:srgbClr val="222222"/>
                </a:solidFill>
                <a:latin typeface="Yu Gothic"/>
              </a:rPr>
              <a:t>)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557" name="CustomShape 15"/>
          <p:cNvSpPr/>
          <p:nvPr/>
        </p:nvSpPr>
        <p:spPr>
          <a:xfrm>
            <a:off x="548640" y="4709160"/>
            <a:ext cx="2651400" cy="1234080"/>
          </a:xfrm>
          <a:prstGeom prst="roundRect">
            <a:avLst>
              <a:gd name="adj" fmla="val 16667"/>
            </a:avLst>
          </a:prstGeom>
          <a:solidFill>
            <a:srgbClr val="6b7280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000" spc="-1" strike="noStrike">
                <a:solidFill>
                  <a:srgbClr val="ffffff"/>
                </a:solidFill>
                <a:latin typeface="Yu Gothic"/>
              </a:rPr>
              <a:t>(</a:t>
            </a:r>
            <a:r>
              <a:rPr b="1" lang="zh-CN" sz="1000" spc="-1" strike="noStrike">
                <a:solidFill>
                  <a:srgbClr val="ffffff"/>
                </a:solidFill>
                <a:latin typeface="Yu Gothic"/>
              </a:rPr>
              <a:t>将来</a:t>
            </a:r>
            <a:r>
              <a:rPr b="1" lang="en-US" sz="1000" spc="-1" strike="noStrike">
                <a:solidFill>
                  <a:srgbClr val="ffffff"/>
                </a:solidFill>
                <a:latin typeface="Yu Gothic"/>
              </a:rPr>
              <a:t>)</a:t>
            </a:r>
            <a:r>
              <a:rPr b="1" lang="zh-CN" sz="1000" spc="-1" strike="noStrike">
                <a:solidFill>
                  <a:srgbClr val="ffffff"/>
                </a:solidFill>
                <a:latin typeface="Yu Gothic"/>
              </a:rPr>
              <a:t>ロボット記述</a:t>
            </a:r>
            <a:br/>
            <a:r>
              <a:rPr b="1" lang="zh-CN" sz="1000" spc="-1" strike="noStrike">
                <a:solidFill>
                  <a:srgbClr val="ffffff"/>
                </a:solidFill>
                <a:latin typeface="Yu Gothic"/>
              </a:rPr>
              <a:t>ブロブ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558" name="CustomShape 16"/>
          <p:cNvSpPr/>
          <p:nvPr/>
        </p:nvSpPr>
        <p:spPr>
          <a:xfrm>
            <a:off x="3246120" y="4754880"/>
            <a:ext cx="3108600" cy="4748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15000"/>
              </a:lnSpc>
            </a:pPr>
            <a:r>
              <a:rPr b="0" lang="en-US" sz="1100" spc="-1" strike="noStrike">
                <a:solidFill>
                  <a:srgbClr val="222222"/>
                </a:solidFill>
                <a:latin typeface="Yu Gothic"/>
              </a:rPr>
              <a:t>NN</a:t>
            </a:r>
            <a:r>
              <a:rPr b="0" lang="zh-CN" sz="1100" spc="-1" strike="noStrike">
                <a:solidFill>
                  <a:srgbClr val="222222"/>
                </a:solidFill>
                <a:latin typeface="Yu Gothic"/>
              </a:rPr>
              <a:t>形状</a:t>
            </a:r>
            <a:r>
              <a:rPr b="0" lang="en-US" sz="1100" spc="-1" strike="noStrike">
                <a:solidFill>
                  <a:srgbClr val="222222"/>
                </a:solidFill>
                <a:latin typeface="Yu Gothic"/>
              </a:rPr>
              <a:t>+</a:t>
            </a:r>
            <a:r>
              <a:rPr b="0" lang="zh-CN" sz="1100" spc="-1" strike="noStrike">
                <a:solidFill>
                  <a:srgbClr val="222222"/>
                </a:solidFill>
                <a:latin typeface="Yu Gothic"/>
              </a:rPr>
              <a:t>サーボマップ</a:t>
            </a:r>
            <a:r>
              <a:rPr b="0" lang="en-US" sz="1100" spc="-1" strike="noStrike">
                <a:solidFill>
                  <a:srgbClr val="222222"/>
                </a:solidFill>
                <a:latin typeface="Yu Gothic"/>
              </a:rPr>
              <a:t>+</a:t>
            </a:r>
            <a:endParaRPr b="0" lang="en-US" sz="1100" spc="-1" strike="noStrike">
              <a:latin typeface="Arial"/>
            </a:endParaRPr>
          </a:p>
          <a:p>
            <a:pPr>
              <a:lnSpc>
                <a:spcPct val="115000"/>
              </a:lnSpc>
            </a:pPr>
            <a:r>
              <a:rPr b="0" lang="zh-CN" sz="1100" spc="-1" strike="noStrike">
                <a:solidFill>
                  <a:srgbClr val="222222"/>
                </a:solidFill>
                <a:latin typeface="Yu Gothic"/>
              </a:rPr>
              <a:t>ホーム位置</a:t>
            </a:r>
            <a:r>
              <a:rPr b="0" lang="en-US" sz="1100" spc="-1" strike="noStrike">
                <a:solidFill>
                  <a:srgbClr val="222222"/>
                </a:solidFill>
                <a:latin typeface="Yu Gothic"/>
              </a:rPr>
              <a:t>+</a:t>
            </a:r>
            <a:r>
              <a:rPr b="0" lang="zh-CN" sz="1100" spc="-1" strike="noStrike">
                <a:solidFill>
                  <a:srgbClr val="222222"/>
                </a:solidFill>
                <a:latin typeface="Yu Gothic"/>
              </a:rPr>
              <a:t>モーション統合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559" name="CustomShape 17"/>
          <p:cNvSpPr/>
          <p:nvPr/>
        </p:nvSpPr>
        <p:spPr>
          <a:xfrm>
            <a:off x="6446520" y="4754880"/>
            <a:ext cx="2742840" cy="2826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15000"/>
              </a:lnSpc>
            </a:pPr>
            <a:r>
              <a:rPr b="0" lang="zh-CN" sz="1100" spc="-1" strike="noStrike">
                <a:solidFill>
                  <a:srgbClr val="222222"/>
                </a:solidFill>
                <a:latin typeface="Yu Gothic"/>
              </a:rPr>
              <a:t>フェーズ</a:t>
            </a:r>
            <a:r>
              <a:rPr b="0" lang="en-US" sz="1100" spc="-1" strike="noStrike">
                <a:solidFill>
                  <a:srgbClr val="222222"/>
                </a:solidFill>
                <a:latin typeface="Yu Gothic"/>
              </a:rPr>
              <a:t>4-5(</a:t>
            </a:r>
            <a:r>
              <a:rPr b="0" lang="zh-CN" sz="1100" spc="-1" strike="noStrike">
                <a:solidFill>
                  <a:srgbClr val="222222"/>
                </a:solidFill>
                <a:latin typeface="Yu Gothic"/>
              </a:rPr>
              <a:t>未実装</a:t>
            </a:r>
            <a:r>
              <a:rPr b="0" lang="en-US" sz="1100" spc="-1" strike="noStrike">
                <a:solidFill>
                  <a:srgbClr val="222222"/>
                </a:solidFill>
                <a:latin typeface="Yu Gothic"/>
              </a:rPr>
              <a:t>)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560" name="CustomShape 18"/>
          <p:cNvSpPr/>
          <p:nvPr/>
        </p:nvSpPr>
        <p:spPr>
          <a:xfrm>
            <a:off x="9281160" y="4754880"/>
            <a:ext cx="2194200" cy="4748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15000"/>
              </a:lnSpc>
            </a:pPr>
            <a:r>
              <a:rPr b="0" lang="zh-CN" sz="1100" spc="-1" strike="noStrike">
                <a:solidFill>
                  <a:srgbClr val="222222"/>
                </a:solidFill>
                <a:latin typeface="Yu Gothic"/>
              </a:rPr>
              <a:t>スマホが</a:t>
            </a:r>
            <a:r>
              <a:rPr b="0" lang="en-US" sz="1100" spc="-1" strike="noStrike">
                <a:solidFill>
                  <a:srgbClr val="222222"/>
                </a:solidFill>
                <a:latin typeface="Yu Gothic"/>
              </a:rPr>
              <a:t>POST</a:t>
            </a:r>
            <a:r>
              <a:rPr b="0" lang="zh-CN" sz="1100" spc="-1" strike="noStrike">
                <a:solidFill>
                  <a:srgbClr val="222222"/>
                </a:solidFill>
                <a:latin typeface="Yu Gothic"/>
              </a:rPr>
              <a:t>転送</a:t>
            </a:r>
            <a:endParaRPr b="0" lang="en-US" sz="1100" spc="-1" strike="noStrike">
              <a:latin typeface="Arial"/>
            </a:endParaRPr>
          </a:p>
          <a:p>
            <a:pPr>
              <a:lnSpc>
                <a:spcPct val="115000"/>
              </a:lnSpc>
            </a:pPr>
            <a:r>
              <a:rPr b="0" lang="en-US" sz="1100" spc="-1" strike="noStrike">
                <a:solidFill>
                  <a:srgbClr val="222222"/>
                </a:solidFill>
                <a:latin typeface="Yu Gothic"/>
              </a:rPr>
              <a:t>(NN</a:t>
            </a:r>
            <a:r>
              <a:rPr b="0" lang="zh-CN" sz="1100" spc="-1" strike="noStrike">
                <a:solidFill>
                  <a:srgbClr val="222222"/>
                </a:solidFill>
                <a:latin typeface="Yu Gothic"/>
              </a:rPr>
              <a:t>重み配信と同じ方式</a:t>
            </a:r>
            <a:r>
              <a:rPr b="0" lang="en-US" sz="1100" spc="-1" strike="noStrike">
                <a:solidFill>
                  <a:srgbClr val="222222"/>
                </a:solidFill>
                <a:latin typeface="Yu Gothic"/>
              </a:rPr>
              <a:t>)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561" name="CustomShape 19"/>
          <p:cNvSpPr/>
          <p:nvPr/>
        </p:nvSpPr>
        <p:spPr>
          <a:xfrm>
            <a:off x="548640" y="5852160"/>
            <a:ext cx="11063880" cy="585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25000"/>
              </a:lnSpc>
            </a:pPr>
            <a:r>
              <a:rPr b="1" lang="zh-CN" sz="1300" spc="-1" strike="noStrike">
                <a:solidFill>
                  <a:srgbClr val="b03030"/>
                </a:solidFill>
                <a:latin typeface="Yu Gothic"/>
              </a:rPr>
              <a:t>重要な違い</a:t>
            </a:r>
            <a:r>
              <a:rPr b="1" lang="en-US" sz="1300" spc="-1" strike="noStrike">
                <a:solidFill>
                  <a:srgbClr val="b03030"/>
                </a:solidFill>
                <a:latin typeface="Yu Gothic"/>
              </a:rPr>
              <a:t>: docs/urdf_viewer/ </a:t>
            </a:r>
            <a:r>
              <a:rPr b="1" lang="zh-CN" sz="1300" spc="-1" strike="noStrike">
                <a:solidFill>
                  <a:srgbClr val="b03030"/>
                </a:solidFill>
                <a:latin typeface="Yu Gothic"/>
              </a:rPr>
              <a:t>の</a:t>
            </a:r>
            <a:r>
              <a:rPr b="1" lang="en-US" sz="1300" spc="-1" strike="noStrike">
                <a:solidFill>
                  <a:srgbClr val="b03030"/>
                </a:solidFill>
                <a:latin typeface="Yu Gothic"/>
              </a:rPr>
              <a:t>3D</a:t>
            </a:r>
            <a:r>
              <a:rPr b="1" lang="zh-CN" sz="1300" spc="-1" strike="noStrike">
                <a:solidFill>
                  <a:srgbClr val="b03030"/>
                </a:solidFill>
                <a:latin typeface="Yu Gothic"/>
              </a:rPr>
              <a:t>モデルデータは表示専用で、</a:t>
            </a:r>
            <a:r>
              <a:rPr b="1" lang="en-US" sz="1300" spc="-1" strike="noStrike">
                <a:solidFill>
                  <a:srgbClr val="b03030"/>
                </a:solidFill>
                <a:latin typeface="Yu Gothic"/>
              </a:rPr>
              <a:t>firmware</a:t>
            </a:r>
            <a:r>
              <a:rPr b="1" lang="zh-CN" sz="1300" spc="-1" strike="noStrike">
                <a:solidFill>
                  <a:srgbClr val="b03030"/>
                </a:solidFill>
                <a:latin typeface="Yu Gothic"/>
              </a:rPr>
              <a:t>の実行やロボットの動作には一切関与しない。</a:t>
            </a:r>
            <a:endParaRPr b="0" lang="en-US" sz="1300" spc="-1" strike="noStrike">
              <a:latin typeface="Arial"/>
            </a:endParaRPr>
          </a:p>
          <a:p>
            <a:pPr>
              <a:lnSpc>
                <a:spcPct val="125000"/>
              </a:lnSpc>
            </a:pPr>
            <a:r>
              <a:rPr b="1" lang="en-US" sz="1300" spc="-1" strike="noStrike">
                <a:solidFill>
                  <a:srgbClr val="b03030"/>
                </a:solidFill>
                <a:latin typeface="Yu Gothic"/>
              </a:rPr>
              <a:t>downloadable_policies/ </a:t>
            </a:r>
            <a:r>
              <a:rPr b="1" lang="zh-CN" sz="1300" spc="-1" strike="noStrike">
                <a:solidFill>
                  <a:srgbClr val="b03030"/>
                </a:solidFill>
                <a:latin typeface="Yu Gothic"/>
              </a:rPr>
              <a:t>と将来のロボット記述ブロブは逆に、</a:t>
            </a:r>
            <a:r>
              <a:rPr b="1" lang="en-US" sz="1300" spc="-1" strike="noStrike">
                <a:solidFill>
                  <a:srgbClr val="b03030"/>
                </a:solidFill>
                <a:latin typeface="Yu Gothic"/>
              </a:rPr>
              <a:t>firmware</a:t>
            </a:r>
            <a:r>
              <a:rPr b="1" lang="zh-CN" sz="1300" spc="-1" strike="noStrike">
                <a:solidFill>
                  <a:srgbClr val="b03030"/>
                </a:solidFill>
                <a:latin typeface="Yu Gothic"/>
              </a:rPr>
              <a:t>の動作そのものを左右する実データ。</a:t>
            </a:r>
            <a:endParaRPr b="0" lang="en-US" sz="13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2" name="CustomShape 1"/>
          <p:cNvSpPr/>
          <p:nvPr/>
        </p:nvSpPr>
        <p:spPr>
          <a:xfrm>
            <a:off x="548640" y="320040"/>
            <a:ext cx="7314840" cy="3337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rgbClr val="2e6fc7"/>
                </a:solidFill>
                <a:latin typeface="Yu Gothic"/>
              </a:rPr>
              <a:t>COMPRESSION PIPELINE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563" name="CustomShape 2"/>
          <p:cNvSpPr/>
          <p:nvPr/>
        </p:nvSpPr>
        <p:spPr>
          <a:xfrm>
            <a:off x="548640" y="685800"/>
            <a:ext cx="10515240" cy="10033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zh-CN" sz="3000" spc="-1" strike="noStrike">
                <a:solidFill>
                  <a:srgbClr val="1f2a44"/>
                </a:solidFill>
                <a:latin typeface="Yu Gothic"/>
              </a:rPr>
              <a:t>メッシュ圧縮パイプライン</a:t>
            </a:r>
            <a:r>
              <a:rPr b="1" lang="en-US" sz="3000" spc="-1" strike="noStrike">
                <a:solidFill>
                  <a:srgbClr val="1f2a44"/>
                </a:solidFill>
                <a:latin typeface="Yu Gothic"/>
              </a:rPr>
              <a:t>: COLLADA(.dae) → Draco</a:t>
            </a:r>
            <a:r>
              <a:rPr b="1" lang="zh-CN" sz="3000" spc="-1" strike="noStrike">
                <a:solidFill>
                  <a:srgbClr val="1f2a44"/>
                </a:solidFill>
                <a:latin typeface="Yu Gothic"/>
              </a:rPr>
              <a:t>圧縮</a:t>
            </a:r>
            <a:r>
              <a:rPr b="1" lang="en-US" sz="3000" spc="-1" strike="noStrike">
                <a:solidFill>
                  <a:srgbClr val="1f2a44"/>
                </a:solidFill>
                <a:latin typeface="Yu Gothic"/>
              </a:rPr>
              <a:t>glTF(.glb)</a:t>
            </a:r>
            <a:endParaRPr b="0" lang="en-US" sz="3000" spc="-1" strike="noStrike">
              <a:latin typeface="Arial"/>
            </a:endParaRPr>
          </a:p>
        </p:txBody>
      </p:sp>
      <p:sp>
        <p:nvSpPr>
          <p:cNvPr id="564" name="CustomShape 3"/>
          <p:cNvSpPr/>
          <p:nvPr/>
        </p:nvSpPr>
        <p:spPr>
          <a:xfrm>
            <a:off x="548640" y="1691640"/>
            <a:ext cx="2605680" cy="639720"/>
          </a:xfrm>
          <a:prstGeom prst="roundRect">
            <a:avLst>
              <a:gd name="adj" fmla="val 16667"/>
            </a:avLst>
          </a:prstGeom>
          <a:solidFill>
            <a:srgbClr val="6b7280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Yu Gothic"/>
              </a:rPr>
              <a:t>① </a:t>
            </a:r>
            <a:r>
              <a:rPr b="1" lang="zh-CN" sz="1300" spc="-1" strike="noStrike">
                <a:solidFill>
                  <a:srgbClr val="ffffff"/>
                </a:solidFill>
                <a:latin typeface="Yu Gothic"/>
              </a:rPr>
              <a:t>生成元</a:t>
            </a:r>
            <a:br/>
            <a:r>
              <a:rPr b="1" lang="en-US" sz="1300" spc="-1" strike="noStrike">
                <a:solidFill>
                  <a:srgbClr val="ffffff"/>
                </a:solidFill>
                <a:latin typeface="Yu Gothic"/>
              </a:rPr>
              <a:t>.dae (COLLADA)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565" name="CustomShape 4"/>
          <p:cNvSpPr/>
          <p:nvPr/>
        </p:nvSpPr>
        <p:spPr>
          <a:xfrm>
            <a:off x="548640" y="2423160"/>
            <a:ext cx="2605680" cy="4417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10000"/>
              </a:lnSpc>
            </a:pPr>
            <a:r>
              <a:rPr b="0" lang="en-US" sz="1050" spc="-1" strike="noStrike">
                <a:solidFill>
                  <a:srgbClr val="222222"/>
                </a:solidFill>
                <a:latin typeface="Yu Gothic"/>
              </a:rPr>
              <a:t>CAD</a:t>
            </a:r>
            <a:r>
              <a:rPr b="0" lang="zh-CN" sz="1050" spc="-1" strike="noStrike">
                <a:solidFill>
                  <a:srgbClr val="222222"/>
                </a:solidFill>
                <a:latin typeface="Yu Gothic"/>
              </a:rPr>
              <a:t>由来のメッシュそのまま</a:t>
            </a:r>
            <a:endParaRPr b="0" lang="en-US" sz="1050" spc="-1" strike="noStrike">
              <a:latin typeface="Arial"/>
            </a:endParaRPr>
          </a:p>
          <a:p>
            <a:pPr>
              <a:lnSpc>
                <a:spcPct val="110000"/>
              </a:lnSpc>
            </a:pPr>
            <a:r>
              <a:rPr b="0" lang="en-US" sz="1050" spc="-1" strike="noStrike">
                <a:solidFill>
                  <a:srgbClr val="222222"/>
                </a:solidFill>
                <a:latin typeface="Yu Gothic"/>
              </a:rPr>
              <a:t>(</a:t>
            </a:r>
            <a:r>
              <a:rPr b="0" lang="zh-CN" sz="1050" spc="-1" strike="noStrike">
                <a:solidFill>
                  <a:srgbClr val="222222"/>
                </a:solidFill>
                <a:latin typeface="Yu Gothic"/>
              </a:rPr>
              <a:t>頂点・法線・色を平文で記述</a:t>
            </a:r>
            <a:r>
              <a:rPr b="0" lang="en-US" sz="1050" spc="-1" strike="noStrike">
                <a:solidFill>
                  <a:srgbClr val="222222"/>
                </a:solidFill>
                <a:latin typeface="Yu Gothic"/>
              </a:rPr>
              <a:t>)</a:t>
            </a:r>
            <a:endParaRPr b="0" lang="en-US" sz="1050" spc="-1" strike="noStrike">
              <a:latin typeface="Arial"/>
            </a:endParaRPr>
          </a:p>
        </p:txBody>
      </p:sp>
      <p:sp>
        <p:nvSpPr>
          <p:cNvPr id="566" name="Line 5"/>
          <p:cNvSpPr/>
          <p:nvPr/>
        </p:nvSpPr>
        <p:spPr>
          <a:xfrm>
            <a:off x="3154680" y="2011680"/>
            <a:ext cx="228600" cy="0"/>
          </a:xfrm>
          <a:prstGeom prst="line">
            <a:avLst/>
          </a:prstGeom>
          <a:ln w="31680">
            <a:solidFill>
              <a:srgbClr val="6b7280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/>
        </p:style>
      </p:sp>
      <p:sp>
        <p:nvSpPr>
          <p:cNvPr id="567" name="CustomShape 6"/>
          <p:cNvSpPr/>
          <p:nvPr/>
        </p:nvSpPr>
        <p:spPr>
          <a:xfrm>
            <a:off x="3383280" y="1691640"/>
            <a:ext cx="2605680" cy="639720"/>
          </a:xfrm>
          <a:prstGeom prst="roundRect">
            <a:avLst>
              <a:gd name="adj" fmla="val 16667"/>
            </a:avLst>
          </a:prstGeom>
          <a:solidFill>
            <a:srgbClr val="2e6fc7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Yu Gothic"/>
              </a:rPr>
              <a:t>② </a:t>
            </a:r>
            <a:r>
              <a:rPr b="1" lang="en-US" sz="1300" spc="-1" strike="noStrike">
                <a:solidFill>
                  <a:srgbClr val="ffffff"/>
                </a:solidFill>
                <a:latin typeface="Yu Gothic"/>
              </a:rPr>
              <a:t>glTF</a:t>
            </a:r>
            <a:r>
              <a:rPr b="1" lang="zh-CN" sz="1300" spc="-1" strike="noStrike">
                <a:solidFill>
                  <a:srgbClr val="ffffff"/>
                </a:solidFill>
                <a:latin typeface="Yu Gothic"/>
              </a:rPr>
              <a:t>化</a:t>
            </a:r>
            <a:br/>
            <a:r>
              <a:rPr b="1" lang="en-US" sz="1300" spc="-1" strike="noStrike">
                <a:solidFill>
                  <a:srgbClr val="ffffff"/>
                </a:solidFill>
                <a:latin typeface="Yu Gothic"/>
              </a:rPr>
              <a:t>trimesh</a:t>
            </a:r>
            <a:r>
              <a:rPr b="1" lang="zh-CN" sz="1300" spc="-1" strike="noStrike">
                <a:solidFill>
                  <a:srgbClr val="ffffff"/>
                </a:solidFill>
                <a:latin typeface="Yu Gothic"/>
              </a:rPr>
              <a:t>で</a:t>
            </a:r>
            <a:r>
              <a:rPr b="1" lang="en-US" sz="1300" spc="-1" strike="noStrike">
                <a:solidFill>
                  <a:srgbClr val="ffffff"/>
                </a:solidFill>
                <a:latin typeface="Yu Gothic"/>
              </a:rPr>
              <a:t>.glb</a:t>
            </a:r>
            <a:r>
              <a:rPr b="1" lang="zh-CN" sz="1300" spc="-1" strike="noStrike">
                <a:solidFill>
                  <a:srgbClr val="ffffff"/>
                </a:solidFill>
                <a:latin typeface="Yu Gothic"/>
              </a:rPr>
              <a:t>変換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568" name="CustomShape 7"/>
          <p:cNvSpPr/>
          <p:nvPr/>
        </p:nvSpPr>
        <p:spPr>
          <a:xfrm>
            <a:off x="3383280" y="2423160"/>
            <a:ext cx="2605680" cy="6174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10000"/>
              </a:lnSpc>
            </a:pPr>
            <a:r>
              <a:rPr b="0" lang="en-US" sz="1050" spc="-1" strike="noStrike">
                <a:solidFill>
                  <a:srgbClr val="222222"/>
                </a:solidFill>
                <a:latin typeface="Yu Gothic"/>
              </a:rPr>
              <a:t>trimesh.load(dae) →</a:t>
            </a:r>
            <a:endParaRPr b="0" lang="en-US" sz="1050" spc="-1" strike="noStrike">
              <a:latin typeface="Arial"/>
            </a:endParaRPr>
          </a:p>
          <a:p>
            <a:pPr>
              <a:lnSpc>
                <a:spcPct val="110000"/>
              </a:lnSpc>
            </a:pPr>
            <a:r>
              <a:rPr b="0" lang="en-US" sz="1050" spc="-1" strike="noStrike">
                <a:solidFill>
                  <a:srgbClr val="222222"/>
                </a:solidFill>
                <a:latin typeface="Yu Gothic"/>
              </a:rPr>
              <a:t>scene.export(glb)</a:t>
            </a:r>
            <a:endParaRPr b="0" lang="en-US" sz="1050" spc="-1" strike="noStrike">
              <a:latin typeface="Arial"/>
            </a:endParaRPr>
          </a:p>
          <a:p>
            <a:pPr>
              <a:lnSpc>
                <a:spcPct val="110000"/>
              </a:lnSpc>
            </a:pPr>
            <a:r>
              <a:rPr b="0" lang="en-US" sz="1050" spc="-1" strike="noStrike">
                <a:solidFill>
                  <a:srgbClr val="222222"/>
                </a:solidFill>
                <a:latin typeface="Yu Gothic"/>
              </a:rPr>
              <a:t>(</a:t>
            </a:r>
            <a:r>
              <a:rPr b="0" lang="zh-CN" sz="1050" spc="-1" strike="noStrike">
                <a:solidFill>
                  <a:srgbClr val="222222"/>
                </a:solidFill>
                <a:latin typeface="Yu Gothic"/>
              </a:rPr>
              <a:t>非圧縮バイナリ</a:t>
            </a:r>
            <a:r>
              <a:rPr b="0" lang="en-US" sz="1050" spc="-1" strike="noStrike">
                <a:solidFill>
                  <a:srgbClr val="222222"/>
                </a:solidFill>
                <a:latin typeface="Yu Gothic"/>
              </a:rPr>
              <a:t>glTF)</a:t>
            </a:r>
            <a:endParaRPr b="0" lang="en-US" sz="1050" spc="-1" strike="noStrike">
              <a:latin typeface="Arial"/>
            </a:endParaRPr>
          </a:p>
        </p:txBody>
      </p:sp>
      <p:sp>
        <p:nvSpPr>
          <p:cNvPr id="569" name="Line 8"/>
          <p:cNvSpPr/>
          <p:nvPr/>
        </p:nvSpPr>
        <p:spPr>
          <a:xfrm>
            <a:off x="5989320" y="2011680"/>
            <a:ext cx="228600" cy="0"/>
          </a:xfrm>
          <a:prstGeom prst="line">
            <a:avLst/>
          </a:prstGeom>
          <a:ln w="31680">
            <a:solidFill>
              <a:srgbClr val="6b7280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/>
        </p:style>
      </p:sp>
      <p:sp>
        <p:nvSpPr>
          <p:cNvPr id="570" name="CustomShape 9"/>
          <p:cNvSpPr/>
          <p:nvPr/>
        </p:nvSpPr>
        <p:spPr>
          <a:xfrm>
            <a:off x="6217920" y="1691640"/>
            <a:ext cx="2605680" cy="639720"/>
          </a:xfrm>
          <a:prstGeom prst="roundRect">
            <a:avLst>
              <a:gd name="adj" fmla="val 16667"/>
            </a:avLst>
          </a:prstGeom>
          <a:solidFill>
            <a:srgbClr val="b03030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Yu Gothic"/>
              </a:rPr>
              <a:t>③ </a:t>
            </a:r>
            <a:r>
              <a:rPr b="1" lang="en-US" sz="1300" spc="-1" strike="noStrike">
                <a:solidFill>
                  <a:srgbClr val="ffffff"/>
                </a:solidFill>
                <a:latin typeface="Yu Gothic"/>
              </a:rPr>
              <a:t>Draco</a:t>
            </a:r>
            <a:r>
              <a:rPr b="1" lang="zh-CN" sz="1300" spc="-1" strike="noStrike">
                <a:solidFill>
                  <a:srgbClr val="ffffff"/>
                </a:solidFill>
                <a:latin typeface="Yu Gothic"/>
              </a:rPr>
              <a:t>圧縮</a:t>
            </a:r>
            <a:br/>
            <a:r>
              <a:rPr b="1" lang="en-US" sz="1300" spc="-1" strike="noStrike">
                <a:solidFill>
                  <a:srgbClr val="ffffff"/>
                </a:solidFill>
                <a:latin typeface="Yu Gothic"/>
              </a:rPr>
              <a:t>gltf-pipeline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571" name="CustomShape 10"/>
          <p:cNvSpPr/>
          <p:nvPr/>
        </p:nvSpPr>
        <p:spPr>
          <a:xfrm>
            <a:off x="6217920" y="2423160"/>
            <a:ext cx="2605680" cy="6174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10000"/>
              </a:lnSpc>
            </a:pPr>
            <a:r>
              <a:rPr b="0" lang="en-US" sz="1050" spc="-1" strike="noStrike">
                <a:solidFill>
                  <a:srgbClr val="222222"/>
                </a:solidFill>
                <a:latin typeface="Yu Gothic"/>
              </a:rPr>
              <a:t>--draco.compressMeshes</a:t>
            </a:r>
            <a:endParaRPr b="0" lang="en-US" sz="1050" spc="-1" strike="noStrike">
              <a:latin typeface="Arial"/>
            </a:endParaRPr>
          </a:p>
          <a:p>
            <a:pPr>
              <a:lnSpc>
                <a:spcPct val="110000"/>
              </a:lnSpc>
            </a:pPr>
            <a:r>
              <a:rPr b="0" lang="en-US" sz="1050" spc="-1" strike="noStrike">
                <a:solidFill>
                  <a:srgbClr val="222222"/>
                </a:solidFill>
                <a:latin typeface="Yu Gothic"/>
              </a:rPr>
              <a:t>compressionLevel=10</a:t>
            </a:r>
            <a:endParaRPr b="0" lang="en-US" sz="1050" spc="-1" strike="noStrike">
              <a:latin typeface="Arial"/>
            </a:endParaRPr>
          </a:p>
          <a:p>
            <a:pPr>
              <a:lnSpc>
                <a:spcPct val="110000"/>
              </a:lnSpc>
            </a:pPr>
            <a:r>
              <a:rPr b="0" lang="en-US" sz="1050" spc="-1" strike="noStrike">
                <a:solidFill>
                  <a:srgbClr val="222222"/>
                </a:solidFill>
                <a:latin typeface="Yu Gothic"/>
              </a:rPr>
              <a:t>quantizePositionBits=11</a:t>
            </a:r>
            <a:endParaRPr b="0" lang="en-US" sz="1050" spc="-1" strike="noStrike">
              <a:latin typeface="Arial"/>
            </a:endParaRPr>
          </a:p>
        </p:txBody>
      </p:sp>
      <p:sp>
        <p:nvSpPr>
          <p:cNvPr id="572" name="Line 11"/>
          <p:cNvSpPr/>
          <p:nvPr/>
        </p:nvSpPr>
        <p:spPr>
          <a:xfrm>
            <a:off x="8823960" y="2011680"/>
            <a:ext cx="228600" cy="0"/>
          </a:xfrm>
          <a:prstGeom prst="line">
            <a:avLst/>
          </a:prstGeom>
          <a:ln w="31680">
            <a:solidFill>
              <a:srgbClr val="6b7280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/>
        </p:style>
      </p:sp>
      <p:sp>
        <p:nvSpPr>
          <p:cNvPr id="573" name="CustomShape 12"/>
          <p:cNvSpPr/>
          <p:nvPr/>
        </p:nvSpPr>
        <p:spPr>
          <a:xfrm>
            <a:off x="9052560" y="1691640"/>
            <a:ext cx="2605680" cy="639720"/>
          </a:xfrm>
          <a:prstGeom prst="roundRect">
            <a:avLst>
              <a:gd name="adj" fmla="val 16667"/>
            </a:avLst>
          </a:prstGeom>
          <a:solidFill>
            <a:srgbClr val="2ea059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Yu Gothic"/>
              </a:rPr>
              <a:t>④ </a:t>
            </a:r>
            <a:r>
              <a:rPr b="1" lang="zh-CN" sz="1300" spc="-1" strike="noStrike">
                <a:solidFill>
                  <a:srgbClr val="ffffff"/>
                </a:solidFill>
                <a:latin typeface="Yu Gothic"/>
              </a:rPr>
              <a:t>完成</a:t>
            </a:r>
            <a:br/>
            <a:r>
              <a:rPr b="1" lang="en-US" sz="1300" spc="-1" strike="noStrike">
                <a:solidFill>
                  <a:srgbClr val="ffffff"/>
                </a:solidFill>
                <a:latin typeface="Yu Gothic"/>
              </a:rPr>
              <a:t>.glb (Draco)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574" name="CustomShape 13"/>
          <p:cNvSpPr/>
          <p:nvPr/>
        </p:nvSpPr>
        <p:spPr>
          <a:xfrm>
            <a:off x="9052560" y="2423160"/>
            <a:ext cx="2605680" cy="6174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10000"/>
              </a:lnSpc>
            </a:pPr>
            <a:r>
              <a:rPr b="0" lang="en-US" sz="1050" spc="-1" strike="noStrike">
                <a:solidFill>
                  <a:srgbClr val="222222"/>
                </a:solidFill>
                <a:latin typeface="Yu Gothic"/>
              </a:rPr>
              <a:t>GitHub</a:t>
            </a:r>
            <a:r>
              <a:rPr b="0" lang="zh-CN" sz="1050" spc="-1" strike="noStrike">
                <a:solidFill>
                  <a:srgbClr val="222222"/>
                </a:solidFill>
                <a:latin typeface="Yu Gothic"/>
              </a:rPr>
              <a:t>に置く最終形</a:t>
            </a:r>
            <a:endParaRPr b="0" lang="en-US" sz="1050" spc="-1" strike="noStrike">
              <a:latin typeface="Arial"/>
            </a:endParaRPr>
          </a:p>
          <a:p>
            <a:pPr>
              <a:lnSpc>
                <a:spcPct val="110000"/>
              </a:lnSpc>
            </a:pPr>
            <a:r>
              <a:rPr b="0" lang="en-US" sz="1050" spc="-1" strike="noStrike">
                <a:solidFill>
                  <a:srgbClr val="222222"/>
                </a:solidFill>
                <a:latin typeface="Yu Gothic"/>
              </a:rPr>
              <a:t>(URDF</a:t>
            </a:r>
            <a:r>
              <a:rPr b="0" lang="zh-CN" sz="1050" spc="-1" strike="noStrike">
                <a:solidFill>
                  <a:srgbClr val="222222"/>
                </a:solidFill>
                <a:latin typeface="Yu Gothic"/>
              </a:rPr>
              <a:t>の</a:t>
            </a:r>
            <a:r>
              <a:rPr b="0" lang="en-US" sz="1050" spc="-1" strike="noStrike">
                <a:solidFill>
                  <a:srgbClr val="222222"/>
                </a:solidFill>
                <a:latin typeface="Yu Gothic"/>
              </a:rPr>
              <a:t>mesh</a:t>
            </a:r>
            <a:r>
              <a:rPr b="0" lang="zh-CN" sz="1050" spc="-1" strike="noStrike">
                <a:solidFill>
                  <a:srgbClr val="222222"/>
                </a:solidFill>
                <a:latin typeface="Yu Gothic"/>
              </a:rPr>
              <a:t>参照も</a:t>
            </a:r>
            <a:endParaRPr b="0" lang="en-US" sz="1050" spc="-1" strike="noStrike">
              <a:latin typeface="Arial"/>
            </a:endParaRPr>
          </a:p>
          <a:p>
            <a:pPr>
              <a:lnSpc>
                <a:spcPct val="110000"/>
              </a:lnSpc>
            </a:pPr>
            <a:r>
              <a:rPr b="0" lang="en-US" sz="1050" spc="-1" strike="noStrike">
                <a:solidFill>
                  <a:srgbClr val="222222"/>
                </a:solidFill>
                <a:latin typeface="Yu Gothic"/>
              </a:rPr>
              <a:t>.glb</a:t>
            </a:r>
            <a:r>
              <a:rPr b="0" lang="zh-CN" sz="1050" spc="-1" strike="noStrike">
                <a:solidFill>
                  <a:srgbClr val="222222"/>
                </a:solidFill>
                <a:latin typeface="Yu Gothic"/>
              </a:rPr>
              <a:t>へ一括置換</a:t>
            </a:r>
            <a:r>
              <a:rPr b="0" lang="en-US" sz="1050" spc="-1" strike="noStrike">
                <a:solidFill>
                  <a:srgbClr val="222222"/>
                </a:solidFill>
                <a:latin typeface="Yu Gothic"/>
              </a:rPr>
              <a:t>)</a:t>
            </a:r>
            <a:endParaRPr b="0" lang="en-US" sz="1050" spc="-1" strike="noStrike">
              <a:latin typeface="Arial"/>
            </a:endParaRPr>
          </a:p>
        </p:txBody>
      </p:sp>
      <p:sp>
        <p:nvSpPr>
          <p:cNvPr id="575" name="CustomShape 14"/>
          <p:cNvSpPr/>
          <p:nvPr/>
        </p:nvSpPr>
        <p:spPr>
          <a:xfrm>
            <a:off x="548640" y="3291840"/>
            <a:ext cx="5303160" cy="347040"/>
          </a:xfrm>
          <a:prstGeom prst="roundRect">
            <a:avLst>
              <a:gd name="adj" fmla="val 16667"/>
            </a:avLst>
          </a:prstGeom>
          <a:solidFill>
            <a:srgbClr val="6b7280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Yu Gothic"/>
              </a:rPr>
              <a:t>glTF</a:t>
            </a:r>
            <a:r>
              <a:rPr b="1" lang="zh-CN" sz="1200" spc="-1" strike="noStrike">
                <a:solidFill>
                  <a:srgbClr val="ffffff"/>
                </a:solidFill>
                <a:latin typeface="Yu Gothic"/>
              </a:rPr>
              <a:t>とは</a:t>
            </a:r>
            <a:r>
              <a:rPr b="1" lang="en-US" sz="1200" spc="-1" strike="noStrike">
                <a:solidFill>
                  <a:srgbClr val="ffffff"/>
                </a:solidFill>
                <a:latin typeface="Yu Gothic"/>
              </a:rPr>
              <a:t>(GL Transmission Format)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576" name="CustomShape 15"/>
          <p:cNvSpPr/>
          <p:nvPr/>
        </p:nvSpPr>
        <p:spPr>
          <a:xfrm>
            <a:off x="548640" y="3657600"/>
            <a:ext cx="5303160" cy="4251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10000"/>
              </a:lnSpc>
            </a:pPr>
            <a:r>
              <a:rPr b="0" lang="en-US" sz="1000" spc="-1" strike="noStrike">
                <a:solidFill>
                  <a:srgbClr val="222222"/>
                </a:solidFill>
                <a:latin typeface="Yu Gothic"/>
              </a:rPr>
              <a:t>Khronos Group</a:t>
            </a:r>
            <a:r>
              <a:rPr b="0" lang="zh-CN" sz="1000" spc="-1" strike="noStrike">
                <a:solidFill>
                  <a:srgbClr val="222222"/>
                </a:solidFill>
                <a:latin typeface="Yu Gothic"/>
              </a:rPr>
              <a:t>策定の</a:t>
            </a:r>
            <a:r>
              <a:rPr b="0" lang="en-US" sz="1000" spc="-1" strike="noStrike">
                <a:solidFill>
                  <a:srgbClr val="222222"/>
                </a:solidFill>
                <a:latin typeface="Yu Gothic"/>
              </a:rPr>
              <a:t>3D</a:t>
            </a:r>
            <a:r>
              <a:rPr b="0" lang="zh-CN" sz="1000" spc="-1" strike="noStrike">
                <a:solidFill>
                  <a:srgbClr val="222222"/>
                </a:solidFill>
                <a:latin typeface="Yu Gothic"/>
              </a:rPr>
              <a:t>モデルの標準規格。ジオメトリ・マテリアル・</a:t>
            </a:r>
            <a:endParaRPr b="0" lang="en-US" sz="1000" spc="-1" strike="noStrike">
              <a:latin typeface="Arial"/>
            </a:endParaRPr>
          </a:p>
          <a:p>
            <a:pPr>
              <a:lnSpc>
                <a:spcPct val="110000"/>
              </a:lnSpc>
            </a:pPr>
            <a:r>
              <a:rPr b="0" lang="zh-CN" sz="1000" spc="-1" strike="noStrike">
                <a:solidFill>
                  <a:srgbClr val="222222"/>
                </a:solidFill>
                <a:latin typeface="Yu Gothic"/>
              </a:rPr>
              <a:t>アニメーションを</a:t>
            </a:r>
            <a:r>
              <a:rPr b="0" lang="en-US" sz="1000" spc="-1" strike="noStrike">
                <a:solidFill>
                  <a:srgbClr val="222222"/>
                </a:solidFill>
                <a:latin typeface="Yu Gothic"/>
              </a:rPr>
              <a:t>1</a:t>
            </a:r>
            <a:r>
              <a:rPr b="0" lang="zh-CN" sz="1000" spc="-1" strike="noStrike">
                <a:solidFill>
                  <a:srgbClr val="222222"/>
                </a:solidFill>
                <a:latin typeface="Yu Gothic"/>
              </a:rPr>
              <a:t>ファイルにまとめる、いわば「</a:t>
            </a:r>
            <a:r>
              <a:rPr b="0" lang="en-US" sz="1000" spc="-1" strike="noStrike">
                <a:solidFill>
                  <a:srgbClr val="222222"/>
                </a:solidFill>
                <a:latin typeface="Yu Gothic"/>
              </a:rPr>
              <a:t>3D</a:t>
            </a:r>
            <a:r>
              <a:rPr b="0" lang="zh-CN" sz="1000" spc="-1" strike="noStrike">
                <a:solidFill>
                  <a:srgbClr val="222222"/>
                </a:solidFill>
                <a:latin typeface="Yu Gothic"/>
              </a:rPr>
              <a:t>版の</a:t>
            </a:r>
            <a:r>
              <a:rPr b="0" lang="en-US" sz="1000" spc="-1" strike="noStrike">
                <a:solidFill>
                  <a:srgbClr val="222222"/>
                </a:solidFill>
                <a:latin typeface="Yu Gothic"/>
              </a:rPr>
              <a:t>JPEG</a:t>
            </a:r>
            <a:r>
              <a:rPr b="0" lang="zh-CN" sz="1000" spc="-1" strike="noStrike">
                <a:solidFill>
                  <a:srgbClr val="222222"/>
                </a:solidFill>
                <a:latin typeface="Yu Gothic"/>
              </a:rPr>
              <a:t>」。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577" name="CustomShape 16"/>
          <p:cNvSpPr/>
          <p:nvPr/>
        </p:nvSpPr>
        <p:spPr>
          <a:xfrm>
            <a:off x="6126480" y="3291840"/>
            <a:ext cx="5303160" cy="347040"/>
          </a:xfrm>
          <a:prstGeom prst="roundRect">
            <a:avLst>
              <a:gd name="adj" fmla="val 16667"/>
            </a:avLst>
          </a:prstGeom>
          <a:solidFill>
            <a:srgbClr val="6b7280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Yu Gothic"/>
              </a:rPr>
              <a:t>Draco</a:t>
            </a:r>
            <a:r>
              <a:rPr b="1" lang="zh-CN" sz="1200" spc="-1" strike="noStrike">
                <a:solidFill>
                  <a:srgbClr val="ffffff"/>
                </a:solidFill>
                <a:latin typeface="Yu Gothic"/>
              </a:rPr>
              <a:t>とは</a:t>
            </a:r>
            <a:r>
              <a:rPr b="1" lang="en-US" sz="1200" spc="-1" strike="noStrike">
                <a:solidFill>
                  <a:srgbClr val="ffffff"/>
                </a:solidFill>
                <a:latin typeface="Yu Gothic"/>
              </a:rPr>
              <a:t>(Google</a:t>
            </a:r>
            <a:r>
              <a:rPr b="1" lang="zh-CN" sz="1200" spc="-1" strike="noStrike">
                <a:solidFill>
                  <a:srgbClr val="ffffff"/>
                </a:solidFill>
                <a:latin typeface="Yu Gothic"/>
              </a:rPr>
              <a:t>製</a:t>
            </a:r>
            <a:r>
              <a:rPr b="1" lang="en-US" sz="1200" spc="-1" strike="noStrike">
                <a:solidFill>
                  <a:srgbClr val="ffffff"/>
                </a:solidFill>
                <a:latin typeface="Yu Gothic"/>
              </a:rPr>
              <a:t>)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578" name="CustomShape 17"/>
          <p:cNvSpPr/>
          <p:nvPr/>
        </p:nvSpPr>
        <p:spPr>
          <a:xfrm>
            <a:off x="6126480" y="3657600"/>
            <a:ext cx="5303160" cy="4251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10000"/>
              </a:lnSpc>
            </a:pPr>
            <a:r>
              <a:rPr b="0" lang="zh-CN" sz="1000" spc="-1" strike="noStrike">
                <a:solidFill>
                  <a:srgbClr val="222222"/>
                </a:solidFill>
                <a:latin typeface="Yu Gothic"/>
              </a:rPr>
              <a:t>頂点座標・法線を量子化</a:t>
            </a:r>
            <a:r>
              <a:rPr b="0" lang="en-US" sz="1000" spc="-1" strike="noStrike">
                <a:solidFill>
                  <a:srgbClr val="222222"/>
                </a:solidFill>
                <a:latin typeface="Yu Gothic"/>
              </a:rPr>
              <a:t>+</a:t>
            </a:r>
            <a:r>
              <a:rPr b="0" lang="zh-CN" sz="1000" spc="-1" strike="noStrike">
                <a:solidFill>
                  <a:srgbClr val="222222"/>
                </a:solidFill>
                <a:latin typeface="Yu Gothic"/>
              </a:rPr>
              <a:t>エントロピー符号化するオープンソースの</a:t>
            </a:r>
            <a:endParaRPr b="0" lang="en-US" sz="1000" spc="-1" strike="noStrike">
              <a:latin typeface="Arial"/>
            </a:endParaRPr>
          </a:p>
          <a:p>
            <a:pPr>
              <a:lnSpc>
                <a:spcPct val="110000"/>
              </a:lnSpc>
            </a:pPr>
            <a:r>
              <a:rPr b="0" lang="zh-CN" sz="1000" spc="-1" strike="noStrike">
                <a:solidFill>
                  <a:srgbClr val="222222"/>
                </a:solidFill>
                <a:latin typeface="Yu Gothic"/>
              </a:rPr>
              <a:t>メッシュ圧縮ライブラリ。</a:t>
            </a:r>
            <a:r>
              <a:rPr b="0" lang="en-US" sz="1000" spc="-1" strike="noStrike">
                <a:solidFill>
                  <a:srgbClr val="222222"/>
                </a:solidFill>
                <a:latin typeface="Yu Gothic"/>
              </a:rPr>
              <a:t>glTF</a:t>
            </a:r>
            <a:r>
              <a:rPr b="0" lang="zh-CN" sz="1000" spc="-1" strike="noStrike">
                <a:solidFill>
                  <a:srgbClr val="222222"/>
                </a:solidFill>
                <a:latin typeface="Yu Gothic"/>
              </a:rPr>
              <a:t>の拡張</a:t>
            </a:r>
            <a:r>
              <a:rPr b="0" lang="en-US" sz="1000" spc="-1" strike="noStrike">
                <a:solidFill>
                  <a:srgbClr val="222222"/>
                </a:solidFill>
                <a:latin typeface="Yu Gothic"/>
              </a:rPr>
              <a:t>(.glb</a:t>
            </a:r>
            <a:r>
              <a:rPr b="0" lang="zh-CN" sz="1000" spc="-1" strike="noStrike">
                <a:solidFill>
                  <a:srgbClr val="222222"/>
                </a:solidFill>
                <a:latin typeface="Yu Gothic"/>
              </a:rPr>
              <a:t>内に埋め込む</a:t>
            </a:r>
            <a:r>
              <a:rPr b="0" lang="en-US" sz="1000" spc="-1" strike="noStrike">
                <a:solidFill>
                  <a:srgbClr val="222222"/>
                </a:solidFill>
                <a:latin typeface="Yu Gothic"/>
              </a:rPr>
              <a:t>)</a:t>
            </a:r>
            <a:r>
              <a:rPr b="0" lang="zh-CN" sz="1000" spc="-1" strike="noStrike">
                <a:solidFill>
                  <a:srgbClr val="222222"/>
                </a:solidFill>
                <a:latin typeface="Yu Gothic"/>
              </a:rPr>
              <a:t>として使う。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579" name="CustomShape 18"/>
          <p:cNvSpPr/>
          <p:nvPr/>
        </p:nvSpPr>
        <p:spPr>
          <a:xfrm>
            <a:off x="548640" y="4251960"/>
            <a:ext cx="11063880" cy="3034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zh-CN" sz="1400" spc="-1" strike="noStrike">
                <a:solidFill>
                  <a:srgbClr val="1f2a44"/>
                </a:solidFill>
                <a:latin typeface="Yu Gothic"/>
              </a:rPr>
              <a:t>実測例</a:t>
            </a:r>
            <a:r>
              <a:rPr b="1" lang="en-US" sz="1400" spc="-1" strike="noStrike">
                <a:solidFill>
                  <a:srgbClr val="1f2a44"/>
                </a:solidFill>
                <a:latin typeface="Yu Gothic"/>
              </a:rPr>
              <a:t>(1</a:t>
            </a:r>
            <a:r>
              <a:rPr b="1" lang="zh-CN" sz="1400" spc="-1" strike="noStrike">
                <a:solidFill>
                  <a:srgbClr val="1f2a44"/>
                </a:solidFill>
                <a:latin typeface="Yu Gothic"/>
              </a:rPr>
              <a:t>メッシュ</a:t>
            </a:r>
            <a:r>
              <a:rPr b="1" lang="en-US" sz="1400" spc="-1" strike="noStrike">
                <a:solidFill>
                  <a:srgbClr val="1f2a44"/>
                </a:solidFill>
                <a:latin typeface="Yu Gothic"/>
              </a:rPr>
              <a:t>): head-neck-p_mesh.dae(kxrl4t)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580" name="CustomShape 19"/>
          <p:cNvSpPr/>
          <p:nvPr/>
        </p:nvSpPr>
        <p:spPr>
          <a:xfrm>
            <a:off x="548640" y="4663440"/>
            <a:ext cx="3200040" cy="731160"/>
          </a:xfrm>
          <a:prstGeom prst="roundRect">
            <a:avLst>
              <a:gd name="adj" fmla="val 16667"/>
            </a:avLst>
          </a:prstGeom>
          <a:solidFill>
            <a:srgbClr val="6b7280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500" spc="-1" strike="noStrike">
                <a:solidFill>
                  <a:srgbClr val="ffffff"/>
                </a:solidFill>
                <a:latin typeface="Yu Gothic"/>
              </a:rPr>
              <a:t>60,027 bytes</a:t>
            </a:r>
            <a:br/>
            <a:r>
              <a:rPr b="1" lang="en-US" sz="1500" spc="-1" strike="noStrike">
                <a:solidFill>
                  <a:srgbClr val="ffffff"/>
                </a:solidFill>
                <a:latin typeface="Yu Gothic"/>
              </a:rPr>
              <a:t>.dae (</a:t>
            </a:r>
            <a:r>
              <a:rPr b="1" lang="zh-CN" sz="1500" spc="-1" strike="noStrike">
                <a:solidFill>
                  <a:srgbClr val="ffffff"/>
                </a:solidFill>
                <a:latin typeface="Yu Gothic"/>
              </a:rPr>
              <a:t>元データ</a:t>
            </a:r>
            <a:r>
              <a:rPr b="1" lang="en-US" sz="1500" spc="-1" strike="noStrike">
                <a:solidFill>
                  <a:srgbClr val="ffffff"/>
                </a:solidFill>
                <a:latin typeface="Yu Gothic"/>
              </a:rPr>
              <a:t>)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581" name="CustomShape 20"/>
          <p:cNvSpPr/>
          <p:nvPr/>
        </p:nvSpPr>
        <p:spPr>
          <a:xfrm>
            <a:off x="3931920" y="4663440"/>
            <a:ext cx="3200040" cy="731160"/>
          </a:xfrm>
          <a:prstGeom prst="roundRect">
            <a:avLst>
              <a:gd name="adj" fmla="val 16667"/>
            </a:avLst>
          </a:prstGeom>
          <a:solidFill>
            <a:srgbClr val="2e6fc7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500" spc="-1" strike="noStrike">
                <a:solidFill>
                  <a:srgbClr val="ffffff"/>
                </a:solidFill>
                <a:latin typeface="Yu Gothic"/>
              </a:rPr>
              <a:t>14,400 bytes  (-76%)</a:t>
            </a:r>
            <a:br/>
            <a:r>
              <a:rPr b="1" lang="en-US" sz="1500" spc="-1" strike="noStrike">
                <a:solidFill>
                  <a:srgbClr val="ffffff"/>
                </a:solidFill>
                <a:latin typeface="Yu Gothic"/>
              </a:rPr>
              <a:t>.glb </a:t>
            </a:r>
            <a:r>
              <a:rPr b="1" lang="zh-CN" sz="1500" spc="-1" strike="noStrike">
                <a:solidFill>
                  <a:srgbClr val="ffffff"/>
                </a:solidFill>
                <a:latin typeface="Yu Gothic"/>
              </a:rPr>
              <a:t>非圧縮</a:t>
            </a:r>
            <a:r>
              <a:rPr b="1" lang="en-US" sz="1500" spc="-1" strike="noStrike">
                <a:solidFill>
                  <a:srgbClr val="ffffff"/>
                </a:solidFill>
                <a:latin typeface="Yu Gothic"/>
              </a:rPr>
              <a:t>glTF</a:t>
            </a:r>
            <a:r>
              <a:rPr b="1" lang="zh-CN" sz="1500" spc="-1" strike="noStrike">
                <a:solidFill>
                  <a:srgbClr val="ffffff"/>
                </a:solidFill>
                <a:latin typeface="Yu Gothic"/>
              </a:rPr>
              <a:t>化のみ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582" name="CustomShape 21"/>
          <p:cNvSpPr/>
          <p:nvPr/>
        </p:nvSpPr>
        <p:spPr>
          <a:xfrm>
            <a:off x="7315200" y="4663440"/>
            <a:ext cx="3200040" cy="731160"/>
          </a:xfrm>
          <a:prstGeom prst="roundRect">
            <a:avLst>
              <a:gd name="adj" fmla="val 16667"/>
            </a:avLst>
          </a:prstGeom>
          <a:solidFill>
            <a:srgbClr val="b03030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500" spc="-1" strike="noStrike">
                <a:solidFill>
                  <a:srgbClr val="ffffff"/>
                </a:solidFill>
                <a:latin typeface="Yu Gothic"/>
              </a:rPr>
              <a:t>3,736 bytes  (-93.8%)</a:t>
            </a:r>
            <a:br/>
            <a:r>
              <a:rPr b="1" lang="en-US" sz="1500" spc="-1" strike="noStrike">
                <a:solidFill>
                  <a:srgbClr val="ffffff"/>
                </a:solidFill>
                <a:latin typeface="Yu Gothic"/>
              </a:rPr>
              <a:t>.glb Draco</a:t>
            </a:r>
            <a:r>
              <a:rPr b="1" lang="zh-CN" sz="1500" spc="-1" strike="noStrike">
                <a:solidFill>
                  <a:srgbClr val="ffffff"/>
                </a:solidFill>
                <a:latin typeface="Yu Gothic"/>
              </a:rPr>
              <a:t>圧縮後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583" name="CustomShape 22"/>
          <p:cNvSpPr/>
          <p:nvPr/>
        </p:nvSpPr>
        <p:spPr>
          <a:xfrm>
            <a:off x="548640" y="5623560"/>
            <a:ext cx="11063880" cy="585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25000"/>
              </a:lnSpc>
            </a:pPr>
            <a:r>
              <a:rPr b="0" lang="en-US" sz="1300" spc="-1" strike="noStrike">
                <a:solidFill>
                  <a:srgbClr val="222222"/>
                </a:solidFill>
                <a:latin typeface="Yu Gothic"/>
              </a:rPr>
              <a:t>URDF</a:t>
            </a:r>
            <a:r>
              <a:rPr b="0" lang="zh-CN" sz="1300" spc="-1" strike="noStrike">
                <a:solidFill>
                  <a:srgbClr val="222222"/>
                </a:solidFill>
                <a:latin typeface="Yu Gothic"/>
              </a:rPr>
              <a:t>本体のテキスト</a:t>
            </a:r>
            <a:r>
              <a:rPr b="0" lang="en-US" sz="1300" spc="-1" strike="noStrike">
                <a:solidFill>
                  <a:srgbClr val="222222"/>
                </a:solidFill>
                <a:latin typeface="Yu Gothic"/>
              </a:rPr>
              <a:t>(</a:t>
            </a:r>
            <a:r>
              <a:rPr b="0" lang="zh-CN" sz="1300" spc="-1" strike="noStrike">
                <a:solidFill>
                  <a:srgbClr val="222222"/>
                </a:solidFill>
                <a:latin typeface="Yu Gothic"/>
              </a:rPr>
              <a:t>関節構造・可動域など</a:t>
            </a:r>
            <a:r>
              <a:rPr b="0" lang="en-US" sz="1300" spc="-1" strike="noStrike">
                <a:solidFill>
                  <a:srgbClr val="222222"/>
                </a:solidFill>
                <a:latin typeface="Yu Gothic"/>
              </a:rPr>
              <a:t>)</a:t>
            </a:r>
            <a:r>
              <a:rPr b="0" lang="zh-CN" sz="1300" spc="-1" strike="noStrike">
                <a:solidFill>
                  <a:srgbClr val="222222"/>
                </a:solidFill>
                <a:latin typeface="Yu Gothic"/>
              </a:rPr>
              <a:t>は変更しない </a:t>
            </a:r>
            <a:r>
              <a:rPr b="0" lang="en-US" sz="1300" spc="-1" strike="noStrike">
                <a:solidFill>
                  <a:srgbClr val="222222"/>
                </a:solidFill>
                <a:latin typeface="Yu Gothic"/>
              </a:rPr>
              <a:t>-- </a:t>
            </a:r>
            <a:r>
              <a:rPr b="0" lang="zh-CN" sz="1300" spc="-1" strike="noStrike">
                <a:solidFill>
                  <a:srgbClr val="222222"/>
                </a:solidFill>
                <a:latin typeface="Yu Gothic"/>
              </a:rPr>
              <a:t>変更するのはメッシュ参照の拡張子</a:t>
            </a:r>
            <a:r>
              <a:rPr b="0" lang="en-US" sz="1300" spc="-1" strike="noStrike">
                <a:solidFill>
                  <a:srgbClr val="222222"/>
                </a:solidFill>
                <a:latin typeface="Yu Gothic"/>
              </a:rPr>
              <a:t>(.dae→.glb)</a:t>
            </a:r>
            <a:r>
              <a:rPr b="0" lang="zh-CN" sz="1300" spc="-1" strike="noStrike">
                <a:solidFill>
                  <a:srgbClr val="222222"/>
                </a:solidFill>
                <a:latin typeface="Yu Gothic"/>
              </a:rPr>
              <a:t>だけ。</a:t>
            </a:r>
            <a:endParaRPr b="0" lang="en-US" sz="1300" spc="-1" strike="noStrike">
              <a:latin typeface="Arial"/>
            </a:endParaRPr>
          </a:p>
          <a:p>
            <a:pPr>
              <a:lnSpc>
                <a:spcPct val="125000"/>
              </a:lnSpc>
            </a:pPr>
            <a:r>
              <a:rPr b="0" lang="zh-CN" sz="1300" spc="-1" strike="noStrike">
                <a:solidFill>
                  <a:srgbClr val="222222"/>
                </a:solidFill>
                <a:latin typeface="Yu Gothic"/>
              </a:rPr>
              <a:t>ロボット生成パイプライン</a:t>
            </a:r>
            <a:r>
              <a:rPr b="0" lang="en-US" sz="1300" spc="-1" strike="noStrike">
                <a:solidFill>
                  <a:srgbClr val="222222"/>
                </a:solidFill>
                <a:latin typeface="Yu Gothic"/>
              </a:rPr>
              <a:t>(rcb4robotconfig.l → URDF/MuJoCo</a:t>
            </a:r>
            <a:r>
              <a:rPr b="0" lang="zh-CN" sz="1300" spc="-1" strike="noStrike">
                <a:solidFill>
                  <a:srgbClr val="222222"/>
                </a:solidFill>
                <a:latin typeface="Yu Gothic"/>
              </a:rPr>
              <a:t>変換</a:t>
            </a:r>
            <a:r>
              <a:rPr b="0" lang="en-US" sz="1300" spc="-1" strike="noStrike">
                <a:solidFill>
                  <a:srgbClr val="222222"/>
                </a:solidFill>
                <a:latin typeface="Yu Gothic"/>
              </a:rPr>
              <a:t>)</a:t>
            </a:r>
            <a:r>
              <a:rPr b="0" lang="zh-CN" sz="1300" spc="-1" strike="noStrike">
                <a:solidFill>
                  <a:srgbClr val="222222"/>
                </a:solidFill>
                <a:latin typeface="Yu Gothic"/>
              </a:rPr>
              <a:t>自体には一切手を加えていない。</a:t>
            </a:r>
            <a:endParaRPr b="0" lang="en-US" sz="13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4" name="CustomShape 1"/>
          <p:cNvSpPr/>
          <p:nvPr/>
        </p:nvSpPr>
        <p:spPr>
          <a:xfrm>
            <a:off x="548640" y="320040"/>
            <a:ext cx="7314840" cy="3337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rgbClr val="2e6fc7"/>
                </a:solidFill>
                <a:latin typeface="Yu Gothic"/>
              </a:rPr>
              <a:t>52 ROBOTS -- PREVIEW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585" name="CustomShape 2"/>
          <p:cNvSpPr/>
          <p:nvPr/>
        </p:nvSpPr>
        <p:spPr>
          <a:xfrm>
            <a:off x="548640" y="685800"/>
            <a:ext cx="10515240" cy="5472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3000" spc="-1" strike="noStrike">
                <a:solidFill>
                  <a:srgbClr val="1f2a44"/>
                </a:solidFill>
                <a:latin typeface="Yu Gothic"/>
              </a:rPr>
              <a:t>52</a:t>
            </a:r>
            <a:r>
              <a:rPr b="1" lang="zh-CN" sz="3000" spc="-1" strike="noStrike">
                <a:solidFill>
                  <a:srgbClr val="1f2a44"/>
                </a:solidFill>
                <a:latin typeface="Yu Gothic"/>
              </a:rPr>
              <a:t>体のロボット</a:t>
            </a:r>
            <a:r>
              <a:rPr b="1" lang="en-US" sz="3000" spc="-1" strike="noStrike">
                <a:solidFill>
                  <a:srgbClr val="1f2a44"/>
                </a:solidFill>
                <a:latin typeface="Yu Gothic"/>
              </a:rPr>
              <a:t>: </a:t>
            </a:r>
            <a:r>
              <a:rPr b="1" lang="zh-CN" sz="3000" spc="-1" strike="noStrike">
                <a:solidFill>
                  <a:srgbClr val="1f2a44"/>
                </a:solidFill>
                <a:latin typeface="Yu Gothic"/>
              </a:rPr>
              <a:t>レンダリング画像の抜粋</a:t>
            </a:r>
            <a:endParaRPr b="0" lang="en-US" sz="3000" spc="-1" strike="noStrike">
              <a:latin typeface="Arial"/>
            </a:endParaRPr>
          </a:p>
        </p:txBody>
      </p:sp>
      <p:sp>
        <p:nvSpPr>
          <p:cNvPr id="586" name="CustomShape 3"/>
          <p:cNvSpPr/>
          <p:nvPr/>
        </p:nvSpPr>
        <p:spPr>
          <a:xfrm>
            <a:off x="685800" y="1325880"/>
            <a:ext cx="1691280" cy="1279800"/>
          </a:xfrm>
          <a:prstGeom prst="rect">
            <a:avLst/>
          </a:prstGeom>
          <a:solidFill>
            <a:srgbClr val="f2f4f8"/>
          </a:solidFill>
          <a:ln w="12600">
            <a:solidFill>
              <a:srgbClr val="6b7280"/>
            </a:solidFill>
            <a:round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pic>
        <p:nvPicPr>
          <p:cNvPr id="587" name="Picture 4" descr="kxrl4t.png"/>
          <p:cNvPicPr/>
          <p:nvPr/>
        </p:nvPicPr>
        <p:blipFill>
          <a:blip r:embed="rId1"/>
          <a:stretch/>
        </p:blipFill>
        <p:spPr>
          <a:xfrm>
            <a:off x="777240" y="1338840"/>
            <a:ext cx="1508400" cy="1253520"/>
          </a:xfrm>
          <a:prstGeom prst="rect">
            <a:avLst/>
          </a:prstGeom>
          <a:ln>
            <a:noFill/>
          </a:ln>
        </p:spPr>
      </p:pic>
      <p:sp>
        <p:nvSpPr>
          <p:cNvPr id="588" name="CustomShape 4"/>
          <p:cNvSpPr/>
          <p:nvPr/>
        </p:nvSpPr>
        <p:spPr>
          <a:xfrm>
            <a:off x="685800" y="2624400"/>
            <a:ext cx="1691280" cy="2426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ctr">
              <a:lnSpc>
                <a:spcPct val="100000"/>
              </a:lnSpc>
            </a:pPr>
            <a:r>
              <a:rPr b="1" lang="en-US" sz="1000" spc="-1" strike="noStrike">
                <a:solidFill>
                  <a:srgbClr val="1f2a44"/>
                </a:solidFill>
                <a:latin typeface="Yu Gothic"/>
              </a:rPr>
              <a:t>kxrl4t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589" name="CustomShape 5"/>
          <p:cNvSpPr/>
          <p:nvPr/>
        </p:nvSpPr>
        <p:spPr>
          <a:xfrm>
            <a:off x="2578680" y="1325880"/>
            <a:ext cx="1691280" cy="1279800"/>
          </a:xfrm>
          <a:prstGeom prst="rect">
            <a:avLst/>
          </a:prstGeom>
          <a:solidFill>
            <a:srgbClr val="f2f4f8"/>
          </a:solidFill>
          <a:ln w="12600">
            <a:solidFill>
              <a:srgbClr val="6b7280"/>
            </a:solidFill>
            <a:round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pic>
        <p:nvPicPr>
          <p:cNvPr id="590" name="Picture 7" descr="kxrl4d.png"/>
          <p:cNvPicPr/>
          <p:nvPr/>
        </p:nvPicPr>
        <p:blipFill>
          <a:blip r:embed="rId2"/>
          <a:stretch/>
        </p:blipFill>
        <p:spPr>
          <a:xfrm>
            <a:off x="3086640" y="1417320"/>
            <a:ext cx="675000" cy="1096920"/>
          </a:xfrm>
          <a:prstGeom prst="rect">
            <a:avLst/>
          </a:prstGeom>
          <a:ln>
            <a:noFill/>
          </a:ln>
        </p:spPr>
      </p:pic>
      <p:sp>
        <p:nvSpPr>
          <p:cNvPr id="591" name="CustomShape 6"/>
          <p:cNvSpPr/>
          <p:nvPr/>
        </p:nvSpPr>
        <p:spPr>
          <a:xfrm>
            <a:off x="2578680" y="2624400"/>
            <a:ext cx="1691280" cy="2426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ctr">
              <a:lnSpc>
                <a:spcPct val="100000"/>
              </a:lnSpc>
            </a:pPr>
            <a:r>
              <a:rPr b="1" lang="en-US" sz="1000" spc="-1" strike="noStrike">
                <a:solidFill>
                  <a:srgbClr val="1f2a44"/>
                </a:solidFill>
                <a:latin typeface="Yu Gothic"/>
              </a:rPr>
              <a:t>kxrl4d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592" name="CustomShape 7"/>
          <p:cNvSpPr/>
          <p:nvPr/>
        </p:nvSpPr>
        <p:spPr>
          <a:xfrm>
            <a:off x="4471560" y="1325880"/>
            <a:ext cx="1691280" cy="1279800"/>
          </a:xfrm>
          <a:prstGeom prst="rect">
            <a:avLst/>
          </a:prstGeom>
          <a:solidFill>
            <a:srgbClr val="f2f4f8"/>
          </a:solidFill>
          <a:ln w="12600">
            <a:solidFill>
              <a:srgbClr val="6b7280"/>
            </a:solidFill>
            <a:round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pic>
        <p:nvPicPr>
          <p:cNvPr id="593" name="Picture 10" descr="kxrl6.png"/>
          <p:cNvPicPr/>
          <p:nvPr/>
        </p:nvPicPr>
        <p:blipFill>
          <a:blip r:embed="rId3"/>
          <a:stretch/>
        </p:blipFill>
        <p:spPr>
          <a:xfrm>
            <a:off x="4563000" y="1524960"/>
            <a:ext cx="1508400" cy="882000"/>
          </a:xfrm>
          <a:prstGeom prst="rect">
            <a:avLst/>
          </a:prstGeom>
          <a:ln>
            <a:noFill/>
          </a:ln>
        </p:spPr>
      </p:pic>
      <p:sp>
        <p:nvSpPr>
          <p:cNvPr id="594" name="CustomShape 8"/>
          <p:cNvSpPr/>
          <p:nvPr/>
        </p:nvSpPr>
        <p:spPr>
          <a:xfrm>
            <a:off x="4471560" y="2624400"/>
            <a:ext cx="1691280" cy="2426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ctr">
              <a:lnSpc>
                <a:spcPct val="100000"/>
              </a:lnSpc>
            </a:pPr>
            <a:r>
              <a:rPr b="1" lang="en-US" sz="1000" spc="-1" strike="noStrike">
                <a:solidFill>
                  <a:srgbClr val="1f2a44"/>
                </a:solidFill>
                <a:latin typeface="Yu Gothic"/>
              </a:rPr>
              <a:t>kxrl6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595" name="CustomShape 9"/>
          <p:cNvSpPr/>
          <p:nvPr/>
        </p:nvSpPr>
        <p:spPr>
          <a:xfrm>
            <a:off x="6364080" y="1325880"/>
            <a:ext cx="1691280" cy="1279800"/>
          </a:xfrm>
          <a:prstGeom prst="rect">
            <a:avLst/>
          </a:prstGeom>
          <a:solidFill>
            <a:srgbClr val="f2f4f8"/>
          </a:solidFill>
          <a:ln w="12600">
            <a:solidFill>
              <a:srgbClr val="6b7280"/>
            </a:solidFill>
            <a:round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pic>
        <p:nvPicPr>
          <p:cNvPr id="596" name="Picture 13" descr="kxrl2g.png"/>
          <p:cNvPicPr/>
          <p:nvPr/>
        </p:nvPicPr>
        <p:blipFill>
          <a:blip r:embed="rId4"/>
          <a:stretch/>
        </p:blipFill>
        <p:spPr>
          <a:xfrm>
            <a:off x="6917400" y="1417320"/>
            <a:ext cx="584640" cy="1096920"/>
          </a:xfrm>
          <a:prstGeom prst="rect">
            <a:avLst/>
          </a:prstGeom>
          <a:ln>
            <a:noFill/>
          </a:ln>
        </p:spPr>
      </p:pic>
      <p:sp>
        <p:nvSpPr>
          <p:cNvPr id="597" name="CustomShape 10"/>
          <p:cNvSpPr/>
          <p:nvPr/>
        </p:nvSpPr>
        <p:spPr>
          <a:xfrm>
            <a:off x="6364080" y="2624400"/>
            <a:ext cx="1691280" cy="2426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ctr">
              <a:lnSpc>
                <a:spcPct val="100000"/>
              </a:lnSpc>
            </a:pPr>
            <a:r>
              <a:rPr b="1" lang="en-US" sz="1000" spc="-1" strike="noStrike">
                <a:solidFill>
                  <a:srgbClr val="1f2a44"/>
                </a:solidFill>
                <a:latin typeface="Yu Gothic"/>
              </a:rPr>
              <a:t>kxrl2g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598" name="CustomShape 11"/>
          <p:cNvSpPr/>
          <p:nvPr/>
        </p:nvSpPr>
        <p:spPr>
          <a:xfrm>
            <a:off x="685800" y="2971800"/>
            <a:ext cx="1691280" cy="1279800"/>
          </a:xfrm>
          <a:prstGeom prst="rect">
            <a:avLst/>
          </a:prstGeom>
          <a:solidFill>
            <a:srgbClr val="f2f4f8"/>
          </a:solidFill>
          <a:ln w="12600">
            <a:solidFill>
              <a:srgbClr val="6b7280"/>
            </a:solidFill>
            <a:round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pic>
        <p:nvPicPr>
          <p:cNvPr id="599" name="Picture 16" descr="kxrkamakiri.png"/>
          <p:cNvPicPr/>
          <p:nvPr/>
        </p:nvPicPr>
        <p:blipFill>
          <a:blip r:embed="rId5"/>
          <a:stretch/>
        </p:blipFill>
        <p:spPr>
          <a:xfrm>
            <a:off x="1090440" y="3063240"/>
            <a:ext cx="882000" cy="1096920"/>
          </a:xfrm>
          <a:prstGeom prst="rect">
            <a:avLst/>
          </a:prstGeom>
          <a:ln>
            <a:noFill/>
          </a:ln>
        </p:spPr>
      </p:pic>
      <p:sp>
        <p:nvSpPr>
          <p:cNvPr id="600" name="CustomShape 12"/>
          <p:cNvSpPr/>
          <p:nvPr/>
        </p:nvSpPr>
        <p:spPr>
          <a:xfrm>
            <a:off x="685800" y="4270320"/>
            <a:ext cx="1691280" cy="2426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ctr">
              <a:lnSpc>
                <a:spcPct val="100000"/>
              </a:lnSpc>
            </a:pPr>
            <a:r>
              <a:rPr b="1" lang="en-US" sz="1000" spc="-1" strike="noStrike">
                <a:solidFill>
                  <a:srgbClr val="1f2a44"/>
                </a:solidFill>
                <a:latin typeface="Yu Gothic"/>
              </a:rPr>
              <a:t>kxrkamakiri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601" name="CustomShape 13"/>
          <p:cNvSpPr/>
          <p:nvPr/>
        </p:nvSpPr>
        <p:spPr>
          <a:xfrm>
            <a:off x="2578680" y="2971800"/>
            <a:ext cx="1691280" cy="1279800"/>
          </a:xfrm>
          <a:prstGeom prst="rect">
            <a:avLst/>
          </a:prstGeom>
          <a:solidFill>
            <a:srgbClr val="f2f4f8"/>
          </a:solidFill>
          <a:ln w="12600">
            <a:solidFill>
              <a:srgbClr val="6b7280"/>
            </a:solidFill>
            <a:round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pic>
        <p:nvPicPr>
          <p:cNvPr id="602" name="Picture 19" descr="kxrdw4a6h2m.png"/>
          <p:cNvPicPr/>
          <p:nvPr/>
        </p:nvPicPr>
        <p:blipFill>
          <a:blip r:embed="rId6"/>
          <a:stretch/>
        </p:blipFill>
        <p:spPr>
          <a:xfrm>
            <a:off x="3046320" y="3063240"/>
            <a:ext cx="756000" cy="1096920"/>
          </a:xfrm>
          <a:prstGeom prst="rect">
            <a:avLst/>
          </a:prstGeom>
          <a:ln>
            <a:noFill/>
          </a:ln>
        </p:spPr>
      </p:pic>
      <p:sp>
        <p:nvSpPr>
          <p:cNvPr id="603" name="CustomShape 14"/>
          <p:cNvSpPr/>
          <p:nvPr/>
        </p:nvSpPr>
        <p:spPr>
          <a:xfrm>
            <a:off x="2578680" y="4270320"/>
            <a:ext cx="1691280" cy="2426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ctr">
              <a:lnSpc>
                <a:spcPct val="100000"/>
              </a:lnSpc>
            </a:pPr>
            <a:r>
              <a:rPr b="1" lang="en-US" sz="1000" spc="-1" strike="noStrike">
                <a:solidFill>
                  <a:srgbClr val="1f2a44"/>
                </a:solidFill>
                <a:latin typeface="Yu Gothic"/>
              </a:rPr>
              <a:t>kxrdw4a6h2m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604" name="CustomShape 15"/>
          <p:cNvSpPr/>
          <p:nvPr/>
        </p:nvSpPr>
        <p:spPr>
          <a:xfrm>
            <a:off x="4471560" y="2971800"/>
            <a:ext cx="1691280" cy="1279800"/>
          </a:xfrm>
          <a:prstGeom prst="rect">
            <a:avLst/>
          </a:prstGeom>
          <a:solidFill>
            <a:srgbClr val="f2f4f8"/>
          </a:solidFill>
          <a:ln w="12600">
            <a:solidFill>
              <a:srgbClr val="6b7280"/>
            </a:solidFill>
            <a:round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pic>
        <p:nvPicPr>
          <p:cNvPr id="605" name="Picture 22" descr="kxrl2w2l6a6h2.png"/>
          <p:cNvPicPr/>
          <p:nvPr/>
        </p:nvPicPr>
        <p:blipFill>
          <a:blip r:embed="rId7"/>
          <a:stretch/>
        </p:blipFill>
        <p:spPr>
          <a:xfrm>
            <a:off x="4952160" y="3063240"/>
            <a:ext cx="729720" cy="1096920"/>
          </a:xfrm>
          <a:prstGeom prst="rect">
            <a:avLst/>
          </a:prstGeom>
          <a:ln>
            <a:noFill/>
          </a:ln>
        </p:spPr>
      </p:pic>
      <p:sp>
        <p:nvSpPr>
          <p:cNvPr id="606" name="CustomShape 16"/>
          <p:cNvSpPr/>
          <p:nvPr/>
        </p:nvSpPr>
        <p:spPr>
          <a:xfrm>
            <a:off x="4471560" y="4270320"/>
            <a:ext cx="1691280" cy="2426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ctr">
              <a:lnSpc>
                <a:spcPct val="100000"/>
              </a:lnSpc>
            </a:pPr>
            <a:r>
              <a:rPr b="1" lang="en-US" sz="1000" spc="-1" strike="noStrike">
                <a:solidFill>
                  <a:srgbClr val="1f2a44"/>
                </a:solidFill>
                <a:latin typeface="Yu Gothic"/>
              </a:rPr>
              <a:t>kxrl2w2l6a6h2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607" name="CustomShape 17"/>
          <p:cNvSpPr/>
          <p:nvPr/>
        </p:nvSpPr>
        <p:spPr>
          <a:xfrm>
            <a:off x="6364080" y="2971800"/>
            <a:ext cx="1691280" cy="1279800"/>
          </a:xfrm>
          <a:prstGeom prst="rect">
            <a:avLst/>
          </a:prstGeom>
          <a:solidFill>
            <a:srgbClr val="f2f4f8"/>
          </a:solidFill>
          <a:ln w="12600">
            <a:solidFill>
              <a:srgbClr val="6b7280"/>
            </a:solidFill>
            <a:round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pic>
        <p:nvPicPr>
          <p:cNvPr id="608" name="Picture 25" descr="kxrmw4a7h2g.png"/>
          <p:cNvPicPr/>
          <p:nvPr/>
        </p:nvPicPr>
        <p:blipFill>
          <a:blip r:embed="rId8"/>
          <a:stretch/>
        </p:blipFill>
        <p:spPr>
          <a:xfrm>
            <a:off x="6758640" y="3063240"/>
            <a:ext cx="902160" cy="1096920"/>
          </a:xfrm>
          <a:prstGeom prst="rect">
            <a:avLst/>
          </a:prstGeom>
          <a:ln>
            <a:noFill/>
          </a:ln>
        </p:spPr>
      </p:pic>
      <p:sp>
        <p:nvSpPr>
          <p:cNvPr id="609" name="CustomShape 18"/>
          <p:cNvSpPr/>
          <p:nvPr/>
        </p:nvSpPr>
        <p:spPr>
          <a:xfrm>
            <a:off x="6364080" y="4270320"/>
            <a:ext cx="1691280" cy="2426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ctr">
              <a:lnSpc>
                <a:spcPct val="100000"/>
              </a:lnSpc>
            </a:pPr>
            <a:r>
              <a:rPr b="1" lang="en-US" sz="1000" spc="-1" strike="noStrike">
                <a:solidFill>
                  <a:srgbClr val="1f2a44"/>
                </a:solidFill>
                <a:latin typeface="Yu Gothic"/>
              </a:rPr>
              <a:t>kxrmw4a7h2g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610" name="CustomShape 19"/>
          <p:cNvSpPr/>
          <p:nvPr/>
        </p:nvSpPr>
        <p:spPr>
          <a:xfrm>
            <a:off x="685800" y="4617720"/>
            <a:ext cx="1691280" cy="1279800"/>
          </a:xfrm>
          <a:prstGeom prst="rect">
            <a:avLst/>
          </a:prstGeom>
          <a:solidFill>
            <a:srgbClr val="f2f4f8"/>
          </a:solidFill>
          <a:ln w="12600">
            <a:solidFill>
              <a:srgbClr val="6b7280"/>
            </a:solidFill>
            <a:round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pic>
        <p:nvPicPr>
          <p:cNvPr id="611" name="Picture 28" descr="kxrl4b1.png"/>
          <p:cNvPicPr/>
          <p:nvPr/>
        </p:nvPicPr>
        <p:blipFill>
          <a:blip r:embed="rId9"/>
          <a:stretch/>
        </p:blipFill>
        <p:spPr>
          <a:xfrm>
            <a:off x="1051560" y="4709160"/>
            <a:ext cx="959400" cy="1096920"/>
          </a:xfrm>
          <a:prstGeom prst="rect">
            <a:avLst/>
          </a:prstGeom>
          <a:ln>
            <a:noFill/>
          </a:ln>
        </p:spPr>
      </p:pic>
      <p:sp>
        <p:nvSpPr>
          <p:cNvPr id="612" name="CustomShape 20"/>
          <p:cNvSpPr/>
          <p:nvPr/>
        </p:nvSpPr>
        <p:spPr>
          <a:xfrm>
            <a:off x="685800" y="5916240"/>
            <a:ext cx="1691280" cy="2426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ctr">
              <a:lnSpc>
                <a:spcPct val="100000"/>
              </a:lnSpc>
            </a:pPr>
            <a:r>
              <a:rPr b="1" lang="en-US" sz="1000" spc="-1" strike="noStrike">
                <a:solidFill>
                  <a:srgbClr val="1f2a44"/>
                </a:solidFill>
                <a:latin typeface="Yu Gothic"/>
              </a:rPr>
              <a:t>kxrl4b1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613" name="CustomShape 21"/>
          <p:cNvSpPr/>
          <p:nvPr/>
        </p:nvSpPr>
        <p:spPr>
          <a:xfrm>
            <a:off x="2578680" y="4617720"/>
            <a:ext cx="1691280" cy="1279800"/>
          </a:xfrm>
          <a:prstGeom prst="rect">
            <a:avLst/>
          </a:prstGeom>
          <a:solidFill>
            <a:srgbClr val="f2f4f8"/>
          </a:solidFill>
          <a:ln w="12600">
            <a:solidFill>
              <a:srgbClr val="6b7280"/>
            </a:solidFill>
            <a:round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pic>
        <p:nvPicPr>
          <p:cNvPr id="614" name="Picture 31" descr="kxrl2makabe.png"/>
          <p:cNvPicPr/>
          <p:nvPr/>
        </p:nvPicPr>
        <p:blipFill>
          <a:blip r:embed="rId10"/>
          <a:stretch/>
        </p:blipFill>
        <p:spPr>
          <a:xfrm>
            <a:off x="3086280" y="4709160"/>
            <a:ext cx="676080" cy="1096920"/>
          </a:xfrm>
          <a:prstGeom prst="rect">
            <a:avLst/>
          </a:prstGeom>
          <a:ln>
            <a:noFill/>
          </a:ln>
        </p:spPr>
      </p:pic>
      <p:sp>
        <p:nvSpPr>
          <p:cNvPr id="615" name="CustomShape 22"/>
          <p:cNvSpPr/>
          <p:nvPr/>
        </p:nvSpPr>
        <p:spPr>
          <a:xfrm>
            <a:off x="2578680" y="5916240"/>
            <a:ext cx="1691280" cy="2426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ctr">
              <a:lnSpc>
                <a:spcPct val="100000"/>
              </a:lnSpc>
            </a:pPr>
            <a:r>
              <a:rPr b="1" lang="en-US" sz="1000" spc="-1" strike="noStrike">
                <a:solidFill>
                  <a:srgbClr val="1f2a44"/>
                </a:solidFill>
                <a:latin typeface="Yu Gothic"/>
              </a:rPr>
              <a:t>kxrl2makabe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616" name="CustomShape 23"/>
          <p:cNvSpPr/>
          <p:nvPr/>
        </p:nvSpPr>
        <p:spPr>
          <a:xfrm>
            <a:off x="4471560" y="4617720"/>
            <a:ext cx="1691280" cy="1279800"/>
          </a:xfrm>
          <a:prstGeom prst="rect">
            <a:avLst/>
          </a:prstGeom>
          <a:solidFill>
            <a:srgbClr val="f2f4f8"/>
          </a:solidFill>
          <a:ln w="12600">
            <a:solidFill>
              <a:srgbClr val="6b7280"/>
            </a:solidFill>
            <a:round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pic>
        <p:nvPicPr>
          <p:cNvPr id="617" name="Picture 34" descr="kxrow4a6h2m.png"/>
          <p:cNvPicPr/>
          <p:nvPr/>
        </p:nvPicPr>
        <p:blipFill>
          <a:blip r:embed="rId11"/>
          <a:stretch/>
        </p:blipFill>
        <p:spPr>
          <a:xfrm>
            <a:off x="4913280" y="4709160"/>
            <a:ext cx="807480" cy="1096920"/>
          </a:xfrm>
          <a:prstGeom prst="rect">
            <a:avLst/>
          </a:prstGeom>
          <a:ln>
            <a:noFill/>
          </a:ln>
        </p:spPr>
      </p:pic>
      <p:sp>
        <p:nvSpPr>
          <p:cNvPr id="618" name="CustomShape 24"/>
          <p:cNvSpPr/>
          <p:nvPr/>
        </p:nvSpPr>
        <p:spPr>
          <a:xfrm>
            <a:off x="4471560" y="5916240"/>
            <a:ext cx="1691280" cy="2426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ctr">
              <a:lnSpc>
                <a:spcPct val="100000"/>
              </a:lnSpc>
            </a:pPr>
            <a:r>
              <a:rPr b="1" lang="en-US" sz="1000" spc="-1" strike="noStrike">
                <a:solidFill>
                  <a:srgbClr val="1f2a44"/>
                </a:solidFill>
                <a:latin typeface="Yu Gothic"/>
              </a:rPr>
              <a:t>kxrow4a6h2m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619" name="CustomShape 25"/>
          <p:cNvSpPr/>
          <p:nvPr/>
        </p:nvSpPr>
        <p:spPr>
          <a:xfrm>
            <a:off x="6364080" y="4617720"/>
            <a:ext cx="1691280" cy="1279800"/>
          </a:xfrm>
          <a:prstGeom prst="rect">
            <a:avLst/>
          </a:prstGeom>
          <a:solidFill>
            <a:srgbClr val="f2f4f8"/>
          </a:solidFill>
          <a:ln w="12600">
            <a:solidFill>
              <a:srgbClr val="6b7280"/>
            </a:solidFill>
            <a:round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pic>
        <p:nvPicPr>
          <p:cNvPr id="620" name="Picture 37" descr="kxrl2l6a7h2.png"/>
          <p:cNvPicPr/>
          <p:nvPr/>
        </p:nvPicPr>
        <p:blipFill>
          <a:blip r:embed="rId12"/>
          <a:stretch/>
        </p:blipFill>
        <p:spPr>
          <a:xfrm>
            <a:off x="6824160" y="4709160"/>
            <a:ext cx="771480" cy="1096920"/>
          </a:xfrm>
          <a:prstGeom prst="rect">
            <a:avLst/>
          </a:prstGeom>
          <a:ln>
            <a:noFill/>
          </a:ln>
        </p:spPr>
      </p:pic>
      <p:sp>
        <p:nvSpPr>
          <p:cNvPr id="621" name="CustomShape 26"/>
          <p:cNvSpPr/>
          <p:nvPr/>
        </p:nvSpPr>
        <p:spPr>
          <a:xfrm>
            <a:off x="6364080" y="5916240"/>
            <a:ext cx="1691280" cy="2426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ctr">
              <a:lnSpc>
                <a:spcPct val="100000"/>
              </a:lnSpc>
            </a:pPr>
            <a:r>
              <a:rPr b="1" lang="en-US" sz="1000" spc="-1" strike="noStrike">
                <a:solidFill>
                  <a:srgbClr val="1f2a44"/>
                </a:solidFill>
                <a:latin typeface="Yu Gothic"/>
              </a:rPr>
              <a:t>kxrl2l6a7h2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622" name="CustomShape 27"/>
          <p:cNvSpPr/>
          <p:nvPr/>
        </p:nvSpPr>
        <p:spPr>
          <a:xfrm>
            <a:off x="548640" y="6492240"/>
            <a:ext cx="11063880" cy="2577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zh-CN" sz="1100" spc="-1" strike="noStrike">
                <a:solidFill>
                  <a:srgbClr val="6b7280"/>
                </a:solidFill>
                <a:latin typeface="Yu Gothic"/>
              </a:rPr>
              <a:t>上記は</a:t>
            </a:r>
            <a:r>
              <a:rPr b="0" lang="en-US" sz="1100" spc="-1" strike="noStrike">
                <a:solidFill>
                  <a:srgbClr val="6b7280"/>
                </a:solidFill>
                <a:latin typeface="Yu Gothic"/>
              </a:rPr>
              <a:t>52</a:t>
            </a:r>
            <a:r>
              <a:rPr b="0" lang="zh-CN" sz="1100" spc="-1" strike="noStrike">
                <a:solidFill>
                  <a:srgbClr val="6b7280"/>
                </a:solidFill>
                <a:latin typeface="Yu Gothic"/>
              </a:rPr>
              <a:t>体中</a:t>
            </a:r>
            <a:r>
              <a:rPr b="0" lang="en-US" sz="1100" spc="-1" strike="noStrike">
                <a:solidFill>
                  <a:srgbClr val="6b7280"/>
                </a:solidFill>
                <a:latin typeface="Yu Gothic"/>
              </a:rPr>
              <a:t>12</a:t>
            </a:r>
            <a:r>
              <a:rPr b="0" lang="zh-CN" sz="1100" spc="-1" strike="noStrike">
                <a:solidFill>
                  <a:srgbClr val="6b7280"/>
                </a:solidFill>
                <a:latin typeface="Yu Gothic"/>
              </a:rPr>
              <a:t>体の抜粋。全</a:t>
            </a:r>
            <a:r>
              <a:rPr b="0" lang="en-US" sz="1100" spc="-1" strike="noStrike">
                <a:solidFill>
                  <a:srgbClr val="6b7280"/>
                </a:solidFill>
                <a:latin typeface="Yu Gothic"/>
              </a:rPr>
              <a:t>52</a:t>
            </a:r>
            <a:r>
              <a:rPr b="0" lang="zh-CN" sz="1100" spc="-1" strike="noStrike">
                <a:solidFill>
                  <a:srgbClr val="6b7280"/>
                </a:solidFill>
                <a:latin typeface="Yu Gothic"/>
              </a:rPr>
              <a:t>体はフェーズ</a:t>
            </a:r>
            <a:r>
              <a:rPr b="0" lang="en-US" sz="1100" spc="-1" strike="noStrike">
                <a:solidFill>
                  <a:srgbClr val="6b7280"/>
                </a:solidFill>
                <a:latin typeface="Yu Gothic"/>
              </a:rPr>
              <a:t>2</a:t>
            </a:r>
            <a:r>
              <a:rPr b="0" lang="zh-CN" sz="1100" spc="-1" strike="noStrike">
                <a:solidFill>
                  <a:srgbClr val="6b7280"/>
                </a:solidFill>
                <a:latin typeface="Yu Gothic"/>
              </a:rPr>
              <a:t>のブラウザ</a:t>
            </a:r>
            <a:r>
              <a:rPr b="0" lang="en-US" sz="1100" spc="-1" strike="noStrike">
                <a:solidFill>
                  <a:srgbClr val="6b7280"/>
                </a:solidFill>
                <a:latin typeface="Yu Gothic"/>
              </a:rPr>
              <a:t>3D</a:t>
            </a:r>
            <a:r>
              <a:rPr b="0" lang="zh-CN" sz="1100" spc="-1" strike="noStrike">
                <a:solidFill>
                  <a:srgbClr val="6b7280"/>
                </a:solidFill>
                <a:latin typeface="Yu Gothic"/>
              </a:rPr>
              <a:t>ビューアで回転・拡大しながら確認できる。</a:t>
            </a:r>
            <a:endParaRPr b="0" lang="en-US" sz="11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3" name="CustomShape 1"/>
          <p:cNvSpPr/>
          <p:nvPr/>
        </p:nvSpPr>
        <p:spPr>
          <a:xfrm>
            <a:off x="548640" y="320040"/>
            <a:ext cx="7314840" cy="3337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rgbClr val="2e6fc7"/>
                </a:solidFill>
                <a:latin typeface="Yu Gothic"/>
              </a:rPr>
              <a:t>SIZE COMPARISON -- MEASURED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624" name="CustomShape 2"/>
          <p:cNvSpPr/>
          <p:nvPr/>
        </p:nvSpPr>
        <p:spPr>
          <a:xfrm>
            <a:off x="548640" y="685800"/>
            <a:ext cx="10515240" cy="5472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zh-CN" sz="3000" spc="-1" strike="noStrike">
                <a:solidFill>
                  <a:srgbClr val="1f2a44"/>
                </a:solidFill>
                <a:latin typeface="Yu Gothic"/>
              </a:rPr>
              <a:t>圧縮前後のサイズ比較</a:t>
            </a:r>
            <a:r>
              <a:rPr b="1" lang="en-US" sz="3000" spc="-1" strike="noStrike">
                <a:solidFill>
                  <a:srgbClr val="1f2a44"/>
                </a:solidFill>
                <a:latin typeface="Yu Gothic"/>
              </a:rPr>
              <a:t>: 5</a:t>
            </a:r>
            <a:r>
              <a:rPr b="1" lang="zh-CN" sz="3000" spc="-1" strike="noStrike">
                <a:solidFill>
                  <a:srgbClr val="1f2a44"/>
                </a:solidFill>
                <a:latin typeface="Yu Gothic"/>
              </a:rPr>
              <a:t>体 </a:t>
            </a:r>
            <a:r>
              <a:rPr b="1" lang="en-US" sz="3000" spc="-1" strike="noStrike">
                <a:solidFill>
                  <a:srgbClr val="1f2a44"/>
                </a:solidFill>
                <a:latin typeface="Yu Gothic"/>
              </a:rPr>
              <a:t>/ 52</a:t>
            </a:r>
            <a:r>
              <a:rPr b="1" lang="zh-CN" sz="3000" spc="-1" strike="noStrike">
                <a:solidFill>
                  <a:srgbClr val="1f2a44"/>
                </a:solidFill>
                <a:latin typeface="Yu Gothic"/>
              </a:rPr>
              <a:t>体 </a:t>
            </a:r>
            <a:r>
              <a:rPr b="1" lang="en-US" sz="3000" spc="-1" strike="noStrike">
                <a:solidFill>
                  <a:srgbClr val="1f2a44"/>
                </a:solidFill>
                <a:latin typeface="Yu Gothic"/>
              </a:rPr>
              <a:t>/ 500</a:t>
            </a:r>
            <a:r>
              <a:rPr b="1" lang="zh-CN" sz="3000" spc="-1" strike="noStrike">
                <a:solidFill>
                  <a:srgbClr val="1f2a44"/>
                </a:solidFill>
                <a:latin typeface="Yu Gothic"/>
              </a:rPr>
              <a:t>体</a:t>
            </a:r>
            <a:r>
              <a:rPr b="1" lang="en-US" sz="3000" spc="-1" strike="noStrike">
                <a:solidFill>
                  <a:srgbClr val="1f2a44"/>
                </a:solidFill>
                <a:latin typeface="Yu Gothic"/>
              </a:rPr>
              <a:t>(</a:t>
            </a:r>
            <a:r>
              <a:rPr b="1" lang="zh-CN" sz="3000" spc="-1" strike="noStrike">
                <a:solidFill>
                  <a:srgbClr val="1f2a44"/>
                </a:solidFill>
                <a:latin typeface="Yu Gothic"/>
              </a:rPr>
              <a:t>概算</a:t>
            </a:r>
            <a:r>
              <a:rPr b="1" lang="en-US" sz="3000" spc="-1" strike="noStrike">
                <a:solidFill>
                  <a:srgbClr val="1f2a44"/>
                </a:solidFill>
                <a:latin typeface="Yu Gothic"/>
              </a:rPr>
              <a:t>)</a:t>
            </a:r>
            <a:endParaRPr b="0" lang="en-US" sz="3000" spc="-1" strike="noStrike">
              <a:latin typeface="Arial"/>
            </a:endParaRPr>
          </a:p>
        </p:txBody>
      </p:sp>
      <p:sp>
        <p:nvSpPr>
          <p:cNvPr id="625" name="CustomShape 3"/>
          <p:cNvSpPr/>
          <p:nvPr/>
        </p:nvSpPr>
        <p:spPr>
          <a:xfrm>
            <a:off x="548640" y="1508760"/>
            <a:ext cx="2742840" cy="639720"/>
          </a:xfrm>
          <a:prstGeom prst="roundRect">
            <a:avLst>
              <a:gd name="adj" fmla="val 16667"/>
            </a:avLst>
          </a:prstGeom>
          <a:solidFill>
            <a:srgbClr val="1f2a44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626" name="CustomShape 4"/>
          <p:cNvSpPr/>
          <p:nvPr/>
        </p:nvSpPr>
        <p:spPr>
          <a:xfrm>
            <a:off x="3291840" y="1508760"/>
            <a:ext cx="2742840" cy="639720"/>
          </a:xfrm>
          <a:prstGeom prst="roundRect">
            <a:avLst>
              <a:gd name="adj" fmla="val 16667"/>
            </a:avLst>
          </a:prstGeom>
          <a:solidFill>
            <a:srgbClr val="1f2a44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Yu Gothic"/>
              </a:rPr>
              <a:t>5</a:t>
            </a:r>
            <a:r>
              <a:rPr b="1" lang="zh-CN" sz="1200" spc="-1" strike="noStrike">
                <a:solidFill>
                  <a:srgbClr val="ffffff"/>
                </a:solidFill>
                <a:latin typeface="Yu Gothic"/>
              </a:rPr>
              <a:t>体</a:t>
            </a:r>
            <a:br/>
            <a:r>
              <a:rPr b="1" lang="en-US" sz="1200" spc="-1" strike="noStrike">
                <a:solidFill>
                  <a:srgbClr val="ffffff"/>
                </a:solidFill>
                <a:latin typeface="Yu Gothic"/>
              </a:rPr>
              <a:t>(</a:t>
            </a:r>
            <a:r>
              <a:rPr b="1" lang="zh-CN" sz="1200" spc="-1" strike="noStrike">
                <a:solidFill>
                  <a:srgbClr val="ffffff"/>
                </a:solidFill>
                <a:latin typeface="Yu Gothic"/>
              </a:rPr>
              <a:t>フェーズ</a:t>
            </a:r>
            <a:r>
              <a:rPr b="1" lang="en-US" sz="1200" spc="-1" strike="noStrike">
                <a:solidFill>
                  <a:srgbClr val="ffffff"/>
                </a:solidFill>
                <a:latin typeface="Yu Gothic"/>
              </a:rPr>
              <a:t>1</a:t>
            </a:r>
            <a:r>
              <a:rPr b="1" lang="zh-CN" sz="1200" spc="-1" strike="noStrike">
                <a:solidFill>
                  <a:srgbClr val="ffffff"/>
                </a:solidFill>
                <a:latin typeface="Yu Gothic"/>
              </a:rPr>
              <a:t>相当</a:t>
            </a:r>
            <a:r>
              <a:rPr b="1" lang="en-US" sz="1200" spc="-1" strike="noStrike">
                <a:solidFill>
                  <a:srgbClr val="ffffff"/>
                </a:solidFill>
                <a:latin typeface="Yu Gothic"/>
              </a:rPr>
              <a:t>)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627" name="CustomShape 5"/>
          <p:cNvSpPr/>
          <p:nvPr/>
        </p:nvSpPr>
        <p:spPr>
          <a:xfrm>
            <a:off x="6035040" y="1508760"/>
            <a:ext cx="2742840" cy="639720"/>
          </a:xfrm>
          <a:prstGeom prst="roundRect">
            <a:avLst>
              <a:gd name="adj" fmla="val 16667"/>
            </a:avLst>
          </a:prstGeom>
          <a:solidFill>
            <a:srgbClr val="1f2a44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Yu Gothic"/>
              </a:rPr>
              <a:t>52</a:t>
            </a:r>
            <a:r>
              <a:rPr b="1" lang="zh-CN" sz="1200" spc="-1" strike="noStrike">
                <a:solidFill>
                  <a:srgbClr val="ffffff"/>
                </a:solidFill>
                <a:latin typeface="Yu Gothic"/>
              </a:rPr>
              <a:t>体</a:t>
            </a:r>
            <a:br/>
            <a:r>
              <a:rPr b="1" lang="en-US" sz="1200" spc="-1" strike="noStrike">
                <a:solidFill>
                  <a:srgbClr val="ffffff"/>
                </a:solidFill>
                <a:latin typeface="Yu Gothic"/>
              </a:rPr>
              <a:t>(urdfs/ </a:t>
            </a:r>
            <a:r>
              <a:rPr b="1" lang="zh-CN" sz="1200" spc="-1" strike="noStrike">
                <a:solidFill>
                  <a:srgbClr val="ffffff"/>
                </a:solidFill>
                <a:latin typeface="Yu Gothic"/>
              </a:rPr>
              <a:t>全体</a:t>
            </a:r>
            <a:r>
              <a:rPr b="1" lang="en-US" sz="1200" spc="-1" strike="noStrike">
                <a:solidFill>
                  <a:srgbClr val="ffffff"/>
                </a:solidFill>
                <a:latin typeface="Yu Gothic"/>
              </a:rPr>
              <a:t>, </a:t>
            </a:r>
            <a:r>
              <a:rPr b="1" lang="zh-CN" sz="1200" spc="-1" strike="noStrike">
                <a:solidFill>
                  <a:srgbClr val="ffffff"/>
                </a:solidFill>
                <a:latin typeface="Yu Gothic"/>
              </a:rPr>
              <a:t>実測</a:t>
            </a:r>
            <a:r>
              <a:rPr b="1" lang="en-US" sz="1200" spc="-1" strike="noStrike">
                <a:solidFill>
                  <a:srgbClr val="ffffff"/>
                </a:solidFill>
                <a:latin typeface="Yu Gothic"/>
              </a:rPr>
              <a:t>)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628" name="CustomShape 6"/>
          <p:cNvSpPr/>
          <p:nvPr/>
        </p:nvSpPr>
        <p:spPr>
          <a:xfrm>
            <a:off x="8778240" y="1508760"/>
            <a:ext cx="2742840" cy="639720"/>
          </a:xfrm>
          <a:prstGeom prst="roundRect">
            <a:avLst>
              <a:gd name="adj" fmla="val 16667"/>
            </a:avLst>
          </a:prstGeom>
          <a:solidFill>
            <a:srgbClr val="1f2a44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Yu Gothic"/>
              </a:rPr>
              <a:t>500</a:t>
            </a:r>
            <a:r>
              <a:rPr b="1" lang="zh-CN" sz="1200" spc="-1" strike="noStrike">
                <a:solidFill>
                  <a:srgbClr val="ffffff"/>
                </a:solidFill>
                <a:latin typeface="Yu Gothic"/>
              </a:rPr>
              <a:t>体</a:t>
            </a:r>
            <a:br/>
            <a:r>
              <a:rPr b="1" lang="en-US" sz="1200" spc="-1" strike="noStrike">
                <a:solidFill>
                  <a:srgbClr val="ffffff"/>
                </a:solidFill>
                <a:latin typeface="Yu Gothic"/>
              </a:rPr>
              <a:t>(</a:t>
            </a:r>
            <a:r>
              <a:rPr b="1" lang="zh-CN" sz="1200" spc="-1" strike="noStrike">
                <a:solidFill>
                  <a:srgbClr val="ffffff"/>
                </a:solidFill>
                <a:latin typeface="Yu Gothic"/>
              </a:rPr>
              <a:t>概算</a:t>
            </a:r>
            <a:r>
              <a:rPr b="1" lang="en-US" sz="1200" spc="-1" strike="noStrike">
                <a:solidFill>
                  <a:srgbClr val="ffffff"/>
                </a:solidFill>
                <a:latin typeface="Yu Gothic"/>
              </a:rPr>
              <a:t>, </a:t>
            </a:r>
            <a:r>
              <a:rPr b="1" lang="zh-CN" sz="1200" spc="-1" strike="noStrike">
                <a:solidFill>
                  <a:srgbClr val="ffffff"/>
                </a:solidFill>
                <a:latin typeface="Yu Gothic"/>
              </a:rPr>
              <a:t>平均値から外挿</a:t>
            </a:r>
            <a:r>
              <a:rPr b="1" lang="en-US" sz="1200" spc="-1" strike="noStrike">
                <a:solidFill>
                  <a:srgbClr val="ffffff"/>
                </a:solidFill>
                <a:latin typeface="Yu Gothic"/>
              </a:rPr>
              <a:t>)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629" name="CustomShape 7"/>
          <p:cNvSpPr/>
          <p:nvPr/>
        </p:nvSpPr>
        <p:spPr>
          <a:xfrm>
            <a:off x="548640" y="2286000"/>
            <a:ext cx="2742840" cy="868320"/>
          </a:xfrm>
          <a:prstGeom prst="roundRect">
            <a:avLst>
              <a:gd name="adj" fmla="val 16667"/>
            </a:avLst>
          </a:prstGeom>
          <a:solidFill>
            <a:srgbClr val="6b7280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zh-CN" sz="1200" spc="-1" strike="noStrike">
                <a:solidFill>
                  <a:srgbClr val="ffffff"/>
                </a:solidFill>
                <a:latin typeface="Yu Gothic"/>
              </a:rPr>
              <a:t>元データ合計</a:t>
            </a:r>
            <a:br/>
            <a:r>
              <a:rPr b="1" lang="en-US" sz="1200" spc="-1" strike="noStrike">
                <a:solidFill>
                  <a:srgbClr val="ffffff"/>
                </a:solidFill>
                <a:latin typeface="Yu Gothic"/>
              </a:rPr>
              <a:t>(.dae, COLLADA)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630" name="CustomShape 8"/>
          <p:cNvSpPr/>
          <p:nvPr/>
        </p:nvSpPr>
        <p:spPr>
          <a:xfrm>
            <a:off x="3383280" y="2560680"/>
            <a:ext cx="2559960" cy="3189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1500" spc="-1" strike="noStrike">
                <a:solidFill>
                  <a:srgbClr val="1f2a44"/>
                </a:solidFill>
                <a:latin typeface="Yu Gothic"/>
              </a:rPr>
              <a:t>14.3 MB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631" name="CustomShape 9"/>
          <p:cNvSpPr/>
          <p:nvPr/>
        </p:nvSpPr>
        <p:spPr>
          <a:xfrm>
            <a:off x="6126480" y="2446560"/>
            <a:ext cx="2559960" cy="5472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1500" spc="-1" strike="noStrike">
                <a:solidFill>
                  <a:srgbClr val="1f2a44"/>
                </a:solidFill>
                <a:latin typeface="Yu Gothic"/>
              </a:rPr>
              <a:t>200.3 MB</a:t>
            </a:r>
            <a:endParaRPr b="0" lang="en-US" sz="15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1" lang="en-US" sz="1500" spc="-1" strike="noStrike">
                <a:solidFill>
                  <a:srgbClr val="1f2a44"/>
                </a:solidFill>
                <a:latin typeface="Yu Gothic"/>
              </a:rPr>
              <a:t>(</a:t>
            </a:r>
            <a:r>
              <a:rPr b="1" lang="zh-CN" sz="1500" spc="-1" strike="noStrike">
                <a:solidFill>
                  <a:srgbClr val="1f2a44"/>
                </a:solidFill>
                <a:latin typeface="Yu Gothic"/>
              </a:rPr>
              <a:t>実測</a:t>
            </a:r>
            <a:r>
              <a:rPr b="1" lang="en-US" sz="1500" spc="-1" strike="noStrike">
                <a:solidFill>
                  <a:srgbClr val="1f2a44"/>
                </a:solidFill>
                <a:latin typeface="Yu Gothic"/>
              </a:rPr>
              <a:t>: 190.99MB)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632" name="CustomShape 10"/>
          <p:cNvSpPr/>
          <p:nvPr/>
        </p:nvSpPr>
        <p:spPr>
          <a:xfrm>
            <a:off x="8869680" y="2446560"/>
            <a:ext cx="2559960" cy="5472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 algn="ctr">
              <a:lnSpc>
                <a:spcPct val="100000"/>
              </a:lnSpc>
            </a:pPr>
            <a:r>
              <a:rPr b="1" lang="zh-CN" sz="1500" spc="-1" strike="noStrike">
                <a:solidFill>
                  <a:srgbClr val="1f2a44"/>
                </a:solidFill>
                <a:latin typeface="Yu Gothic"/>
              </a:rPr>
              <a:t>約</a:t>
            </a:r>
            <a:r>
              <a:rPr b="1" lang="en-US" sz="1500" spc="-1" strike="noStrike">
                <a:solidFill>
                  <a:srgbClr val="1f2a44"/>
                </a:solidFill>
                <a:latin typeface="Yu Gothic"/>
              </a:rPr>
              <a:t>1,926 MB</a:t>
            </a:r>
            <a:endParaRPr b="0" lang="en-US" sz="15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1" lang="en-US" sz="1500" spc="-1" strike="noStrike">
                <a:solidFill>
                  <a:srgbClr val="1f2a44"/>
                </a:solidFill>
                <a:latin typeface="Yu Gothic"/>
              </a:rPr>
              <a:t>(</a:t>
            </a:r>
            <a:r>
              <a:rPr b="1" lang="zh-CN" sz="1500" spc="-1" strike="noStrike">
                <a:solidFill>
                  <a:srgbClr val="1f2a44"/>
                </a:solidFill>
                <a:latin typeface="Yu Gothic"/>
              </a:rPr>
              <a:t>概算</a:t>
            </a:r>
            <a:r>
              <a:rPr b="1" lang="en-US" sz="1500" spc="-1" strike="noStrike">
                <a:solidFill>
                  <a:srgbClr val="1f2a44"/>
                </a:solidFill>
                <a:latin typeface="Yu Gothic"/>
              </a:rPr>
              <a:t>)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633" name="CustomShape 11"/>
          <p:cNvSpPr/>
          <p:nvPr/>
        </p:nvSpPr>
        <p:spPr>
          <a:xfrm>
            <a:off x="548640" y="3246120"/>
            <a:ext cx="2742840" cy="868320"/>
          </a:xfrm>
          <a:prstGeom prst="roundRect">
            <a:avLst>
              <a:gd name="adj" fmla="val 16667"/>
            </a:avLst>
          </a:prstGeom>
          <a:solidFill>
            <a:srgbClr val="6b7280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zh-CN" sz="1200" spc="-1" strike="noStrike">
                <a:solidFill>
                  <a:srgbClr val="ffffff"/>
                </a:solidFill>
                <a:latin typeface="Yu Gothic"/>
              </a:rPr>
              <a:t>圧縮後合計</a:t>
            </a:r>
            <a:br/>
            <a:r>
              <a:rPr b="1" lang="en-US" sz="1200" spc="-1" strike="noStrike">
                <a:solidFill>
                  <a:srgbClr val="ffffff"/>
                </a:solidFill>
                <a:latin typeface="Yu Gothic"/>
              </a:rPr>
              <a:t>(.glb, Draco)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634" name="CustomShape 12"/>
          <p:cNvSpPr/>
          <p:nvPr/>
        </p:nvSpPr>
        <p:spPr>
          <a:xfrm>
            <a:off x="3383280" y="3520800"/>
            <a:ext cx="2559960" cy="3189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1500" spc="-1" strike="noStrike">
                <a:solidFill>
                  <a:srgbClr val="1f2a44"/>
                </a:solidFill>
                <a:latin typeface="Yu Gothic"/>
              </a:rPr>
              <a:t>0.72 MB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635" name="CustomShape 13"/>
          <p:cNvSpPr/>
          <p:nvPr/>
        </p:nvSpPr>
        <p:spPr>
          <a:xfrm>
            <a:off x="6126480" y="3406680"/>
            <a:ext cx="2559960" cy="5472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1500" spc="-1" strike="noStrike">
                <a:solidFill>
                  <a:srgbClr val="1f2a44"/>
                </a:solidFill>
                <a:latin typeface="Yu Gothic"/>
              </a:rPr>
              <a:t>10.1 MB</a:t>
            </a:r>
            <a:endParaRPr b="0" lang="en-US" sz="15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1" lang="en-US" sz="1500" spc="-1" strike="noStrike">
                <a:solidFill>
                  <a:srgbClr val="1f2a44"/>
                </a:solidFill>
                <a:latin typeface="Yu Gothic"/>
              </a:rPr>
              <a:t>(</a:t>
            </a:r>
            <a:r>
              <a:rPr b="1" lang="zh-CN" sz="1500" spc="-1" strike="noStrike">
                <a:solidFill>
                  <a:srgbClr val="1f2a44"/>
                </a:solidFill>
                <a:latin typeface="Yu Gothic"/>
              </a:rPr>
              <a:t>実測</a:t>
            </a:r>
            <a:r>
              <a:rPr b="1" lang="en-US" sz="1500" spc="-1" strike="noStrike">
                <a:solidFill>
                  <a:srgbClr val="1f2a44"/>
                </a:solidFill>
                <a:latin typeface="Yu Gothic"/>
              </a:rPr>
              <a:t>: 9.63MB)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636" name="CustomShape 14"/>
          <p:cNvSpPr/>
          <p:nvPr/>
        </p:nvSpPr>
        <p:spPr>
          <a:xfrm>
            <a:off x="8869680" y="3406680"/>
            <a:ext cx="2559960" cy="5472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 algn="ctr">
              <a:lnSpc>
                <a:spcPct val="100000"/>
              </a:lnSpc>
            </a:pPr>
            <a:r>
              <a:rPr b="1" lang="zh-CN" sz="1500" spc="-1" strike="noStrike">
                <a:solidFill>
                  <a:srgbClr val="1f2a44"/>
                </a:solidFill>
                <a:latin typeface="Yu Gothic"/>
              </a:rPr>
              <a:t>約</a:t>
            </a:r>
            <a:r>
              <a:rPr b="1" lang="en-US" sz="1500" spc="-1" strike="noStrike">
                <a:solidFill>
                  <a:srgbClr val="1f2a44"/>
                </a:solidFill>
                <a:latin typeface="Yu Gothic"/>
              </a:rPr>
              <a:t>97 MB</a:t>
            </a:r>
            <a:endParaRPr b="0" lang="en-US" sz="15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1" lang="en-US" sz="1500" spc="-1" strike="noStrike">
                <a:solidFill>
                  <a:srgbClr val="1f2a44"/>
                </a:solidFill>
                <a:latin typeface="Yu Gothic"/>
              </a:rPr>
              <a:t>(</a:t>
            </a:r>
            <a:r>
              <a:rPr b="1" lang="zh-CN" sz="1500" spc="-1" strike="noStrike">
                <a:solidFill>
                  <a:srgbClr val="1f2a44"/>
                </a:solidFill>
                <a:latin typeface="Yu Gothic"/>
              </a:rPr>
              <a:t>概算</a:t>
            </a:r>
            <a:r>
              <a:rPr b="1" lang="en-US" sz="1500" spc="-1" strike="noStrike">
                <a:solidFill>
                  <a:srgbClr val="1f2a44"/>
                </a:solidFill>
                <a:latin typeface="Yu Gothic"/>
              </a:rPr>
              <a:t>)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637" name="CustomShape 15"/>
          <p:cNvSpPr/>
          <p:nvPr/>
        </p:nvSpPr>
        <p:spPr>
          <a:xfrm>
            <a:off x="548640" y="4206240"/>
            <a:ext cx="2742840" cy="868320"/>
          </a:xfrm>
          <a:prstGeom prst="roundRect">
            <a:avLst>
              <a:gd name="adj" fmla="val 16667"/>
            </a:avLst>
          </a:prstGeom>
          <a:solidFill>
            <a:srgbClr val="6b7280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zh-CN" sz="1200" spc="-1" strike="noStrike">
                <a:solidFill>
                  <a:srgbClr val="ffffff"/>
                </a:solidFill>
                <a:latin typeface="Yu Gothic"/>
              </a:rPr>
              <a:t>削減率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638" name="CustomShape 16"/>
          <p:cNvSpPr/>
          <p:nvPr/>
        </p:nvSpPr>
        <p:spPr>
          <a:xfrm>
            <a:off x="3383280" y="4480920"/>
            <a:ext cx="2559960" cy="3189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1500" spc="-1" strike="noStrike">
                <a:solidFill>
                  <a:srgbClr val="1f2a44"/>
                </a:solidFill>
                <a:latin typeface="Yu Gothic"/>
              </a:rPr>
              <a:t>95.0%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639" name="CustomShape 17"/>
          <p:cNvSpPr/>
          <p:nvPr/>
        </p:nvSpPr>
        <p:spPr>
          <a:xfrm>
            <a:off x="6126480" y="4480920"/>
            <a:ext cx="2559960" cy="3189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1500" spc="-1" strike="noStrike">
                <a:solidFill>
                  <a:srgbClr val="1f2a44"/>
                </a:solidFill>
                <a:latin typeface="Yu Gothic"/>
              </a:rPr>
              <a:t>95.0%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640" name="CustomShape 18"/>
          <p:cNvSpPr/>
          <p:nvPr/>
        </p:nvSpPr>
        <p:spPr>
          <a:xfrm>
            <a:off x="8869680" y="4480920"/>
            <a:ext cx="2559960" cy="3189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 algn="ctr">
              <a:lnSpc>
                <a:spcPct val="100000"/>
              </a:lnSpc>
            </a:pPr>
            <a:r>
              <a:rPr b="1" lang="zh-CN" sz="1500" spc="-1" strike="noStrike">
                <a:solidFill>
                  <a:srgbClr val="1f2a44"/>
                </a:solidFill>
                <a:latin typeface="Yu Gothic"/>
              </a:rPr>
              <a:t>約</a:t>
            </a:r>
            <a:r>
              <a:rPr b="1" lang="en-US" sz="1500" spc="-1" strike="noStrike">
                <a:solidFill>
                  <a:srgbClr val="1f2a44"/>
                </a:solidFill>
                <a:latin typeface="Yu Gothic"/>
              </a:rPr>
              <a:t>95%(</a:t>
            </a:r>
            <a:r>
              <a:rPr b="1" lang="zh-CN" sz="1500" spc="-1" strike="noStrike">
                <a:solidFill>
                  <a:srgbClr val="1f2a44"/>
                </a:solidFill>
                <a:latin typeface="Yu Gothic"/>
              </a:rPr>
              <a:t>同程度と推定</a:t>
            </a:r>
            <a:r>
              <a:rPr b="1" lang="en-US" sz="1500" spc="-1" strike="noStrike">
                <a:solidFill>
                  <a:srgbClr val="1f2a44"/>
                </a:solidFill>
                <a:latin typeface="Yu Gothic"/>
              </a:rPr>
              <a:t>)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641" name="CustomShape 19"/>
          <p:cNvSpPr/>
          <p:nvPr/>
        </p:nvSpPr>
        <p:spPr>
          <a:xfrm>
            <a:off x="548640" y="5166360"/>
            <a:ext cx="2742840" cy="868320"/>
          </a:xfrm>
          <a:prstGeom prst="roundRect">
            <a:avLst>
              <a:gd name="adj" fmla="val 16667"/>
            </a:avLst>
          </a:prstGeom>
          <a:solidFill>
            <a:srgbClr val="6b7280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Yu Gothic"/>
              </a:rPr>
              <a:t>1</a:t>
            </a:r>
            <a:r>
              <a:rPr b="1" lang="zh-CN" sz="1200" spc="-1" strike="noStrike">
                <a:solidFill>
                  <a:srgbClr val="ffffff"/>
                </a:solidFill>
                <a:latin typeface="Yu Gothic"/>
              </a:rPr>
              <a:t>体あたり平均</a:t>
            </a:r>
            <a:br/>
            <a:r>
              <a:rPr b="1" lang="en-US" sz="1200" spc="-1" strike="noStrike">
                <a:solidFill>
                  <a:srgbClr val="ffffff"/>
                </a:solidFill>
                <a:latin typeface="Yu Gothic"/>
              </a:rPr>
              <a:t>(</a:t>
            </a:r>
            <a:r>
              <a:rPr b="1" lang="zh-CN" sz="1200" spc="-1" strike="noStrike">
                <a:solidFill>
                  <a:srgbClr val="ffffff"/>
                </a:solidFill>
                <a:latin typeface="Yu Gothic"/>
              </a:rPr>
              <a:t>圧縮後</a:t>
            </a:r>
            <a:r>
              <a:rPr b="1" lang="en-US" sz="1200" spc="-1" strike="noStrike">
                <a:solidFill>
                  <a:srgbClr val="ffffff"/>
                </a:solidFill>
                <a:latin typeface="Yu Gothic"/>
              </a:rPr>
              <a:t>)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642" name="CustomShape 20"/>
          <p:cNvSpPr/>
          <p:nvPr/>
        </p:nvSpPr>
        <p:spPr>
          <a:xfrm>
            <a:off x="3383280" y="5441040"/>
            <a:ext cx="2559960" cy="3189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1500" spc="-1" strike="noStrike">
                <a:solidFill>
                  <a:srgbClr val="1f2a44"/>
                </a:solidFill>
                <a:latin typeface="Yu Gothic"/>
              </a:rPr>
              <a:t>144 KB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643" name="CustomShape 21"/>
          <p:cNvSpPr/>
          <p:nvPr/>
        </p:nvSpPr>
        <p:spPr>
          <a:xfrm>
            <a:off x="6126480" y="5441040"/>
            <a:ext cx="2559960" cy="3189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1500" spc="-1" strike="noStrike">
                <a:solidFill>
                  <a:srgbClr val="1f2a44"/>
                </a:solidFill>
                <a:latin typeface="Yu Gothic"/>
              </a:rPr>
              <a:t>194 KB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644" name="CustomShape 22"/>
          <p:cNvSpPr/>
          <p:nvPr/>
        </p:nvSpPr>
        <p:spPr>
          <a:xfrm>
            <a:off x="8869680" y="5441040"/>
            <a:ext cx="2559960" cy="3189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1500" spc="-1" strike="noStrike">
                <a:solidFill>
                  <a:srgbClr val="1f2a44"/>
                </a:solidFill>
                <a:latin typeface="Yu Gothic"/>
              </a:rPr>
              <a:t>194 KB(</a:t>
            </a:r>
            <a:r>
              <a:rPr b="1" lang="zh-CN" sz="1500" spc="-1" strike="noStrike">
                <a:solidFill>
                  <a:srgbClr val="1f2a44"/>
                </a:solidFill>
                <a:latin typeface="Yu Gothic"/>
              </a:rPr>
              <a:t>同じ</a:t>
            </a:r>
            <a:r>
              <a:rPr b="1" lang="en-US" sz="1500" spc="-1" strike="noStrike">
                <a:solidFill>
                  <a:srgbClr val="1f2a44"/>
                </a:solidFill>
                <a:latin typeface="Yu Gothic"/>
              </a:rPr>
              <a:t>)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645" name="CustomShape 23"/>
          <p:cNvSpPr/>
          <p:nvPr/>
        </p:nvSpPr>
        <p:spPr>
          <a:xfrm>
            <a:off x="548640" y="5989320"/>
            <a:ext cx="11063880" cy="685440"/>
          </a:xfrm>
          <a:prstGeom prst="roundRect">
            <a:avLst>
              <a:gd name="adj" fmla="val 16667"/>
            </a:avLst>
          </a:prstGeom>
          <a:solidFill>
            <a:srgbClr val="163a2a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zh-CN" sz="1300" spc="-1" strike="noStrike">
                <a:solidFill>
                  <a:srgbClr val="ffffff"/>
                </a:solidFill>
                <a:latin typeface="Yu Gothic"/>
              </a:rPr>
              <a:t>重要な点</a:t>
            </a:r>
            <a:r>
              <a:rPr b="1" lang="en-US" sz="1300" spc="-1" strike="noStrike">
                <a:solidFill>
                  <a:srgbClr val="ffffff"/>
                </a:solidFill>
                <a:latin typeface="Yu Gothic"/>
              </a:rPr>
              <a:t>: </a:t>
            </a:r>
            <a:r>
              <a:rPr b="1" lang="zh-CN" sz="1300" spc="-1" strike="noStrike">
                <a:solidFill>
                  <a:srgbClr val="ffffff"/>
                </a:solidFill>
                <a:latin typeface="Yu Gothic"/>
              </a:rPr>
              <a:t>リポジトリの合計サイズは体数に比例して増えるが、スマホが</a:t>
            </a:r>
            <a:r>
              <a:rPr b="1" lang="en-US" sz="1300" spc="-1" strike="noStrike">
                <a:solidFill>
                  <a:srgbClr val="ffffff"/>
                </a:solidFill>
                <a:latin typeface="Yu Gothic"/>
              </a:rPr>
              <a:t>1</a:t>
            </a:r>
            <a:r>
              <a:rPr b="1" lang="zh-CN" sz="1300" spc="-1" strike="noStrike">
                <a:solidFill>
                  <a:srgbClr val="ffffff"/>
                </a:solidFill>
                <a:latin typeface="Yu Gothic"/>
              </a:rPr>
              <a:t>回の閲覧で実際にダウンロードする量は</a:t>
            </a:r>
            <a:br/>
            <a:r>
              <a:rPr b="1" lang="zh-CN" sz="1300" spc="-1" strike="noStrike">
                <a:solidFill>
                  <a:srgbClr val="ffffff"/>
                </a:solidFill>
                <a:latin typeface="Yu Gothic"/>
              </a:rPr>
              <a:t>「選んだ</a:t>
            </a:r>
            <a:r>
              <a:rPr b="1" lang="en-US" sz="1300" spc="-1" strike="noStrike">
                <a:solidFill>
                  <a:srgbClr val="ffffff"/>
                </a:solidFill>
                <a:latin typeface="Yu Gothic"/>
              </a:rPr>
              <a:t>1</a:t>
            </a:r>
            <a:r>
              <a:rPr b="1" lang="zh-CN" sz="1300" spc="-1" strike="noStrike">
                <a:solidFill>
                  <a:srgbClr val="ffffff"/>
                </a:solidFill>
                <a:latin typeface="Yu Gothic"/>
              </a:rPr>
              <a:t>体分」だけ</a:t>
            </a:r>
            <a:r>
              <a:rPr b="1" lang="en-US" sz="1300" spc="-1" strike="noStrike">
                <a:solidFill>
                  <a:srgbClr val="ffffff"/>
                </a:solidFill>
                <a:latin typeface="Yu Gothic"/>
              </a:rPr>
              <a:t>(</a:t>
            </a:r>
            <a:r>
              <a:rPr b="1" lang="zh-CN" sz="1300" spc="-1" strike="noStrike">
                <a:solidFill>
                  <a:srgbClr val="ffffff"/>
                </a:solidFill>
                <a:latin typeface="Yu Gothic"/>
              </a:rPr>
              <a:t>平均約</a:t>
            </a:r>
            <a:r>
              <a:rPr b="1" lang="en-US" sz="1300" spc="-1" strike="noStrike">
                <a:solidFill>
                  <a:srgbClr val="ffffff"/>
                </a:solidFill>
                <a:latin typeface="Yu Gothic"/>
              </a:rPr>
              <a:t>190KB)-- </a:t>
            </a:r>
            <a:r>
              <a:rPr b="1" lang="zh-CN" sz="1300" spc="-1" strike="noStrike">
                <a:solidFill>
                  <a:srgbClr val="ffffff"/>
                </a:solidFill>
                <a:latin typeface="Yu Gothic"/>
              </a:rPr>
              <a:t>カタログが</a:t>
            </a:r>
            <a:r>
              <a:rPr b="1" lang="en-US" sz="1300" spc="-1" strike="noStrike">
                <a:solidFill>
                  <a:srgbClr val="ffffff"/>
                </a:solidFill>
                <a:latin typeface="Yu Gothic"/>
              </a:rPr>
              <a:t>500</a:t>
            </a:r>
            <a:r>
              <a:rPr b="1" lang="zh-CN" sz="1300" spc="-1" strike="noStrike">
                <a:solidFill>
                  <a:srgbClr val="ffffff"/>
                </a:solidFill>
                <a:latin typeface="Yu Gothic"/>
              </a:rPr>
              <a:t>体になってもブラウザ側の負荷は変わらない。</a:t>
            </a:r>
            <a:endParaRPr b="0" lang="en-US" sz="13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6" name="CustomShape 1"/>
          <p:cNvSpPr/>
          <p:nvPr/>
        </p:nvSpPr>
        <p:spPr>
          <a:xfrm>
            <a:off x="548640" y="320040"/>
            <a:ext cx="8229240" cy="3337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rgbClr val="6b3fa0"/>
                </a:solidFill>
                <a:latin typeface="Yu Gothic"/>
              </a:rPr>
              <a:t>FUTURE DIRECTION (</a:t>
            </a:r>
            <a:r>
              <a:rPr b="1" lang="zh-CN" sz="1600" spc="-1" strike="noStrike">
                <a:solidFill>
                  <a:srgbClr val="6b3fa0"/>
                </a:solidFill>
                <a:latin typeface="Yu Gothic"/>
              </a:rPr>
              <a:t>構想</a:t>
            </a:r>
            <a:r>
              <a:rPr b="1" lang="en-US" sz="1600" spc="-1" strike="noStrike">
                <a:solidFill>
                  <a:srgbClr val="6b3fa0"/>
                </a:solidFill>
                <a:latin typeface="Yu Gothic"/>
              </a:rPr>
              <a:t>)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647" name="CustomShape 2"/>
          <p:cNvSpPr/>
          <p:nvPr/>
        </p:nvSpPr>
        <p:spPr>
          <a:xfrm>
            <a:off x="548640" y="685800"/>
            <a:ext cx="10515240" cy="5472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3000" spc="-1" strike="noStrike">
                <a:solidFill>
                  <a:srgbClr val="1f2a44"/>
                </a:solidFill>
                <a:latin typeface="Yu Gothic"/>
              </a:rPr>
              <a:t>GitHub</a:t>
            </a:r>
            <a:r>
              <a:rPr b="1" lang="zh-CN" sz="3000" spc="-1" strike="noStrike">
                <a:solidFill>
                  <a:srgbClr val="1f2a44"/>
                </a:solidFill>
                <a:latin typeface="Yu Gothic"/>
              </a:rPr>
              <a:t>以外のクラウド</a:t>
            </a:r>
            <a:r>
              <a:rPr b="1" lang="en-US" sz="3000" spc="-1" strike="noStrike">
                <a:solidFill>
                  <a:srgbClr val="1f2a44"/>
                </a:solidFill>
                <a:latin typeface="Yu Gothic"/>
              </a:rPr>
              <a:t>: </a:t>
            </a:r>
            <a:r>
              <a:rPr b="1" lang="zh-CN" sz="3000" spc="-1" strike="noStrike">
                <a:solidFill>
                  <a:srgbClr val="1f2a44"/>
                </a:solidFill>
                <a:latin typeface="Yu Gothic"/>
              </a:rPr>
              <a:t>フィジカル</a:t>
            </a:r>
            <a:r>
              <a:rPr b="1" lang="en-US" sz="3000" spc="-1" strike="noStrike">
                <a:solidFill>
                  <a:srgbClr val="1f2a44"/>
                </a:solidFill>
                <a:latin typeface="Yu Gothic"/>
              </a:rPr>
              <a:t>AI</a:t>
            </a:r>
            <a:r>
              <a:rPr b="1" lang="zh-CN" sz="3000" spc="-1" strike="noStrike">
                <a:solidFill>
                  <a:srgbClr val="1f2a44"/>
                </a:solidFill>
                <a:latin typeface="Yu Gothic"/>
              </a:rPr>
              <a:t>向けデータハブ</a:t>
            </a:r>
            <a:endParaRPr b="0" lang="en-US" sz="3000" spc="-1" strike="noStrike">
              <a:latin typeface="Arial"/>
            </a:endParaRPr>
          </a:p>
        </p:txBody>
      </p:sp>
      <p:sp>
        <p:nvSpPr>
          <p:cNvPr id="648" name="CustomShape 3"/>
          <p:cNvSpPr/>
          <p:nvPr/>
        </p:nvSpPr>
        <p:spPr>
          <a:xfrm>
            <a:off x="548640" y="1600200"/>
            <a:ext cx="3520080" cy="822600"/>
          </a:xfrm>
          <a:prstGeom prst="roundRect">
            <a:avLst>
              <a:gd name="adj" fmla="val 16667"/>
            </a:avLst>
          </a:prstGeom>
          <a:solidFill>
            <a:srgbClr val="2e6fc7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ffff"/>
                </a:solidFill>
                <a:latin typeface="Yu Gothic"/>
              </a:rPr>
              <a:t>LeRobotDataset</a:t>
            </a:r>
            <a:br/>
            <a:r>
              <a:rPr b="1" lang="en-US" sz="1400" spc="-1" strike="noStrike">
                <a:solidFill>
                  <a:srgbClr val="ffffff"/>
                </a:solidFill>
                <a:latin typeface="Yu Gothic"/>
              </a:rPr>
              <a:t>(Hugging Face Hub)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649" name="CustomShape 4"/>
          <p:cNvSpPr/>
          <p:nvPr/>
        </p:nvSpPr>
        <p:spPr>
          <a:xfrm>
            <a:off x="548640" y="2651760"/>
            <a:ext cx="3520080" cy="14259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30000"/>
              </a:lnSpc>
            </a:pPr>
            <a:r>
              <a:rPr b="0" lang="en-US" sz="1350" spc="-1" strike="noStrike">
                <a:solidFill>
                  <a:srgbClr val="222222"/>
                </a:solidFill>
                <a:latin typeface="Yu Gothic"/>
              </a:rPr>
              <a:t>parquet(</a:t>
            </a:r>
            <a:r>
              <a:rPr b="0" lang="zh-CN" sz="1350" spc="-1" strike="noStrike">
                <a:solidFill>
                  <a:srgbClr val="222222"/>
                </a:solidFill>
                <a:latin typeface="Yu Gothic"/>
              </a:rPr>
              <a:t>状態・行動</a:t>
            </a:r>
            <a:r>
              <a:rPr b="0" lang="en-US" sz="1350" spc="-1" strike="noStrike">
                <a:solidFill>
                  <a:srgbClr val="222222"/>
                </a:solidFill>
                <a:latin typeface="Yu Gothic"/>
              </a:rPr>
              <a:t>)+ mp4(</a:t>
            </a:r>
            <a:r>
              <a:rPr b="0" lang="zh-CN" sz="1350" spc="-1" strike="noStrike">
                <a:solidFill>
                  <a:srgbClr val="222222"/>
                </a:solidFill>
                <a:latin typeface="Yu Gothic"/>
              </a:rPr>
              <a:t>カメラ映像</a:t>
            </a:r>
            <a:r>
              <a:rPr b="0" lang="en-US" sz="1350" spc="-1" strike="noStrike">
                <a:solidFill>
                  <a:srgbClr val="222222"/>
                </a:solidFill>
                <a:latin typeface="Yu Gothic"/>
              </a:rPr>
              <a:t>)+</a:t>
            </a:r>
            <a:endParaRPr b="0" lang="en-US" sz="1350" spc="-1" strike="noStrike">
              <a:latin typeface="Arial"/>
            </a:endParaRPr>
          </a:p>
          <a:p>
            <a:pPr>
              <a:lnSpc>
                <a:spcPct val="130000"/>
              </a:lnSpc>
            </a:pPr>
            <a:r>
              <a:rPr b="0" lang="zh-CN" sz="1350" spc="-1" strike="noStrike">
                <a:solidFill>
                  <a:srgbClr val="222222"/>
                </a:solidFill>
                <a:latin typeface="Yu Gothic"/>
              </a:rPr>
              <a:t>メタデータの標準形式。</a:t>
            </a:r>
            <a:r>
              <a:rPr b="0" lang="en-US" sz="1350" spc="-1" strike="noStrike">
                <a:solidFill>
                  <a:srgbClr val="222222"/>
                </a:solidFill>
                <a:latin typeface="Yu Gothic"/>
              </a:rPr>
              <a:t>ALOHA/SO-100/</a:t>
            </a:r>
            <a:endParaRPr b="0" lang="en-US" sz="1350" spc="-1" strike="noStrike">
              <a:latin typeface="Arial"/>
            </a:endParaRPr>
          </a:p>
          <a:p>
            <a:pPr>
              <a:lnSpc>
                <a:spcPct val="130000"/>
              </a:lnSpc>
            </a:pPr>
            <a:r>
              <a:rPr b="0" lang="en-US" sz="1350" spc="-1" strike="noStrike">
                <a:solidFill>
                  <a:srgbClr val="222222"/>
                </a:solidFill>
                <a:latin typeface="Yu Gothic"/>
              </a:rPr>
              <a:t>Reachy 2 </a:t>
            </a:r>
            <a:r>
              <a:rPr b="0" lang="zh-CN" sz="1350" spc="-1" strike="noStrike">
                <a:solidFill>
                  <a:srgbClr val="222222"/>
                </a:solidFill>
                <a:latin typeface="Yu Gothic"/>
              </a:rPr>
              <a:t>等、多数の実機データセットが</a:t>
            </a:r>
            <a:endParaRPr b="0" lang="en-US" sz="1350" spc="-1" strike="noStrike">
              <a:latin typeface="Arial"/>
            </a:endParaRPr>
          </a:p>
          <a:p>
            <a:pPr>
              <a:lnSpc>
                <a:spcPct val="130000"/>
              </a:lnSpc>
            </a:pPr>
            <a:r>
              <a:rPr b="0" lang="en-US" sz="1350" spc="-1" strike="noStrike">
                <a:solidFill>
                  <a:srgbClr val="222222"/>
                </a:solidFill>
                <a:latin typeface="Yu Gothic"/>
              </a:rPr>
              <a:t>Hub</a:t>
            </a:r>
            <a:r>
              <a:rPr b="0" lang="zh-CN" sz="1350" spc="-1" strike="noStrike">
                <a:solidFill>
                  <a:srgbClr val="222222"/>
                </a:solidFill>
                <a:latin typeface="Yu Gothic"/>
              </a:rPr>
              <a:t>上で公開・共有されている。</a:t>
            </a:r>
            <a:endParaRPr b="0" lang="en-US" sz="1350" spc="-1" strike="noStrike">
              <a:latin typeface="Arial"/>
            </a:endParaRPr>
          </a:p>
        </p:txBody>
      </p:sp>
      <p:sp>
        <p:nvSpPr>
          <p:cNvPr id="650" name="CustomShape 5"/>
          <p:cNvSpPr/>
          <p:nvPr/>
        </p:nvSpPr>
        <p:spPr>
          <a:xfrm>
            <a:off x="4297680" y="1600200"/>
            <a:ext cx="3520080" cy="822600"/>
          </a:xfrm>
          <a:prstGeom prst="roundRect">
            <a:avLst>
              <a:gd name="adj" fmla="val 16667"/>
            </a:avLst>
          </a:prstGeom>
          <a:solidFill>
            <a:srgbClr val="2ea059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ffff"/>
                </a:solidFill>
                <a:latin typeface="Yu Gothic"/>
              </a:rPr>
              <a:t>NVIDIA Isaac Sim /</a:t>
            </a:r>
            <a:br/>
            <a:r>
              <a:rPr b="1" lang="en-US" sz="1400" spc="-1" strike="noStrike">
                <a:solidFill>
                  <a:srgbClr val="ffffff"/>
                </a:solidFill>
                <a:latin typeface="Yu Gothic"/>
              </a:rPr>
              <a:t>Isaac Lab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651" name="CustomShape 6"/>
          <p:cNvSpPr/>
          <p:nvPr/>
        </p:nvSpPr>
        <p:spPr>
          <a:xfrm>
            <a:off x="4297680" y="2651760"/>
            <a:ext cx="3520080" cy="14259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30000"/>
              </a:lnSpc>
            </a:pPr>
            <a:r>
              <a:rPr b="0" lang="zh-CN" sz="1350" spc="-1" strike="noStrike">
                <a:solidFill>
                  <a:srgbClr val="222222"/>
                </a:solidFill>
                <a:latin typeface="Yu Gothic"/>
              </a:rPr>
              <a:t>ロボットを</a:t>
            </a:r>
            <a:r>
              <a:rPr b="0" lang="en-US" sz="1350" spc="-1" strike="noStrike">
                <a:solidFill>
                  <a:srgbClr val="222222"/>
                </a:solidFill>
                <a:latin typeface="Yu Gothic"/>
              </a:rPr>
              <a:t>USD(Universal Scene</a:t>
            </a:r>
            <a:endParaRPr b="0" lang="en-US" sz="1350" spc="-1" strike="noStrike">
              <a:latin typeface="Arial"/>
            </a:endParaRPr>
          </a:p>
          <a:p>
            <a:pPr>
              <a:lnSpc>
                <a:spcPct val="130000"/>
              </a:lnSpc>
            </a:pPr>
            <a:r>
              <a:rPr b="0" lang="en-US" sz="1350" spc="-1" strike="noStrike">
                <a:solidFill>
                  <a:srgbClr val="222222"/>
                </a:solidFill>
                <a:latin typeface="Yu Gothic"/>
              </a:rPr>
              <a:t>Description)</a:t>
            </a:r>
            <a:r>
              <a:rPr b="0" lang="zh-CN" sz="1350" spc="-1" strike="noStrike">
                <a:solidFill>
                  <a:srgbClr val="222222"/>
                </a:solidFill>
                <a:latin typeface="Yu Gothic"/>
              </a:rPr>
              <a:t>資産として記述。</a:t>
            </a:r>
            <a:r>
              <a:rPr b="0" lang="en-US" sz="1350" spc="-1" strike="noStrike">
                <a:solidFill>
                  <a:srgbClr val="222222"/>
                </a:solidFill>
                <a:latin typeface="Yu Gothic"/>
              </a:rPr>
              <a:t>GPU</a:t>
            </a:r>
            <a:r>
              <a:rPr b="0" lang="zh-CN" sz="1350" spc="-1" strike="noStrike">
                <a:solidFill>
                  <a:srgbClr val="222222"/>
                </a:solidFill>
                <a:latin typeface="Yu Gothic"/>
              </a:rPr>
              <a:t>並列</a:t>
            </a:r>
            <a:endParaRPr b="0" lang="en-US" sz="1350" spc="-1" strike="noStrike">
              <a:latin typeface="Arial"/>
            </a:endParaRPr>
          </a:p>
          <a:p>
            <a:pPr>
              <a:lnSpc>
                <a:spcPct val="130000"/>
              </a:lnSpc>
            </a:pPr>
            <a:r>
              <a:rPr b="0" lang="zh-CN" sz="1350" spc="-1" strike="noStrike">
                <a:solidFill>
                  <a:srgbClr val="222222"/>
                </a:solidFill>
                <a:latin typeface="Yu Gothic"/>
              </a:rPr>
              <a:t>シミュレーションで大量の合成デモを</a:t>
            </a:r>
            <a:endParaRPr b="0" lang="en-US" sz="1350" spc="-1" strike="noStrike">
              <a:latin typeface="Arial"/>
            </a:endParaRPr>
          </a:p>
          <a:p>
            <a:pPr>
              <a:lnSpc>
                <a:spcPct val="130000"/>
              </a:lnSpc>
            </a:pPr>
            <a:r>
              <a:rPr b="0" lang="zh-CN" sz="1350" spc="-1" strike="noStrike">
                <a:solidFill>
                  <a:srgbClr val="222222"/>
                </a:solidFill>
                <a:latin typeface="Yu Gothic"/>
              </a:rPr>
              <a:t>生成</a:t>
            </a:r>
            <a:r>
              <a:rPr b="0" lang="en-US" sz="1350" spc="-1" strike="noStrike">
                <a:solidFill>
                  <a:srgbClr val="222222"/>
                </a:solidFill>
                <a:latin typeface="Yu Gothic"/>
              </a:rPr>
              <a:t>(GR00T N1: 78</a:t>
            </a:r>
            <a:r>
              <a:rPr b="0" lang="zh-CN" sz="1350" spc="-1" strike="noStrike">
                <a:solidFill>
                  <a:srgbClr val="222222"/>
                </a:solidFill>
                <a:latin typeface="Yu Gothic"/>
              </a:rPr>
              <a:t>万本を</a:t>
            </a:r>
            <a:r>
              <a:rPr b="0" lang="en-US" sz="1350" spc="-1" strike="noStrike">
                <a:solidFill>
                  <a:srgbClr val="222222"/>
                </a:solidFill>
                <a:latin typeface="Yu Gothic"/>
              </a:rPr>
              <a:t>11</a:t>
            </a:r>
            <a:r>
              <a:rPr b="0" lang="zh-CN" sz="1350" spc="-1" strike="noStrike">
                <a:solidFill>
                  <a:srgbClr val="222222"/>
                </a:solidFill>
                <a:latin typeface="Yu Gothic"/>
              </a:rPr>
              <a:t>時間で生成</a:t>
            </a:r>
            <a:r>
              <a:rPr b="0" lang="en-US" sz="1350" spc="-1" strike="noStrike">
                <a:solidFill>
                  <a:srgbClr val="222222"/>
                </a:solidFill>
                <a:latin typeface="Yu Gothic"/>
              </a:rPr>
              <a:t>)</a:t>
            </a:r>
            <a:r>
              <a:rPr b="0" lang="zh-CN" sz="1350" spc="-1" strike="noStrike">
                <a:solidFill>
                  <a:srgbClr val="222222"/>
                </a:solidFill>
                <a:latin typeface="Yu Gothic"/>
              </a:rPr>
              <a:t>。</a:t>
            </a:r>
            <a:endParaRPr b="0" lang="en-US" sz="1350" spc="-1" strike="noStrike">
              <a:latin typeface="Arial"/>
            </a:endParaRPr>
          </a:p>
        </p:txBody>
      </p:sp>
      <p:sp>
        <p:nvSpPr>
          <p:cNvPr id="652" name="CustomShape 7"/>
          <p:cNvSpPr/>
          <p:nvPr/>
        </p:nvSpPr>
        <p:spPr>
          <a:xfrm>
            <a:off x="8046720" y="1600200"/>
            <a:ext cx="3520080" cy="822600"/>
          </a:xfrm>
          <a:prstGeom prst="roundRect">
            <a:avLst>
              <a:gd name="adj" fmla="val 16667"/>
            </a:avLst>
          </a:prstGeom>
          <a:solidFill>
            <a:srgbClr val="b03030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ffff"/>
                </a:solidFill>
                <a:latin typeface="Yu Gothic"/>
              </a:rPr>
              <a:t>NVIDIA Isaac GR00T</a:t>
            </a:r>
            <a:br/>
            <a:r>
              <a:rPr b="1" lang="en-US" sz="1400" spc="-1" strike="noStrike">
                <a:solidFill>
                  <a:srgbClr val="ffffff"/>
                </a:solidFill>
                <a:latin typeface="Yu Gothic"/>
              </a:rPr>
              <a:t>(N1 / N1.7)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653" name="CustomShape 8"/>
          <p:cNvSpPr/>
          <p:nvPr/>
        </p:nvSpPr>
        <p:spPr>
          <a:xfrm>
            <a:off x="8046720" y="2651760"/>
            <a:ext cx="3520080" cy="11588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30000"/>
              </a:lnSpc>
            </a:pPr>
            <a:r>
              <a:rPr b="0" lang="zh-CN" sz="1350" spc="-1" strike="noStrike">
                <a:solidFill>
                  <a:srgbClr val="222222"/>
                </a:solidFill>
                <a:latin typeface="Yu Gothic"/>
              </a:rPr>
              <a:t>オープンなヒューマノイド基盤モデル。</a:t>
            </a:r>
            <a:endParaRPr b="0" lang="en-US" sz="1350" spc="-1" strike="noStrike">
              <a:latin typeface="Arial"/>
            </a:endParaRPr>
          </a:p>
          <a:p>
            <a:pPr>
              <a:lnSpc>
                <a:spcPct val="130000"/>
              </a:lnSpc>
            </a:pPr>
            <a:r>
              <a:rPr b="0" lang="zh-CN" sz="1350" spc="-1" strike="noStrike">
                <a:solidFill>
                  <a:srgbClr val="222222"/>
                </a:solidFill>
                <a:latin typeface="Yu Gothic"/>
              </a:rPr>
              <a:t>訓練データ</a:t>
            </a:r>
            <a:r>
              <a:rPr b="0" lang="en-US" sz="1350" spc="-1" strike="noStrike">
                <a:solidFill>
                  <a:srgbClr val="222222"/>
                </a:solidFill>
                <a:latin typeface="Yu Gothic"/>
              </a:rPr>
              <a:t>(</a:t>
            </a:r>
            <a:r>
              <a:rPr b="0" lang="zh-CN" sz="1350" spc="-1" strike="noStrike">
                <a:solidFill>
                  <a:srgbClr val="222222"/>
                </a:solidFill>
                <a:latin typeface="Yu Gothic"/>
              </a:rPr>
              <a:t>実機</a:t>
            </a:r>
            <a:r>
              <a:rPr b="0" lang="en-US" sz="1350" spc="-1" strike="noStrike">
                <a:solidFill>
                  <a:srgbClr val="222222"/>
                </a:solidFill>
                <a:latin typeface="Yu Gothic"/>
              </a:rPr>
              <a:t>+</a:t>
            </a:r>
            <a:r>
              <a:rPr b="0" lang="zh-CN" sz="1350" spc="-1" strike="noStrike">
                <a:solidFill>
                  <a:srgbClr val="222222"/>
                </a:solidFill>
                <a:latin typeface="Yu Gothic"/>
              </a:rPr>
              <a:t>合成</a:t>
            </a:r>
            <a:r>
              <a:rPr b="0" lang="en-US" sz="1350" spc="-1" strike="noStrike">
                <a:solidFill>
                  <a:srgbClr val="222222"/>
                </a:solidFill>
                <a:latin typeface="Yu Gothic"/>
              </a:rPr>
              <a:t>+</a:t>
            </a:r>
            <a:r>
              <a:rPr b="0" lang="zh-CN" sz="1350" spc="-1" strike="noStrike">
                <a:solidFill>
                  <a:srgbClr val="222222"/>
                </a:solidFill>
                <a:latin typeface="Yu Gothic"/>
              </a:rPr>
              <a:t>動画</a:t>
            </a:r>
            <a:r>
              <a:rPr b="0" lang="en-US" sz="1350" spc="-1" strike="noStrike">
                <a:solidFill>
                  <a:srgbClr val="222222"/>
                </a:solidFill>
                <a:latin typeface="Yu Gothic"/>
              </a:rPr>
              <a:t>, 15TB/</a:t>
            </a:r>
            <a:endParaRPr b="0" lang="en-US" sz="1350" spc="-1" strike="noStrike">
              <a:latin typeface="Arial"/>
            </a:endParaRPr>
          </a:p>
          <a:p>
            <a:pPr>
              <a:lnSpc>
                <a:spcPct val="130000"/>
              </a:lnSpc>
            </a:pPr>
            <a:r>
              <a:rPr b="0" lang="en-US" sz="1350" spc="-1" strike="noStrike">
                <a:solidFill>
                  <a:srgbClr val="222222"/>
                </a:solidFill>
                <a:latin typeface="Yu Gothic"/>
              </a:rPr>
              <a:t>32</a:t>
            </a:r>
            <a:r>
              <a:rPr b="0" lang="zh-CN" sz="1350" spc="-1" strike="noStrike">
                <a:solidFill>
                  <a:srgbClr val="222222"/>
                </a:solidFill>
                <a:latin typeface="Yu Gothic"/>
              </a:rPr>
              <a:t>万軌道超 </a:t>
            </a:r>
            <a:r>
              <a:rPr b="0" lang="en-US" sz="1350" spc="-1" strike="noStrike">
                <a:solidFill>
                  <a:srgbClr val="222222"/>
                </a:solidFill>
                <a:latin typeface="Yu Gothic"/>
              </a:rPr>
              <a:t>+ USD</a:t>
            </a:r>
            <a:r>
              <a:rPr b="0" lang="zh-CN" sz="1350" spc="-1" strike="noStrike">
                <a:solidFill>
                  <a:srgbClr val="222222"/>
                </a:solidFill>
                <a:latin typeface="Yu Gothic"/>
              </a:rPr>
              <a:t>資産</a:t>
            </a:r>
            <a:r>
              <a:rPr b="0" lang="en-US" sz="1350" spc="-1" strike="noStrike">
                <a:solidFill>
                  <a:srgbClr val="222222"/>
                </a:solidFill>
                <a:latin typeface="Yu Gothic"/>
              </a:rPr>
              <a:t>1000</a:t>
            </a:r>
            <a:r>
              <a:rPr b="0" lang="zh-CN" sz="1350" spc="-1" strike="noStrike">
                <a:solidFill>
                  <a:srgbClr val="222222"/>
                </a:solidFill>
                <a:latin typeface="Yu Gothic"/>
              </a:rPr>
              <a:t>種</a:t>
            </a:r>
            <a:r>
              <a:rPr b="0" lang="en-US" sz="1350" spc="-1" strike="noStrike">
                <a:solidFill>
                  <a:srgbClr val="222222"/>
                </a:solidFill>
                <a:latin typeface="Yu Gothic"/>
              </a:rPr>
              <a:t>)</a:t>
            </a:r>
            <a:r>
              <a:rPr b="0" lang="zh-CN" sz="1350" spc="-1" strike="noStrike">
                <a:solidFill>
                  <a:srgbClr val="222222"/>
                </a:solidFill>
                <a:latin typeface="Yu Gothic"/>
              </a:rPr>
              <a:t>を</a:t>
            </a:r>
            <a:endParaRPr b="0" lang="en-US" sz="1350" spc="-1" strike="noStrike">
              <a:latin typeface="Arial"/>
            </a:endParaRPr>
          </a:p>
          <a:p>
            <a:pPr>
              <a:lnSpc>
                <a:spcPct val="130000"/>
              </a:lnSpc>
            </a:pPr>
            <a:r>
              <a:rPr b="0" lang="en-US" sz="1350" spc="-1" strike="noStrike">
                <a:solidFill>
                  <a:srgbClr val="222222"/>
                </a:solidFill>
                <a:latin typeface="Yu Gothic"/>
              </a:rPr>
              <a:t>Hugging Face</a:t>
            </a:r>
            <a:r>
              <a:rPr b="0" lang="zh-CN" sz="1350" spc="-1" strike="noStrike">
                <a:solidFill>
                  <a:srgbClr val="222222"/>
                </a:solidFill>
                <a:latin typeface="Yu Gothic"/>
              </a:rPr>
              <a:t>上で公開。</a:t>
            </a:r>
            <a:endParaRPr b="0" lang="en-US" sz="1350" spc="-1" strike="noStrike">
              <a:latin typeface="Arial"/>
            </a:endParaRPr>
          </a:p>
        </p:txBody>
      </p:sp>
      <p:sp>
        <p:nvSpPr>
          <p:cNvPr id="654" name="CustomShape 9"/>
          <p:cNvSpPr/>
          <p:nvPr/>
        </p:nvSpPr>
        <p:spPr>
          <a:xfrm>
            <a:off x="548640" y="4480560"/>
            <a:ext cx="11063880" cy="15541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30000"/>
              </a:lnSpc>
            </a:pPr>
            <a:r>
              <a:rPr b="0" lang="en-US" sz="1400" spc="-1" strike="noStrike">
                <a:solidFill>
                  <a:srgbClr val="222222"/>
                </a:solidFill>
                <a:latin typeface="Yu Gothic"/>
              </a:rPr>
              <a:t>kxr</a:t>
            </a:r>
            <a:r>
              <a:rPr b="0" lang="zh-CN" sz="1400" spc="-1" strike="noStrike">
                <a:solidFill>
                  <a:srgbClr val="222222"/>
                </a:solidFill>
                <a:latin typeface="Yu Gothic"/>
              </a:rPr>
              <a:t>の現状</a:t>
            </a:r>
            <a:r>
              <a:rPr b="0" lang="en-US" sz="1400" spc="-1" strike="noStrike">
                <a:solidFill>
                  <a:srgbClr val="222222"/>
                </a:solidFill>
                <a:latin typeface="Yu Gothic"/>
              </a:rPr>
              <a:t>: URDF/MuJoCo</a:t>
            </a:r>
            <a:r>
              <a:rPr b="0" lang="zh-CN" sz="1400" spc="-1" strike="noStrike">
                <a:solidFill>
                  <a:srgbClr val="222222"/>
                </a:solidFill>
                <a:latin typeface="Yu Gothic"/>
              </a:rPr>
              <a:t>・独自のモーションテーブル・</a:t>
            </a:r>
            <a:r>
              <a:rPr b="0" lang="en-US" sz="1400" spc="-1" strike="noStrike">
                <a:solidFill>
                  <a:srgbClr val="222222"/>
                </a:solidFill>
                <a:latin typeface="Yu Gothic"/>
              </a:rPr>
              <a:t>NN</a:t>
            </a:r>
            <a:r>
              <a:rPr b="0" lang="zh-CN" sz="1400" spc="-1" strike="noStrike">
                <a:solidFill>
                  <a:srgbClr val="222222"/>
                </a:solidFill>
                <a:latin typeface="Yu Gothic"/>
              </a:rPr>
              <a:t>重みはいずれも自前形式で、</a:t>
            </a:r>
            <a:endParaRPr b="0" lang="en-US" sz="1400" spc="-1" strike="noStrike">
              <a:latin typeface="Arial"/>
            </a:endParaRPr>
          </a:p>
          <a:p>
            <a:pPr>
              <a:lnSpc>
                <a:spcPct val="130000"/>
              </a:lnSpc>
            </a:pPr>
            <a:r>
              <a:rPr b="0" lang="en-US" sz="1400" spc="-1" strike="noStrike">
                <a:solidFill>
                  <a:srgbClr val="222222"/>
                </a:solidFill>
                <a:latin typeface="Yu Gothic"/>
              </a:rPr>
              <a:t>GitHub</a:t>
            </a:r>
            <a:r>
              <a:rPr b="0" lang="zh-CN" sz="1400" spc="-1" strike="noStrike">
                <a:solidFill>
                  <a:srgbClr val="222222"/>
                </a:solidFill>
                <a:latin typeface="Yu Gothic"/>
              </a:rPr>
              <a:t>上の </a:t>
            </a:r>
            <a:r>
              <a:rPr b="0" lang="en-US" sz="1400" spc="-1" strike="noStrike">
                <a:solidFill>
                  <a:srgbClr val="222222"/>
                </a:solidFill>
                <a:latin typeface="Yu Gothic"/>
              </a:rPr>
              <a:t>downloadable_policies/ </a:t>
            </a:r>
            <a:r>
              <a:rPr b="0" lang="zh-CN" sz="1400" spc="-1" strike="noStrike">
                <a:solidFill>
                  <a:srgbClr val="222222"/>
                </a:solidFill>
                <a:latin typeface="Yu Gothic"/>
              </a:rPr>
              <a:t>や </a:t>
            </a:r>
            <a:r>
              <a:rPr b="0" lang="en-US" sz="1400" spc="-1" strike="noStrike">
                <a:solidFill>
                  <a:srgbClr val="222222"/>
                </a:solidFill>
                <a:latin typeface="Yu Gothic"/>
              </a:rPr>
              <a:t>docs/urdf_viewer/ </a:t>
            </a:r>
            <a:r>
              <a:rPr b="0" lang="zh-CN" sz="1400" spc="-1" strike="noStrike">
                <a:solidFill>
                  <a:srgbClr val="222222"/>
                </a:solidFill>
                <a:latin typeface="Yu Gothic"/>
              </a:rPr>
              <a:t>も</a:t>
            </a:r>
            <a:r>
              <a:rPr b="0" lang="en-US" sz="1400" spc="-1" strike="noStrike">
                <a:solidFill>
                  <a:srgbClr val="222222"/>
                </a:solidFill>
                <a:latin typeface="Yu Gothic"/>
              </a:rPr>
              <a:t>kxr</a:t>
            </a:r>
            <a:r>
              <a:rPr b="0" lang="zh-CN" sz="1400" spc="-1" strike="noStrike">
                <a:solidFill>
                  <a:srgbClr val="222222"/>
                </a:solidFill>
                <a:latin typeface="Yu Gothic"/>
              </a:rPr>
              <a:t>専用のレイアウト。</a:t>
            </a:r>
            <a:endParaRPr b="0" lang="en-US" sz="1400" spc="-1" strike="noStrike">
              <a:latin typeface="Arial"/>
            </a:endParaRPr>
          </a:p>
          <a:p>
            <a:pPr>
              <a:lnSpc>
                <a:spcPct val="130000"/>
              </a:lnSpc>
            </a:pPr>
            <a:endParaRPr b="0" lang="en-US" sz="1400" spc="-1" strike="noStrike">
              <a:latin typeface="Arial"/>
            </a:endParaRPr>
          </a:p>
          <a:p>
            <a:pPr>
              <a:lnSpc>
                <a:spcPct val="130000"/>
              </a:lnSpc>
            </a:pPr>
            <a:r>
              <a:rPr b="0" lang="zh-CN" sz="1400" spc="-1" strike="noStrike">
                <a:solidFill>
                  <a:srgbClr val="222222"/>
                </a:solidFill>
                <a:latin typeface="Yu Gothic"/>
              </a:rPr>
              <a:t>これらの標準フォーマットに合わせることができれば、</a:t>
            </a:r>
            <a:r>
              <a:rPr b="0" lang="en-US" sz="1400" spc="-1" strike="noStrike">
                <a:solidFill>
                  <a:srgbClr val="222222"/>
                </a:solidFill>
                <a:latin typeface="Yu Gothic"/>
              </a:rPr>
              <a:t>kxr</a:t>
            </a:r>
            <a:r>
              <a:rPr b="0" lang="zh-CN" sz="1400" spc="-1" strike="noStrike">
                <a:solidFill>
                  <a:srgbClr val="222222"/>
                </a:solidFill>
                <a:latin typeface="Yu Gothic"/>
              </a:rPr>
              <a:t>側のデータを</a:t>
            </a:r>
            <a:r>
              <a:rPr b="0" lang="en-US" sz="1400" spc="-1" strike="noStrike">
                <a:solidFill>
                  <a:srgbClr val="222222"/>
                </a:solidFill>
                <a:latin typeface="Yu Gothic"/>
              </a:rPr>
              <a:t>Hugging Face</a:t>
            </a:r>
            <a:r>
              <a:rPr b="0" lang="zh-CN" sz="1400" spc="-1" strike="noStrike">
                <a:solidFill>
                  <a:srgbClr val="222222"/>
                </a:solidFill>
                <a:latin typeface="Yu Gothic"/>
              </a:rPr>
              <a:t>等の</a:t>
            </a:r>
            <a:endParaRPr b="0" lang="en-US" sz="1400" spc="-1" strike="noStrike">
              <a:latin typeface="Arial"/>
            </a:endParaRPr>
          </a:p>
          <a:p>
            <a:pPr>
              <a:lnSpc>
                <a:spcPct val="130000"/>
              </a:lnSpc>
            </a:pPr>
            <a:r>
              <a:rPr b="0" lang="zh-CN" sz="1400" spc="-1" strike="noStrike">
                <a:solidFill>
                  <a:srgbClr val="222222"/>
                </a:solidFill>
                <a:latin typeface="Yu Gothic"/>
              </a:rPr>
              <a:t>既存エコシステム</a:t>
            </a:r>
            <a:r>
              <a:rPr b="0" lang="en-US" sz="1400" spc="-1" strike="noStrike">
                <a:solidFill>
                  <a:srgbClr val="222222"/>
                </a:solidFill>
                <a:latin typeface="Yu Gothic"/>
              </a:rPr>
              <a:t>(</a:t>
            </a:r>
            <a:r>
              <a:rPr b="0" lang="zh-CN" sz="1400" spc="-1" strike="noStrike">
                <a:solidFill>
                  <a:srgbClr val="222222"/>
                </a:solidFill>
                <a:latin typeface="Yu Gothic"/>
              </a:rPr>
              <a:t>可視化・学習ツール・他の実機データセット</a:t>
            </a:r>
            <a:r>
              <a:rPr b="0" lang="en-US" sz="1400" spc="-1" strike="noStrike">
                <a:solidFill>
                  <a:srgbClr val="222222"/>
                </a:solidFill>
                <a:latin typeface="Yu Gothic"/>
              </a:rPr>
              <a:t>)</a:t>
            </a:r>
            <a:r>
              <a:rPr b="0" lang="zh-CN" sz="1400" spc="-1" strike="noStrike">
                <a:solidFill>
                  <a:srgbClr val="222222"/>
                </a:solidFill>
                <a:latin typeface="Yu Gothic"/>
              </a:rPr>
              <a:t>にそのまま接続できる可能性がある。</a:t>
            </a:r>
            <a:endParaRPr b="0" lang="en-US" sz="14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5" name="CustomShape 1"/>
          <p:cNvSpPr/>
          <p:nvPr/>
        </p:nvSpPr>
        <p:spPr>
          <a:xfrm>
            <a:off x="548640" y="320040"/>
            <a:ext cx="8229240" cy="3337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rgbClr val="6b3fa0"/>
                </a:solidFill>
                <a:latin typeface="Yu Gothic"/>
              </a:rPr>
              <a:t>FUTURE DIRECTION (</a:t>
            </a:r>
            <a:r>
              <a:rPr b="1" lang="zh-CN" sz="1600" spc="-1" strike="noStrike">
                <a:solidFill>
                  <a:srgbClr val="6b3fa0"/>
                </a:solidFill>
                <a:latin typeface="Yu Gothic"/>
              </a:rPr>
              <a:t>構想</a:t>
            </a:r>
            <a:r>
              <a:rPr b="1" lang="en-US" sz="1600" spc="-1" strike="noStrike">
                <a:solidFill>
                  <a:srgbClr val="6b3fa0"/>
                </a:solidFill>
                <a:latin typeface="Yu Gothic"/>
              </a:rPr>
              <a:t>)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656" name="CustomShape 2"/>
          <p:cNvSpPr/>
          <p:nvPr/>
        </p:nvSpPr>
        <p:spPr>
          <a:xfrm>
            <a:off x="548640" y="685800"/>
            <a:ext cx="10515240" cy="5472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3000" spc="-1" strike="noStrike">
                <a:solidFill>
                  <a:srgbClr val="1f2a44"/>
                </a:solidFill>
                <a:latin typeface="Yu Gothic"/>
              </a:rPr>
              <a:t>kxr</a:t>
            </a:r>
            <a:r>
              <a:rPr b="1" lang="zh-CN" sz="3000" spc="-1" strike="noStrike">
                <a:solidFill>
                  <a:srgbClr val="1f2a44"/>
                </a:solidFill>
                <a:latin typeface="Yu Gothic"/>
              </a:rPr>
              <a:t>への応用アイデア</a:t>
            </a:r>
            <a:r>
              <a:rPr b="1" lang="en-US" sz="3000" spc="-1" strike="noStrike">
                <a:solidFill>
                  <a:srgbClr val="1f2a44"/>
                </a:solidFill>
                <a:latin typeface="Yu Gothic"/>
              </a:rPr>
              <a:t>(l2g / a6g </a:t>
            </a:r>
            <a:r>
              <a:rPr b="1" lang="zh-CN" sz="3000" spc="-1" strike="noStrike">
                <a:solidFill>
                  <a:srgbClr val="1f2a44"/>
                </a:solidFill>
                <a:latin typeface="Yu Gothic"/>
              </a:rPr>
              <a:t>などの</a:t>
            </a:r>
            <a:r>
              <a:rPr b="1" lang="en-US" sz="3000" spc="-1" strike="noStrike">
                <a:solidFill>
                  <a:srgbClr val="1f2a44"/>
                </a:solidFill>
                <a:latin typeface="Yu Gothic"/>
              </a:rPr>
              <a:t>2</a:t>
            </a:r>
            <a:r>
              <a:rPr b="1" lang="zh-CN" sz="3000" spc="-1" strike="noStrike">
                <a:solidFill>
                  <a:srgbClr val="1f2a44"/>
                </a:solidFill>
                <a:latin typeface="Yu Gothic"/>
              </a:rPr>
              <a:t>脚</a:t>
            </a:r>
            <a:r>
              <a:rPr b="1" lang="en-US" sz="3000" spc="-1" strike="noStrike">
                <a:solidFill>
                  <a:srgbClr val="1f2a44"/>
                </a:solidFill>
                <a:latin typeface="Yu Gothic"/>
              </a:rPr>
              <a:t>2</a:t>
            </a:r>
            <a:r>
              <a:rPr b="1" lang="zh-CN" sz="3000" spc="-1" strike="noStrike">
                <a:solidFill>
                  <a:srgbClr val="1f2a44"/>
                </a:solidFill>
                <a:latin typeface="Yu Gothic"/>
              </a:rPr>
              <a:t>腕型へ</a:t>
            </a:r>
            <a:r>
              <a:rPr b="1" lang="en-US" sz="3000" spc="-1" strike="noStrike">
                <a:solidFill>
                  <a:srgbClr val="1f2a44"/>
                </a:solidFill>
                <a:latin typeface="Yu Gothic"/>
              </a:rPr>
              <a:t>)</a:t>
            </a:r>
            <a:endParaRPr b="0" lang="en-US" sz="3000" spc="-1" strike="noStrike">
              <a:latin typeface="Arial"/>
            </a:endParaRPr>
          </a:p>
        </p:txBody>
      </p:sp>
      <p:sp>
        <p:nvSpPr>
          <p:cNvPr id="657" name="CustomShape 3"/>
          <p:cNvSpPr/>
          <p:nvPr/>
        </p:nvSpPr>
        <p:spPr>
          <a:xfrm>
            <a:off x="548640" y="1600200"/>
            <a:ext cx="3520080" cy="822600"/>
          </a:xfrm>
          <a:prstGeom prst="roundRect">
            <a:avLst>
              <a:gd name="adj" fmla="val 16667"/>
            </a:avLst>
          </a:prstGeom>
          <a:solidFill>
            <a:srgbClr val="2e6fc7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Yu Gothic"/>
              </a:rPr>
              <a:t>① </a:t>
            </a:r>
            <a:r>
              <a:rPr b="1" lang="zh-CN" sz="1300" spc="-1" strike="noStrike">
                <a:solidFill>
                  <a:srgbClr val="ffffff"/>
                </a:solidFill>
                <a:latin typeface="Yu Gothic"/>
              </a:rPr>
              <a:t>データ形式を</a:t>
            </a:r>
            <a:r>
              <a:rPr b="1" lang="en-US" sz="1300" spc="-1" strike="noStrike">
                <a:solidFill>
                  <a:srgbClr val="ffffff"/>
                </a:solidFill>
                <a:latin typeface="Yu Gothic"/>
              </a:rPr>
              <a:t>LeRobot</a:t>
            </a:r>
            <a:r>
              <a:rPr b="1" lang="zh-CN" sz="1300" spc="-1" strike="noStrike">
                <a:solidFill>
                  <a:srgbClr val="ffffff"/>
                </a:solidFill>
                <a:latin typeface="Yu Gothic"/>
              </a:rPr>
              <a:t>互換に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658" name="CustomShape 4"/>
          <p:cNvSpPr/>
          <p:nvPr/>
        </p:nvSpPr>
        <p:spPr>
          <a:xfrm>
            <a:off x="548640" y="2651760"/>
            <a:ext cx="3520080" cy="19602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30000"/>
              </a:lnSpc>
            </a:pPr>
            <a:r>
              <a:rPr b="0" lang="en-US" sz="1350" spc="-1" strike="noStrike">
                <a:solidFill>
                  <a:srgbClr val="222222"/>
                </a:solidFill>
                <a:latin typeface="Yu Gothic"/>
              </a:rPr>
              <a:t>kxr</a:t>
            </a:r>
            <a:r>
              <a:rPr b="0" lang="zh-CN" sz="1350" spc="-1" strike="noStrike">
                <a:solidFill>
                  <a:srgbClr val="222222"/>
                </a:solidFill>
                <a:latin typeface="Yu Gothic"/>
              </a:rPr>
              <a:t>の動作ログ</a:t>
            </a:r>
            <a:r>
              <a:rPr b="0" lang="en-US" sz="1350" spc="-1" strike="noStrike">
                <a:solidFill>
                  <a:srgbClr val="222222"/>
                </a:solidFill>
                <a:latin typeface="Yu Gothic"/>
              </a:rPr>
              <a:t>(</a:t>
            </a:r>
            <a:r>
              <a:rPr b="0" lang="zh-CN" sz="1350" spc="-1" strike="noStrike">
                <a:solidFill>
                  <a:srgbClr val="222222"/>
                </a:solidFill>
                <a:latin typeface="Yu Gothic"/>
              </a:rPr>
              <a:t>サーボ角度・カメラ映像</a:t>
            </a:r>
            <a:r>
              <a:rPr b="0" lang="en-US" sz="1350" spc="-1" strike="noStrike">
                <a:solidFill>
                  <a:srgbClr val="222222"/>
                </a:solidFill>
                <a:latin typeface="Yu Gothic"/>
              </a:rPr>
              <a:t>)</a:t>
            </a:r>
            <a:r>
              <a:rPr b="0" lang="zh-CN" sz="1350" spc="-1" strike="noStrike">
                <a:solidFill>
                  <a:srgbClr val="222222"/>
                </a:solidFill>
                <a:latin typeface="Yu Gothic"/>
              </a:rPr>
              <a:t>を</a:t>
            </a:r>
            <a:endParaRPr b="0" lang="en-US" sz="1350" spc="-1" strike="noStrike">
              <a:latin typeface="Arial"/>
            </a:endParaRPr>
          </a:p>
          <a:p>
            <a:pPr>
              <a:lnSpc>
                <a:spcPct val="130000"/>
              </a:lnSpc>
            </a:pPr>
            <a:r>
              <a:rPr b="0" lang="en-US" sz="1350" spc="-1" strike="noStrike">
                <a:solidFill>
                  <a:srgbClr val="222222"/>
                </a:solidFill>
                <a:latin typeface="Yu Gothic"/>
              </a:rPr>
              <a:t>LeRobotDataset</a:t>
            </a:r>
            <a:r>
              <a:rPr b="0" lang="zh-CN" sz="1350" spc="-1" strike="noStrike">
                <a:solidFill>
                  <a:srgbClr val="222222"/>
                </a:solidFill>
                <a:latin typeface="Yu Gothic"/>
              </a:rPr>
              <a:t>形式</a:t>
            </a:r>
            <a:r>
              <a:rPr b="0" lang="en-US" sz="1350" spc="-1" strike="noStrike">
                <a:solidFill>
                  <a:srgbClr val="222222"/>
                </a:solidFill>
                <a:latin typeface="Yu Gothic"/>
              </a:rPr>
              <a:t>(parquet+mp4)</a:t>
            </a:r>
            <a:r>
              <a:rPr b="0" lang="zh-CN" sz="1350" spc="-1" strike="noStrike">
                <a:solidFill>
                  <a:srgbClr val="222222"/>
                </a:solidFill>
                <a:latin typeface="Yu Gothic"/>
              </a:rPr>
              <a:t>で</a:t>
            </a:r>
            <a:endParaRPr b="0" lang="en-US" sz="1350" spc="-1" strike="noStrike">
              <a:latin typeface="Arial"/>
            </a:endParaRPr>
          </a:p>
          <a:p>
            <a:pPr>
              <a:lnSpc>
                <a:spcPct val="130000"/>
              </a:lnSpc>
            </a:pPr>
            <a:r>
              <a:rPr b="0" lang="zh-CN" sz="1350" spc="-1" strike="noStrike">
                <a:solidFill>
                  <a:srgbClr val="222222"/>
                </a:solidFill>
                <a:latin typeface="Yu Gothic"/>
              </a:rPr>
              <a:t>エクスポート </a:t>
            </a:r>
            <a:r>
              <a:rPr b="0" lang="en-US" sz="1350" spc="-1" strike="noStrike">
                <a:solidFill>
                  <a:srgbClr val="222222"/>
                </a:solidFill>
                <a:latin typeface="Yu Gothic"/>
              </a:rPr>
              <a:t>-- Hugging Face Hub</a:t>
            </a:r>
            <a:r>
              <a:rPr b="0" lang="zh-CN" sz="1350" spc="-1" strike="noStrike">
                <a:solidFill>
                  <a:srgbClr val="222222"/>
                </a:solidFill>
                <a:latin typeface="Yu Gothic"/>
              </a:rPr>
              <a:t>で公開・</a:t>
            </a:r>
            <a:endParaRPr b="0" lang="en-US" sz="1350" spc="-1" strike="noStrike">
              <a:latin typeface="Arial"/>
            </a:endParaRPr>
          </a:p>
          <a:p>
            <a:pPr>
              <a:lnSpc>
                <a:spcPct val="130000"/>
              </a:lnSpc>
            </a:pPr>
            <a:r>
              <a:rPr b="0" lang="zh-CN" sz="1350" spc="-1" strike="noStrike">
                <a:solidFill>
                  <a:srgbClr val="222222"/>
                </a:solidFill>
                <a:latin typeface="Yu Gothic"/>
              </a:rPr>
              <a:t>他の研究者のツールでもそのまま読める形にする。</a:t>
            </a:r>
            <a:endParaRPr b="0" lang="en-US" sz="1350" spc="-1" strike="noStrike">
              <a:latin typeface="Arial"/>
            </a:endParaRPr>
          </a:p>
        </p:txBody>
      </p:sp>
      <p:sp>
        <p:nvSpPr>
          <p:cNvPr id="659" name="CustomShape 5"/>
          <p:cNvSpPr/>
          <p:nvPr/>
        </p:nvSpPr>
        <p:spPr>
          <a:xfrm>
            <a:off x="4297680" y="1600200"/>
            <a:ext cx="3520080" cy="822600"/>
          </a:xfrm>
          <a:prstGeom prst="roundRect">
            <a:avLst>
              <a:gd name="adj" fmla="val 16667"/>
            </a:avLst>
          </a:prstGeom>
          <a:solidFill>
            <a:srgbClr val="2ea059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Yu Gothic"/>
              </a:rPr>
              <a:t>② </a:t>
            </a:r>
            <a:r>
              <a:rPr b="1" lang="en-US" sz="1300" spc="-1" strike="noStrike">
                <a:solidFill>
                  <a:srgbClr val="ffffff"/>
                </a:solidFill>
                <a:latin typeface="Yu Gothic"/>
              </a:rPr>
              <a:t>URDF</a:t>
            </a:r>
            <a:r>
              <a:rPr b="1" lang="zh-CN" sz="1300" spc="-1" strike="noStrike">
                <a:solidFill>
                  <a:srgbClr val="ffffff"/>
                </a:solidFill>
                <a:latin typeface="Yu Gothic"/>
              </a:rPr>
              <a:t>を</a:t>
            </a:r>
            <a:r>
              <a:rPr b="1" lang="en-US" sz="1300" spc="-1" strike="noStrike">
                <a:solidFill>
                  <a:srgbClr val="ffffff"/>
                </a:solidFill>
                <a:latin typeface="Yu Gothic"/>
              </a:rPr>
              <a:t>Isaac Sim</a:t>
            </a:r>
            <a:r>
              <a:rPr b="1" lang="zh-CN" sz="1300" spc="-1" strike="noStrike">
                <a:solidFill>
                  <a:srgbClr val="ffffff"/>
                </a:solidFill>
                <a:latin typeface="Yu Gothic"/>
              </a:rPr>
              <a:t>資産として活用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660" name="CustomShape 6"/>
          <p:cNvSpPr/>
          <p:nvPr/>
        </p:nvSpPr>
        <p:spPr>
          <a:xfrm>
            <a:off x="4297680" y="2651760"/>
            <a:ext cx="3520080" cy="14259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30000"/>
              </a:lnSpc>
            </a:pPr>
            <a:r>
              <a:rPr b="0" lang="zh-CN" sz="1350" spc="-1" strike="noStrike">
                <a:solidFill>
                  <a:srgbClr val="222222"/>
                </a:solidFill>
                <a:latin typeface="Yu Gothic"/>
              </a:rPr>
              <a:t>フェーズ</a:t>
            </a:r>
            <a:r>
              <a:rPr b="0" lang="en-US" sz="1350" spc="-1" strike="noStrike">
                <a:solidFill>
                  <a:srgbClr val="222222"/>
                </a:solidFill>
                <a:latin typeface="Yu Gothic"/>
              </a:rPr>
              <a:t>2</a:t>
            </a:r>
            <a:r>
              <a:rPr b="0" lang="zh-CN" sz="1350" spc="-1" strike="noStrike">
                <a:solidFill>
                  <a:srgbClr val="222222"/>
                </a:solidFill>
                <a:latin typeface="Yu Gothic"/>
              </a:rPr>
              <a:t>で作った</a:t>
            </a:r>
            <a:r>
              <a:rPr b="0" lang="en-US" sz="1350" spc="-1" strike="noStrike">
                <a:solidFill>
                  <a:srgbClr val="222222"/>
                </a:solidFill>
                <a:latin typeface="Yu Gothic"/>
              </a:rPr>
              <a:t>52</a:t>
            </a:r>
            <a:r>
              <a:rPr b="0" lang="zh-CN" sz="1350" spc="-1" strike="noStrike">
                <a:solidFill>
                  <a:srgbClr val="222222"/>
                </a:solidFill>
                <a:latin typeface="Yu Gothic"/>
              </a:rPr>
              <a:t>体分の</a:t>
            </a:r>
            <a:r>
              <a:rPr b="0" lang="en-US" sz="1350" spc="-1" strike="noStrike">
                <a:solidFill>
                  <a:srgbClr val="222222"/>
                </a:solidFill>
                <a:latin typeface="Yu Gothic"/>
              </a:rPr>
              <a:t>URDF</a:t>
            </a:r>
            <a:r>
              <a:rPr b="0" lang="zh-CN" sz="1350" spc="-1" strike="noStrike">
                <a:solidFill>
                  <a:srgbClr val="222222"/>
                </a:solidFill>
                <a:latin typeface="Yu Gothic"/>
              </a:rPr>
              <a:t>を</a:t>
            </a:r>
            <a:endParaRPr b="0" lang="en-US" sz="1350" spc="-1" strike="noStrike">
              <a:latin typeface="Arial"/>
            </a:endParaRPr>
          </a:p>
          <a:p>
            <a:pPr>
              <a:lnSpc>
                <a:spcPct val="130000"/>
              </a:lnSpc>
            </a:pPr>
            <a:r>
              <a:rPr b="0" lang="en-US" sz="1350" spc="-1" strike="noStrike">
                <a:solidFill>
                  <a:srgbClr val="222222"/>
                </a:solidFill>
                <a:latin typeface="Yu Gothic"/>
              </a:rPr>
              <a:t>USD</a:t>
            </a:r>
            <a:r>
              <a:rPr b="0" lang="zh-CN" sz="1350" spc="-1" strike="noStrike">
                <a:solidFill>
                  <a:srgbClr val="222222"/>
                </a:solidFill>
                <a:latin typeface="Yu Gothic"/>
              </a:rPr>
              <a:t>へ変換すれば</a:t>
            </a:r>
            <a:r>
              <a:rPr b="0" lang="en-US" sz="1350" spc="-1" strike="noStrike">
                <a:solidFill>
                  <a:srgbClr val="222222"/>
                </a:solidFill>
                <a:latin typeface="Yu Gothic"/>
              </a:rPr>
              <a:t>Isaac Sim/Lab</a:t>
            </a:r>
            <a:r>
              <a:rPr b="0" lang="zh-CN" sz="1350" spc="-1" strike="noStrike">
                <a:solidFill>
                  <a:srgbClr val="222222"/>
                </a:solidFill>
                <a:latin typeface="Yu Gothic"/>
              </a:rPr>
              <a:t>上で</a:t>
            </a:r>
            <a:endParaRPr b="0" lang="en-US" sz="1350" spc="-1" strike="noStrike">
              <a:latin typeface="Arial"/>
            </a:endParaRPr>
          </a:p>
          <a:p>
            <a:pPr>
              <a:lnSpc>
                <a:spcPct val="130000"/>
              </a:lnSpc>
            </a:pPr>
            <a:r>
              <a:rPr b="0" lang="zh-CN" sz="1350" spc="-1" strike="noStrike">
                <a:solidFill>
                  <a:srgbClr val="222222"/>
                </a:solidFill>
                <a:latin typeface="Yu Gothic"/>
              </a:rPr>
              <a:t>大量の合成デモ生成・強化学習が可能</a:t>
            </a:r>
            <a:endParaRPr b="0" lang="en-US" sz="1350" spc="-1" strike="noStrike">
              <a:latin typeface="Arial"/>
            </a:endParaRPr>
          </a:p>
          <a:p>
            <a:pPr>
              <a:lnSpc>
                <a:spcPct val="130000"/>
              </a:lnSpc>
            </a:pPr>
            <a:r>
              <a:rPr b="0" lang="en-US" sz="1350" spc="-1" strike="noStrike">
                <a:solidFill>
                  <a:srgbClr val="222222"/>
                </a:solidFill>
                <a:latin typeface="Yu Gothic"/>
              </a:rPr>
              <a:t>(3D</a:t>
            </a:r>
            <a:r>
              <a:rPr b="0" lang="zh-CN" sz="1350" spc="-1" strike="noStrike">
                <a:solidFill>
                  <a:srgbClr val="222222"/>
                </a:solidFill>
                <a:latin typeface="Yu Gothic"/>
              </a:rPr>
              <a:t>ビューアと同じ</a:t>
            </a:r>
            <a:r>
              <a:rPr b="0" lang="en-US" sz="1350" spc="-1" strike="noStrike">
                <a:solidFill>
                  <a:srgbClr val="222222"/>
                </a:solidFill>
                <a:latin typeface="Yu Gothic"/>
              </a:rPr>
              <a:t>URDF</a:t>
            </a:r>
            <a:r>
              <a:rPr b="0" lang="zh-CN" sz="1350" spc="-1" strike="noStrike">
                <a:solidFill>
                  <a:srgbClr val="222222"/>
                </a:solidFill>
                <a:latin typeface="Yu Gothic"/>
              </a:rPr>
              <a:t>資産を再利用</a:t>
            </a:r>
            <a:r>
              <a:rPr b="0" lang="en-US" sz="1350" spc="-1" strike="noStrike">
                <a:solidFill>
                  <a:srgbClr val="222222"/>
                </a:solidFill>
                <a:latin typeface="Yu Gothic"/>
              </a:rPr>
              <a:t>)</a:t>
            </a:r>
            <a:r>
              <a:rPr b="0" lang="zh-CN" sz="1350" spc="-1" strike="noStrike">
                <a:solidFill>
                  <a:srgbClr val="222222"/>
                </a:solidFill>
                <a:latin typeface="Yu Gothic"/>
              </a:rPr>
              <a:t>。</a:t>
            </a:r>
            <a:endParaRPr b="0" lang="en-US" sz="1350" spc="-1" strike="noStrike">
              <a:latin typeface="Arial"/>
            </a:endParaRPr>
          </a:p>
        </p:txBody>
      </p:sp>
      <p:sp>
        <p:nvSpPr>
          <p:cNvPr id="661" name="CustomShape 7"/>
          <p:cNvSpPr/>
          <p:nvPr/>
        </p:nvSpPr>
        <p:spPr>
          <a:xfrm>
            <a:off x="8046720" y="1600200"/>
            <a:ext cx="3520080" cy="822600"/>
          </a:xfrm>
          <a:prstGeom prst="roundRect">
            <a:avLst>
              <a:gd name="adj" fmla="val 16667"/>
            </a:avLst>
          </a:prstGeom>
          <a:solidFill>
            <a:srgbClr val="b03030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Yu Gothic"/>
              </a:rPr>
              <a:t>③ </a:t>
            </a:r>
            <a:r>
              <a:rPr b="1" lang="zh-CN" sz="1300" spc="-1" strike="noStrike">
                <a:solidFill>
                  <a:srgbClr val="ffffff"/>
                </a:solidFill>
                <a:latin typeface="Yu Gothic"/>
              </a:rPr>
              <a:t>手元の</a:t>
            </a:r>
            <a:r>
              <a:rPr b="1" lang="en-US" sz="1300" spc="-1" strike="noStrike">
                <a:solidFill>
                  <a:srgbClr val="ffffff"/>
                </a:solidFill>
                <a:latin typeface="Yu Gothic"/>
              </a:rPr>
              <a:t>GPU</a:t>
            </a:r>
            <a:r>
              <a:rPr b="1" lang="zh-CN" sz="1300" spc="-1" strike="noStrike">
                <a:solidFill>
                  <a:srgbClr val="ffffff"/>
                </a:solidFill>
                <a:latin typeface="Yu Gothic"/>
              </a:rPr>
              <a:t>サーバで学習・蒸留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662" name="CustomShape 8"/>
          <p:cNvSpPr/>
          <p:nvPr/>
        </p:nvSpPr>
        <p:spPr>
          <a:xfrm>
            <a:off x="8046720" y="2651760"/>
            <a:ext cx="3520080" cy="11588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30000"/>
              </a:lnSpc>
            </a:pPr>
            <a:r>
              <a:rPr b="0" lang="en-US" sz="1350" spc="-1" strike="noStrike">
                <a:solidFill>
                  <a:srgbClr val="222222"/>
                </a:solidFill>
                <a:latin typeface="Yu Gothic"/>
              </a:rPr>
              <a:t>hatori</a:t>
            </a:r>
            <a:r>
              <a:rPr b="0" lang="zh-CN" sz="1350" spc="-1" strike="noStrike">
                <a:solidFill>
                  <a:srgbClr val="222222"/>
                </a:solidFill>
                <a:latin typeface="Yu Gothic"/>
              </a:rPr>
              <a:t>・</a:t>
            </a:r>
            <a:r>
              <a:rPr b="0" lang="en-US" sz="1350" spc="-1" strike="noStrike">
                <a:solidFill>
                  <a:srgbClr val="222222"/>
                </a:solidFill>
                <a:latin typeface="Yu Gothic"/>
              </a:rPr>
              <a:t>pro1(</a:t>
            </a:r>
            <a:r>
              <a:rPr b="0" lang="zh-CN" sz="1350" spc="-1" strike="noStrike">
                <a:solidFill>
                  <a:srgbClr val="222222"/>
                </a:solidFill>
                <a:latin typeface="Yu Gothic"/>
              </a:rPr>
              <a:t>手元の</a:t>
            </a:r>
            <a:r>
              <a:rPr b="0" lang="en-US" sz="1350" spc="-1" strike="noStrike">
                <a:solidFill>
                  <a:srgbClr val="222222"/>
                </a:solidFill>
                <a:latin typeface="Yu Gothic"/>
              </a:rPr>
              <a:t>GPU</a:t>
            </a:r>
            <a:r>
              <a:rPr b="0" lang="zh-CN" sz="1350" spc="-1" strike="noStrike">
                <a:solidFill>
                  <a:srgbClr val="222222"/>
                </a:solidFill>
                <a:latin typeface="Yu Gothic"/>
              </a:rPr>
              <a:t>ワーク</a:t>
            </a:r>
            <a:endParaRPr b="0" lang="en-US" sz="1350" spc="-1" strike="noStrike">
              <a:latin typeface="Arial"/>
            </a:endParaRPr>
          </a:p>
          <a:p>
            <a:pPr>
              <a:lnSpc>
                <a:spcPct val="130000"/>
              </a:lnSpc>
            </a:pPr>
            <a:r>
              <a:rPr b="0" lang="zh-CN" sz="1350" spc="-1" strike="noStrike">
                <a:solidFill>
                  <a:srgbClr val="222222"/>
                </a:solidFill>
                <a:latin typeface="Yu Gothic"/>
              </a:rPr>
              <a:t>ステーション</a:t>
            </a:r>
            <a:r>
              <a:rPr b="0" lang="en-US" sz="1350" spc="-1" strike="noStrike">
                <a:solidFill>
                  <a:srgbClr val="222222"/>
                </a:solidFill>
                <a:latin typeface="Yu Gothic"/>
              </a:rPr>
              <a:t>)</a:t>
            </a:r>
            <a:r>
              <a:rPr b="0" lang="zh-CN" sz="1350" spc="-1" strike="noStrike">
                <a:solidFill>
                  <a:srgbClr val="222222"/>
                </a:solidFill>
                <a:latin typeface="Yu Gothic"/>
              </a:rPr>
              <a:t>で</a:t>
            </a:r>
            <a:r>
              <a:rPr b="0" lang="en-US" sz="1350" spc="-1" strike="noStrike">
                <a:solidFill>
                  <a:srgbClr val="222222"/>
                </a:solidFill>
                <a:latin typeface="Yu Gothic"/>
              </a:rPr>
              <a:t>Isaac Sim/GR00T</a:t>
            </a:r>
            <a:r>
              <a:rPr b="0" lang="zh-CN" sz="1350" spc="-1" strike="noStrike">
                <a:solidFill>
                  <a:srgbClr val="222222"/>
                </a:solidFill>
                <a:latin typeface="Yu Gothic"/>
              </a:rPr>
              <a:t>系の</a:t>
            </a:r>
            <a:endParaRPr b="0" lang="en-US" sz="1350" spc="-1" strike="noStrike">
              <a:latin typeface="Arial"/>
            </a:endParaRPr>
          </a:p>
          <a:p>
            <a:pPr>
              <a:lnSpc>
                <a:spcPct val="130000"/>
              </a:lnSpc>
            </a:pPr>
            <a:r>
              <a:rPr b="0" lang="zh-CN" sz="1350" spc="-1" strike="noStrike">
                <a:solidFill>
                  <a:srgbClr val="222222"/>
                </a:solidFill>
                <a:latin typeface="Yu Gothic"/>
              </a:rPr>
              <a:t>学習を回し、その方策を</a:t>
            </a:r>
            <a:r>
              <a:rPr b="0" lang="en-US" sz="1350" spc="-1" strike="noStrike">
                <a:solidFill>
                  <a:srgbClr val="222222"/>
                </a:solidFill>
                <a:latin typeface="Yu Gothic"/>
              </a:rPr>
              <a:t>l2g/a6g</a:t>
            </a:r>
            <a:r>
              <a:rPr b="0" lang="zh-CN" sz="1350" spc="-1" strike="noStrike">
                <a:solidFill>
                  <a:srgbClr val="222222"/>
                </a:solidFill>
                <a:latin typeface="Yu Gothic"/>
              </a:rPr>
              <a:t>の</a:t>
            </a:r>
            <a:endParaRPr b="0" lang="en-US" sz="1350" spc="-1" strike="noStrike">
              <a:latin typeface="Arial"/>
            </a:endParaRPr>
          </a:p>
          <a:p>
            <a:pPr>
              <a:lnSpc>
                <a:spcPct val="130000"/>
              </a:lnSpc>
            </a:pPr>
            <a:r>
              <a:rPr b="0" lang="zh-CN" sz="1350" spc="-1" strike="noStrike">
                <a:solidFill>
                  <a:srgbClr val="222222"/>
                </a:solidFill>
                <a:latin typeface="Yu Gothic"/>
              </a:rPr>
              <a:t>サーボ構成へ軽量化して載せる。</a:t>
            </a:r>
            <a:endParaRPr b="0" lang="en-US" sz="1350" spc="-1" strike="noStrike">
              <a:latin typeface="Arial"/>
            </a:endParaRPr>
          </a:p>
        </p:txBody>
      </p:sp>
      <p:sp>
        <p:nvSpPr>
          <p:cNvPr id="663" name="CustomShape 9"/>
          <p:cNvSpPr/>
          <p:nvPr/>
        </p:nvSpPr>
        <p:spPr>
          <a:xfrm>
            <a:off x="548640" y="4754880"/>
            <a:ext cx="11063880" cy="8625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30000"/>
              </a:lnSpc>
            </a:pPr>
            <a:r>
              <a:rPr b="0" lang="en-US" sz="1300" spc="-1" strike="noStrike">
                <a:solidFill>
                  <a:srgbClr val="6b7280"/>
                </a:solidFill>
                <a:latin typeface="Yu Gothic"/>
              </a:rPr>
              <a:t>hatori</a:t>
            </a:r>
            <a:r>
              <a:rPr b="0" lang="zh-CN" sz="1300" spc="-1" strike="noStrike">
                <a:solidFill>
                  <a:srgbClr val="6b7280"/>
                </a:solidFill>
                <a:latin typeface="Yu Gothic"/>
              </a:rPr>
              <a:t>・</a:t>
            </a:r>
            <a:r>
              <a:rPr b="0" lang="en-US" sz="1300" spc="-1" strike="noStrike">
                <a:solidFill>
                  <a:srgbClr val="6b7280"/>
                </a:solidFill>
                <a:latin typeface="Yu Gothic"/>
              </a:rPr>
              <a:t>pro1</a:t>
            </a:r>
            <a:r>
              <a:rPr b="0" lang="zh-CN" sz="1300" spc="-1" strike="noStrike">
                <a:solidFill>
                  <a:srgbClr val="6b7280"/>
                </a:solidFill>
                <a:latin typeface="Yu Gothic"/>
              </a:rPr>
              <a:t>はロボットではなく、手元の</a:t>
            </a:r>
            <a:r>
              <a:rPr b="0" lang="en-US" sz="1300" spc="-1" strike="noStrike">
                <a:solidFill>
                  <a:srgbClr val="6b7280"/>
                </a:solidFill>
                <a:latin typeface="Yu Gothic"/>
              </a:rPr>
              <a:t>GPU</a:t>
            </a:r>
            <a:r>
              <a:rPr b="0" lang="zh-CN" sz="1300" spc="-1" strike="noStrike">
                <a:solidFill>
                  <a:srgbClr val="6b7280"/>
                </a:solidFill>
                <a:latin typeface="Yu Gothic"/>
              </a:rPr>
              <a:t>ワークステーション</a:t>
            </a:r>
            <a:r>
              <a:rPr b="0" lang="en-US" sz="1300" spc="-1" strike="noStrike">
                <a:solidFill>
                  <a:srgbClr val="6b7280"/>
                </a:solidFill>
                <a:latin typeface="Yu Gothic"/>
              </a:rPr>
              <a:t>(GPU</a:t>
            </a:r>
            <a:r>
              <a:rPr b="0" lang="zh-CN" sz="1300" spc="-1" strike="noStrike">
                <a:solidFill>
                  <a:srgbClr val="6b7280"/>
                </a:solidFill>
                <a:latin typeface="Yu Gothic"/>
              </a:rPr>
              <a:t>サーバ</a:t>
            </a:r>
            <a:r>
              <a:rPr b="0" lang="en-US" sz="1300" spc="-1" strike="noStrike">
                <a:solidFill>
                  <a:srgbClr val="6b7280"/>
                </a:solidFill>
                <a:latin typeface="Yu Gothic"/>
              </a:rPr>
              <a:t>1</a:t>
            </a:r>
            <a:r>
              <a:rPr b="0" lang="zh-CN" sz="1300" spc="-1" strike="noStrike">
                <a:solidFill>
                  <a:srgbClr val="6b7280"/>
                </a:solidFill>
                <a:latin typeface="Yu Gothic"/>
              </a:rPr>
              <a:t>・</a:t>
            </a:r>
            <a:r>
              <a:rPr b="0" lang="en-US" sz="1300" spc="-1" strike="noStrike">
                <a:solidFill>
                  <a:srgbClr val="6b7280"/>
                </a:solidFill>
                <a:latin typeface="Yu Gothic"/>
              </a:rPr>
              <a:t>2)</a:t>
            </a:r>
            <a:r>
              <a:rPr b="0" lang="zh-CN" sz="1300" spc="-1" strike="noStrike">
                <a:solidFill>
                  <a:srgbClr val="6b7280"/>
                </a:solidFill>
                <a:latin typeface="Yu Gothic"/>
              </a:rPr>
              <a:t>。</a:t>
            </a:r>
            <a:endParaRPr b="0" lang="en-US" sz="1300" spc="-1" strike="noStrike">
              <a:latin typeface="Arial"/>
            </a:endParaRPr>
          </a:p>
          <a:p>
            <a:pPr>
              <a:lnSpc>
                <a:spcPct val="130000"/>
              </a:lnSpc>
            </a:pPr>
            <a:r>
              <a:rPr b="0" lang="en-US" sz="1300" spc="-1" strike="noStrike">
                <a:solidFill>
                  <a:srgbClr val="6b7280"/>
                </a:solidFill>
                <a:latin typeface="Yu Gothic"/>
              </a:rPr>
              <a:t>Isaac Sim</a:t>
            </a:r>
            <a:r>
              <a:rPr b="0" lang="zh-CN" sz="1300" spc="-1" strike="noStrike">
                <a:solidFill>
                  <a:srgbClr val="6b7280"/>
                </a:solidFill>
                <a:latin typeface="Yu Gothic"/>
              </a:rPr>
              <a:t>上での合成デモ生成や</a:t>
            </a:r>
            <a:r>
              <a:rPr b="0" lang="en-US" sz="1300" spc="-1" strike="noStrike">
                <a:solidFill>
                  <a:srgbClr val="6b7280"/>
                </a:solidFill>
                <a:latin typeface="Yu Gothic"/>
              </a:rPr>
              <a:t>GR00T</a:t>
            </a:r>
            <a:r>
              <a:rPr b="0" lang="zh-CN" sz="1300" spc="-1" strike="noStrike">
                <a:solidFill>
                  <a:srgbClr val="6b7280"/>
                </a:solidFill>
                <a:latin typeface="Yu Gothic"/>
              </a:rPr>
              <a:t>系モデルの学習・蒸留はこの</a:t>
            </a:r>
            <a:r>
              <a:rPr b="0" lang="en-US" sz="1300" spc="-1" strike="noStrike">
                <a:solidFill>
                  <a:srgbClr val="6b7280"/>
                </a:solidFill>
                <a:latin typeface="Yu Gothic"/>
              </a:rPr>
              <a:t>2</a:t>
            </a:r>
            <a:r>
              <a:rPr b="0" lang="zh-CN" sz="1300" spc="-1" strike="noStrike">
                <a:solidFill>
                  <a:srgbClr val="6b7280"/>
                </a:solidFill>
                <a:latin typeface="Yu Gothic"/>
              </a:rPr>
              <a:t>台で行い、</a:t>
            </a:r>
            <a:endParaRPr b="0" lang="en-US" sz="1300" spc="-1" strike="noStrike">
              <a:latin typeface="Arial"/>
            </a:endParaRPr>
          </a:p>
          <a:p>
            <a:pPr>
              <a:lnSpc>
                <a:spcPct val="130000"/>
              </a:lnSpc>
            </a:pPr>
            <a:r>
              <a:rPr b="0" lang="zh-CN" sz="1300" spc="-1" strike="noStrike">
                <a:solidFill>
                  <a:srgbClr val="6b7280"/>
                </a:solidFill>
                <a:latin typeface="Yu Gothic"/>
              </a:rPr>
              <a:t>その結果得られた軽量な方策だけを</a:t>
            </a:r>
            <a:r>
              <a:rPr b="0" lang="en-US" sz="1300" spc="-1" strike="noStrike">
                <a:solidFill>
                  <a:srgbClr val="6b7280"/>
                </a:solidFill>
                <a:latin typeface="Yu Gothic"/>
              </a:rPr>
              <a:t>kxr</a:t>
            </a:r>
            <a:r>
              <a:rPr b="0" lang="zh-CN" sz="1300" spc="-1" strike="noStrike">
                <a:solidFill>
                  <a:srgbClr val="6b7280"/>
                </a:solidFill>
                <a:latin typeface="Yu Gothic"/>
              </a:rPr>
              <a:t>の</a:t>
            </a:r>
            <a:r>
              <a:rPr b="0" lang="en-US" sz="1300" spc="-1" strike="noStrike">
                <a:solidFill>
                  <a:srgbClr val="6b7280"/>
                </a:solidFill>
                <a:latin typeface="Yu Gothic"/>
              </a:rPr>
              <a:t>2</a:t>
            </a:r>
            <a:r>
              <a:rPr b="0" lang="zh-CN" sz="1300" spc="-1" strike="noStrike">
                <a:solidFill>
                  <a:srgbClr val="6b7280"/>
                </a:solidFill>
                <a:latin typeface="Yu Gothic"/>
              </a:rPr>
              <a:t>脚</a:t>
            </a:r>
            <a:r>
              <a:rPr b="0" lang="en-US" sz="1300" spc="-1" strike="noStrike">
                <a:solidFill>
                  <a:srgbClr val="6b7280"/>
                </a:solidFill>
                <a:latin typeface="Yu Gothic"/>
              </a:rPr>
              <a:t>2</a:t>
            </a:r>
            <a:r>
              <a:rPr b="0" lang="zh-CN" sz="1300" spc="-1" strike="noStrike">
                <a:solidFill>
                  <a:srgbClr val="6b7280"/>
                </a:solidFill>
                <a:latin typeface="Yu Gothic"/>
              </a:rPr>
              <a:t>腕構成</a:t>
            </a:r>
            <a:r>
              <a:rPr b="0" lang="en-US" sz="1300" spc="-1" strike="noStrike">
                <a:solidFill>
                  <a:srgbClr val="6b7280"/>
                </a:solidFill>
                <a:latin typeface="Yu Gothic"/>
              </a:rPr>
              <a:t>(l2g/a6g</a:t>
            </a:r>
            <a:r>
              <a:rPr b="0" lang="zh-CN" sz="1300" spc="-1" strike="noStrike">
                <a:solidFill>
                  <a:srgbClr val="6b7280"/>
                </a:solidFill>
                <a:latin typeface="Yu Gothic"/>
              </a:rPr>
              <a:t>等</a:t>
            </a:r>
            <a:r>
              <a:rPr b="0" lang="en-US" sz="1300" spc="-1" strike="noStrike">
                <a:solidFill>
                  <a:srgbClr val="6b7280"/>
                </a:solidFill>
                <a:latin typeface="Yu Gothic"/>
              </a:rPr>
              <a:t>)</a:t>
            </a:r>
            <a:r>
              <a:rPr b="0" lang="zh-CN" sz="1300" spc="-1" strike="noStrike">
                <a:solidFill>
                  <a:srgbClr val="6b7280"/>
                </a:solidFill>
                <a:latin typeface="Yu Gothic"/>
              </a:rPr>
              <a:t>に載せる、という分担になる。</a:t>
            </a:r>
            <a:endParaRPr b="0" lang="en-US" sz="13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4" name="CustomShape 1"/>
          <p:cNvSpPr/>
          <p:nvPr/>
        </p:nvSpPr>
        <p:spPr>
          <a:xfrm>
            <a:off x="548640" y="320040"/>
            <a:ext cx="8229240" cy="3337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rgbClr val="6b3fa0"/>
                </a:solidFill>
                <a:latin typeface="Yu Gothic"/>
              </a:rPr>
              <a:t>FUTURE DIRECTION (</a:t>
            </a:r>
            <a:r>
              <a:rPr b="1" lang="zh-CN" sz="1600" spc="-1" strike="noStrike">
                <a:solidFill>
                  <a:srgbClr val="6b3fa0"/>
                </a:solidFill>
                <a:latin typeface="Yu Gothic"/>
              </a:rPr>
              <a:t>構想</a:t>
            </a:r>
            <a:r>
              <a:rPr b="1" lang="en-US" sz="1600" spc="-1" strike="noStrike">
                <a:solidFill>
                  <a:srgbClr val="6b3fa0"/>
                </a:solidFill>
                <a:latin typeface="Yu Gothic"/>
              </a:rPr>
              <a:t>)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665" name="CustomShape 2"/>
          <p:cNvSpPr/>
          <p:nvPr/>
        </p:nvSpPr>
        <p:spPr>
          <a:xfrm>
            <a:off x="548640" y="685800"/>
            <a:ext cx="10515240" cy="5472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zh-CN" sz="3000" spc="-1" strike="noStrike">
                <a:solidFill>
                  <a:srgbClr val="1f2a44"/>
                </a:solidFill>
                <a:latin typeface="Yu Gothic"/>
              </a:rPr>
              <a:t>参考</a:t>
            </a:r>
            <a:r>
              <a:rPr b="1" lang="en-US" sz="3000" spc="-1" strike="noStrike">
                <a:solidFill>
                  <a:srgbClr val="1f2a44"/>
                </a:solidFill>
                <a:latin typeface="Yu Gothic"/>
              </a:rPr>
              <a:t>: </a:t>
            </a:r>
            <a:r>
              <a:rPr b="1" lang="zh-CN" sz="3000" spc="-1" strike="noStrike">
                <a:solidFill>
                  <a:srgbClr val="1f2a44"/>
                </a:solidFill>
                <a:latin typeface="Yu Gothic"/>
              </a:rPr>
              <a:t>学習に使う手元の</a:t>
            </a:r>
            <a:r>
              <a:rPr b="1" lang="en-US" sz="3000" spc="-1" strike="noStrike">
                <a:solidFill>
                  <a:srgbClr val="1f2a44"/>
                </a:solidFill>
                <a:latin typeface="Yu Gothic"/>
              </a:rPr>
              <a:t>GPU</a:t>
            </a:r>
            <a:r>
              <a:rPr b="1" lang="zh-CN" sz="3000" spc="-1" strike="noStrike">
                <a:solidFill>
                  <a:srgbClr val="1f2a44"/>
                </a:solidFill>
                <a:latin typeface="Yu Gothic"/>
              </a:rPr>
              <a:t>サーバ </a:t>
            </a:r>
            <a:r>
              <a:rPr b="1" lang="en-US" sz="3000" spc="-1" strike="noStrike">
                <a:solidFill>
                  <a:srgbClr val="1f2a44"/>
                </a:solidFill>
                <a:latin typeface="Yu Gothic"/>
              </a:rPr>
              <a:t>vs kxr</a:t>
            </a:r>
            <a:r>
              <a:rPr b="1" lang="zh-CN" sz="3000" spc="-1" strike="noStrike">
                <a:solidFill>
                  <a:srgbClr val="1f2a44"/>
                </a:solidFill>
                <a:latin typeface="Yu Gothic"/>
              </a:rPr>
              <a:t>本体</a:t>
            </a:r>
            <a:endParaRPr b="0" lang="en-US" sz="3000" spc="-1" strike="noStrike">
              <a:latin typeface="Arial"/>
            </a:endParaRPr>
          </a:p>
        </p:txBody>
      </p:sp>
      <p:sp>
        <p:nvSpPr>
          <p:cNvPr id="666" name="CustomShape 3"/>
          <p:cNvSpPr/>
          <p:nvPr/>
        </p:nvSpPr>
        <p:spPr>
          <a:xfrm>
            <a:off x="548640" y="1508760"/>
            <a:ext cx="2651400" cy="548280"/>
          </a:xfrm>
          <a:prstGeom prst="roundRect">
            <a:avLst>
              <a:gd name="adj" fmla="val 16667"/>
            </a:avLst>
          </a:prstGeom>
          <a:solidFill>
            <a:srgbClr val="1f2a44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zh-CN" sz="1150" spc="-1" strike="noStrike">
                <a:solidFill>
                  <a:srgbClr val="ffffff"/>
                </a:solidFill>
                <a:latin typeface="Yu Gothic"/>
              </a:rPr>
              <a:t>項目</a:t>
            </a:r>
            <a:endParaRPr b="0" lang="en-US" sz="1150" spc="-1" strike="noStrike">
              <a:latin typeface="Arial"/>
            </a:endParaRPr>
          </a:p>
        </p:txBody>
      </p:sp>
      <p:sp>
        <p:nvSpPr>
          <p:cNvPr id="667" name="CustomShape 4"/>
          <p:cNvSpPr/>
          <p:nvPr/>
        </p:nvSpPr>
        <p:spPr>
          <a:xfrm>
            <a:off x="3200400" y="1508760"/>
            <a:ext cx="3291480" cy="548280"/>
          </a:xfrm>
          <a:prstGeom prst="roundRect">
            <a:avLst>
              <a:gd name="adj" fmla="val 16667"/>
            </a:avLst>
          </a:prstGeom>
          <a:solidFill>
            <a:srgbClr val="1f2a44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150" spc="-1" strike="noStrike">
                <a:solidFill>
                  <a:srgbClr val="ffffff"/>
                </a:solidFill>
                <a:latin typeface="Yu Gothic"/>
              </a:rPr>
              <a:t>GPU</a:t>
            </a:r>
            <a:r>
              <a:rPr b="1" lang="zh-CN" sz="1150" spc="-1" strike="noStrike">
                <a:solidFill>
                  <a:srgbClr val="ffffff"/>
                </a:solidFill>
                <a:latin typeface="Yu Gothic"/>
              </a:rPr>
              <a:t>サーバ</a:t>
            </a:r>
            <a:r>
              <a:rPr b="1" lang="en-US" sz="1150" spc="-1" strike="noStrike">
                <a:solidFill>
                  <a:srgbClr val="ffffff"/>
                </a:solidFill>
                <a:latin typeface="Yu Gothic"/>
              </a:rPr>
              <a:t>1(hatori)</a:t>
            </a:r>
            <a:endParaRPr b="0" lang="en-US" sz="1150" spc="-1" strike="noStrike">
              <a:latin typeface="Arial"/>
            </a:endParaRPr>
          </a:p>
        </p:txBody>
      </p:sp>
      <p:sp>
        <p:nvSpPr>
          <p:cNvPr id="668" name="CustomShape 5"/>
          <p:cNvSpPr/>
          <p:nvPr/>
        </p:nvSpPr>
        <p:spPr>
          <a:xfrm>
            <a:off x="6492240" y="1508760"/>
            <a:ext cx="2834280" cy="548280"/>
          </a:xfrm>
          <a:prstGeom prst="roundRect">
            <a:avLst>
              <a:gd name="adj" fmla="val 16667"/>
            </a:avLst>
          </a:prstGeom>
          <a:solidFill>
            <a:srgbClr val="1f2a44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150" spc="-1" strike="noStrike">
                <a:solidFill>
                  <a:srgbClr val="ffffff"/>
                </a:solidFill>
                <a:latin typeface="Yu Gothic"/>
              </a:rPr>
              <a:t>GPU</a:t>
            </a:r>
            <a:r>
              <a:rPr b="1" lang="zh-CN" sz="1150" spc="-1" strike="noStrike">
                <a:solidFill>
                  <a:srgbClr val="ffffff"/>
                </a:solidFill>
                <a:latin typeface="Yu Gothic"/>
              </a:rPr>
              <a:t>サーバ</a:t>
            </a:r>
            <a:r>
              <a:rPr b="1" lang="en-US" sz="1150" spc="-1" strike="noStrike">
                <a:solidFill>
                  <a:srgbClr val="ffffff"/>
                </a:solidFill>
                <a:latin typeface="Yu Gothic"/>
              </a:rPr>
              <a:t>2(pro1)</a:t>
            </a:r>
            <a:endParaRPr b="0" lang="en-US" sz="1150" spc="-1" strike="noStrike">
              <a:latin typeface="Arial"/>
            </a:endParaRPr>
          </a:p>
        </p:txBody>
      </p:sp>
      <p:sp>
        <p:nvSpPr>
          <p:cNvPr id="669" name="CustomShape 6"/>
          <p:cNvSpPr/>
          <p:nvPr/>
        </p:nvSpPr>
        <p:spPr>
          <a:xfrm>
            <a:off x="9326880" y="1508760"/>
            <a:ext cx="2468520" cy="548280"/>
          </a:xfrm>
          <a:prstGeom prst="roundRect">
            <a:avLst>
              <a:gd name="adj" fmla="val 16667"/>
            </a:avLst>
          </a:prstGeom>
          <a:solidFill>
            <a:srgbClr val="1f2a44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150" spc="-1" strike="noStrike">
                <a:solidFill>
                  <a:srgbClr val="ffffff"/>
                </a:solidFill>
                <a:latin typeface="Yu Gothic"/>
              </a:rPr>
              <a:t>kxr(AtomS3 / M5StickC)</a:t>
            </a:r>
            <a:endParaRPr b="0" lang="en-US" sz="1150" spc="-1" strike="noStrike">
              <a:latin typeface="Arial"/>
            </a:endParaRPr>
          </a:p>
        </p:txBody>
      </p:sp>
      <p:sp>
        <p:nvSpPr>
          <p:cNvPr id="670" name="CustomShape 7"/>
          <p:cNvSpPr/>
          <p:nvPr/>
        </p:nvSpPr>
        <p:spPr>
          <a:xfrm>
            <a:off x="548640" y="2103120"/>
            <a:ext cx="2651400" cy="658080"/>
          </a:xfrm>
          <a:prstGeom prst="roundRect">
            <a:avLst>
              <a:gd name="adj" fmla="val 16667"/>
            </a:avLst>
          </a:prstGeom>
          <a:solidFill>
            <a:srgbClr val="6b7280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Yu Gothic"/>
              </a:rPr>
              <a:t>CPU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671" name="CustomShape 8"/>
          <p:cNvSpPr/>
          <p:nvPr/>
        </p:nvSpPr>
        <p:spPr>
          <a:xfrm>
            <a:off x="3273480" y="2139840"/>
            <a:ext cx="3145320" cy="4258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5000"/>
              </a:lnSpc>
            </a:pPr>
            <a:r>
              <a:rPr b="0" lang="en-US" sz="1050" spc="-1" strike="noStrike">
                <a:solidFill>
                  <a:srgbClr val="222222"/>
                </a:solidFill>
                <a:latin typeface="Yu Gothic"/>
              </a:rPr>
              <a:t>Intel Core Ultra 7 265KF</a:t>
            </a:r>
            <a:endParaRPr b="0" lang="en-US" sz="1050" spc="-1" strike="noStrike">
              <a:latin typeface="Arial"/>
            </a:endParaRPr>
          </a:p>
          <a:p>
            <a:pPr>
              <a:lnSpc>
                <a:spcPct val="105000"/>
              </a:lnSpc>
            </a:pPr>
            <a:r>
              <a:rPr b="0" lang="en-US" sz="1050" spc="-1" strike="noStrike">
                <a:solidFill>
                  <a:srgbClr val="222222"/>
                </a:solidFill>
                <a:latin typeface="Yu Gothic"/>
              </a:rPr>
              <a:t>20</a:t>
            </a:r>
            <a:r>
              <a:rPr b="0" lang="zh-CN" sz="1050" spc="-1" strike="noStrike">
                <a:solidFill>
                  <a:srgbClr val="222222"/>
                </a:solidFill>
                <a:latin typeface="Yu Gothic"/>
              </a:rPr>
              <a:t>コア</a:t>
            </a:r>
            <a:r>
              <a:rPr b="0" lang="en-US" sz="1050" spc="-1" strike="noStrike">
                <a:solidFill>
                  <a:srgbClr val="222222"/>
                </a:solidFill>
                <a:latin typeface="Yu Gothic"/>
              </a:rPr>
              <a:t>/20</a:t>
            </a:r>
            <a:r>
              <a:rPr b="0" lang="zh-CN" sz="1050" spc="-1" strike="noStrike">
                <a:solidFill>
                  <a:srgbClr val="222222"/>
                </a:solidFill>
                <a:latin typeface="Yu Gothic"/>
              </a:rPr>
              <a:t>スレッド</a:t>
            </a:r>
            <a:r>
              <a:rPr b="0" lang="en-US" sz="1050" spc="-1" strike="noStrike">
                <a:solidFill>
                  <a:srgbClr val="222222"/>
                </a:solidFill>
                <a:latin typeface="Yu Gothic"/>
              </a:rPr>
              <a:t>, </a:t>
            </a:r>
            <a:r>
              <a:rPr b="0" lang="zh-CN" sz="1050" spc="-1" strike="noStrike">
                <a:solidFill>
                  <a:srgbClr val="222222"/>
                </a:solidFill>
                <a:latin typeface="Yu Gothic"/>
              </a:rPr>
              <a:t>最大</a:t>
            </a:r>
            <a:r>
              <a:rPr b="0" lang="en-US" sz="1050" spc="-1" strike="noStrike">
                <a:solidFill>
                  <a:srgbClr val="222222"/>
                </a:solidFill>
                <a:latin typeface="Yu Gothic"/>
              </a:rPr>
              <a:t>5.0GHz</a:t>
            </a:r>
            <a:endParaRPr b="0" lang="en-US" sz="1050" spc="-1" strike="noStrike">
              <a:latin typeface="Arial"/>
            </a:endParaRPr>
          </a:p>
        </p:txBody>
      </p:sp>
      <p:sp>
        <p:nvSpPr>
          <p:cNvPr id="672" name="CustomShape 9"/>
          <p:cNvSpPr/>
          <p:nvPr/>
        </p:nvSpPr>
        <p:spPr>
          <a:xfrm>
            <a:off x="6565320" y="2139840"/>
            <a:ext cx="2688120" cy="4258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5000"/>
              </a:lnSpc>
            </a:pPr>
            <a:r>
              <a:rPr b="0" lang="en-US" sz="1050" spc="-1" strike="noStrike">
                <a:solidFill>
                  <a:srgbClr val="222222"/>
                </a:solidFill>
                <a:latin typeface="Yu Gothic"/>
              </a:rPr>
              <a:t>Intel Xeon w7-3545</a:t>
            </a:r>
            <a:endParaRPr b="0" lang="en-US" sz="1050" spc="-1" strike="noStrike">
              <a:latin typeface="Arial"/>
            </a:endParaRPr>
          </a:p>
          <a:p>
            <a:pPr>
              <a:lnSpc>
                <a:spcPct val="105000"/>
              </a:lnSpc>
            </a:pPr>
            <a:r>
              <a:rPr b="0" lang="en-US" sz="1050" spc="-1" strike="noStrike">
                <a:solidFill>
                  <a:srgbClr val="222222"/>
                </a:solidFill>
                <a:latin typeface="Yu Gothic"/>
              </a:rPr>
              <a:t>24</a:t>
            </a:r>
            <a:r>
              <a:rPr b="0" lang="zh-CN" sz="1050" spc="-1" strike="noStrike">
                <a:solidFill>
                  <a:srgbClr val="222222"/>
                </a:solidFill>
                <a:latin typeface="Yu Gothic"/>
              </a:rPr>
              <a:t>コア</a:t>
            </a:r>
            <a:r>
              <a:rPr b="0" lang="en-US" sz="1050" spc="-1" strike="noStrike">
                <a:solidFill>
                  <a:srgbClr val="222222"/>
                </a:solidFill>
                <a:latin typeface="Yu Gothic"/>
              </a:rPr>
              <a:t>/48</a:t>
            </a:r>
            <a:r>
              <a:rPr b="0" lang="zh-CN" sz="1050" spc="-1" strike="noStrike">
                <a:solidFill>
                  <a:srgbClr val="222222"/>
                </a:solidFill>
                <a:latin typeface="Yu Gothic"/>
              </a:rPr>
              <a:t>スレッド</a:t>
            </a:r>
            <a:r>
              <a:rPr b="0" lang="en-US" sz="1050" spc="-1" strike="noStrike">
                <a:solidFill>
                  <a:srgbClr val="222222"/>
                </a:solidFill>
                <a:latin typeface="Yu Gothic"/>
              </a:rPr>
              <a:t>, </a:t>
            </a:r>
            <a:r>
              <a:rPr b="0" lang="zh-CN" sz="1050" spc="-1" strike="noStrike">
                <a:solidFill>
                  <a:srgbClr val="222222"/>
                </a:solidFill>
                <a:latin typeface="Yu Gothic"/>
              </a:rPr>
              <a:t>最大</a:t>
            </a:r>
            <a:r>
              <a:rPr b="0" lang="en-US" sz="1050" spc="-1" strike="noStrike">
                <a:solidFill>
                  <a:srgbClr val="222222"/>
                </a:solidFill>
                <a:latin typeface="Yu Gothic"/>
              </a:rPr>
              <a:t>4.8GHz</a:t>
            </a:r>
            <a:endParaRPr b="0" lang="en-US" sz="1050" spc="-1" strike="noStrike">
              <a:latin typeface="Arial"/>
            </a:endParaRPr>
          </a:p>
        </p:txBody>
      </p:sp>
      <p:sp>
        <p:nvSpPr>
          <p:cNvPr id="673" name="CustomShape 10"/>
          <p:cNvSpPr/>
          <p:nvPr/>
        </p:nvSpPr>
        <p:spPr>
          <a:xfrm>
            <a:off x="9399960" y="2139840"/>
            <a:ext cx="2322360" cy="4258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5000"/>
              </a:lnSpc>
            </a:pPr>
            <a:r>
              <a:rPr b="0" lang="en-US" sz="1050" spc="-1" strike="noStrike">
                <a:solidFill>
                  <a:srgbClr val="222222"/>
                </a:solidFill>
                <a:latin typeface="Yu Gothic"/>
              </a:rPr>
              <a:t>ESP32-S3 / ESP32</a:t>
            </a:r>
            <a:endParaRPr b="0" lang="en-US" sz="1050" spc="-1" strike="noStrike">
              <a:latin typeface="Arial"/>
            </a:endParaRPr>
          </a:p>
          <a:p>
            <a:pPr>
              <a:lnSpc>
                <a:spcPct val="105000"/>
              </a:lnSpc>
            </a:pPr>
            <a:r>
              <a:rPr b="0" lang="en-US" sz="1050" spc="-1" strike="noStrike">
                <a:solidFill>
                  <a:srgbClr val="222222"/>
                </a:solidFill>
                <a:latin typeface="Yu Gothic"/>
              </a:rPr>
              <a:t>240MHz(Xtensa)</a:t>
            </a:r>
            <a:endParaRPr b="0" lang="en-US" sz="1050" spc="-1" strike="noStrike">
              <a:latin typeface="Arial"/>
            </a:endParaRPr>
          </a:p>
        </p:txBody>
      </p:sp>
      <p:sp>
        <p:nvSpPr>
          <p:cNvPr id="674" name="CustomShape 11"/>
          <p:cNvSpPr/>
          <p:nvPr/>
        </p:nvSpPr>
        <p:spPr>
          <a:xfrm>
            <a:off x="548640" y="2816280"/>
            <a:ext cx="2651400" cy="658080"/>
          </a:xfrm>
          <a:prstGeom prst="roundRect">
            <a:avLst>
              <a:gd name="adj" fmla="val 16667"/>
            </a:avLst>
          </a:prstGeom>
          <a:solidFill>
            <a:srgbClr val="6b7280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Yu Gothic"/>
              </a:rPr>
              <a:t>RAM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675" name="CustomShape 12"/>
          <p:cNvSpPr/>
          <p:nvPr/>
        </p:nvSpPr>
        <p:spPr>
          <a:xfrm>
            <a:off x="3273480" y="2853000"/>
            <a:ext cx="3145320" cy="2581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5000"/>
              </a:lnSpc>
            </a:pPr>
            <a:r>
              <a:rPr b="0" lang="en-US" sz="1050" spc="-1" strike="noStrike">
                <a:solidFill>
                  <a:srgbClr val="222222"/>
                </a:solidFill>
                <a:latin typeface="Yu Gothic"/>
              </a:rPr>
              <a:t>62GiB</a:t>
            </a:r>
            <a:endParaRPr b="0" lang="en-US" sz="1050" spc="-1" strike="noStrike">
              <a:latin typeface="Arial"/>
            </a:endParaRPr>
          </a:p>
        </p:txBody>
      </p:sp>
      <p:sp>
        <p:nvSpPr>
          <p:cNvPr id="676" name="CustomShape 13"/>
          <p:cNvSpPr/>
          <p:nvPr/>
        </p:nvSpPr>
        <p:spPr>
          <a:xfrm>
            <a:off x="6565320" y="2853000"/>
            <a:ext cx="2688120" cy="2581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5000"/>
              </a:lnSpc>
            </a:pPr>
            <a:r>
              <a:rPr b="0" lang="en-US" sz="1050" spc="-1" strike="noStrike">
                <a:solidFill>
                  <a:srgbClr val="222222"/>
                </a:solidFill>
                <a:latin typeface="Yu Gothic"/>
              </a:rPr>
              <a:t>62GiB</a:t>
            </a:r>
            <a:endParaRPr b="0" lang="en-US" sz="1050" spc="-1" strike="noStrike">
              <a:latin typeface="Arial"/>
            </a:endParaRPr>
          </a:p>
        </p:txBody>
      </p:sp>
      <p:sp>
        <p:nvSpPr>
          <p:cNvPr id="677" name="CustomShape 14"/>
          <p:cNvSpPr/>
          <p:nvPr/>
        </p:nvSpPr>
        <p:spPr>
          <a:xfrm>
            <a:off x="9399960" y="2853000"/>
            <a:ext cx="2322360" cy="2581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5000"/>
              </a:lnSpc>
            </a:pPr>
            <a:r>
              <a:rPr b="0" lang="en-US" sz="1050" spc="-1" strike="noStrike">
                <a:solidFill>
                  <a:srgbClr val="222222"/>
                </a:solidFill>
                <a:latin typeface="Yu Gothic"/>
              </a:rPr>
              <a:t>512KB / 520KB(SRAM)</a:t>
            </a:r>
            <a:endParaRPr b="0" lang="en-US" sz="1050" spc="-1" strike="noStrike">
              <a:latin typeface="Arial"/>
            </a:endParaRPr>
          </a:p>
        </p:txBody>
      </p:sp>
      <p:sp>
        <p:nvSpPr>
          <p:cNvPr id="678" name="CustomShape 15"/>
          <p:cNvSpPr/>
          <p:nvPr/>
        </p:nvSpPr>
        <p:spPr>
          <a:xfrm>
            <a:off x="548640" y="3529440"/>
            <a:ext cx="2651400" cy="658080"/>
          </a:xfrm>
          <a:prstGeom prst="roundRect">
            <a:avLst>
              <a:gd name="adj" fmla="val 16667"/>
            </a:avLst>
          </a:prstGeom>
          <a:solidFill>
            <a:srgbClr val="6b7280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Yu Gothic"/>
              </a:rPr>
              <a:t>GPU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679" name="CustomShape 16"/>
          <p:cNvSpPr/>
          <p:nvPr/>
        </p:nvSpPr>
        <p:spPr>
          <a:xfrm>
            <a:off x="3273480" y="3566160"/>
            <a:ext cx="3145320" cy="4258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5000"/>
              </a:lnSpc>
            </a:pPr>
            <a:r>
              <a:rPr b="0" lang="en-US" sz="1050" spc="-1" strike="noStrike">
                <a:solidFill>
                  <a:srgbClr val="222222"/>
                </a:solidFill>
                <a:latin typeface="Yu Gothic"/>
              </a:rPr>
              <a:t>NVIDIA GeForce</a:t>
            </a:r>
            <a:endParaRPr b="0" lang="en-US" sz="1050" spc="-1" strike="noStrike">
              <a:latin typeface="Arial"/>
            </a:endParaRPr>
          </a:p>
          <a:p>
            <a:pPr>
              <a:lnSpc>
                <a:spcPct val="105000"/>
              </a:lnSpc>
            </a:pPr>
            <a:r>
              <a:rPr b="0" lang="en-US" sz="1050" spc="-1" strike="noStrike">
                <a:solidFill>
                  <a:srgbClr val="222222"/>
                </a:solidFill>
                <a:latin typeface="Yu Gothic"/>
              </a:rPr>
              <a:t>RTX 4080 SUPER</a:t>
            </a:r>
            <a:endParaRPr b="0" lang="en-US" sz="1050" spc="-1" strike="noStrike">
              <a:latin typeface="Arial"/>
            </a:endParaRPr>
          </a:p>
        </p:txBody>
      </p:sp>
      <p:sp>
        <p:nvSpPr>
          <p:cNvPr id="680" name="CustomShape 17"/>
          <p:cNvSpPr/>
          <p:nvPr/>
        </p:nvSpPr>
        <p:spPr>
          <a:xfrm>
            <a:off x="6565320" y="3566160"/>
            <a:ext cx="2688120" cy="4258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5000"/>
              </a:lnSpc>
            </a:pPr>
            <a:r>
              <a:rPr b="0" lang="en-US" sz="1050" spc="-1" strike="noStrike">
                <a:solidFill>
                  <a:srgbClr val="222222"/>
                </a:solidFill>
                <a:latin typeface="Yu Gothic"/>
              </a:rPr>
              <a:t>NVIDIA RTX PRO 6000</a:t>
            </a:r>
            <a:endParaRPr b="0" lang="en-US" sz="1050" spc="-1" strike="noStrike">
              <a:latin typeface="Arial"/>
            </a:endParaRPr>
          </a:p>
          <a:p>
            <a:pPr>
              <a:lnSpc>
                <a:spcPct val="105000"/>
              </a:lnSpc>
            </a:pPr>
            <a:r>
              <a:rPr b="0" lang="en-US" sz="1050" spc="-1" strike="noStrike">
                <a:solidFill>
                  <a:srgbClr val="222222"/>
                </a:solidFill>
                <a:latin typeface="Yu Gothic"/>
              </a:rPr>
              <a:t>Blackwell Max-Q(Workstation)</a:t>
            </a:r>
            <a:endParaRPr b="0" lang="en-US" sz="1050" spc="-1" strike="noStrike">
              <a:latin typeface="Arial"/>
            </a:endParaRPr>
          </a:p>
        </p:txBody>
      </p:sp>
      <p:sp>
        <p:nvSpPr>
          <p:cNvPr id="681" name="CustomShape 18"/>
          <p:cNvSpPr/>
          <p:nvPr/>
        </p:nvSpPr>
        <p:spPr>
          <a:xfrm>
            <a:off x="9399960" y="3566160"/>
            <a:ext cx="2322360" cy="2581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5000"/>
              </a:lnSpc>
            </a:pPr>
            <a:r>
              <a:rPr b="0" lang="zh-CN" sz="1050" spc="-1" strike="noStrike">
                <a:solidFill>
                  <a:srgbClr val="222222"/>
                </a:solidFill>
                <a:latin typeface="Yu Gothic"/>
              </a:rPr>
              <a:t>なし</a:t>
            </a:r>
            <a:endParaRPr b="0" lang="en-US" sz="1050" spc="-1" strike="noStrike">
              <a:latin typeface="Arial"/>
            </a:endParaRPr>
          </a:p>
        </p:txBody>
      </p:sp>
      <p:sp>
        <p:nvSpPr>
          <p:cNvPr id="682" name="CustomShape 19"/>
          <p:cNvSpPr/>
          <p:nvPr/>
        </p:nvSpPr>
        <p:spPr>
          <a:xfrm>
            <a:off x="548640" y="4242960"/>
            <a:ext cx="2651400" cy="658080"/>
          </a:xfrm>
          <a:prstGeom prst="roundRect">
            <a:avLst>
              <a:gd name="adj" fmla="val 16667"/>
            </a:avLst>
          </a:prstGeom>
          <a:solidFill>
            <a:srgbClr val="6b7280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Yu Gothic"/>
              </a:rPr>
              <a:t>VRAM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683" name="CustomShape 20"/>
          <p:cNvSpPr/>
          <p:nvPr/>
        </p:nvSpPr>
        <p:spPr>
          <a:xfrm>
            <a:off x="3273480" y="4279320"/>
            <a:ext cx="3145320" cy="2581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5000"/>
              </a:lnSpc>
            </a:pPr>
            <a:r>
              <a:rPr b="0" lang="en-US" sz="1050" spc="-1" strike="noStrike">
                <a:solidFill>
                  <a:srgbClr val="222222"/>
                </a:solidFill>
                <a:latin typeface="Yu Gothic"/>
              </a:rPr>
              <a:t>16GB</a:t>
            </a:r>
            <a:endParaRPr b="0" lang="en-US" sz="1050" spc="-1" strike="noStrike">
              <a:latin typeface="Arial"/>
            </a:endParaRPr>
          </a:p>
        </p:txBody>
      </p:sp>
      <p:sp>
        <p:nvSpPr>
          <p:cNvPr id="684" name="CustomShape 21"/>
          <p:cNvSpPr/>
          <p:nvPr/>
        </p:nvSpPr>
        <p:spPr>
          <a:xfrm>
            <a:off x="6565320" y="4279320"/>
            <a:ext cx="2688120" cy="2581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5000"/>
              </a:lnSpc>
            </a:pPr>
            <a:r>
              <a:rPr b="0" lang="zh-CN" sz="1050" spc="-1" strike="noStrike">
                <a:solidFill>
                  <a:srgbClr val="222222"/>
                </a:solidFill>
                <a:latin typeface="Yu Gothic"/>
              </a:rPr>
              <a:t>約</a:t>
            </a:r>
            <a:r>
              <a:rPr b="0" lang="en-US" sz="1050" spc="-1" strike="noStrike">
                <a:solidFill>
                  <a:srgbClr val="222222"/>
                </a:solidFill>
                <a:latin typeface="Yu Gothic"/>
              </a:rPr>
              <a:t>96GB(97,887MiB)</a:t>
            </a:r>
            <a:endParaRPr b="0" lang="en-US" sz="1050" spc="-1" strike="noStrike">
              <a:latin typeface="Arial"/>
            </a:endParaRPr>
          </a:p>
        </p:txBody>
      </p:sp>
      <p:sp>
        <p:nvSpPr>
          <p:cNvPr id="685" name="CustomShape 22"/>
          <p:cNvSpPr/>
          <p:nvPr/>
        </p:nvSpPr>
        <p:spPr>
          <a:xfrm>
            <a:off x="9399960" y="4279320"/>
            <a:ext cx="2322360" cy="2581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5000"/>
              </a:lnSpc>
            </a:pPr>
            <a:r>
              <a:rPr b="0" lang="zh-CN" sz="1050" spc="-1" strike="noStrike">
                <a:solidFill>
                  <a:srgbClr val="222222"/>
                </a:solidFill>
                <a:latin typeface="Yu Gothic"/>
              </a:rPr>
              <a:t>なし</a:t>
            </a:r>
            <a:r>
              <a:rPr b="0" lang="en-US" sz="1050" spc="-1" strike="noStrike">
                <a:solidFill>
                  <a:srgbClr val="222222"/>
                </a:solidFill>
                <a:latin typeface="Yu Gothic"/>
              </a:rPr>
              <a:t>(GPU</a:t>
            </a:r>
            <a:r>
              <a:rPr b="0" lang="zh-CN" sz="1050" spc="-1" strike="noStrike">
                <a:solidFill>
                  <a:srgbClr val="222222"/>
                </a:solidFill>
                <a:latin typeface="Yu Gothic"/>
              </a:rPr>
              <a:t>非搭載</a:t>
            </a:r>
            <a:r>
              <a:rPr b="0" lang="en-US" sz="1050" spc="-1" strike="noStrike">
                <a:solidFill>
                  <a:srgbClr val="222222"/>
                </a:solidFill>
                <a:latin typeface="Yu Gothic"/>
              </a:rPr>
              <a:t>)</a:t>
            </a:r>
            <a:endParaRPr b="0" lang="en-US" sz="1050" spc="-1" strike="noStrike">
              <a:latin typeface="Arial"/>
            </a:endParaRPr>
          </a:p>
        </p:txBody>
      </p:sp>
      <p:sp>
        <p:nvSpPr>
          <p:cNvPr id="686" name="CustomShape 23"/>
          <p:cNvSpPr/>
          <p:nvPr/>
        </p:nvSpPr>
        <p:spPr>
          <a:xfrm>
            <a:off x="548640" y="4956120"/>
            <a:ext cx="2651400" cy="658080"/>
          </a:xfrm>
          <a:prstGeom prst="roundRect">
            <a:avLst>
              <a:gd name="adj" fmla="val 16667"/>
            </a:avLst>
          </a:prstGeom>
          <a:solidFill>
            <a:srgbClr val="6b7280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zh-CN" sz="1200" spc="-1" strike="noStrike">
                <a:solidFill>
                  <a:srgbClr val="ffffff"/>
                </a:solidFill>
                <a:latin typeface="Yu Gothic"/>
              </a:rPr>
              <a:t>補助記憶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687" name="CustomShape 24"/>
          <p:cNvSpPr/>
          <p:nvPr/>
        </p:nvSpPr>
        <p:spPr>
          <a:xfrm>
            <a:off x="3273480" y="4992480"/>
            <a:ext cx="3145320" cy="4258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5000"/>
              </a:lnSpc>
            </a:pPr>
            <a:r>
              <a:rPr b="0" lang="en-US" sz="1050" spc="-1" strike="noStrike">
                <a:solidFill>
                  <a:srgbClr val="222222"/>
                </a:solidFill>
                <a:latin typeface="Yu Gothic"/>
              </a:rPr>
              <a:t>NVMe 3.6TB</a:t>
            </a:r>
            <a:endParaRPr b="0" lang="en-US" sz="1050" spc="-1" strike="noStrike">
              <a:latin typeface="Arial"/>
            </a:endParaRPr>
          </a:p>
          <a:p>
            <a:pPr>
              <a:lnSpc>
                <a:spcPct val="105000"/>
              </a:lnSpc>
            </a:pPr>
            <a:r>
              <a:rPr b="0" lang="en-US" sz="1050" spc="-1" strike="noStrike">
                <a:solidFill>
                  <a:srgbClr val="222222"/>
                </a:solidFill>
                <a:latin typeface="Yu Gothic"/>
              </a:rPr>
              <a:t>(</a:t>
            </a:r>
            <a:r>
              <a:rPr b="0" lang="zh-CN" sz="1050" spc="-1" strike="noStrike">
                <a:solidFill>
                  <a:srgbClr val="222222"/>
                </a:solidFill>
                <a:latin typeface="Yu Gothic"/>
              </a:rPr>
              <a:t>空き</a:t>
            </a:r>
            <a:r>
              <a:rPr b="0" lang="en-US" sz="1050" spc="-1" strike="noStrike">
                <a:solidFill>
                  <a:srgbClr val="222222"/>
                </a:solidFill>
                <a:latin typeface="Yu Gothic"/>
              </a:rPr>
              <a:t>2.7TB)</a:t>
            </a:r>
            <a:endParaRPr b="0" lang="en-US" sz="1050" spc="-1" strike="noStrike">
              <a:latin typeface="Arial"/>
            </a:endParaRPr>
          </a:p>
        </p:txBody>
      </p:sp>
      <p:sp>
        <p:nvSpPr>
          <p:cNvPr id="688" name="CustomShape 25"/>
          <p:cNvSpPr/>
          <p:nvPr/>
        </p:nvSpPr>
        <p:spPr>
          <a:xfrm>
            <a:off x="6565320" y="4992480"/>
            <a:ext cx="2688120" cy="4258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5000"/>
              </a:lnSpc>
            </a:pPr>
            <a:r>
              <a:rPr b="0" lang="en-US" sz="1050" spc="-1" strike="noStrike">
                <a:solidFill>
                  <a:srgbClr val="222222"/>
                </a:solidFill>
                <a:latin typeface="Yu Gothic"/>
              </a:rPr>
              <a:t>NVMe 916GB</a:t>
            </a:r>
            <a:endParaRPr b="0" lang="en-US" sz="1050" spc="-1" strike="noStrike">
              <a:latin typeface="Arial"/>
            </a:endParaRPr>
          </a:p>
          <a:p>
            <a:pPr>
              <a:lnSpc>
                <a:spcPct val="105000"/>
              </a:lnSpc>
            </a:pPr>
            <a:r>
              <a:rPr b="0" lang="en-US" sz="1050" spc="-1" strike="noStrike">
                <a:solidFill>
                  <a:srgbClr val="222222"/>
                </a:solidFill>
                <a:latin typeface="Yu Gothic"/>
              </a:rPr>
              <a:t>(</a:t>
            </a:r>
            <a:r>
              <a:rPr b="0" lang="zh-CN" sz="1050" spc="-1" strike="noStrike">
                <a:solidFill>
                  <a:srgbClr val="222222"/>
                </a:solidFill>
                <a:latin typeface="Yu Gothic"/>
              </a:rPr>
              <a:t>空き</a:t>
            </a:r>
            <a:r>
              <a:rPr b="0" lang="en-US" sz="1050" spc="-1" strike="noStrike">
                <a:solidFill>
                  <a:srgbClr val="222222"/>
                </a:solidFill>
                <a:latin typeface="Yu Gothic"/>
              </a:rPr>
              <a:t>152GB)</a:t>
            </a:r>
            <a:endParaRPr b="0" lang="en-US" sz="1050" spc="-1" strike="noStrike">
              <a:latin typeface="Arial"/>
            </a:endParaRPr>
          </a:p>
        </p:txBody>
      </p:sp>
      <p:sp>
        <p:nvSpPr>
          <p:cNvPr id="689" name="CustomShape 26"/>
          <p:cNvSpPr/>
          <p:nvPr/>
        </p:nvSpPr>
        <p:spPr>
          <a:xfrm>
            <a:off x="9399960" y="4992480"/>
            <a:ext cx="2322360" cy="2581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5000"/>
              </a:lnSpc>
            </a:pPr>
            <a:r>
              <a:rPr b="0" lang="zh-CN" sz="1050" spc="-1" strike="noStrike">
                <a:solidFill>
                  <a:srgbClr val="222222"/>
                </a:solidFill>
                <a:latin typeface="Yu Gothic"/>
              </a:rPr>
              <a:t>なし</a:t>
            </a:r>
            <a:endParaRPr b="0" lang="en-US" sz="1050" spc="-1" strike="noStrike">
              <a:latin typeface="Arial"/>
            </a:endParaRPr>
          </a:p>
        </p:txBody>
      </p:sp>
      <p:sp>
        <p:nvSpPr>
          <p:cNvPr id="690" name="CustomShape 27"/>
          <p:cNvSpPr/>
          <p:nvPr/>
        </p:nvSpPr>
        <p:spPr>
          <a:xfrm>
            <a:off x="548640" y="6355080"/>
            <a:ext cx="11063880" cy="441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1150" spc="-1" strike="noStrike">
                <a:solidFill>
                  <a:srgbClr val="b03030"/>
                </a:solidFill>
                <a:latin typeface="Yu Gothic"/>
              </a:rPr>
              <a:t>kxr</a:t>
            </a:r>
            <a:r>
              <a:rPr b="1" lang="zh-CN" sz="1150" spc="-1" strike="noStrike">
                <a:solidFill>
                  <a:srgbClr val="b03030"/>
                </a:solidFill>
                <a:latin typeface="Yu Gothic"/>
              </a:rPr>
              <a:t>側のマイコンには</a:t>
            </a:r>
            <a:r>
              <a:rPr b="1" lang="en-US" sz="1150" spc="-1" strike="noStrike">
                <a:solidFill>
                  <a:srgbClr val="b03030"/>
                </a:solidFill>
                <a:latin typeface="Yu Gothic"/>
              </a:rPr>
              <a:t>GPU/VRAM</a:t>
            </a:r>
            <a:r>
              <a:rPr b="1" lang="zh-CN" sz="1150" spc="-1" strike="noStrike">
                <a:solidFill>
                  <a:srgbClr val="b03030"/>
                </a:solidFill>
                <a:latin typeface="Yu Gothic"/>
              </a:rPr>
              <a:t>が存在しない </a:t>
            </a:r>
            <a:r>
              <a:rPr b="1" lang="en-US" sz="1150" spc="-1" strike="noStrike">
                <a:solidFill>
                  <a:srgbClr val="b03030"/>
                </a:solidFill>
                <a:latin typeface="Yu Gothic"/>
              </a:rPr>
              <a:t>-- GR00T</a:t>
            </a:r>
            <a:r>
              <a:rPr b="1" lang="zh-CN" sz="1150" spc="-1" strike="noStrike">
                <a:solidFill>
                  <a:srgbClr val="b03030"/>
                </a:solidFill>
                <a:latin typeface="Yu Gothic"/>
              </a:rPr>
              <a:t>級の学習・推論は</a:t>
            </a:r>
            <a:r>
              <a:rPr b="1" lang="en-US" sz="1150" spc="-1" strike="noStrike">
                <a:solidFill>
                  <a:srgbClr val="b03030"/>
                </a:solidFill>
                <a:latin typeface="Yu Gothic"/>
              </a:rPr>
              <a:t>GPU</a:t>
            </a:r>
            <a:r>
              <a:rPr b="1" lang="zh-CN" sz="1150" spc="-1" strike="noStrike">
                <a:solidFill>
                  <a:srgbClr val="b03030"/>
                </a:solidFill>
                <a:latin typeface="Yu Gothic"/>
              </a:rPr>
              <a:t>サーバ</a:t>
            </a:r>
            <a:r>
              <a:rPr b="1" lang="en-US" sz="1150" spc="-1" strike="noStrike">
                <a:solidFill>
                  <a:srgbClr val="b03030"/>
                </a:solidFill>
                <a:latin typeface="Yu Gothic"/>
              </a:rPr>
              <a:t>1</a:t>
            </a:r>
            <a:r>
              <a:rPr b="1" lang="zh-CN" sz="1150" spc="-1" strike="noStrike">
                <a:solidFill>
                  <a:srgbClr val="b03030"/>
                </a:solidFill>
                <a:latin typeface="Yu Gothic"/>
              </a:rPr>
              <a:t>・</a:t>
            </a:r>
            <a:r>
              <a:rPr b="1" lang="en-US" sz="1150" spc="-1" strike="noStrike">
                <a:solidFill>
                  <a:srgbClr val="b03030"/>
                </a:solidFill>
                <a:latin typeface="Yu Gothic"/>
              </a:rPr>
              <a:t>2</a:t>
            </a:r>
            <a:r>
              <a:rPr b="1" lang="zh-CN" sz="1150" spc="-1" strike="noStrike">
                <a:solidFill>
                  <a:srgbClr val="b03030"/>
                </a:solidFill>
                <a:latin typeface="Yu Gothic"/>
              </a:rPr>
              <a:t>側で行い、「そこで得た軽量な方策だけを</a:t>
            </a:r>
            <a:r>
              <a:rPr b="1" lang="en-US" sz="1150" spc="-1" strike="noStrike">
                <a:solidFill>
                  <a:srgbClr val="b03030"/>
                </a:solidFill>
                <a:latin typeface="Yu Gothic"/>
              </a:rPr>
              <a:t>kxr</a:t>
            </a:r>
            <a:r>
              <a:rPr b="1" lang="zh-CN" sz="1150" spc="-1" strike="noStrike">
                <a:solidFill>
                  <a:srgbClr val="b03030"/>
                </a:solidFill>
                <a:latin typeface="Yu Gothic"/>
              </a:rPr>
              <a:t>に載せる」という役割分担になる。</a:t>
            </a:r>
            <a:endParaRPr b="0" lang="en-US" sz="115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1" name="CustomShape 1"/>
          <p:cNvSpPr/>
          <p:nvPr/>
        </p:nvSpPr>
        <p:spPr>
          <a:xfrm>
            <a:off x="548640" y="320040"/>
            <a:ext cx="8229240" cy="3337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rgbClr val="6b3fa0"/>
                </a:solidFill>
                <a:latin typeface="Yu Gothic"/>
              </a:rPr>
              <a:t>FUTURE DIRECTION (</a:t>
            </a:r>
            <a:r>
              <a:rPr b="1" lang="zh-CN" sz="1600" spc="-1" strike="noStrike">
                <a:solidFill>
                  <a:srgbClr val="6b3fa0"/>
                </a:solidFill>
                <a:latin typeface="Yu Gothic"/>
              </a:rPr>
              <a:t>構想</a:t>
            </a:r>
            <a:r>
              <a:rPr b="1" lang="en-US" sz="1600" spc="-1" strike="noStrike">
                <a:solidFill>
                  <a:srgbClr val="6b3fa0"/>
                </a:solidFill>
                <a:latin typeface="Yu Gothic"/>
              </a:rPr>
              <a:t>)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692" name="CustomShape 2"/>
          <p:cNvSpPr/>
          <p:nvPr/>
        </p:nvSpPr>
        <p:spPr>
          <a:xfrm>
            <a:off x="548640" y="685800"/>
            <a:ext cx="10515240" cy="5472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zh-CN" sz="3000" spc="-1" strike="noStrike">
                <a:solidFill>
                  <a:srgbClr val="1f2a44"/>
                </a:solidFill>
                <a:latin typeface="Yu Gothic"/>
              </a:rPr>
              <a:t>発展形としてのロードマップ</a:t>
            </a:r>
            <a:r>
              <a:rPr b="1" lang="en-US" sz="3000" spc="-1" strike="noStrike">
                <a:solidFill>
                  <a:srgbClr val="1f2a44"/>
                </a:solidFill>
                <a:latin typeface="Yu Gothic"/>
              </a:rPr>
              <a:t>(</a:t>
            </a:r>
            <a:r>
              <a:rPr b="1" lang="zh-CN" sz="3000" spc="-1" strike="noStrike">
                <a:solidFill>
                  <a:srgbClr val="1f2a44"/>
                </a:solidFill>
                <a:latin typeface="Yu Gothic"/>
              </a:rPr>
              <a:t>構想レベル</a:t>
            </a:r>
            <a:r>
              <a:rPr b="1" lang="en-US" sz="3000" spc="-1" strike="noStrike">
                <a:solidFill>
                  <a:srgbClr val="1f2a44"/>
                </a:solidFill>
                <a:latin typeface="Yu Gothic"/>
              </a:rPr>
              <a:t>)</a:t>
            </a:r>
            <a:endParaRPr b="0" lang="en-US" sz="3000" spc="-1" strike="noStrike">
              <a:latin typeface="Arial"/>
            </a:endParaRPr>
          </a:p>
        </p:txBody>
      </p:sp>
      <p:sp>
        <p:nvSpPr>
          <p:cNvPr id="693" name="CustomShape 3"/>
          <p:cNvSpPr/>
          <p:nvPr/>
        </p:nvSpPr>
        <p:spPr>
          <a:xfrm>
            <a:off x="548640" y="1737360"/>
            <a:ext cx="1371240" cy="914040"/>
          </a:xfrm>
          <a:prstGeom prst="roundRect">
            <a:avLst>
              <a:gd name="adj" fmla="val 16667"/>
            </a:avLst>
          </a:prstGeom>
          <a:solidFill>
            <a:srgbClr val="6b3fa0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500" spc="-1" strike="noStrike">
                <a:solidFill>
                  <a:srgbClr val="ffffff"/>
                </a:solidFill>
                <a:latin typeface="Yu Gothic"/>
              </a:rPr>
              <a:t>Step 1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694" name="CustomShape 4"/>
          <p:cNvSpPr/>
          <p:nvPr/>
        </p:nvSpPr>
        <p:spPr>
          <a:xfrm>
            <a:off x="2103120" y="1783080"/>
            <a:ext cx="4388760" cy="6375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20000"/>
              </a:lnSpc>
            </a:pPr>
            <a:r>
              <a:rPr b="1" lang="en-US" sz="1500" spc="-1" strike="noStrike">
                <a:solidFill>
                  <a:srgbClr val="222222"/>
                </a:solidFill>
                <a:latin typeface="Yu Gothic"/>
              </a:rPr>
              <a:t>kxr</a:t>
            </a:r>
            <a:r>
              <a:rPr b="1" lang="zh-CN" sz="1500" spc="-1" strike="noStrike">
                <a:solidFill>
                  <a:srgbClr val="222222"/>
                </a:solidFill>
                <a:latin typeface="Yu Gothic"/>
              </a:rPr>
              <a:t>の動作データを</a:t>
            </a:r>
            <a:r>
              <a:rPr b="1" lang="en-US" sz="1500" spc="-1" strike="noStrike">
                <a:solidFill>
                  <a:srgbClr val="222222"/>
                </a:solidFill>
                <a:latin typeface="Yu Gothic"/>
              </a:rPr>
              <a:t>LeRobot</a:t>
            </a:r>
            <a:r>
              <a:rPr b="1" lang="zh-CN" sz="1500" spc="-1" strike="noStrike">
                <a:solidFill>
                  <a:srgbClr val="222222"/>
                </a:solidFill>
                <a:latin typeface="Yu Gothic"/>
              </a:rPr>
              <a:t>形式で</a:t>
            </a:r>
            <a:endParaRPr b="0" lang="en-US" sz="1500" spc="-1" strike="noStrike">
              <a:latin typeface="Arial"/>
            </a:endParaRPr>
          </a:p>
          <a:p>
            <a:pPr>
              <a:lnSpc>
                <a:spcPct val="120000"/>
              </a:lnSpc>
            </a:pPr>
            <a:r>
              <a:rPr b="1" lang="zh-CN" sz="1500" spc="-1" strike="noStrike">
                <a:solidFill>
                  <a:srgbClr val="222222"/>
                </a:solidFill>
                <a:latin typeface="Yu Gothic"/>
              </a:rPr>
              <a:t>エクスポートするツールを作る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695" name="CustomShape 5"/>
          <p:cNvSpPr/>
          <p:nvPr/>
        </p:nvSpPr>
        <p:spPr>
          <a:xfrm>
            <a:off x="6675120" y="1828800"/>
            <a:ext cx="4937400" cy="5281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20000"/>
              </a:lnSpc>
            </a:pPr>
            <a:r>
              <a:rPr b="0" lang="zh-CN" sz="1200" spc="-1" strike="noStrike">
                <a:solidFill>
                  <a:srgbClr val="6b7280"/>
                </a:solidFill>
                <a:latin typeface="Yu Gothic"/>
              </a:rPr>
              <a:t>既存のモーションテーブル・</a:t>
            </a:r>
            <a:r>
              <a:rPr b="0" lang="en-US" sz="1200" spc="-1" strike="noStrike">
                <a:solidFill>
                  <a:srgbClr val="6b7280"/>
                </a:solidFill>
                <a:latin typeface="Yu Gothic"/>
              </a:rPr>
              <a:t>NN</a:t>
            </a:r>
            <a:r>
              <a:rPr b="0" lang="zh-CN" sz="1200" spc="-1" strike="noStrike">
                <a:solidFill>
                  <a:srgbClr val="6b7280"/>
                </a:solidFill>
                <a:latin typeface="Yu Gothic"/>
              </a:rPr>
              <a:t>ログの</a:t>
            </a:r>
            <a:endParaRPr b="0" lang="en-US" sz="1200" spc="-1" strike="noStrike">
              <a:latin typeface="Arial"/>
            </a:endParaRPr>
          </a:p>
          <a:p>
            <a:pPr>
              <a:lnSpc>
                <a:spcPct val="120000"/>
              </a:lnSpc>
            </a:pPr>
            <a:r>
              <a:rPr b="0" lang="zh-CN" sz="1200" spc="-1" strike="noStrike">
                <a:solidFill>
                  <a:srgbClr val="6b7280"/>
                </a:solidFill>
                <a:latin typeface="Yu Gothic"/>
              </a:rPr>
              <a:t>変換スクリプトが中心。</a:t>
            </a:r>
            <a:r>
              <a:rPr b="0" lang="en-US" sz="1200" spc="-1" strike="noStrike">
                <a:solidFill>
                  <a:srgbClr val="6b7280"/>
                </a:solidFill>
                <a:latin typeface="Yu Gothic"/>
              </a:rPr>
              <a:t>firmware</a:t>
            </a:r>
            <a:r>
              <a:rPr b="0" lang="zh-CN" sz="1200" spc="-1" strike="noStrike">
                <a:solidFill>
                  <a:srgbClr val="6b7280"/>
                </a:solidFill>
                <a:latin typeface="Yu Gothic"/>
              </a:rPr>
              <a:t>変更なし。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696" name="CustomShape 6"/>
          <p:cNvSpPr/>
          <p:nvPr/>
        </p:nvSpPr>
        <p:spPr>
          <a:xfrm>
            <a:off x="548640" y="2834640"/>
            <a:ext cx="1371240" cy="914040"/>
          </a:xfrm>
          <a:prstGeom prst="roundRect">
            <a:avLst>
              <a:gd name="adj" fmla="val 16667"/>
            </a:avLst>
          </a:prstGeom>
          <a:solidFill>
            <a:srgbClr val="6b3fa0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500" spc="-1" strike="noStrike">
                <a:solidFill>
                  <a:srgbClr val="ffffff"/>
                </a:solidFill>
                <a:latin typeface="Yu Gothic"/>
              </a:rPr>
              <a:t>Step 2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697" name="CustomShape 7"/>
          <p:cNvSpPr/>
          <p:nvPr/>
        </p:nvSpPr>
        <p:spPr>
          <a:xfrm>
            <a:off x="2103120" y="2880360"/>
            <a:ext cx="4388760" cy="6375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20000"/>
              </a:lnSpc>
            </a:pPr>
            <a:r>
              <a:rPr b="1" lang="zh-CN" sz="1500" spc="-1" strike="noStrike">
                <a:solidFill>
                  <a:srgbClr val="222222"/>
                </a:solidFill>
                <a:latin typeface="Yu Gothic"/>
              </a:rPr>
              <a:t>既存</a:t>
            </a:r>
            <a:r>
              <a:rPr b="1" lang="en-US" sz="1500" spc="-1" strike="noStrike">
                <a:solidFill>
                  <a:srgbClr val="222222"/>
                </a:solidFill>
                <a:latin typeface="Yu Gothic"/>
              </a:rPr>
              <a:t>URDF</a:t>
            </a:r>
            <a:r>
              <a:rPr b="1" lang="zh-CN" sz="1500" spc="-1" strike="noStrike">
                <a:solidFill>
                  <a:srgbClr val="222222"/>
                </a:solidFill>
                <a:latin typeface="Yu Gothic"/>
              </a:rPr>
              <a:t>を</a:t>
            </a:r>
            <a:r>
              <a:rPr b="1" lang="en-US" sz="1500" spc="-1" strike="noStrike">
                <a:solidFill>
                  <a:srgbClr val="222222"/>
                </a:solidFill>
                <a:latin typeface="Yu Gothic"/>
              </a:rPr>
              <a:t>USD</a:t>
            </a:r>
            <a:r>
              <a:rPr b="1" lang="zh-CN" sz="1500" spc="-1" strike="noStrike">
                <a:solidFill>
                  <a:srgbClr val="222222"/>
                </a:solidFill>
                <a:latin typeface="Yu Gothic"/>
              </a:rPr>
              <a:t>へ変換し</a:t>
            </a:r>
            <a:endParaRPr b="0" lang="en-US" sz="1500" spc="-1" strike="noStrike">
              <a:latin typeface="Arial"/>
            </a:endParaRPr>
          </a:p>
          <a:p>
            <a:pPr>
              <a:lnSpc>
                <a:spcPct val="120000"/>
              </a:lnSpc>
            </a:pPr>
            <a:r>
              <a:rPr b="1" lang="en-US" sz="1500" spc="-1" strike="noStrike">
                <a:solidFill>
                  <a:srgbClr val="222222"/>
                </a:solidFill>
                <a:latin typeface="Yu Gothic"/>
              </a:rPr>
              <a:t>Isaac Sim</a:t>
            </a:r>
            <a:r>
              <a:rPr b="1" lang="zh-CN" sz="1500" spc="-1" strike="noStrike">
                <a:solidFill>
                  <a:srgbClr val="222222"/>
                </a:solidFill>
                <a:latin typeface="Yu Gothic"/>
              </a:rPr>
              <a:t>で検証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698" name="CustomShape 8"/>
          <p:cNvSpPr/>
          <p:nvPr/>
        </p:nvSpPr>
        <p:spPr>
          <a:xfrm>
            <a:off x="6675120" y="2926080"/>
            <a:ext cx="4937400" cy="5281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20000"/>
              </a:lnSpc>
            </a:pPr>
            <a:r>
              <a:rPr b="0" lang="zh-CN" sz="1200" spc="-1" strike="noStrike">
                <a:solidFill>
                  <a:srgbClr val="6b7280"/>
                </a:solidFill>
                <a:latin typeface="Yu Gothic"/>
              </a:rPr>
              <a:t>フェーズ</a:t>
            </a:r>
            <a:r>
              <a:rPr b="0" lang="en-US" sz="1200" spc="-1" strike="noStrike">
                <a:solidFill>
                  <a:srgbClr val="6b7280"/>
                </a:solidFill>
                <a:latin typeface="Yu Gothic"/>
              </a:rPr>
              <a:t>2</a:t>
            </a:r>
            <a:r>
              <a:rPr b="0" lang="zh-CN" sz="1200" spc="-1" strike="noStrike">
                <a:solidFill>
                  <a:srgbClr val="6b7280"/>
                </a:solidFill>
                <a:latin typeface="Yu Gothic"/>
              </a:rPr>
              <a:t>の</a:t>
            </a:r>
            <a:r>
              <a:rPr b="0" lang="en-US" sz="1200" spc="-1" strike="noStrike">
                <a:solidFill>
                  <a:srgbClr val="6b7280"/>
                </a:solidFill>
                <a:latin typeface="Yu Gothic"/>
              </a:rPr>
              <a:t>52</a:t>
            </a:r>
            <a:r>
              <a:rPr b="0" lang="zh-CN" sz="1200" spc="-1" strike="noStrike">
                <a:solidFill>
                  <a:srgbClr val="6b7280"/>
                </a:solidFill>
                <a:latin typeface="Yu Gothic"/>
              </a:rPr>
              <a:t>体分の</a:t>
            </a:r>
            <a:r>
              <a:rPr b="0" lang="en-US" sz="1200" spc="-1" strike="noStrike">
                <a:solidFill>
                  <a:srgbClr val="6b7280"/>
                </a:solidFill>
                <a:latin typeface="Yu Gothic"/>
              </a:rPr>
              <a:t>URDF</a:t>
            </a:r>
            <a:r>
              <a:rPr b="0" lang="zh-CN" sz="1200" spc="-1" strike="noStrike">
                <a:solidFill>
                  <a:srgbClr val="6b7280"/>
                </a:solidFill>
                <a:latin typeface="Yu Gothic"/>
              </a:rPr>
              <a:t>資産を</a:t>
            </a:r>
            <a:endParaRPr b="0" lang="en-US" sz="1200" spc="-1" strike="noStrike">
              <a:latin typeface="Arial"/>
            </a:endParaRPr>
          </a:p>
          <a:p>
            <a:pPr>
              <a:lnSpc>
                <a:spcPct val="120000"/>
              </a:lnSpc>
            </a:pPr>
            <a:r>
              <a:rPr b="0" lang="zh-CN" sz="1200" spc="-1" strike="noStrike">
                <a:solidFill>
                  <a:srgbClr val="6b7280"/>
                </a:solidFill>
                <a:latin typeface="Yu Gothic"/>
              </a:rPr>
              <a:t>そのまま流用できる見込み。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699" name="CustomShape 9"/>
          <p:cNvSpPr/>
          <p:nvPr/>
        </p:nvSpPr>
        <p:spPr>
          <a:xfrm>
            <a:off x="548640" y="3931920"/>
            <a:ext cx="1371240" cy="914040"/>
          </a:xfrm>
          <a:prstGeom prst="roundRect">
            <a:avLst>
              <a:gd name="adj" fmla="val 16667"/>
            </a:avLst>
          </a:prstGeom>
          <a:solidFill>
            <a:srgbClr val="6b3fa0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500" spc="-1" strike="noStrike">
                <a:solidFill>
                  <a:srgbClr val="ffffff"/>
                </a:solidFill>
                <a:latin typeface="Yu Gothic"/>
              </a:rPr>
              <a:t>Step 3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700" name="CustomShape 10"/>
          <p:cNvSpPr/>
          <p:nvPr/>
        </p:nvSpPr>
        <p:spPr>
          <a:xfrm>
            <a:off x="2103120" y="3977640"/>
            <a:ext cx="4388760" cy="6375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20000"/>
              </a:lnSpc>
            </a:pPr>
            <a:r>
              <a:rPr b="1" lang="en-US" sz="1500" spc="-1" strike="noStrike">
                <a:solidFill>
                  <a:srgbClr val="222222"/>
                </a:solidFill>
                <a:latin typeface="Yu Gothic"/>
              </a:rPr>
              <a:t>GPU</a:t>
            </a:r>
            <a:r>
              <a:rPr b="1" lang="zh-CN" sz="1500" spc="-1" strike="noStrike">
                <a:solidFill>
                  <a:srgbClr val="222222"/>
                </a:solidFill>
                <a:latin typeface="Yu Gothic"/>
              </a:rPr>
              <a:t>サーバ</a:t>
            </a:r>
            <a:r>
              <a:rPr b="1" lang="en-US" sz="1500" spc="-1" strike="noStrike">
                <a:solidFill>
                  <a:srgbClr val="222222"/>
                </a:solidFill>
                <a:latin typeface="Yu Gothic"/>
              </a:rPr>
              <a:t>(hatori/pro1)</a:t>
            </a:r>
            <a:r>
              <a:rPr b="1" lang="zh-CN" sz="1500" spc="-1" strike="noStrike">
                <a:solidFill>
                  <a:srgbClr val="222222"/>
                </a:solidFill>
                <a:latin typeface="Yu Gothic"/>
              </a:rPr>
              <a:t>で学習した</a:t>
            </a:r>
            <a:endParaRPr b="0" lang="en-US" sz="1500" spc="-1" strike="noStrike">
              <a:latin typeface="Arial"/>
            </a:endParaRPr>
          </a:p>
          <a:p>
            <a:pPr>
              <a:lnSpc>
                <a:spcPct val="120000"/>
              </a:lnSpc>
            </a:pPr>
            <a:r>
              <a:rPr b="1" lang="zh-CN" sz="1500" spc="-1" strike="noStrike">
                <a:solidFill>
                  <a:srgbClr val="222222"/>
                </a:solidFill>
                <a:latin typeface="Yu Gothic"/>
              </a:rPr>
              <a:t>方策を</a:t>
            </a:r>
            <a:r>
              <a:rPr b="1" lang="en-US" sz="1500" spc="-1" strike="noStrike">
                <a:solidFill>
                  <a:srgbClr val="222222"/>
                </a:solidFill>
                <a:latin typeface="Yu Gothic"/>
              </a:rPr>
              <a:t>l2g/a6g</a:t>
            </a:r>
            <a:r>
              <a:rPr b="1" lang="zh-CN" sz="1500" spc="-1" strike="noStrike">
                <a:solidFill>
                  <a:srgbClr val="222222"/>
                </a:solidFill>
                <a:latin typeface="Yu Gothic"/>
              </a:rPr>
              <a:t>へ載せて実験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701" name="CustomShape 11"/>
          <p:cNvSpPr/>
          <p:nvPr/>
        </p:nvSpPr>
        <p:spPr>
          <a:xfrm>
            <a:off x="6675120" y="4023360"/>
            <a:ext cx="4937400" cy="5281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20000"/>
              </a:lnSpc>
            </a:pPr>
            <a:r>
              <a:rPr b="0" lang="zh-CN" sz="1200" spc="-1" strike="noStrike">
                <a:solidFill>
                  <a:srgbClr val="6b7280"/>
                </a:solidFill>
                <a:latin typeface="Yu Gothic"/>
              </a:rPr>
              <a:t>手元の</a:t>
            </a:r>
            <a:r>
              <a:rPr b="0" lang="en-US" sz="1200" spc="-1" strike="noStrike">
                <a:solidFill>
                  <a:srgbClr val="6b7280"/>
                </a:solidFill>
                <a:latin typeface="Yu Gothic"/>
              </a:rPr>
              <a:t>GPU</a:t>
            </a:r>
            <a:r>
              <a:rPr b="0" lang="zh-CN" sz="1200" spc="-1" strike="noStrike">
                <a:solidFill>
                  <a:srgbClr val="6b7280"/>
                </a:solidFill>
                <a:latin typeface="Yu Gothic"/>
              </a:rPr>
              <a:t>サーバで</a:t>
            </a:r>
            <a:r>
              <a:rPr b="0" lang="en-US" sz="1200" spc="-1" strike="noStrike">
                <a:solidFill>
                  <a:srgbClr val="6b7280"/>
                </a:solidFill>
                <a:latin typeface="Yu Gothic"/>
              </a:rPr>
              <a:t>Isaac Sim/GR00T</a:t>
            </a:r>
            <a:r>
              <a:rPr b="0" lang="zh-CN" sz="1200" spc="-1" strike="noStrike">
                <a:solidFill>
                  <a:srgbClr val="6b7280"/>
                </a:solidFill>
                <a:latin typeface="Yu Gothic"/>
              </a:rPr>
              <a:t>系の</a:t>
            </a:r>
            <a:endParaRPr b="0" lang="en-US" sz="1200" spc="-1" strike="noStrike">
              <a:latin typeface="Arial"/>
            </a:endParaRPr>
          </a:p>
          <a:p>
            <a:pPr>
              <a:lnSpc>
                <a:spcPct val="120000"/>
              </a:lnSpc>
            </a:pPr>
            <a:r>
              <a:rPr b="0" lang="zh-CN" sz="1200" spc="-1" strike="noStrike">
                <a:solidFill>
                  <a:srgbClr val="6b7280"/>
                </a:solidFill>
                <a:latin typeface="Yu Gothic"/>
              </a:rPr>
              <a:t>学習・蒸留を行い、軽量化して</a:t>
            </a:r>
            <a:r>
              <a:rPr b="0" lang="en-US" sz="1200" spc="-1" strike="noStrike">
                <a:solidFill>
                  <a:srgbClr val="6b7280"/>
                </a:solidFill>
                <a:latin typeface="Yu Gothic"/>
              </a:rPr>
              <a:t>kxr</a:t>
            </a:r>
            <a:r>
              <a:rPr b="0" lang="zh-CN" sz="1200" spc="-1" strike="noStrike">
                <a:solidFill>
                  <a:srgbClr val="6b7280"/>
                </a:solidFill>
                <a:latin typeface="Yu Gothic"/>
              </a:rPr>
              <a:t>へ移植。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702" name="CustomShape 12"/>
          <p:cNvSpPr/>
          <p:nvPr/>
        </p:nvSpPr>
        <p:spPr>
          <a:xfrm>
            <a:off x="548640" y="5486400"/>
            <a:ext cx="11063880" cy="6051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30000"/>
              </a:lnSpc>
            </a:pPr>
            <a:r>
              <a:rPr b="1" lang="zh-CN" sz="1300" spc="-1" strike="noStrike">
                <a:solidFill>
                  <a:srgbClr val="b03030"/>
                </a:solidFill>
                <a:latin typeface="Yu Gothic"/>
              </a:rPr>
              <a:t>これはフェーズ</a:t>
            </a:r>
            <a:r>
              <a:rPr b="1" lang="en-US" sz="1300" spc="-1" strike="noStrike">
                <a:solidFill>
                  <a:srgbClr val="b03030"/>
                </a:solidFill>
                <a:latin typeface="Yu Gothic"/>
              </a:rPr>
              <a:t>1</a:t>
            </a:r>
            <a:r>
              <a:rPr b="1" lang="zh-CN" sz="1300" spc="-1" strike="noStrike">
                <a:solidFill>
                  <a:srgbClr val="b03030"/>
                </a:solidFill>
                <a:latin typeface="Yu Gothic"/>
              </a:rPr>
              <a:t>〜</a:t>
            </a:r>
            <a:r>
              <a:rPr b="1" lang="en-US" sz="1300" spc="-1" strike="noStrike">
                <a:solidFill>
                  <a:srgbClr val="b03030"/>
                </a:solidFill>
                <a:latin typeface="Yu Gothic"/>
              </a:rPr>
              <a:t>5</a:t>
            </a:r>
            <a:r>
              <a:rPr b="1" lang="zh-CN" sz="1300" spc="-1" strike="noStrike">
                <a:solidFill>
                  <a:srgbClr val="b03030"/>
                </a:solidFill>
                <a:latin typeface="Yu Gothic"/>
              </a:rPr>
              <a:t>のロードマップ</a:t>
            </a:r>
            <a:r>
              <a:rPr b="1" lang="en-US" sz="1300" spc="-1" strike="noStrike">
                <a:solidFill>
                  <a:srgbClr val="b03030"/>
                </a:solidFill>
                <a:latin typeface="Yu Gothic"/>
              </a:rPr>
              <a:t>(500</a:t>
            </a:r>
            <a:r>
              <a:rPr b="1" lang="zh-CN" sz="1300" spc="-1" strike="noStrike">
                <a:solidFill>
                  <a:srgbClr val="b03030"/>
                </a:solidFill>
                <a:latin typeface="Yu Gothic"/>
              </a:rPr>
              <a:t>種類化</a:t>
            </a:r>
            <a:r>
              <a:rPr b="1" lang="en-US" sz="1300" spc="-1" strike="noStrike">
                <a:solidFill>
                  <a:srgbClr val="b03030"/>
                </a:solidFill>
                <a:latin typeface="Yu Gothic"/>
              </a:rPr>
              <a:t>)</a:t>
            </a:r>
            <a:r>
              <a:rPr b="1" lang="zh-CN" sz="1300" spc="-1" strike="noStrike">
                <a:solidFill>
                  <a:srgbClr val="b03030"/>
                </a:solidFill>
                <a:latin typeface="Yu Gothic"/>
              </a:rPr>
              <a:t>とは別トラックの、より長期的な発展方向の構想。</a:t>
            </a:r>
            <a:endParaRPr b="0" lang="en-US" sz="1300" spc="-1" strike="noStrike">
              <a:latin typeface="Arial"/>
            </a:endParaRPr>
          </a:p>
          <a:p>
            <a:pPr>
              <a:lnSpc>
                <a:spcPct val="130000"/>
              </a:lnSpc>
            </a:pPr>
            <a:r>
              <a:rPr b="1" lang="en-US" sz="1300" spc="-1" strike="noStrike">
                <a:solidFill>
                  <a:srgbClr val="b03030"/>
                </a:solidFill>
                <a:latin typeface="Yu Gothic"/>
              </a:rPr>
              <a:t>500</a:t>
            </a:r>
            <a:r>
              <a:rPr b="1" lang="zh-CN" sz="1300" spc="-1" strike="noStrike">
                <a:solidFill>
                  <a:srgbClr val="b03030"/>
                </a:solidFill>
                <a:latin typeface="Yu Gothic"/>
              </a:rPr>
              <a:t>種類化の基盤</a:t>
            </a:r>
            <a:r>
              <a:rPr b="1" lang="en-US" sz="1300" spc="-1" strike="noStrike">
                <a:solidFill>
                  <a:srgbClr val="b03030"/>
                </a:solidFill>
                <a:latin typeface="Yu Gothic"/>
              </a:rPr>
              <a:t>(URDF</a:t>
            </a:r>
            <a:r>
              <a:rPr b="1" lang="zh-CN" sz="1300" spc="-1" strike="noStrike">
                <a:solidFill>
                  <a:srgbClr val="b03030"/>
                </a:solidFill>
                <a:latin typeface="Yu Gothic"/>
              </a:rPr>
              <a:t>資産・データ配信の仕組み</a:t>
            </a:r>
            <a:r>
              <a:rPr b="1" lang="en-US" sz="1300" spc="-1" strike="noStrike">
                <a:solidFill>
                  <a:srgbClr val="b03030"/>
                </a:solidFill>
                <a:latin typeface="Yu Gothic"/>
              </a:rPr>
              <a:t>)</a:t>
            </a:r>
            <a:r>
              <a:rPr b="1" lang="zh-CN" sz="1300" spc="-1" strike="noStrike">
                <a:solidFill>
                  <a:srgbClr val="b03030"/>
                </a:solidFill>
                <a:latin typeface="Yu Gothic"/>
              </a:rPr>
              <a:t>が整えば、そのまま流用できる部分が多い。</a:t>
            </a:r>
            <a:endParaRPr b="0" lang="en-US" sz="13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3" name="CustomShape 1"/>
          <p:cNvSpPr/>
          <p:nvPr/>
        </p:nvSpPr>
        <p:spPr>
          <a:xfrm>
            <a:off x="548640" y="320040"/>
            <a:ext cx="8229240" cy="3337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rgbClr val="6b3fa0"/>
                </a:solidFill>
                <a:latin typeface="Yu Gothic"/>
              </a:rPr>
              <a:t>FUTURE DIRECTION (</a:t>
            </a:r>
            <a:r>
              <a:rPr b="1" lang="zh-CN" sz="1600" spc="-1" strike="noStrike">
                <a:solidFill>
                  <a:srgbClr val="6b3fa0"/>
                </a:solidFill>
                <a:latin typeface="Yu Gothic"/>
              </a:rPr>
              <a:t>構想</a:t>
            </a:r>
            <a:r>
              <a:rPr b="1" lang="en-US" sz="1600" spc="-1" strike="noStrike">
                <a:solidFill>
                  <a:srgbClr val="6b3fa0"/>
                </a:solidFill>
                <a:latin typeface="Yu Gothic"/>
              </a:rPr>
              <a:t>)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704" name="CustomShape 2"/>
          <p:cNvSpPr/>
          <p:nvPr/>
        </p:nvSpPr>
        <p:spPr>
          <a:xfrm>
            <a:off x="548640" y="685800"/>
            <a:ext cx="10515240" cy="5472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zh-CN" sz="3000" spc="-1" strike="noStrike">
                <a:solidFill>
                  <a:srgbClr val="1f2a44"/>
                </a:solidFill>
                <a:latin typeface="Yu Gothic"/>
              </a:rPr>
              <a:t>多様な実機を</a:t>
            </a:r>
            <a:r>
              <a:rPr b="1" lang="en-US" sz="3000" spc="-1" strike="noStrike">
                <a:solidFill>
                  <a:srgbClr val="1f2a44"/>
                </a:solidFill>
                <a:latin typeface="Yu Gothic"/>
              </a:rPr>
              <a:t>1</a:t>
            </a:r>
            <a:r>
              <a:rPr b="1" lang="zh-CN" sz="3000" spc="-1" strike="noStrike">
                <a:solidFill>
                  <a:srgbClr val="1f2a44"/>
                </a:solidFill>
                <a:latin typeface="Yu Gothic"/>
              </a:rPr>
              <a:t>台のスマホから統合的に使う構成法</a:t>
            </a:r>
            <a:endParaRPr b="0" lang="en-US" sz="3000" spc="-1" strike="noStrike">
              <a:latin typeface="Arial"/>
            </a:endParaRPr>
          </a:p>
        </p:txBody>
      </p:sp>
      <p:sp>
        <p:nvSpPr>
          <p:cNvPr id="705" name="CustomShape 3"/>
          <p:cNvSpPr/>
          <p:nvPr/>
        </p:nvSpPr>
        <p:spPr>
          <a:xfrm>
            <a:off x="548640" y="1417320"/>
            <a:ext cx="11063880" cy="6037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25000"/>
              </a:lnSpc>
            </a:pPr>
            <a:r>
              <a:rPr b="0" lang="zh-CN" sz="1350" spc="-1" strike="noStrike">
                <a:solidFill>
                  <a:srgbClr val="222222"/>
                </a:solidFill>
                <a:latin typeface="Yu Gothic"/>
              </a:rPr>
              <a:t>リモートブレインの核心は「脳は共通、身体は交換可能」</a:t>
            </a:r>
            <a:r>
              <a:rPr b="0" lang="en-US" sz="1350" spc="-1" strike="noStrike">
                <a:solidFill>
                  <a:srgbClr val="222222"/>
                </a:solidFill>
                <a:latin typeface="Yu Gothic"/>
              </a:rPr>
              <a:t>-- </a:t>
            </a:r>
            <a:r>
              <a:rPr b="0" lang="zh-CN" sz="1350" spc="-1" strike="noStrike">
                <a:solidFill>
                  <a:srgbClr val="222222"/>
                </a:solidFill>
                <a:latin typeface="Yu Gothic"/>
              </a:rPr>
              <a:t>これをロボット形態</a:t>
            </a:r>
            <a:r>
              <a:rPr b="0" lang="en-US" sz="1350" spc="-1" strike="noStrike">
                <a:solidFill>
                  <a:srgbClr val="222222"/>
                </a:solidFill>
                <a:latin typeface="Yu Gothic"/>
              </a:rPr>
              <a:t>(kxr</a:t>
            </a:r>
            <a:r>
              <a:rPr b="0" lang="zh-CN" sz="1350" spc="-1" strike="noStrike">
                <a:solidFill>
                  <a:srgbClr val="222222"/>
                </a:solidFill>
                <a:latin typeface="Yu Gothic"/>
              </a:rPr>
              <a:t>のような小型に限らず</a:t>
            </a:r>
            <a:endParaRPr b="0" lang="en-US" sz="1350" spc="-1" strike="noStrike">
              <a:latin typeface="Arial"/>
            </a:endParaRPr>
          </a:p>
          <a:p>
            <a:pPr>
              <a:lnSpc>
                <a:spcPct val="125000"/>
              </a:lnSpc>
            </a:pPr>
            <a:r>
              <a:rPr b="0" lang="zh-CN" sz="1350" spc="-1" strike="noStrike">
                <a:solidFill>
                  <a:srgbClr val="222222"/>
                </a:solidFill>
                <a:latin typeface="Yu Gothic"/>
              </a:rPr>
              <a:t>等身大ヒューマノイド・</a:t>
            </a:r>
            <a:r>
              <a:rPr b="0" lang="en-US" sz="1350" spc="-1" strike="noStrike">
                <a:solidFill>
                  <a:srgbClr val="222222"/>
                </a:solidFill>
                <a:latin typeface="Yu Gothic"/>
              </a:rPr>
              <a:t>4</a:t>
            </a:r>
            <a:r>
              <a:rPr b="0" lang="zh-CN" sz="1350" spc="-1" strike="noStrike">
                <a:solidFill>
                  <a:srgbClr val="222222"/>
                </a:solidFill>
                <a:latin typeface="Yu Gothic"/>
              </a:rPr>
              <a:t>脚・セミヒューマノイド等</a:t>
            </a:r>
            <a:r>
              <a:rPr b="0" lang="en-US" sz="1350" spc="-1" strike="noStrike">
                <a:solidFill>
                  <a:srgbClr val="222222"/>
                </a:solidFill>
                <a:latin typeface="Yu Gothic"/>
              </a:rPr>
              <a:t>)</a:t>
            </a:r>
            <a:r>
              <a:rPr b="0" lang="zh-CN" sz="1350" spc="-1" strike="noStrike">
                <a:solidFill>
                  <a:srgbClr val="222222"/>
                </a:solidFill>
                <a:latin typeface="Yu Gothic"/>
              </a:rPr>
              <a:t>をまたいで拡張すると、下図のような構成になる。</a:t>
            </a:r>
            <a:endParaRPr b="0" lang="en-US" sz="1350" spc="-1" strike="noStrike">
              <a:latin typeface="Arial"/>
            </a:endParaRPr>
          </a:p>
        </p:txBody>
      </p:sp>
      <p:sp>
        <p:nvSpPr>
          <p:cNvPr id="706" name="CustomShape 4"/>
          <p:cNvSpPr/>
          <p:nvPr/>
        </p:nvSpPr>
        <p:spPr>
          <a:xfrm>
            <a:off x="4206240" y="2286000"/>
            <a:ext cx="3748680" cy="822600"/>
          </a:xfrm>
          <a:prstGeom prst="roundRect">
            <a:avLst>
              <a:gd name="adj" fmla="val 16667"/>
            </a:avLst>
          </a:prstGeom>
          <a:solidFill>
            <a:srgbClr val="1f2a44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zh-CN" sz="1300" spc="-1" strike="noStrike">
                <a:solidFill>
                  <a:srgbClr val="ffffff"/>
                </a:solidFill>
                <a:latin typeface="Yu Gothic"/>
              </a:rPr>
              <a:t>スマホ</a:t>
            </a:r>
            <a:r>
              <a:rPr b="1" lang="en-US" sz="1300" spc="-1" strike="noStrike">
                <a:solidFill>
                  <a:srgbClr val="ffffff"/>
                </a:solidFill>
                <a:latin typeface="Yu Gothic"/>
              </a:rPr>
              <a:t>(</a:t>
            </a:r>
            <a:r>
              <a:rPr b="1" lang="zh-CN" sz="1300" spc="-1" strike="noStrike">
                <a:solidFill>
                  <a:srgbClr val="ffffff"/>
                </a:solidFill>
                <a:latin typeface="Yu Gothic"/>
              </a:rPr>
              <a:t>統合</a:t>
            </a:r>
            <a:r>
              <a:rPr b="1" lang="en-US" sz="1300" spc="-1" strike="noStrike">
                <a:solidFill>
                  <a:srgbClr val="ffffff"/>
                </a:solidFill>
                <a:latin typeface="Yu Gothic"/>
              </a:rPr>
              <a:t>UI)</a:t>
            </a:r>
            <a:br/>
            <a:r>
              <a:rPr b="1" lang="zh-CN" sz="1300" spc="-1" strike="noStrike">
                <a:solidFill>
                  <a:srgbClr val="ffffff"/>
                </a:solidFill>
                <a:latin typeface="Yu Gothic"/>
              </a:rPr>
              <a:t>候補検出 </a:t>
            </a:r>
            <a:r>
              <a:rPr b="1" lang="en-US" sz="1300" spc="-1" strike="noStrike">
                <a:solidFill>
                  <a:srgbClr val="ffffff"/>
                </a:solidFill>
                <a:latin typeface="Yu Gothic"/>
              </a:rPr>
              <a:t>-- 3D</a:t>
            </a:r>
            <a:r>
              <a:rPr b="1" lang="zh-CN" sz="1300" spc="-1" strike="noStrike">
                <a:solidFill>
                  <a:srgbClr val="ffffff"/>
                </a:solidFill>
                <a:latin typeface="Yu Gothic"/>
              </a:rPr>
              <a:t>モデル選択 </a:t>
            </a:r>
            <a:r>
              <a:rPr b="1" lang="en-US" sz="1300" spc="-1" strike="noStrike">
                <a:solidFill>
                  <a:srgbClr val="ffffff"/>
                </a:solidFill>
                <a:latin typeface="Yu Gothic"/>
              </a:rPr>
              <a:t>-- </a:t>
            </a:r>
            <a:r>
              <a:rPr b="1" lang="zh-CN" sz="1300" spc="-1" strike="noStrike">
                <a:solidFill>
                  <a:srgbClr val="ffffff"/>
                </a:solidFill>
                <a:latin typeface="Yu Gothic"/>
              </a:rPr>
              <a:t>操作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707" name="Line 5"/>
          <p:cNvSpPr/>
          <p:nvPr/>
        </p:nvSpPr>
        <p:spPr>
          <a:xfrm>
            <a:off x="6080760" y="3108960"/>
            <a:ext cx="0" cy="411480"/>
          </a:xfrm>
          <a:prstGeom prst="line">
            <a:avLst/>
          </a:prstGeom>
          <a:ln>
            <a:solidFill>
              <a:srgbClr val="6b7280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/>
        </p:style>
      </p:sp>
      <p:sp>
        <p:nvSpPr>
          <p:cNvPr id="708" name="Line 6"/>
          <p:cNvSpPr/>
          <p:nvPr/>
        </p:nvSpPr>
        <p:spPr>
          <a:xfrm>
            <a:off x="1851480" y="3520440"/>
            <a:ext cx="8366760" cy="0"/>
          </a:xfrm>
          <a:prstGeom prst="line">
            <a:avLst/>
          </a:prstGeom>
          <a:ln>
            <a:solidFill>
              <a:srgbClr val="6b7280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/>
        </p:style>
      </p:sp>
      <p:sp>
        <p:nvSpPr>
          <p:cNvPr id="709" name="Line 7"/>
          <p:cNvSpPr/>
          <p:nvPr/>
        </p:nvSpPr>
        <p:spPr>
          <a:xfrm>
            <a:off x="1851480" y="3520440"/>
            <a:ext cx="0" cy="411480"/>
          </a:xfrm>
          <a:prstGeom prst="line">
            <a:avLst/>
          </a:prstGeom>
          <a:ln>
            <a:solidFill>
              <a:srgbClr val="6b7280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/>
        </p:style>
      </p:sp>
      <p:sp>
        <p:nvSpPr>
          <p:cNvPr id="710" name="Line 8"/>
          <p:cNvSpPr/>
          <p:nvPr/>
        </p:nvSpPr>
        <p:spPr>
          <a:xfrm>
            <a:off x="4640400" y="3520440"/>
            <a:ext cx="0" cy="411480"/>
          </a:xfrm>
          <a:prstGeom prst="line">
            <a:avLst/>
          </a:prstGeom>
          <a:ln>
            <a:solidFill>
              <a:srgbClr val="6b7280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/>
        </p:style>
      </p:sp>
      <p:sp>
        <p:nvSpPr>
          <p:cNvPr id="711" name="Line 9"/>
          <p:cNvSpPr/>
          <p:nvPr/>
        </p:nvSpPr>
        <p:spPr>
          <a:xfrm>
            <a:off x="7429320" y="3520440"/>
            <a:ext cx="0" cy="411480"/>
          </a:xfrm>
          <a:prstGeom prst="line">
            <a:avLst/>
          </a:prstGeom>
          <a:ln>
            <a:solidFill>
              <a:srgbClr val="6b7280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/>
        </p:style>
      </p:sp>
      <p:sp>
        <p:nvSpPr>
          <p:cNvPr id="712" name="Line 10"/>
          <p:cNvSpPr/>
          <p:nvPr/>
        </p:nvSpPr>
        <p:spPr>
          <a:xfrm>
            <a:off x="10218240" y="3520440"/>
            <a:ext cx="0" cy="411480"/>
          </a:xfrm>
          <a:prstGeom prst="line">
            <a:avLst/>
          </a:prstGeom>
          <a:ln>
            <a:solidFill>
              <a:srgbClr val="6b7280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/>
        </p:style>
      </p:sp>
      <p:sp>
        <p:nvSpPr>
          <p:cNvPr id="713" name="CustomShape 11"/>
          <p:cNvSpPr/>
          <p:nvPr/>
        </p:nvSpPr>
        <p:spPr>
          <a:xfrm>
            <a:off x="548640" y="3931920"/>
            <a:ext cx="2605680" cy="456840"/>
          </a:xfrm>
          <a:prstGeom prst="roundRect">
            <a:avLst>
              <a:gd name="adj" fmla="val 16667"/>
            </a:avLst>
          </a:prstGeom>
          <a:solidFill>
            <a:srgbClr val="2e6fc7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zh-CN" sz="1300" spc="-1" strike="noStrike">
                <a:solidFill>
                  <a:srgbClr val="ffffff"/>
                </a:solidFill>
                <a:latin typeface="Yu Gothic"/>
              </a:rPr>
              <a:t>等身大ヒューマノイド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714" name="CustomShape 12"/>
          <p:cNvSpPr/>
          <p:nvPr/>
        </p:nvSpPr>
        <p:spPr>
          <a:xfrm>
            <a:off x="548640" y="4434840"/>
            <a:ext cx="1257120" cy="1234080"/>
          </a:xfrm>
          <a:prstGeom prst="rect">
            <a:avLst/>
          </a:prstGeom>
          <a:solidFill>
            <a:srgbClr val="f2f4f8"/>
          </a:solidFill>
          <a:ln w="12600">
            <a:solidFill>
              <a:srgbClr val="6b7280"/>
            </a:solidFill>
            <a:round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pic>
        <p:nvPicPr>
          <p:cNvPr id="715" name="Picture 13" descr="rhp9.png"/>
          <p:cNvPicPr/>
          <p:nvPr/>
        </p:nvPicPr>
        <p:blipFill>
          <a:blip r:embed="rId1"/>
          <a:stretch/>
        </p:blipFill>
        <p:spPr>
          <a:xfrm>
            <a:off x="987120" y="4471560"/>
            <a:ext cx="379800" cy="1161000"/>
          </a:xfrm>
          <a:prstGeom prst="rect">
            <a:avLst/>
          </a:prstGeom>
          <a:ln>
            <a:noFill/>
          </a:ln>
        </p:spPr>
      </p:pic>
      <p:sp>
        <p:nvSpPr>
          <p:cNvPr id="716" name="CustomShape 13"/>
          <p:cNvSpPr/>
          <p:nvPr/>
        </p:nvSpPr>
        <p:spPr>
          <a:xfrm>
            <a:off x="548640" y="5696640"/>
            <a:ext cx="1257120" cy="2199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222222"/>
                </a:solidFill>
                <a:latin typeface="Yu Gothic"/>
              </a:rPr>
              <a:t>RHP9(</a:t>
            </a:r>
            <a:r>
              <a:rPr b="0" lang="zh-CN" sz="850" spc="-1" strike="noStrike">
                <a:solidFill>
                  <a:srgbClr val="222222"/>
                </a:solidFill>
                <a:latin typeface="Yu Gothic"/>
              </a:rPr>
              <a:t>川崎重工</a:t>
            </a:r>
            <a:r>
              <a:rPr b="0" lang="en-US" sz="850" spc="-1" strike="noStrike">
                <a:solidFill>
                  <a:srgbClr val="222222"/>
                </a:solidFill>
                <a:latin typeface="Yu Gothic"/>
              </a:rPr>
              <a:t>)</a:t>
            </a:r>
            <a:endParaRPr b="0" lang="en-US" sz="850" spc="-1" strike="noStrike">
              <a:latin typeface="Arial"/>
            </a:endParaRPr>
          </a:p>
        </p:txBody>
      </p:sp>
      <p:sp>
        <p:nvSpPr>
          <p:cNvPr id="717" name="CustomShape 14"/>
          <p:cNvSpPr/>
          <p:nvPr/>
        </p:nvSpPr>
        <p:spPr>
          <a:xfrm>
            <a:off x="1897560" y="4434840"/>
            <a:ext cx="1257120" cy="1234080"/>
          </a:xfrm>
          <a:prstGeom prst="rect">
            <a:avLst/>
          </a:prstGeom>
          <a:solidFill>
            <a:srgbClr val="f2f4f8"/>
          </a:solidFill>
          <a:ln w="12600">
            <a:solidFill>
              <a:srgbClr val="6b7280"/>
            </a:solidFill>
            <a:round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pic>
        <p:nvPicPr>
          <p:cNvPr id="718" name="Picture 16" descr="k1.png"/>
          <p:cNvPicPr/>
          <p:nvPr/>
        </p:nvPicPr>
        <p:blipFill>
          <a:blip r:embed="rId2"/>
          <a:stretch/>
        </p:blipFill>
        <p:spPr>
          <a:xfrm>
            <a:off x="2071440" y="4471560"/>
            <a:ext cx="908640" cy="1161000"/>
          </a:xfrm>
          <a:prstGeom prst="rect">
            <a:avLst/>
          </a:prstGeom>
          <a:ln>
            <a:noFill/>
          </a:ln>
        </p:spPr>
      </p:pic>
      <p:sp>
        <p:nvSpPr>
          <p:cNvPr id="719" name="CustomShape 15"/>
          <p:cNvSpPr/>
          <p:nvPr/>
        </p:nvSpPr>
        <p:spPr>
          <a:xfrm>
            <a:off x="1897560" y="5696640"/>
            <a:ext cx="1257120" cy="2199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222222"/>
                </a:solidFill>
                <a:latin typeface="Yu Gothic"/>
              </a:rPr>
              <a:t>Booster K1</a:t>
            </a:r>
            <a:endParaRPr b="0" lang="en-US" sz="850" spc="-1" strike="noStrike">
              <a:latin typeface="Arial"/>
            </a:endParaRPr>
          </a:p>
        </p:txBody>
      </p:sp>
      <p:sp>
        <p:nvSpPr>
          <p:cNvPr id="720" name="CustomShape 16"/>
          <p:cNvSpPr/>
          <p:nvPr/>
        </p:nvSpPr>
        <p:spPr>
          <a:xfrm>
            <a:off x="3337560" y="3931920"/>
            <a:ext cx="2605680" cy="456840"/>
          </a:xfrm>
          <a:prstGeom prst="roundRect">
            <a:avLst>
              <a:gd name="adj" fmla="val 16667"/>
            </a:avLst>
          </a:prstGeom>
          <a:solidFill>
            <a:srgbClr val="2ea059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Yu Gothic"/>
              </a:rPr>
              <a:t>4</a:t>
            </a:r>
            <a:r>
              <a:rPr b="1" lang="zh-CN" sz="1300" spc="-1" strike="noStrike">
                <a:solidFill>
                  <a:srgbClr val="ffffff"/>
                </a:solidFill>
                <a:latin typeface="Yu Gothic"/>
              </a:rPr>
              <a:t>脚ロボット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721" name="CustomShape 17"/>
          <p:cNvSpPr/>
          <p:nvPr/>
        </p:nvSpPr>
        <p:spPr>
          <a:xfrm>
            <a:off x="3337560" y="4434840"/>
            <a:ext cx="1257120" cy="1234080"/>
          </a:xfrm>
          <a:prstGeom prst="rect">
            <a:avLst/>
          </a:prstGeom>
          <a:solidFill>
            <a:srgbClr val="f2f4f8"/>
          </a:solidFill>
          <a:ln w="12600">
            <a:solidFill>
              <a:srgbClr val="6b7280"/>
            </a:solidFill>
            <a:round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pic>
        <p:nvPicPr>
          <p:cNvPr id="722" name="Picture 20" descr="corleo.png"/>
          <p:cNvPicPr/>
          <p:nvPr/>
        </p:nvPicPr>
        <p:blipFill>
          <a:blip r:embed="rId3"/>
          <a:stretch/>
        </p:blipFill>
        <p:spPr>
          <a:xfrm>
            <a:off x="3421800" y="4471560"/>
            <a:ext cx="1088280" cy="1161000"/>
          </a:xfrm>
          <a:prstGeom prst="rect">
            <a:avLst/>
          </a:prstGeom>
          <a:ln>
            <a:noFill/>
          </a:ln>
        </p:spPr>
      </p:pic>
      <p:sp>
        <p:nvSpPr>
          <p:cNvPr id="723" name="CustomShape 18"/>
          <p:cNvSpPr/>
          <p:nvPr/>
        </p:nvSpPr>
        <p:spPr>
          <a:xfrm>
            <a:off x="3337560" y="5696640"/>
            <a:ext cx="1257120" cy="2199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222222"/>
                </a:solidFill>
                <a:latin typeface="Yu Gothic"/>
              </a:rPr>
              <a:t>Corleo(</a:t>
            </a:r>
            <a:r>
              <a:rPr b="0" lang="zh-CN" sz="850" spc="-1" strike="noStrike">
                <a:solidFill>
                  <a:srgbClr val="222222"/>
                </a:solidFill>
                <a:latin typeface="Yu Gothic"/>
              </a:rPr>
              <a:t>川崎重工</a:t>
            </a:r>
            <a:r>
              <a:rPr b="0" lang="en-US" sz="850" spc="-1" strike="noStrike">
                <a:solidFill>
                  <a:srgbClr val="222222"/>
                </a:solidFill>
                <a:latin typeface="Yu Gothic"/>
              </a:rPr>
              <a:t>)</a:t>
            </a:r>
            <a:endParaRPr b="0" lang="en-US" sz="850" spc="-1" strike="noStrike">
              <a:latin typeface="Arial"/>
            </a:endParaRPr>
          </a:p>
        </p:txBody>
      </p:sp>
      <p:sp>
        <p:nvSpPr>
          <p:cNvPr id="724" name="CustomShape 19"/>
          <p:cNvSpPr/>
          <p:nvPr/>
        </p:nvSpPr>
        <p:spPr>
          <a:xfrm>
            <a:off x="4686480" y="4434840"/>
            <a:ext cx="1257120" cy="1234080"/>
          </a:xfrm>
          <a:prstGeom prst="rect">
            <a:avLst/>
          </a:prstGeom>
          <a:solidFill>
            <a:srgbClr val="f2f4f8"/>
          </a:solidFill>
          <a:ln w="12600">
            <a:solidFill>
              <a:srgbClr val="6b7280"/>
            </a:solidFill>
            <a:round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pic>
        <p:nvPicPr>
          <p:cNvPr id="725" name="Picture 23" descr="mevius.png"/>
          <p:cNvPicPr/>
          <p:nvPr/>
        </p:nvPicPr>
        <p:blipFill>
          <a:blip r:embed="rId4"/>
          <a:stretch/>
        </p:blipFill>
        <p:spPr>
          <a:xfrm>
            <a:off x="4722840" y="4529160"/>
            <a:ext cx="1183680" cy="1045440"/>
          </a:xfrm>
          <a:prstGeom prst="rect">
            <a:avLst/>
          </a:prstGeom>
          <a:ln>
            <a:noFill/>
          </a:ln>
        </p:spPr>
      </p:pic>
      <p:sp>
        <p:nvSpPr>
          <p:cNvPr id="726" name="CustomShape 20"/>
          <p:cNvSpPr/>
          <p:nvPr/>
        </p:nvSpPr>
        <p:spPr>
          <a:xfrm>
            <a:off x="4686480" y="5696640"/>
            <a:ext cx="1257120" cy="2199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222222"/>
                </a:solidFill>
                <a:latin typeface="Yu Gothic"/>
              </a:rPr>
              <a:t>Mevius(</a:t>
            </a:r>
            <a:r>
              <a:rPr b="0" lang="zh-CN" sz="850" spc="-1" strike="noStrike">
                <a:solidFill>
                  <a:srgbClr val="222222"/>
                </a:solidFill>
                <a:latin typeface="Yu Gothic"/>
              </a:rPr>
              <a:t>川崎重工</a:t>
            </a:r>
            <a:r>
              <a:rPr b="0" lang="en-US" sz="850" spc="-1" strike="noStrike">
                <a:solidFill>
                  <a:srgbClr val="222222"/>
                </a:solidFill>
                <a:latin typeface="Yu Gothic"/>
              </a:rPr>
              <a:t>)</a:t>
            </a:r>
            <a:endParaRPr b="0" lang="en-US" sz="850" spc="-1" strike="noStrike">
              <a:latin typeface="Arial"/>
            </a:endParaRPr>
          </a:p>
        </p:txBody>
      </p:sp>
      <p:sp>
        <p:nvSpPr>
          <p:cNvPr id="727" name="CustomShape 21"/>
          <p:cNvSpPr/>
          <p:nvPr/>
        </p:nvSpPr>
        <p:spPr>
          <a:xfrm>
            <a:off x="6126480" y="3931920"/>
            <a:ext cx="2605680" cy="456840"/>
          </a:xfrm>
          <a:prstGeom prst="roundRect">
            <a:avLst>
              <a:gd name="adj" fmla="val 16667"/>
            </a:avLst>
          </a:prstGeom>
          <a:solidFill>
            <a:srgbClr val="b03030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zh-CN" sz="1300" spc="-1" strike="noStrike">
                <a:solidFill>
                  <a:srgbClr val="ffffff"/>
                </a:solidFill>
                <a:latin typeface="Yu Gothic"/>
              </a:rPr>
              <a:t>セミヒューマノイド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728" name="CustomShape 22"/>
          <p:cNvSpPr/>
          <p:nvPr/>
        </p:nvSpPr>
        <p:spPr>
          <a:xfrm>
            <a:off x="6126480" y="4434840"/>
            <a:ext cx="1257120" cy="1234080"/>
          </a:xfrm>
          <a:prstGeom prst="rect">
            <a:avLst/>
          </a:prstGeom>
          <a:solidFill>
            <a:srgbClr val="f2f4f8"/>
          </a:solidFill>
          <a:ln w="12600">
            <a:solidFill>
              <a:srgbClr val="6b7280"/>
            </a:solidFill>
            <a:round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pic>
        <p:nvPicPr>
          <p:cNvPr id="729" name="Picture 27" descr="nyokkey.png"/>
          <p:cNvPicPr/>
          <p:nvPr/>
        </p:nvPicPr>
        <p:blipFill>
          <a:blip r:embed="rId5"/>
          <a:stretch/>
        </p:blipFill>
        <p:spPr>
          <a:xfrm>
            <a:off x="6467040" y="4471560"/>
            <a:ext cx="576000" cy="1161000"/>
          </a:xfrm>
          <a:prstGeom prst="rect">
            <a:avLst/>
          </a:prstGeom>
          <a:ln>
            <a:noFill/>
          </a:ln>
        </p:spPr>
      </p:pic>
      <p:sp>
        <p:nvSpPr>
          <p:cNvPr id="730" name="CustomShape 23"/>
          <p:cNvSpPr/>
          <p:nvPr/>
        </p:nvSpPr>
        <p:spPr>
          <a:xfrm>
            <a:off x="6126480" y="5696640"/>
            <a:ext cx="1257120" cy="2199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222222"/>
                </a:solidFill>
                <a:latin typeface="Yu Gothic"/>
              </a:rPr>
              <a:t>Nyokkey(</a:t>
            </a:r>
            <a:r>
              <a:rPr b="0" lang="zh-CN" sz="850" spc="-1" strike="noStrike">
                <a:solidFill>
                  <a:srgbClr val="222222"/>
                </a:solidFill>
                <a:latin typeface="Yu Gothic"/>
              </a:rPr>
              <a:t>川崎重工</a:t>
            </a:r>
            <a:r>
              <a:rPr b="0" lang="en-US" sz="850" spc="-1" strike="noStrike">
                <a:solidFill>
                  <a:srgbClr val="222222"/>
                </a:solidFill>
                <a:latin typeface="Yu Gothic"/>
              </a:rPr>
              <a:t>)</a:t>
            </a:r>
            <a:endParaRPr b="0" lang="en-US" sz="850" spc="-1" strike="noStrike">
              <a:latin typeface="Arial"/>
            </a:endParaRPr>
          </a:p>
        </p:txBody>
      </p:sp>
      <p:sp>
        <p:nvSpPr>
          <p:cNvPr id="731" name="CustomShape 24"/>
          <p:cNvSpPr/>
          <p:nvPr/>
        </p:nvSpPr>
        <p:spPr>
          <a:xfrm>
            <a:off x="7475400" y="4434840"/>
            <a:ext cx="1257120" cy="1234080"/>
          </a:xfrm>
          <a:prstGeom prst="rect">
            <a:avLst/>
          </a:prstGeom>
          <a:solidFill>
            <a:srgbClr val="f2f4f8"/>
          </a:solidFill>
          <a:ln w="12600">
            <a:solidFill>
              <a:srgbClr val="6b7280"/>
            </a:solidFill>
            <a:round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pic>
        <p:nvPicPr>
          <p:cNvPr id="732" name="Picture 30" descr="pr2.png"/>
          <p:cNvPicPr/>
          <p:nvPr/>
        </p:nvPicPr>
        <p:blipFill>
          <a:blip r:embed="rId6"/>
          <a:stretch/>
        </p:blipFill>
        <p:spPr>
          <a:xfrm>
            <a:off x="7552800" y="4471560"/>
            <a:ext cx="1101600" cy="1161000"/>
          </a:xfrm>
          <a:prstGeom prst="rect">
            <a:avLst/>
          </a:prstGeom>
          <a:ln>
            <a:noFill/>
          </a:ln>
        </p:spPr>
      </p:pic>
      <p:sp>
        <p:nvSpPr>
          <p:cNvPr id="733" name="CustomShape 25"/>
          <p:cNvSpPr/>
          <p:nvPr/>
        </p:nvSpPr>
        <p:spPr>
          <a:xfrm>
            <a:off x="7475400" y="5696640"/>
            <a:ext cx="1257120" cy="3488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222222"/>
                </a:solidFill>
                <a:latin typeface="Yu Gothic"/>
              </a:rPr>
              <a:t>PR2(Willow Garage)</a:t>
            </a:r>
            <a:endParaRPr b="0" lang="en-US" sz="850" spc="-1" strike="noStrike">
              <a:latin typeface="Arial"/>
            </a:endParaRPr>
          </a:p>
        </p:txBody>
      </p:sp>
      <p:sp>
        <p:nvSpPr>
          <p:cNvPr id="734" name="CustomShape 26"/>
          <p:cNvSpPr/>
          <p:nvPr/>
        </p:nvSpPr>
        <p:spPr>
          <a:xfrm>
            <a:off x="8915400" y="3931920"/>
            <a:ext cx="2605680" cy="456840"/>
          </a:xfrm>
          <a:prstGeom prst="roundRect">
            <a:avLst>
              <a:gd name="adj" fmla="val 16667"/>
            </a:avLst>
          </a:prstGeom>
          <a:solidFill>
            <a:srgbClr val="1f2a44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Yu Gothic"/>
              </a:rPr>
              <a:t>kxr / KHR(</a:t>
            </a:r>
            <a:r>
              <a:rPr b="1" lang="zh-CN" sz="1300" spc="-1" strike="noStrike">
                <a:solidFill>
                  <a:srgbClr val="ffffff"/>
                </a:solidFill>
                <a:latin typeface="Yu Gothic"/>
              </a:rPr>
              <a:t>小型</a:t>
            </a:r>
            <a:r>
              <a:rPr b="1" lang="en-US" sz="1300" spc="-1" strike="noStrike">
                <a:solidFill>
                  <a:srgbClr val="ffffff"/>
                </a:solidFill>
                <a:latin typeface="Yu Gothic"/>
              </a:rPr>
              <a:t>)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735" name="CustomShape 27"/>
          <p:cNvSpPr/>
          <p:nvPr/>
        </p:nvSpPr>
        <p:spPr>
          <a:xfrm>
            <a:off x="8915400" y="4434840"/>
            <a:ext cx="1257120" cy="1234080"/>
          </a:xfrm>
          <a:prstGeom prst="rect">
            <a:avLst/>
          </a:prstGeom>
          <a:solidFill>
            <a:srgbClr val="f2f4f8"/>
          </a:solidFill>
          <a:ln w="12600">
            <a:solidFill>
              <a:srgbClr val="6b7280"/>
            </a:solidFill>
            <a:round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pic>
        <p:nvPicPr>
          <p:cNvPr id="736" name="Picture 34" descr="kxrl2g.png"/>
          <p:cNvPicPr/>
          <p:nvPr/>
        </p:nvPicPr>
        <p:blipFill>
          <a:blip r:embed="rId7"/>
          <a:stretch/>
        </p:blipFill>
        <p:spPr>
          <a:xfrm>
            <a:off x="9234360" y="4471560"/>
            <a:ext cx="618840" cy="1161000"/>
          </a:xfrm>
          <a:prstGeom prst="rect">
            <a:avLst/>
          </a:prstGeom>
          <a:ln>
            <a:noFill/>
          </a:ln>
        </p:spPr>
      </p:pic>
      <p:sp>
        <p:nvSpPr>
          <p:cNvPr id="737" name="CustomShape 28"/>
          <p:cNvSpPr/>
          <p:nvPr/>
        </p:nvSpPr>
        <p:spPr>
          <a:xfrm>
            <a:off x="8915400" y="5696640"/>
            <a:ext cx="1257120" cy="2199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222222"/>
                </a:solidFill>
                <a:latin typeface="Yu Gothic"/>
              </a:rPr>
              <a:t>kxrl2g</a:t>
            </a:r>
            <a:endParaRPr b="0" lang="en-US" sz="850" spc="-1" strike="noStrike">
              <a:latin typeface="Arial"/>
            </a:endParaRPr>
          </a:p>
        </p:txBody>
      </p:sp>
      <p:sp>
        <p:nvSpPr>
          <p:cNvPr id="738" name="CustomShape 29"/>
          <p:cNvSpPr/>
          <p:nvPr/>
        </p:nvSpPr>
        <p:spPr>
          <a:xfrm>
            <a:off x="10264320" y="4434840"/>
            <a:ext cx="1257120" cy="1234080"/>
          </a:xfrm>
          <a:prstGeom prst="rect">
            <a:avLst/>
          </a:prstGeom>
          <a:solidFill>
            <a:srgbClr val="f2f4f8"/>
          </a:solidFill>
          <a:ln w="12600">
            <a:solidFill>
              <a:srgbClr val="6b7280"/>
            </a:solidFill>
            <a:round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pic>
        <p:nvPicPr>
          <p:cNvPr id="739" name="Picture 37" descr="khr20.png"/>
          <p:cNvPicPr/>
          <p:nvPr/>
        </p:nvPicPr>
        <p:blipFill>
          <a:blip r:embed="rId8"/>
          <a:stretch/>
        </p:blipFill>
        <p:spPr>
          <a:xfrm>
            <a:off x="10608840" y="4471560"/>
            <a:ext cx="567720" cy="1161000"/>
          </a:xfrm>
          <a:prstGeom prst="rect">
            <a:avLst/>
          </a:prstGeom>
          <a:ln>
            <a:noFill/>
          </a:ln>
        </p:spPr>
      </p:pic>
      <p:sp>
        <p:nvSpPr>
          <p:cNvPr id="740" name="CustomShape 30"/>
          <p:cNvSpPr/>
          <p:nvPr/>
        </p:nvSpPr>
        <p:spPr>
          <a:xfrm>
            <a:off x="10264320" y="5696640"/>
            <a:ext cx="1257120" cy="2199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222222"/>
                </a:solidFill>
                <a:latin typeface="Yu Gothic"/>
              </a:rPr>
              <a:t>khr20(</a:t>
            </a:r>
            <a:r>
              <a:rPr b="0" lang="zh-CN" sz="850" spc="-1" strike="noStrike">
                <a:solidFill>
                  <a:srgbClr val="222222"/>
                </a:solidFill>
                <a:latin typeface="Yu Gothic"/>
              </a:rPr>
              <a:t>近藤科学</a:t>
            </a:r>
            <a:r>
              <a:rPr b="0" lang="en-US" sz="850" spc="-1" strike="noStrike">
                <a:solidFill>
                  <a:srgbClr val="222222"/>
                </a:solidFill>
                <a:latin typeface="Yu Gothic"/>
              </a:rPr>
              <a:t>)</a:t>
            </a:r>
            <a:endParaRPr b="0" lang="en-US" sz="850" spc="-1" strike="noStrike">
              <a:latin typeface="Arial"/>
            </a:endParaRPr>
          </a:p>
        </p:txBody>
      </p:sp>
      <p:sp>
        <p:nvSpPr>
          <p:cNvPr id="741" name="CustomShape 31"/>
          <p:cNvSpPr/>
          <p:nvPr/>
        </p:nvSpPr>
        <p:spPr>
          <a:xfrm>
            <a:off x="548640" y="6172200"/>
            <a:ext cx="11063880" cy="4402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15000"/>
              </a:lnSpc>
            </a:pPr>
            <a:r>
              <a:rPr b="0" lang="zh-CN" sz="1000" spc="-1" strike="noStrike">
                <a:solidFill>
                  <a:srgbClr val="6b7280"/>
                </a:solidFill>
                <a:latin typeface="Yu Gothic"/>
              </a:rPr>
              <a:t>各実機はローカル制御を持つだけで、「脳」側は</a:t>
            </a:r>
            <a:r>
              <a:rPr b="0" lang="en-US" sz="1000" spc="-1" strike="noStrike">
                <a:solidFill>
                  <a:srgbClr val="6b7280"/>
                </a:solidFill>
                <a:latin typeface="Yu Gothic"/>
              </a:rPr>
              <a:t>URDF/LeRobot</a:t>
            </a:r>
            <a:r>
              <a:rPr b="0" lang="zh-CN" sz="1000" spc="-1" strike="noStrike">
                <a:solidFill>
                  <a:srgbClr val="6b7280"/>
                </a:solidFill>
                <a:latin typeface="Yu Gothic"/>
              </a:rPr>
              <a:t>互換の記述形式に統一する</a:t>
            </a:r>
            <a:r>
              <a:rPr b="0" lang="en-US" sz="1000" spc="-1" strike="noStrike">
                <a:solidFill>
                  <a:srgbClr val="6b7280"/>
                </a:solidFill>
                <a:latin typeface="Yu Gothic"/>
              </a:rPr>
              <a:t>(RHP9/Corleo/Mevius/Nyokkey</a:t>
            </a:r>
            <a:r>
              <a:rPr b="0" lang="zh-CN" sz="1000" spc="-1" strike="noStrike">
                <a:solidFill>
                  <a:srgbClr val="6b7280"/>
                </a:solidFill>
                <a:latin typeface="Yu Gothic"/>
              </a:rPr>
              <a:t>は</a:t>
            </a:r>
            <a:endParaRPr b="0" lang="en-US" sz="1000" spc="-1" strike="noStrike">
              <a:latin typeface="Arial"/>
            </a:endParaRPr>
          </a:p>
          <a:p>
            <a:pPr>
              <a:lnSpc>
                <a:spcPct val="115000"/>
              </a:lnSpc>
            </a:pPr>
            <a:r>
              <a:rPr b="0" lang="zh-CN" sz="1000" spc="-1" strike="noStrike">
                <a:solidFill>
                  <a:srgbClr val="6b7280"/>
                </a:solidFill>
                <a:latin typeface="Yu Gothic"/>
              </a:rPr>
              <a:t>川崎重工、</a:t>
            </a:r>
            <a:r>
              <a:rPr b="0" lang="en-US" sz="1000" spc="-1" strike="noStrike">
                <a:solidFill>
                  <a:srgbClr val="6b7280"/>
                </a:solidFill>
                <a:latin typeface="Yu Gothic"/>
              </a:rPr>
              <a:t>K1</a:t>
            </a:r>
            <a:r>
              <a:rPr b="0" lang="zh-CN" sz="1000" spc="-1" strike="noStrike">
                <a:solidFill>
                  <a:srgbClr val="6b7280"/>
                </a:solidFill>
                <a:latin typeface="Yu Gothic"/>
              </a:rPr>
              <a:t>は</a:t>
            </a:r>
            <a:r>
              <a:rPr b="0" lang="en-US" sz="1000" spc="-1" strike="noStrike">
                <a:solidFill>
                  <a:srgbClr val="6b7280"/>
                </a:solidFill>
                <a:latin typeface="Yu Gothic"/>
              </a:rPr>
              <a:t>Booster Robotics</a:t>
            </a:r>
            <a:r>
              <a:rPr b="0" lang="zh-CN" sz="1000" spc="-1" strike="noStrike">
                <a:solidFill>
                  <a:srgbClr val="6b7280"/>
                </a:solidFill>
                <a:latin typeface="Yu Gothic"/>
              </a:rPr>
              <a:t>、</a:t>
            </a:r>
            <a:r>
              <a:rPr b="0" lang="en-US" sz="1000" spc="-1" strike="noStrike">
                <a:solidFill>
                  <a:srgbClr val="6b7280"/>
                </a:solidFill>
                <a:latin typeface="Yu Gothic"/>
              </a:rPr>
              <a:t>PR2</a:t>
            </a:r>
            <a:r>
              <a:rPr b="0" lang="zh-CN" sz="1000" spc="-1" strike="noStrike">
                <a:solidFill>
                  <a:srgbClr val="6b7280"/>
                </a:solidFill>
                <a:latin typeface="Yu Gothic"/>
              </a:rPr>
              <a:t>は</a:t>
            </a:r>
            <a:r>
              <a:rPr b="0" lang="en-US" sz="1000" spc="-1" strike="noStrike">
                <a:solidFill>
                  <a:srgbClr val="6b7280"/>
                </a:solidFill>
                <a:latin typeface="Yu Gothic"/>
              </a:rPr>
              <a:t>Willow Garage</a:t>
            </a:r>
            <a:r>
              <a:rPr b="0" lang="zh-CN" sz="1000" spc="-1" strike="noStrike">
                <a:solidFill>
                  <a:srgbClr val="6b7280"/>
                </a:solidFill>
                <a:latin typeface="Yu Gothic"/>
              </a:rPr>
              <a:t>、</a:t>
            </a:r>
            <a:r>
              <a:rPr b="0" lang="en-US" sz="1000" spc="-1" strike="noStrike">
                <a:solidFill>
                  <a:srgbClr val="6b7280"/>
                </a:solidFill>
                <a:latin typeface="Yu Gothic"/>
              </a:rPr>
              <a:t>khr20</a:t>
            </a:r>
            <a:r>
              <a:rPr b="0" lang="zh-CN" sz="1000" spc="-1" strike="noStrike">
                <a:solidFill>
                  <a:srgbClr val="6b7280"/>
                </a:solidFill>
                <a:latin typeface="Yu Gothic"/>
              </a:rPr>
              <a:t>は近藤科学</a:t>
            </a:r>
            <a:r>
              <a:rPr b="0" lang="en-US" sz="1000" spc="-1" strike="noStrike">
                <a:solidFill>
                  <a:srgbClr val="6b7280"/>
                </a:solidFill>
                <a:latin typeface="Yu Gothic"/>
              </a:rPr>
              <a:t>KHR</a:t>
            </a:r>
            <a:r>
              <a:rPr b="0" lang="zh-CN" sz="1000" spc="-1" strike="noStrike">
                <a:solidFill>
                  <a:srgbClr val="6b7280"/>
                </a:solidFill>
                <a:latin typeface="Yu Gothic"/>
              </a:rPr>
              <a:t>シリーズの実在ロボット </a:t>
            </a:r>
            <a:r>
              <a:rPr b="0" lang="en-US" sz="1000" spc="-1" strike="noStrike">
                <a:solidFill>
                  <a:srgbClr val="6b7280"/>
                </a:solidFill>
                <a:latin typeface="Yu Gothic"/>
              </a:rPr>
              <a:t>-- </a:t>
            </a:r>
            <a:r>
              <a:rPr b="0" lang="zh-CN" sz="1000" spc="-1" strike="noStrike">
                <a:solidFill>
                  <a:srgbClr val="6b7280"/>
                </a:solidFill>
                <a:latin typeface="Yu Gothic"/>
              </a:rPr>
              <a:t>いずれも実モデルデータからレンダリング</a:t>
            </a:r>
            <a:r>
              <a:rPr b="0" lang="en-US" sz="1000" spc="-1" strike="noStrike">
                <a:solidFill>
                  <a:srgbClr val="6b7280"/>
                </a:solidFill>
                <a:latin typeface="Yu Gothic"/>
              </a:rPr>
              <a:t>)</a:t>
            </a:r>
            <a:r>
              <a:rPr b="0" lang="zh-CN" sz="1000" spc="-1" strike="noStrike">
                <a:solidFill>
                  <a:srgbClr val="6b7280"/>
                </a:solidFill>
                <a:latin typeface="Yu Gothic"/>
              </a:rPr>
              <a:t>。</a:t>
            </a:r>
            <a:endParaRPr b="0" lang="en-US" sz="1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2" name="CustomShape 1"/>
          <p:cNvSpPr/>
          <p:nvPr/>
        </p:nvSpPr>
        <p:spPr>
          <a:xfrm>
            <a:off x="548640" y="320040"/>
            <a:ext cx="8229240" cy="3337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rgbClr val="6b3fa0"/>
                </a:solidFill>
                <a:latin typeface="Yu Gothic"/>
              </a:rPr>
              <a:t>FUTURE DIRECTION (</a:t>
            </a:r>
            <a:r>
              <a:rPr b="1" lang="zh-CN" sz="1600" spc="-1" strike="noStrike">
                <a:solidFill>
                  <a:srgbClr val="6b3fa0"/>
                </a:solidFill>
                <a:latin typeface="Yu Gothic"/>
              </a:rPr>
              <a:t>構想</a:t>
            </a:r>
            <a:r>
              <a:rPr b="1" lang="en-US" sz="1600" spc="-1" strike="noStrike">
                <a:solidFill>
                  <a:srgbClr val="6b3fa0"/>
                </a:solidFill>
                <a:latin typeface="Yu Gothic"/>
              </a:rPr>
              <a:t>)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743" name="CustomShape 2"/>
          <p:cNvSpPr/>
          <p:nvPr/>
        </p:nvSpPr>
        <p:spPr>
          <a:xfrm>
            <a:off x="548640" y="685800"/>
            <a:ext cx="10515240" cy="5472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zh-CN" sz="3000" spc="-1" strike="noStrike">
                <a:solidFill>
                  <a:srgbClr val="1f2a44"/>
                </a:solidFill>
                <a:latin typeface="Yu Gothic"/>
              </a:rPr>
              <a:t>同じ形は、すでに</a:t>
            </a:r>
            <a:r>
              <a:rPr b="1" lang="en-US" sz="3000" spc="-1" strike="noStrike">
                <a:solidFill>
                  <a:srgbClr val="1f2a44"/>
                </a:solidFill>
                <a:latin typeface="Yu Gothic"/>
              </a:rPr>
              <a:t>kxr</a:t>
            </a:r>
            <a:r>
              <a:rPr b="1" lang="zh-CN" sz="3000" spc="-1" strike="noStrike">
                <a:solidFill>
                  <a:srgbClr val="1f2a44"/>
                </a:solidFill>
                <a:latin typeface="Yu Gothic"/>
              </a:rPr>
              <a:t>ファミリーにもある</a:t>
            </a:r>
            <a:endParaRPr b="0" lang="en-US" sz="3000" spc="-1" strike="noStrike">
              <a:latin typeface="Arial"/>
            </a:endParaRPr>
          </a:p>
        </p:txBody>
      </p:sp>
      <p:sp>
        <p:nvSpPr>
          <p:cNvPr id="744" name="CustomShape 3"/>
          <p:cNvSpPr/>
          <p:nvPr/>
        </p:nvSpPr>
        <p:spPr>
          <a:xfrm>
            <a:off x="548640" y="1554480"/>
            <a:ext cx="1691280" cy="2285640"/>
          </a:xfrm>
          <a:prstGeom prst="rect">
            <a:avLst/>
          </a:prstGeom>
          <a:solidFill>
            <a:srgbClr val="f2f4f8"/>
          </a:solidFill>
          <a:ln w="12600">
            <a:solidFill>
              <a:srgbClr val="6b7280"/>
            </a:solidFill>
            <a:round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pic>
        <p:nvPicPr>
          <p:cNvPr id="745" name="Picture 4" descr="corleo.png"/>
          <p:cNvPicPr/>
          <p:nvPr/>
        </p:nvPicPr>
        <p:blipFill>
          <a:blip r:embed="rId1"/>
          <a:stretch/>
        </p:blipFill>
        <p:spPr>
          <a:xfrm>
            <a:off x="585360" y="1834200"/>
            <a:ext cx="1618200" cy="1726200"/>
          </a:xfrm>
          <a:prstGeom prst="rect">
            <a:avLst/>
          </a:prstGeom>
          <a:ln>
            <a:noFill/>
          </a:ln>
        </p:spPr>
      </p:pic>
      <p:sp>
        <p:nvSpPr>
          <p:cNvPr id="746" name="CustomShape 4"/>
          <p:cNvSpPr/>
          <p:nvPr/>
        </p:nvSpPr>
        <p:spPr>
          <a:xfrm>
            <a:off x="548640" y="3886200"/>
            <a:ext cx="1691280" cy="4251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ctr">
              <a:lnSpc>
                <a:spcPct val="110000"/>
              </a:lnSpc>
            </a:pPr>
            <a:r>
              <a:rPr b="1" lang="en-US" sz="1000" spc="-1" strike="noStrike">
                <a:solidFill>
                  <a:srgbClr val="1f2a44"/>
                </a:solidFill>
                <a:latin typeface="Yu Gothic"/>
              </a:rPr>
              <a:t>Corleo(</a:t>
            </a:r>
            <a:r>
              <a:rPr b="1" lang="zh-CN" sz="1000" spc="-1" strike="noStrike">
                <a:solidFill>
                  <a:srgbClr val="1f2a44"/>
                </a:solidFill>
                <a:latin typeface="Yu Gothic"/>
              </a:rPr>
              <a:t>川崎重工</a:t>
            </a:r>
            <a:r>
              <a:rPr b="1" lang="en-US" sz="1000" spc="-1" strike="noStrike">
                <a:solidFill>
                  <a:srgbClr val="1f2a44"/>
                </a:solidFill>
                <a:latin typeface="Yu Gothic"/>
              </a:rPr>
              <a:t>)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10000"/>
              </a:lnSpc>
            </a:pPr>
            <a:r>
              <a:rPr b="1" lang="en-US" sz="1000" spc="-1" strike="noStrike">
                <a:solidFill>
                  <a:srgbClr val="1f2a44"/>
                </a:solidFill>
                <a:latin typeface="Yu Gothic"/>
              </a:rPr>
              <a:t>4</a:t>
            </a:r>
            <a:r>
              <a:rPr b="1" lang="zh-CN" sz="1000" spc="-1" strike="noStrike">
                <a:solidFill>
                  <a:srgbClr val="1f2a44"/>
                </a:solidFill>
                <a:latin typeface="Yu Gothic"/>
              </a:rPr>
              <a:t>脚・水素駆動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747" name="CustomShape 5"/>
          <p:cNvSpPr/>
          <p:nvPr/>
        </p:nvSpPr>
        <p:spPr>
          <a:xfrm>
            <a:off x="2377440" y="1554480"/>
            <a:ext cx="1691280" cy="2285640"/>
          </a:xfrm>
          <a:prstGeom prst="rect">
            <a:avLst/>
          </a:prstGeom>
          <a:solidFill>
            <a:srgbClr val="f2f4f8"/>
          </a:solidFill>
          <a:ln w="12600">
            <a:solidFill>
              <a:srgbClr val="6b7280"/>
            </a:solidFill>
            <a:round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pic>
        <p:nvPicPr>
          <p:cNvPr id="748" name="Picture 7" descr="kxrl4t.png"/>
          <p:cNvPicPr/>
          <p:nvPr/>
        </p:nvPicPr>
        <p:blipFill>
          <a:blip r:embed="rId2"/>
          <a:stretch/>
        </p:blipFill>
        <p:spPr>
          <a:xfrm>
            <a:off x="2414160" y="2025000"/>
            <a:ext cx="1618200" cy="1344960"/>
          </a:xfrm>
          <a:prstGeom prst="rect">
            <a:avLst/>
          </a:prstGeom>
          <a:ln>
            <a:noFill/>
          </a:ln>
        </p:spPr>
      </p:pic>
      <p:sp>
        <p:nvSpPr>
          <p:cNvPr id="749" name="CustomShape 6"/>
          <p:cNvSpPr/>
          <p:nvPr/>
        </p:nvSpPr>
        <p:spPr>
          <a:xfrm>
            <a:off x="2377440" y="3886200"/>
            <a:ext cx="1691280" cy="4251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ctr">
              <a:lnSpc>
                <a:spcPct val="110000"/>
              </a:lnSpc>
            </a:pPr>
            <a:r>
              <a:rPr b="0" lang="en-US" sz="1000" spc="-1" strike="noStrike">
                <a:solidFill>
                  <a:srgbClr val="222222"/>
                </a:solidFill>
                <a:latin typeface="Yu Gothic"/>
              </a:rPr>
              <a:t>kxrl4t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10000"/>
              </a:lnSpc>
            </a:pPr>
            <a:r>
              <a:rPr b="0" lang="en-US" sz="1000" spc="-1" strike="noStrike">
                <a:solidFill>
                  <a:srgbClr val="222222"/>
                </a:solidFill>
                <a:latin typeface="Yu Gothic"/>
              </a:rPr>
              <a:t>4</a:t>
            </a:r>
            <a:r>
              <a:rPr b="0" lang="zh-CN" sz="1000" spc="-1" strike="noStrike">
                <a:solidFill>
                  <a:srgbClr val="222222"/>
                </a:solidFill>
                <a:latin typeface="Yu Gothic"/>
              </a:rPr>
              <a:t>脚・ホビーサーボ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750" name="CustomShape 7"/>
          <p:cNvSpPr/>
          <p:nvPr/>
        </p:nvSpPr>
        <p:spPr>
          <a:xfrm>
            <a:off x="2240280" y="2514600"/>
            <a:ext cx="136800" cy="3646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ctr">
              <a:lnSpc>
                <a:spcPct val="100000"/>
              </a:lnSpc>
            </a:pPr>
            <a:r>
              <a:rPr b="1" lang="en-US" sz="1800" spc="-1" strike="noStrike">
                <a:solidFill>
                  <a:srgbClr val="6b7280"/>
                </a:solidFill>
                <a:latin typeface="Yu Gothic"/>
              </a:rPr>
              <a:t>=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751" name="CustomShape 8"/>
          <p:cNvSpPr/>
          <p:nvPr/>
        </p:nvSpPr>
        <p:spPr>
          <a:xfrm>
            <a:off x="4389120" y="1554480"/>
            <a:ext cx="1691280" cy="2285640"/>
          </a:xfrm>
          <a:prstGeom prst="rect">
            <a:avLst/>
          </a:prstGeom>
          <a:solidFill>
            <a:srgbClr val="f2f4f8"/>
          </a:solidFill>
          <a:ln w="12600">
            <a:solidFill>
              <a:srgbClr val="6b7280"/>
            </a:solidFill>
            <a:round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pic>
        <p:nvPicPr>
          <p:cNvPr id="752" name="Picture 11" descr="nyokkey.png"/>
          <p:cNvPicPr/>
          <p:nvPr/>
        </p:nvPicPr>
        <p:blipFill>
          <a:blip r:embed="rId3"/>
          <a:stretch/>
        </p:blipFill>
        <p:spPr>
          <a:xfrm>
            <a:off x="4685760" y="1591200"/>
            <a:ext cx="1098360" cy="2212560"/>
          </a:xfrm>
          <a:prstGeom prst="rect">
            <a:avLst/>
          </a:prstGeom>
          <a:ln>
            <a:noFill/>
          </a:ln>
        </p:spPr>
      </p:pic>
      <p:sp>
        <p:nvSpPr>
          <p:cNvPr id="753" name="CustomShape 9"/>
          <p:cNvSpPr/>
          <p:nvPr/>
        </p:nvSpPr>
        <p:spPr>
          <a:xfrm>
            <a:off x="4389120" y="3886200"/>
            <a:ext cx="1691280" cy="4251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ctr">
              <a:lnSpc>
                <a:spcPct val="110000"/>
              </a:lnSpc>
            </a:pPr>
            <a:r>
              <a:rPr b="1" lang="en-US" sz="1000" spc="-1" strike="noStrike">
                <a:solidFill>
                  <a:srgbClr val="1f2a44"/>
                </a:solidFill>
                <a:latin typeface="Yu Gothic"/>
              </a:rPr>
              <a:t>Nyokkey(</a:t>
            </a:r>
            <a:r>
              <a:rPr b="1" lang="zh-CN" sz="1000" spc="-1" strike="noStrike">
                <a:solidFill>
                  <a:srgbClr val="1f2a44"/>
                </a:solidFill>
                <a:latin typeface="Yu Gothic"/>
              </a:rPr>
              <a:t>川崎重工</a:t>
            </a:r>
            <a:r>
              <a:rPr b="1" lang="en-US" sz="1000" spc="-1" strike="noStrike">
                <a:solidFill>
                  <a:srgbClr val="1f2a44"/>
                </a:solidFill>
                <a:latin typeface="Yu Gothic"/>
              </a:rPr>
              <a:t>)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10000"/>
              </a:lnSpc>
            </a:pPr>
            <a:r>
              <a:rPr b="1" lang="zh-CN" sz="1000" spc="-1" strike="noStrike">
                <a:solidFill>
                  <a:srgbClr val="1f2a44"/>
                </a:solidFill>
                <a:latin typeface="Yu Gothic"/>
              </a:rPr>
              <a:t>移動台車</a:t>
            </a:r>
            <a:r>
              <a:rPr b="1" lang="en-US" sz="1000" spc="-1" strike="noStrike">
                <a:solidFill>
                  <a:srgbClr val="1f2a44"/>
                </a:solidFill>
                <a:latin typeface="Yu Gothic"/>
              </a:rPr>
              <a:t>+</a:t>
            </a:r>
            <a:r>
              <a:rPr b="1" lang="zh-CN" sz="1000" spc="-1" strike="noStrike">
                <a:solidFill>
                  <a:srgbClr val="1f2a44"/>
                </a:solidFill>
                <a:latin typeface="Yu Gothic"/>
              </a:rPr>
              <a:t>双腕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754" name="CustomShape 10"/>
          <p:cNvSpPr/>
          <p:nvPr/>
        </p:nvSpPr>
        <p:spPr>
          <a:xfrm>
            <a:off x="6217920" y="1554480"/>
            <a:ext cx="1691280" cy="2285640"/>
          </a:xfrm>
          <a:prstGeom prst="rect">
            <a:avLst/>
          </a:prstGeom>
          <a:solidFill>
            <a:srgbClr val="f2f4f8"/>
          </a:solidFill>
          <a:ln w="12600">
            <a:solidFill>
              <a:srgbClr val="6b7280"/>
            </a:solidFill>
            <a:round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pic>
        <p:nvPicPr>
          <p:cNvPr id="755" name="Picture 14" descr="kxrmw4a7h2g.png"/>
          <p:cNvPicPr/>
          <p:nvPr/>
        </p:nvPicPr>
        <p:blipFill>
          <a:blip r:embed="rId4"/>
          <a:stretch/>
        </p:blipFill>
        <p:spPr>
          <a:xfrm>
            <a:off x="6254640" y="1713600"/>
            <a:ext cx="1618200" cy="1967400"/>
          </a:xfrm>
          <a:prstGeom prst="rect">
            <a:avLst/>
          </a:prstGeom>
          <a:ln>
            <a:noFill/>
          </a:ln>
        </p:spPr>
      </p:pic>
      <p:sp>
        <p:nvSpPr>
          <p:cNvPr id="756" name="CustomShape 11"/>
          <p:cNvSpPr/>
          <p:nvPr/>
        </p:nvSpPr>
        <p:spPr>
          <a:xfrm>
            <a:off x="6217920" y="3886200"/>
            <a:ext cx="1691280" cy="5918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ctr">
              <a:lnSpc>
                <a:spcPct val="110000"/>
              </a:lnSpc>
            </a:pPr>
            <a:r>
              <a:rPr b="0" lang="en-US" sz="1000" spc="-1" strike="noStrike">
                <a:solidFill>
                  <a:srgbClr val="222222"/>
                </a:solidFill>
                <a:latin typeface="Yu Gothic"/>
              </a:rPr>
              <a:t>kxrmw4a7h2g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10000"/>
              </a:lnSpc>
            </a:pPr>
            <a:r>
              <a:rPr b="0" lang="zh-CN" sz="1000" spc="-1" strike="noStrike">
                <a:solidFill>
                  <a:srgbClr val="222222"/>
                </a:solidFill>
                <a:latin typeface="Yu Gothic"/>
              </a:rPr>
              <a:t>車輪</a:t>
            </a:r>
            <a:r>
              <a:rPr b="0" lang="en-US" sz="1000" spc="-1" strike="noStrike">
                <a:solidFill>
                  <a:srgbClr val="222222"/>
                </a:solidFill>
                <a:latin typeface="Yu Gothic"/>
              </a:rPr>
              <a:t>+</a:t>
            </a:r>
            <a:r>
              <a:rPr b="0" lang="zh-CN" sz="1000" spc="-1" strike="noStrike">
                <a:solidFill>
                  <a:srgbClr val="222222"/>
                </a:solidFill>
                <a:latin typeface="Yu Gothic"/>
              </a:rPr>
              <a:t>腕</a:t>
            </a:r>
            <a:r>
              <a:rPr b="0" lang="en-US" sz="1000" spc="-1" strike="noStrike">
                <a:solidFill>
                  <a:srgbClr val="222222"/>
                </a:solidFill>
                <a:latin typeface="Yu Gothic"/>
              </a:rPr>
              <a:t>+</a:t>
            </a:r>
            <a:r>
              <a:rPr b="0" lang="zh-CN" sz="1000" spc="-1" strike="noStrike">
                <a:solidFill>
                  <a:srgbClr val="222222"/>
                </a:solidFill>
                <a:latin typeface="Yu Gothic"/>
              </a:rPr>
              <a:t>頭のセミヒューマノイド型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757" name="CustomShape 12"/>
          <p:cNvSpPr/>
          <p:nvPr/>
        </p:nvSpPr>
        <p:spPr>
          <a:xfrm>
            <a:off x="6080760" y="2514600"/>
            <a:ext cx="136800" cy="3646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ctr">
              <a:lnSpc>
                <a:spcPct val="100000"/>
              </a:lnSpc>
            </a:pPr>
            <a:r>
              <a:rPr b="1" lang="en-US" sz="1800" spc="-1" strike="noStrike">
                <a:solidFill>
                  <a:srgbClr val="6b7280"/>
                </a:solidFill>
                <a:latin typeface="Yu Gothic"/>
              </a:rPr>
              <a:t>=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758" name="CustomShape 13"/>
          <p:cNvSpPr/>
          <p:nvPr/>
        </p:nvSpPr>
        <p:spPr>
          <a:xfrm>
            <a:off x="8229600" y="1554480"/>
            <a:ext cx="1691280" cy="2285640"/>
          </a:xfrm>
          <a:prstGeom prst="rect">
            <a:avLst/>
          </a:prstGeom>
          <a:solidFill>
            <a:srgbClr val="f2f4f8"/>
          </a:solidFill>
          <a:ln w="12600">
            <a:solidFill>
              <a:srgbClr val="6b7280"/>
            </a:solidFill>
            <a:round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pic>
        <p:nvPicPr>
          <p:cNvPr id="759" name="Picture 18" descr="rhp5e.png"/>
          <p:cNvPicPr/>
          <p:nvPr/>
        </p:nvPicPr>
        <p:blipFill>
          <a:blip r:embed="rId5"/>
          <a:stretch/>
        </p:blipFill>
        <p:spPr>
          <a:xfrm>
            <a:off x="8692200" y="1591200"/>
            <a:ext cx="765720" cy="2212560"/>
          </a:xfrm>
          <a:prstGeom prst="rect">
            <a:avLst/>
          </a:prstGeom>
          <a:ln>
            <a:noFill/>
          </a:ln>
        </p:spPr>
      </p:pic>
      <p:sp>
        <p:nvSpPr>
          <p:cNvPr id="760" name="CustomShape 14"/>
          <p:cNvSpPr/>
          <p:nvPr/>
        </p:nvSpPr>
        <p:spPr>
          <a:xfrm>
            <a:off x="8229600" y="3886200"/>
            <a:ext cx="1691280" cy="5918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ctr">
              <a:lnSpc>
                <a:spcPct val="110000"/>
              </a:lnSpc>
            </a:pPr>
            <a:r>
              <a:rPr b="1" lang="en-US" sz="1000" spc="-1" strike="noStrike">
                <a:solidFill>
                  <a:srgbClr val="1f2a44"/>
                </a:solidFill>
                <a:latin typeface="Yu Gothic"/>
              </a:rPr>
              <a:t>Kaleido(RHP5E, </a:t>
            </a:r>
            <a:r>
              <a:rPr b="1" lang="zh-CN" sz="1000" spc="-1" strike="noStrike">
                <a:solidFill>
                  <a:srgbClr val="1f2a44"/>
                </a:solidFill>
                <a:latin typeface="Yu Gothic"/>
              </a:rPr>
              <a:t>川崎重工</a:t>
            </a:r>
            <a:r>
              <a:rPr b="1" lang="en-US" sz="1000" spc="-1" strike="noStrike">
                <a:solidFill>
                  <a:srgbClr val="1f2a44"/>
                </a:solidFill>
                <a:latin typeface="Yu Gothic"/>
              </a:rPr>
              <a:t>)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10000"/>
              </a:lnSpc>
            </a:pPr>
            <a:r>
              <a:rPr b="1" lang="zh-CN" sz="1000" spc="-1" strike="noStrike">
                <a:solidFill>
                  <a:srgbClr val="1f2a44"/>
                </a:solidFill>
                <a:latin typeface="Yu Gothic"/>
              </a:rPr>
              <a:t>等身大ヒューマノイド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761" name="CustomShape 15"/>
          <p:cNvSpPr/>
          <p:nvPr/>
        </p:nvSpPr>
        <p:spPr>
          <a:xfrm>
            <a:off x="10058400" y="1554480"/>
            <a:ext cx="1691280" cy="2285640"/>
          </a:xfrm>
          <a:prstGeom prst="rect">
            <a:avLst/>
          </a:prstGeom>
          <a:solidFill>
            <a:srgbClr val="f2f4f8"/>
          </a:solidFill>
          <a:ln w="12600">
            <a:solidFill>
              <a:srgbClr val="6b7280"/>
            </a:solidFill>
            <a:round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pic>
        <p:nvPicPr>
          <p:cNvPr id="762" name="Picture 21" descr="khr20.png"/>
          <p:cNvPicPr/>
          <p:nvPr/>
        </p:nvPicPr>
        <p:blipFill>
          <a:blip r:embed="rId6"/>
          <a:stretch/>
        </p:blipFill>
        <p:spPr>
          <a:xfrm>
            <a:off x="10362960" y="1591200"/>
            <a:ext cx="1082160" cy="2212560"/>
          </a:xfrm>
          <a:prstGeom prst="rect">
            <a:avLst/>
          </a:prstGeom>
          <a:ln>
            <a:noFill/>
          </a:ln>
        </p:spPr>
      </p:pic>
      <p:sp>
        <p:nvSpPr>
          <p:cNvPr id="763" name="CustomShape 16"/>
          <p:cNvSpPr/>
          <p:nvPr/>
        </p:nvSpPr>
        <p:spPr>
          <a:xfrm>
            <a:off x="10058400" y="3886200"/>
            <a:ext cx="1691280" cy="4251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ctr">
              <a:lnSpc>
                <a:spcPct val="110000"/>
              </a:lnSpc>
            </a:pPr>
            <a:r>
              <a:rPr b="0" lang="en-US" sz="1000" spc="-1" strike="noStrike">
                <a:solidFill>
                  <a:srgbClr val="222222"/>
                </a:solidFill>
                <a:latin typeface="Yu Gothic"/>
              </a:rPr>
              <a:t>khr20(</a:t>
            </a:r>
            <a:r>
              <a:rPr b="0" lang="zh-CN" sz="1000" spc="-1" strike="noStrike">
                <a:solidFill>
                  <a:srgbClr val="222222"/>
                </a:solidFill>
                <a:latin typeface="Yu Gothic"/>
              </a:rPr>
              <a:t>近藤科学</a:t>
            </a:r>
            <a:r>
              <a:rPr b="0" lang="en-US" sz="1000" spc="-1" strike="noStrike">
                <a:solidFill>
                  <a:srgbClr val="222222"/>
                </a:solidFill>
                <a:latin typeface="Yu Gothic"/>
              </a:rPr>
              <a:t>KHR</a:t>
            </a:r>
            <a:r>
              <a:rPr b="0" lang="zh-CN" sz="1000" spc="-1" strike="noStrike">
                <a:solidFill>
                  <a:srgbClr val="222222"/>
                </a:solidFill>
                <a:latin typeface="Yu Gothic"/>
              </a:rPr>
              <a:t>系</a:t>
            </a:r>
            <a:r>
              <a:rPr b="0" lang="en-US" sz="1000" spc="-1" strike="noStrike">
                <a:solidFill>
                  <a:srgbClr val="222222"/>
                </a:solidFill>
                <a:latin typeface="Yu Gothic"/>
              </a:rPr>
              <a:t>)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10000"/>
              </a:lnSpc>
            </a:pPr>
            <a:r>
              <a:rPr b="0" lang="zh-CN" sz="1000" spc="-1" strike="noStrike">
                <a:solidFill>
                  <a:srgbClr val="222222"/>
                </a:solidFill>
                <a:latin typeface="Yu Gothic"/>
              </a:rPr>
              <a:t>小型ヒューマノイド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764" name="CustomShape 17"/>
          <p:cNvSpPr/>
          <p:nvPr/>
        </p:nvSpPr>
        <p:spPr>
          <a:xfrm>
            <a:off x="9921240" y="2514600"/>
            <a:ext cx="136800" cy="3646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ctr">
              <a:lnSpc>
                <a:spcPct val="100000"/>
              </a:lnSpc>
            </a:pPr>
            <a:r>
              <a:rPr b="1" lang="en-US" sz="1800" spc="-1" strike="noStrike">
                <a:solidFill>
                  <a:srgbClr val="6b7280"/>
                </a:solidFill>
                <a:latin typeface="Yu Gothic"/>
              </a:rPr>
              <a:t>=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765" name="CustomShape 18"/>
          <p:cNvSpPr/>
          <p:nvPr/>
        </p:nvSpPr>
        <p:spPr>
          <a:xfrm>
            <a:off x="548640" y="5532120"/>
            <a:ext cx="11063880" cy="8625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30000"/>
              </a:lnSpc>
            </a:pPr>
            <a:r>
              <a:rPr b="0" lang="zh-CN" sz="1300" spc="-1" strike="noStrike">
                <a:solidFill>
                  <a:srgbClr val="222222"/>
                </a:solidFill>
                <a:latin typeface="Yu Gothic"/>
              </a:rPr>
              <a:t>実在の産業用・サービス用ロボットと同じ大まかな体型</a:t>
            </a:r>
            <a:r>
              <a:rPr b="0" lang="en-US" sz="1300" spc="-1" strike="noStrike">
                <a:solidFill>
                  <a:srgbClr val="222222"/>
                </a:solidFill>
                <a:latin typeface="Yu Gothic"/>
              </a:rPr>
              <a:t>(4</a:t>
            </a:r>
            <a:r>
              <a:rPr b="0" lang="zh-CN" sz="1300" spc="-1" strike="noStrike">
                <a:solidFill>
                  <a:srgbClr val="222222"/>
                </a:solidFill>
                <a:latin typeface="Yu Gothic"/>
              </a:rPr>
              <a:t>脚</a:t>
            </a:r>
            <a:r>
              <a:rPr b="0" lang="en-US" sz="1300" spc="-1" strike="noStrike">
                <a:solidFill>
                  <a:srgbClr val="222222"/>
                </a:solidFill>
                <a:latin typeface="Yu Gothic"/>
              </a:rPr>
              <a:t>/</a:t>
            </a:r>
            <a:r>
              <a:rPr b="0" lang="zh-CN" sz="1300" spc="-1" strike="noStrike">
                <a:solidFill>
                  <a:srgbClr val="222222"/>
                </a:solidFill>
                <a:latin typeface="Yu Gothic"/>
              </a:rPr>
              <a:t>移動台車</a:t>
            </a:r>
            <a:r>
              <a:rPr b="0" lang="en-US" sz="1300" spc="-1" strike="noStrike">
                <a:solidFill>
                  <a:srgbClr val="222222"/>
                </a:solidFill>
                <a:latin typeface="Yu Gothic"/>
              </a:rPr>
              <a:t>+</a:t>
            </a:r>
            <a:r>
              <a:rPr b="0" lang="zh-CN" sz="1300" spc="-1" strike="noStrike">
                <a:solidFill>
                  <a:srgbClr val="222222"/>
                </a:solidFill>
                <a:latin typeface="Yu Gothic"/>
              </a:rPr>
              <a:t>腕</a:t>
            </a:r>
            <a:r>
              <a:rPr b="0" lang="en-US" sz="1300" spc="-1" strike="noStrike">
                <a:solidFill>
                  <a:srgbClr val="222222"/>
                </a:solidFill>
                <a:latin typeface="Yu Gothic"/>
              </a:rPr>
              <a:t>/2</a:t>
            </a:r>
            <a:r>
              <a:rPr b="0" lang="zh-CN" sz="1300" spc="-1" strike="noStrike">
                <a:solidFill>
                  <a:srgbClr val="222222"/>
                </a:solidFill>
                <a:latin typeface="Yu Gothic"/>
              </a:rPr>
              <a:t>脚ヒューマノイド</a:t>
            </a:r>
            <a:r>
              <a:rPr b="0" lang="en-US" sz="1300" spc="-1" strike="noStrike">
                <a:solidFill>
                  <a:srgbClr val="222222"/>
                </a:solidFill>
                <a:latin typeface="Yu Gothic"/>
              </a:rPr>
              <a:t>)</a:t>
            </a:r>
            <a:r>
              <a:rPr b="0" lang="zh-CN" sz="1300" spc="-1" strike="noStrike">
                <a:solidFill>
                  <a:srgbClr val="222222"/>
                </a:solidFill>
                <a:latin typeface="Yu Gothic"/>
              </a:rPr>
              <a:t>は、</a:t>
            </a:r>
            <a:endParaRPr b="0" lang="en-US" sz="1300" spc="-1" strike="noStrike">
              <a:latin typeface="Arial"/>
            </a:endParaRPr>
          </a:p>
          <a:p>
            <a:pPr>
              <a:lnSpc>
                <a:spcPct val="130000"/>
              </a:lnSpc>
            </a:pPr>
            <a:r>
              <a:rPr b="0" lang="en-US" sz="1300" spc="-1" strike="noStrike">
                <a:solidFill>
                  <a:srgbClr val="222222"/>
                </a:solidFill>
                <a:latin typeface="Yu Gothic"/>
              </a:rPr>
              <a:t>kxr</a:t>
            </a:r>
            <a:r>
              <a:rPr b="0" lang="zh-CN" sz="1300" spc="-1" strike="noStrike">
                <a:solidFill>
                  <a:srgbClr val="222222"/>
                </a:solidFill>
                <a:latin typeface="Yu Gothic"/>
              </a:rPr>
              <a:t>ファミリー</a:t>
            </a:r>
            <a:r>
              <a:rPr b="0" lang="en-US" sz="1300" spc="-1" strike="noStrike">
                <a:solidFill>
                  <a:srgbClr val="222222"/>
                </a:solidFill>
                <a:latin typeface="Yu Gothic"/>
              </a:rPr>
              <a:t>(rcb4robotconfig.l</a:t>
            </a:r>
            <a:r>
              <a:rPr b="0" lang="zh-CN" sz="1300" spc="-1" strike="noStrike">
                <a:solidFill>
                  <a:srgbClr val="222222"/>
                </a:solidFill>
                <a:latin typeface="Yu Gothic"/>
              </a:rPr>
              <a:t>の組み合わせ</a:t>
            </a:r>
            <a:r>
              <a:rPr b="0" lang="en-US" sz="1300" spc="-1" strike="noStrike">
                <a:solidFill>
                  <a:srgbClr val="222222"/>
                </a:solidFill>
                <a:latin typeface="Yu Gothic"/>
              </a:rPr>
              <a:t>)</a:t>
            </a:r>
            <a:r>
              <a:rPr b="0" lang="zh-CN" sz="1300" spc="-1" strike="noStrike">
                <a:solidFill>
                  <a:srgbClr val="222222"/>
                </a:solidFill>
                <a:latin typeface="Yu Gothic"/>
              </a:rPr>
              <a:t>の中に既にホビースケールで存在する </a:t>
            </a:r>
            <a:r>
              <a:rPr b="0" lang="en-US" sz="1300" spc="-1" strike="noStrike">
                <a:solidFill>
                  <a:srgbClr val="222222"/>
                </a:solidFill>
                <a:latin typeface="Yu Gothic"/>
              </a:rPr>
              <a:t>-- </a:t>
            </a:r>
            <a:endParaRPr b="0" lang="en-US" sz="1300" spc="-1" strike="noStrike">
              <a:latin typeface="Arial"/>
            </a:endParaRPr>
          </a:p>
          <a:p>
            <a:pPr>
              <a:lnSpc>
                <a:spcPct val="130000"/>
              </a:lnSpc>
            </a:pPr>
            <a:r>
              <a:rPr b="0" lang="zh-CN" sz="1300" spc="-1" strike="noStrike">
                <a:solidFill>
                  <a:srgbClr val="222222"/>
                </a:solidFill>
                <a:latin typeface="Yu Gothic"/>
              </a:rPr>
              <a:t>「脳は共通、身体は交換可能」という設計思想が、スケールを超えて同じ形の身体にも適用できることを示す一例。</a:t>
            </a:r>
            <a:endParaRPr b="0" lang="en-US" sz="13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6" name="CustomShape 1"/>
          <p:cNvSpPr/>
          <p:nvPr/>
        </p:nvSpPr>
        <p:spPr>
          <a:xfrm>
            <a:off x="548640" y="320040"/>
            <a:ext cx="8229240" cy="3337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rgbClr val="6b3fa0"/>
                </a:solidFill>
                <a:latin typeface="Yu Gothic"/>
              </a:rPr>
              <a:t>FUTURE DIRECTION (</a:t>
            </a:r>
            <a:r>
              <a:rPr b="1" lang="zh-CN" sz="1600" spc="-1" strike="noStrike">
                <a:solidFill>
                  <a:srgbClr val="6b3fa0"/>
                </a:solidFill>
                <a:latin typeface="Yu Gothic"/>
              </a:rPr>
              <a:t>構想</a:t>
            </a:r>
            <a:r>
              <a:rPr b="1" lang="en-US" sz="1600" spc="-1" strike="noStrike">
                <a:solidFill>
                  <a:srgbClr val="6b3fa0"/>
                </a:solidFill>
                <a:latin typeface="Yu Gothic"/>
              </a:rPr>
              <a:t>)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767" name="CustomShape 2"/>
          <p:cNvSpPr/>
          <p:nvPr/>
        </p:nvSpPr>
        <p:spPr>
          <a:xfrm>
            <a:off x="548640" y="685800"/>
            <a:ext cx="10515240" cy="5472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zh-CN" sz="3000" spc="-1" strike="noStrike">
                <a:solidFill>
                  <a:srgbClr val="1f2a44"/>
                </a:solidFill>
                <a:latin typeface="Yu Gothic"/>
              </a:rPr>
              <a:t>小型から等身大になると何が変わるか</a:t>
            </a:r>
            <a:endParaRPr b="0" lang="en-US" sz="3000" spc="-1" strike="noStrike">
              <a:latin typeface="Arial"/>
            </a:endParaRPr>
          </a:p>
        </p:txBody>
      </p:sp>
      <p:sp>
        <p:nvSpPr>
          <p:cNvPr id="768" name="CustomShape 3"/>
          <p:cNvSpPr/>
          <p:nvPr/>
        </p:nvSpPr>
        <p:spPr>
          <a:xfrm>
            <a:off x="548640" y="1463040"/>
            <a:ext cx="2742840" cy="502560"/>
          </a:xfrm>
          <a:prstGeom prst="roundRect">
            <a:avLst>
              <a:gd name="adj" fmla="val 16667"/>
            </a:avLst>
          </a:prstGeom>
          <a:solidFill>
            <a:srgbClr val="1f2a44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zh-CN" sz="1300" spc="-1" strike="noStrike">
                <a:solidFill>
                  <a:srgbClr val="ffffff"/>
                </a:solidFill>
                <a:latin typeface="Yu Gothic"/>
              </a:rPr>
              <a:t>項目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769" name="CustomShape 4"/>
          <p:cNvSpPr/>
          <p:nvPr/>
        </p:nvSpPr>
        <p:spPr>
          <a:xfrm>
            <a:off x="3291840" y="1463040"/>
            <a:ext cx="4114440" cy="502560"/>
          </a:xfrm>
          <a:prstGeom prst="roundRect">
            <a:avLst>
              <a:gd name="adj" fmla="val 16667"/>
            </a:avLst>
          </a:prstGeom>
          <a:solidFill>
            <a:srgbClr val="1f2a44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zh-CN" sz="1300" spc="-1" strike="noStrike">
                <a:solidFill>
                  <a:srgbClr val="ffffff"/>
                </a:solidFill>
                <a:latin typeface="Yu Gothic"/>
              </a:rPr>
              <a:t>小型</a:t>
            </a:r>
            <a:r>
              <a:rPr b="1" lang="en-US" sz="1300" spc="-1" strike="noStrike">
                <a:solidFill>
                  <a:srgbClr val="ffffff"/>
                </a:solidFill>
                <a:latin typeface="Yu Gothic"/>
              </a:rPr>
              <a:t>(kxr</a:t>
            </a:r>
            <a:r>
              <a:rPr b="1" lang="zh-CN" sz="1300" spc="-1" strike="noStrike">
                <a:solidFill>
                  <a:srgbClr val="ffffff"/>
                </a:solidFill>
                <a:latin typeface="Yu Gothic"/>
              </a:rPr>
              <a:t>等</a:t>
            </a:r>
            <a:r>
              <a:rPr b="1" lang="en-US" sz="1300" spc="-1" strike="noStrike">
                <a:solidFill>
                  <a:srgbClr val="ffffff"/>
                </a:solidFill>
                <a:latin typeface="Yu Gothic"/>
              </a:rPr>
              <a:t>)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770" name="CustomShape 5"/>
          <p:cNvSpPr/>
          <p:nvPr/>
        </p:nvSpPr>
        <p:spPr>
          <a:xfrm>
            <a:off x="7406640" y="1463040"/>
            <a:ext cx="3840120" cy="502560"/>
          </a:xfrm>
          <a:prstGeom prst="roundRect">
            <a:avLst>
              <a:gd name="adj" fmla="val 16667"/>
            </a:avLst>
          </a:prstGeom>
          <a:solidFill>
            <a:srgbClr val="1f2a44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zh-CN" sz="1300" spc="-1" strike="noStrike">
                <a:solidFill>
                  <a:srgbClr val="ffffff"/>
                </a:solidFill>
                <a:latin typeface="Yu Gothic"/>
              </a:rPr>
              <a:t>等身大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771" name="CustomShape 6"/>
          <p:cNvSpPr/>
          <p:nvPr/>
        </p:nvSpPr>
        <p:spPr>
          <a:xfrm>
            <a:off x="548640" y="2057400"/>
            <a:ext cx="2742840" cy="658080"/>
          </a:xfrm>
          <a:prstGeom prst="roundRect">
            <a:avLst>
              <a:gd name="adj" fmla="val 16667"/>
            </a:avLst>
          </a:prstGeom>
          <a:solidFill>
            <a:srgbClr val="6b7280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zh-CN" sz="1200" spc="-1" strike="noStrike">
                <a:solidFill>
                  <a:srgbClr val="ffffff"/>
                </a:solidFill>
                <a:latin typeface="Yu Gothic"/>
              </a:rPr>
              <a:t>アクチュエータ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772" name="CustomShape 7"/>
          <p:cNvSpPr/>
          <p:nvPr/>
        </p:nvSpPr>
        <p:spPr>
          <a:xfrm>
            <a:off x="3364920" y="2094120"/>
            <a:ext cx="3968280" cy="2829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10000"/>
              </a:lnSpc>
            </a:pPr>
            <a:r>
              <a:rPr b="0" lang="zh-CN" sz="1150" spc="-1" strike="noStrike">
                <a:solidFill>
                  <a:srgbClr val="222222"/>
                </a:solidFill>
                <a:latin typeface="Yu Gothic"/>
              </a:rPr>
              <a:t>ホビーサーボ</a:t>
            </a:r>
            <a:r>
              <a:rPr b="0" lang="en-US" sz="1150" spc="-1" strike="noStrike">
                <a:solidFill>
                  <a:srgbClr val="222222"/>
                </a:solidFill>
                <a:latin typeface="Yu Gothic"/>
              </a:rPr>
              <a:t>(</a:t>
            </a:r>
            <a:r>
              <a:rPr b="0" lang="zh-CN" sz="1150" spc="-1" strike="noStrike">
                <a:solidFill>
                  <a:srgbClr val="222222"/>
                </a:solidFill>
                <a:latin typeface="Yu Gothic"/>
              </a:rPr>
              <a:t>数</a:t>
            </a:r>
            <a:r>
              <a:rPr b="0" lang="en-US" sz="1150" spc="-1" strike="noStrike">
                <a:solidFill>
                  <a:srgbClr val="222222"/>
                </a:solidFill>
                <a:latin typeface="Yu Gothic"/>
              </a:rPr>
              <a:t>kgf</a:t>
            </a:r>
            <a:r>
              <a:rPr b="0" lang="zh-CN" sz="1150" spc="-1" strike="noStrike">
                <a:solidFill>
                  <a:srgbClr val="222222"/>
                </a:solidFill>
                <a:latin typeface="Yu Gothic"/>
              </a:rPr>
              <a:t>・</a:t>
            </a:r>
            <a:r>
              <a:rPr b="0" lang="en-US" sz="1150" spc="-1" strike="noStrike">
                <a:solidFill>
                  <a:srgbClr val="222222"/>
                </a:solidFill>
                <a:latin typeface="Yu Gothic"/>
              </a:rPr>
              <a:t>cm)</a:t>
            </a:r>
            <a:endParaRPr b="0" lang="en-US" sz="1150" spc="-1" strike="noStrike">
              <a:latin typeface="Arial"/>
            </a:endParaRPr>
          </a:p>
        </p:txBody>
      </p:sp>
      <p:sp>
        <p:nvSpPr>
          <p:cNvPr id="773" name="CustomShape 8"/>
          <p:cNvSpPr/>
          <p:nvPr/>
        </p:nvSpPr>
        <p:spPr>
          <a:xfrm>
            <a:off x="7479720" y="2094120"/>
            <a:ext cx="3693960" cy="4755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10000"/>
              </a:lnSpc>
            </a:pPr>
            <a:r>
              <a:rPr b="0" lang="zh-CN" sz="1150" spc="-1" strike="noStrike">
                <a:solidFill>
                  <a:srgbClr val="222222"/>
                </a:solidFill>
                <a:latin typeface="Yu Gothic"/>
              </a:rPr>
              <a:t>ハーモニックドライブ等</a:t>
            </a:r>
            <a:endParaRPr b="0" lang="en-US" sz="1150" spc="-1" strike="noStrike">
              <a:latin typeface="Arial"/>
            </a:endParaRPr>
          </a:p>
          <a:p>
            <a:pPr>
              <a:lnSpc>
                <a:spcPct val="110000"/>
              </a:lnSpc>
            </a:pPr>
            <a:r>
              <a:rPr b="0" lang="zh-CN" sz="1150" spc="-1" strike="noStrike">
                <a:solidFill>
                  <a:srgbClr val="222222"/>
                </a:solidFill>
                <a:latin typeface="Yu Gothic"/>
              </a:rPr>
              <a:t>高出力モータ</a:t>
            </a:r>
            <a:r>
              <a:rPr b="0" lang="en-US" sz="1150" spc="-1" strike="noStrike">
                <a:solidFill>
                  <a:srgbClr val="222222"/>
                </a:solidFill>
                <a:latin typeface="Yu Gothic"/>
              </a:rPr>
              <a:t>(</a:t>
            </a:r>
            <a:r>
              <a:rPr b="0" lang="zh-CN" sz="1150" spc="-1" strike="noStrike">
                <a:solidFill>
                  <a:srgbClr val="222222"/>
                </a:solidFill>
                <a:latin typeface="Yu Gothic"/>
              </a:rPr>
              <a:t>数十〜百</a:t>
            </a:r>
            <a:r>
              <a:rPr b="0" lang="en-US" sz="1150" spc="-1" strike="noStrike">
                <a:solidFill>
                  <a:srgbClr val="222222"/>
                </a:solidFill>
                <a:latin typeface="Yu Gothic"/>
              </a:rPr>
              <a:t>Nm)</a:t>
            </a:r>
            <a:endParaRPr b="0" lang="en-US" sz="1150" spc="-1" strike="noStrike">
              <a:latin typeface="Arial"/>
            </a:endParaRPr>
          </a:p>
        </p:txBody>
      </p:sp>
      <p:sp>
        <p:nvSpPr>
          <p:cNvPr id="774" name="CustomShape 9"/>
          <p:cNvSpPr/>
          <p:nvPr/>
        </p:nvSpPr>
        <p:spPr>
          <a:xfrm>
            <a:off x="548640" y="2788920"/>
            <a:ext cx="2742840" cy="658080"/>
          </a:xfrm>
          <a:prstGeom prst="roundRect">
            <a:avLst>
              <a:gd name="adj" fmla="val 16667"/>
            </a:avLst>
          </a:prstGeom>
          <a:solidFill>
            <a:srgbClr val="6b7280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zh-CN" sz="1200" spc="-1" strike="noStrike">
                <a:solidFill>
                  <a:srgbClr val="ffffff"/>
                </a:solidFill>
                <a:latin typeface="Yu Gothic"/>
              </a:rPr>
              <a:t>オンボード計算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775" name="CustomShape 10"/>
          <p:cNvSpPr/>
          <p:nvPr/>
        </p:nvSpPr>
        <p:spPr>
          <a:xfrm>
            <a:off x="3364920" y="2825640"/>
            <a:ext cx="3968280" cy="2829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10000"/>
              </a:lnSpc>
            </a:pPr>
            <a:r>
              <a:rPr b="0" lang="en-US" sz="1150" spc="-1" strike="noStrike">
                <a:solidFill>
                  <a:srgbClr val="222222"/>
                </a:solidFill>
                <a:latin typeface="Yu Gothic"/>
              </a:rPr>
              <a:t>ESP32(GPU</a:t>
            </a:r>
            <a:r>
              <a:rPr b="0" lang="zh-CN" sz="1150" spc="-1" strike="noStrike">
                <a:solidFill>
                  <a:srgbClr val="222222"/>
                </a:solidFill>
                <a:latin typeface="Yu Gothic"/>
              </a:rPr>
              <a:t>非搭載</a:t>
            </a:r>
            <a:r>
              <a:rPr b="0" lang="en-US" sz="1150" spc="-1" strike="noStrike">
                <a:solidFill>
                  <a:srgbClr val="222222"/>
                </a:solidFill>
                <a:latin typeface="Yu Gothic"/>
              </a:rPr>
              <a:t>)</a:t>
            </a:r>
            <a:endParaRPr b="0" lang="en-US" sz="1150" spc="-1" strike="noStrike">
              <a:latin typeface="Arial"/>
            </a:endParaRPr>
          </a:p>
        </p:txBody>
      </p:sp>
      <p:sp>
        <p:nvSpPr>
          <p:cNvPr id="776" name="CustomShape 11"/>
          <p:cNvSpPr/>
          <p:nvPr/>
        </p:nvSpPr>
        <p:spPr>
          <a:xfrm>
            <a:off x="7479720" y="2825640"/>
            <a:ext cx="3693960" cy="4755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10000"/>
              </a:lnSpc>
            </a:pPr>
            <a:r>
              <a:rPr b="0" lang="en-US" sz="1150" spc="-1" strike="noStrike">
                <a:solidFill>
                  <a:srgbClr val="222222"/>
                </a:solidFill>
                <a:latin typeface="Yu Gothic"/>
              </a:rPr>
              <a:t>Jetson/x86 + GPU</a:t>
            </a:r>
            <a:endParaRPr b="0" lang="en-US" sz="1150" spc="-1" strike="noStrike">
              <a:latin typeface="Arial"/>
            </a:endParaRPr>
          </a:p>
          <a:p>
            <a:pPr>
              <a:lnSpc>
                <a:spcPct val="110000"/>
              </a:lnSpc>
            </a:pPr>
            <a:r>
              <a:rPr b="0" lang="en-US" sz="1150" spc="-1" strike="noStrike">
                <a:solidFill>
                  <a:srgbClr val="222222"/>
                </a:solidFill>
                <a:latin typeface="Yu Gothic"/>
              </a:rPr>
              <a:t>(</a:t>
            </a:r>
            <a:r>
              <a:rPr b="0" lang="zh-CN" sz="1150" spc="-1" strike="noStrike">
                <a:solidFill>
                  <a:srgbClr val="222222"/>
                </a:solidFill>
                <a:latin typeface="Yu Gothic"/>
              </a:rPr>
              <a:t>オンボードで</a:t>
            </a:r>
            <a:r>
              <a:rPr b="0" lang="en-US" sz="1150" spc="-1" strike="noStrike">
                <a:solidFill>
                  <a:srgbClr val="222222"/>
                </a:solidFill>
                <a:latin typeface="Yu Gothic"/>
              </a:rPr>
              <a:t>NN</a:t>
            </a:r>
            <a:r>
              <a:rPr b="0" lang="zh-CN" sz="1150" spc="-1" strike="noStrike">
                <a:solidFill>
                  <a:srgbClr val="222222"/>
                </a:solidFill>
                <a:latin typeface="Yu Gothic"/>
              </a:rPr>
              <a:t>推論可能</a:t>
            </a:r>
            <a:r>
              <a:rPr b="0" lang="en-US" sz="1150" spc="-1" strike="noStrike">
                <a:solidFill>
                  <a:srgbClr val="222222"/>
                </a:solidFill>
                <a:latin typeface="Yu Gothic"/>
              </a:rPr>
              <a:t>)</a:t>
            </a:r>
            <a:endParaRPr b="0" lang="en-US" sz="1150" spc="-1" strike="noStrike">
              <a:latin typeface="Arial"/>
            </a:endParaRPr>
          </a:p>
        </p:txBody>
      </p:sp>
      <p:sp>
        <p:nvSpPr>
          <p:cNvPr id="777" name="CustomShape 12"/>
          <p:cNvSpPr/>
          <p:nvPr/>
        </p:nvSpPr>
        <p:spPr>
          <a:xfrm>
            <a:off x="548640" y="3520440"/>
            <a:ext cx="2742840" cy="658080"/>
          </a:xfrm>
          <a:prstGeom prst="roundRect">
            <a:avLst>
              <a:gd name="adj" fmla="val 16667"/>
            </a:avLst>
          </a:prstGeom>
          <a:solidFill>
            <a:srgbClr val="6b7280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zh-CN" sz="1200" spc="-1" strike="noStrike">
                <a:solidFill>
                  <a:srgbClr val="ffffff"/>
                </a:solidFill>
                <a:latin typeface="Yu Gothic"/>
              </a:rPr>
              <a:t>電源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778" name="CustomShape 13"/>
          <p:cNvSpPr/>
          <p:nvPr/>
        </p:nvSpPr>
        <p:spPr>
          <a:xfrm>
            <a:off x="3364920" y="3557160"/>
            <a:ext cx="3968280" cy="2829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10000"/>
              </a:lnSpc>
            </a:pPr>
            <a:r>
              <a:rPr b="0" lang="zh-CN" sz="1150" spc="-1" strike="noStrike">
                <a:solidFill>
                  <a:srgbClr val="222222"/>
                </a:solidFill>
                <a:latin typeface="Yu Gothic"/>
              </a:rPr>
              <a:t>単三電池・小型</a:t>
            </a:r>
            <a:r>
              <a:rPr b="0" lang="en-US" sz="1150" spc="-1" strike="noStrike">
                <a:solidFill>
                  <a:srgbClr val="222222"/>
                </a:solidFill>
                <a:latin typeface="Yu Gothic"/>
              </a:rPr>
              <a:t>LiPo</a:t>
            </a:r>
            <a:endParaRPr b="0" lang="en-US" sz="1150" spc="-1" strike="noStrike">
              <a:latin typeface="Arial"/>
            </a:endParaRPr>
          </a:p>
        </p:txBody>
      </p:sp>
      <p:sp>
        <p:nvSpPr>
          <p:cNvPr id="779" name="CustomShape 14"/>
          <p:cNvSpPr/>
          <p:nvPr/>
        </p:nvSpPr>
        <p:spPr>
          <a:xfrm>
            <a:off x="7479720" y="3557160"/>
            <a:ext cx="3693960" cy="4755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10000"/>
              </a:lnSpc>
            </a:pPr>
            <a:r>
              <a:rPr b="0" lang="zh-CN" sz="1150" spc="-1" strike="noStrike">
                <a:solidFill>
                  <a:srgbClr val="222222"/>
                </a:solidFill>
                <a:latin typeface="Yu Gothic"/>
              </a:rPr>
              <a:t>大容量バッテリーパック</a:t>
            </a:r>
            <a:endParaRPr b="0" lang="en-US" sz="1150" spc="-1" strike="noStrike">
              <a:latin typeface="Arial"/>
            </a:endParaRPr>
          </a:p>
          <a:p>
            <a:pPr>
              <a:lnSpc>
                <a:spcPct val="110000"/>
              </a:lnSpc>
            </a:pPr>
            <a:r>
              <a:rPr b="0" lang="en-US" sz="1150" spc="-1" strike="noStrike">
                <a:solidFill>
                  <a:srgbClr val="222222"/>
                </a:solidFill>
                <a:latin typeface="Yu Gothic"/>
              </a:rPr>
              <a:t>+ </a:t>
            </a:r>
            <a:r>
              <a:rPr b="0" lang="zh-CN" sz="1150" spc="-1" strike="noStrike">
                <a:solidFill>
                  <a:srgbClr val="222222"/>
                </a:solidFill>
                <a:latin typeface="Yu Gothic"/>
              </a:rPr>
              <a:t>電源管理系</a:t>
            </a:r>
            <a:endParaRPr b="0" lang="en-US" sz="1150" spc="-1" strike="noStrike">
              <a:latin typeface="Arial"/>
            </a:endParaRPr>
          </a:p>
        </p:txBody>
      </p:sp>
      <p:sp>
        <p:nvSpPr>
          <p:cNvPr id="780" name="CustomShape 15"/>
          <p:cNvSpPr/>
          <p:nvPr/>
        </p:nvSpPr>
        <p:spPr>
          <a:xfrm>
            <a:off x="548640" y="4251960"/>
            <a:ext cx="2742840" cy="658080"/>
          </a:xfrm>
          <a:prstGeom prst="roundRect">
            <a:avLst>
              <a:gd name="adj" fmla="val 16667"/>
            </a:avLst>
          </a:prstGeom>
          <a:solidFill>
            <a:srgbClr val="6b7280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zh-CN" sz="1200" spc="-1" strike="noStrike">
                <a:solidFill>
                  <a:srgbClr val="ffffff"/>
                </a:solidFill>
                <a:latin typeface="Yu Gothic"/>
              </a:rPr>
              <a:t>安全性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781" name="CustomShape 16"/>
          <p:cNvSpPr/>
          <p:nvPr/>
        </p:nvSpPr>
        <p:spPr>
          <a:xfrm>
            <a:off x="3364920" y="4288680"/>
            <a:ext cx="3968280" cy="2829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10000"/>
              </a:lnSpc>
            </a:pPr>
            <a:r>
              <a:rPr b="0" lang="zh-CN" sz="1150" spc="-1" strike="noStrike">
                <a:solidFill>
                  <a:srgbClr val="222222"/>
                </a:solidFill>
                <a:latin typeface="Yu Gothic"/>
              </a:rPr>
              <a:t>軽量で転倒しても比較的安全</a:t>
            </a:r>
            <a:endParaRPr b="0" lang="en-US" sz="1150" spc="-1" strike="noStrike">
              <a:latin typeface="Arial"/>
            </a:endParaRPr>
          </a:p>
        </p:txBody>
      </p:sp>
      <p:sp>
        <p:nvSpPr>
          <p:cNvPr id="782" name="CustomShape 17"/>
          <p:cNvSpPr/>
          <p:nvPr/>
        </p:nvSpPr>
        <p:spPr>
          <a:xfrm>
            <a:off x="7479720" y="4288680"/>
            <a:ext cx="3693960" cy="4755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10000"/>
              </a:lnSpc>
            </a:pPr>
            <a:r>
              <a:rPr b="0" lang="zh-CN" sz="1150" spc="-1" strike="noStrike">
                <a:solidFill>
                  <a:srgbClr val="222222"/>
                </a:solidFill>
                <a:latin typeface="Yu Gothic"/>
              </a:rPr>
              <a:t>質量・出力が大きく</a:t>
            </a:r>
            <a:endParaRPr b="0" lang="en-US" sz="1150" spc="-1" strike="noStrike">
              <a:latin typeface="Arial"/>
            </a:endParaRPr>
          </a:p>
          <a:p>
            <a:pPr>
              <a:lnSpc>
                <a:spcPct val="110000"/>
              </a:lnSpc>
            </a:pPr>
            <a:r>
              <a:rPr b="0" lang="zh-CN" sz="1150" spc="-1" strike="noStrike">
                <a:solidFill>
                  <a:srgbClr val="222222"/>
                </a:solidFill>
                <a:latin typeface="Yu Gothic"/>
              </a:rPr>
              <a:t>実質的な人身安全対策が必須</a:t>
            </a:r>
            <a:endParaRPr b="0" lang="en-US" sz="1150" spc="-1" strike="noStrike">
              <a:latin typeface="Arial"/>
            </a:endParaRPr>
          </a:p>
        </p:txBody>
      </p:sp>
      <p:sp>
        <p:nvSpPr>
          <p:cNvPr id="783" name="CustomShape 18"/>
          <p:cNvSpPr/>
          <p:nvPr/>
        </p:nvSpPr>
        <p:spPr>
          <a:xfrm>
            <a:off x="548640" y="4983480"/>
            <a:ext cx="2742840" cy="658080"/>
          </a:xfrm>
          <a:prstGeom prst="roundRect">
            <a:avLst>
              <a:gd name="adj" fmla="val 16667"/>
            </a:avLst>
          </a:prstGeom>
          <a:solidFill>
            <a:srgbClr val="6b7280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Yu Gothic"/>
              </a:rPr>
              <a:t>Sim2Real</a:t>
            </a:r>
            <a:r>
              <a:rPr b="1" lang="zh-CN" sz="1200" spc="-1" strike="noStrike">
                <a:solidFill>
                  <a:srgbClr val="ffffff"/>
                </a:solidFill>
                <a:latin typeface="Yu Gothic"/>
              </a:rPr>
              <a:t>ギャップ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784" name="CustomShape 19"/>
          <p:cNvSpPr/>
          <p:nvPr/>
        </p:nvSpPr>
        <p:spPr>
          <a:xfrm>
            <a:off x="3364920" y="5020200"/>
            <a:ext cx="3968280" cy="4755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10000"/>
              </a:lnSpc>
            </a:pPr>
            <a:r>
              <a:rPr b="0" lang="zh-CN" sz="1150" spc="-1" strike="noStrike">
                <a:solidFill>
                  <a:srgbClr val="222222"/>
                </a:solidFill>
                <a:latin typeface="Yu Gothic"/>
              </a:rPr>
              <a:t>比較的小さい</a:t>
            </a:r>
            <a:endParaRPr b="0" lang="en-US" sz="1150" spc="-1" strike="noStrike">
              <a:latin typeface="Arial"/>
            </a:endParaRPr>
          </a:p>
          <a:p>
            <a:pPr>
              <a:lnSpc>
                <a:spcPct val="110000"/>
              </a:lnSpc>
            </a:pPr>
            <a:r>
              <a:rPr b="0" lang="en-US" sz="1150" spc="-1" strike="noStrike">
                <a:solidFill>
                  <a:srgbClr val="222222"/>
                </a:solidFill>
                <a:latin typeface="Yu Gothic"/>
              </a:rPr>
              <a:t>(</a:t>
            </a:r>
            <a:r>
              <a:rPr b="0" lang="zh-CN" sz="1150" spc="-1" strike="noStrike">
                <a:solidFill>
                  <a:srgbClr val="222222"/>
                </a:solidFill>
                <a:latin typeface="Yu Gothic"/>
              </a:rPr>
              <a:t>軽量・低慣性</a:t>
            </a:r>
            <a:r>
              <a:rPr b="0" lang="en-US" sz="1150" spc="-1" strike="noStrike">
                <a:solidFill>
                  <a:srgbClr val="222222"/>
                </a:solidFill>
                <a:latin typeface="Yu Gothic"/>
              </a:rPr>
              <a:t>)</a:t>
            </a:r>
            <a:endParaRPr b="0" lang="en-US" sz="1150" spc="-1" strike="noStrike">
              <a:latin typeface="Arial"/>
            </a:endParaRPr>
          </a:p>
        </p:txBody>
      </p:sp>
      <p:sp>
        <p:nvSpPr>
          <p:cNvPr id="785" name="CustomShape 20"/>
          <p:cNvSpPr/>
          <p:nvPr/>
        </p:nvSpPr>
        <p:spPr>
          <a:xfrm>
            <a:off x="7479720" y="5020200"/>
            <a:ext cx="3693960" cy="4755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10000"/>
              </a:lnSpc>
            </a:pPr>
            <a:r>
              <a:rPr b="0" lang="zh-CN" sz="1150" spc="-1" strike="noStrike">
                <a:solidFill>
                  <a:srgbClr val="222222"/>
                </a:solidFill>
                <a:latin typeface="Yu Gothic"/>
              </a:rPr>
              <a:t>大きい</a:t>
            </a:r>
            <a:endParaRPr b="0" lang="en-US" sz="1150" spc="-1" strike="noStrike">
              <a:latin typeface="Arial"/>
            </a:endParaRPr>
          </a:p>
          <a:p>
            <a:pPr>
              <a:lnSpc>
                <a:spcPct val="110000"/>
              </a:lnSpc>
            </a:pPr>
            <a:r>
              <a:rPr b="0" lang="en-US" sz="1150" spc="-1" strike="noStrike">
                <a:solidFill>
                  <a:srgbClr val="222222"/>
                </a:solidFill>
                <a:latin typeface="Yu Gothic"/>
              </a:rPr>
              <a:t>(</a:t>
            </a:r>
            <a:r>
              <a:rPr b="0" lang="zh-CN" sz="1150" spc="-1" strike="noStrike">
                <a:solidFill>
                  <a:srgbClr val="222222"/>
                </a:solidFill>
                <a:latin typeface="Yu Gothic"/>
              </a:rPr>
              <a:t>接触力学・バックラッシュ・発熱</a:t>
            </a:r>
            <a:r>
              <a:rPr b="0" lang="en-US" sz="1150" spc="-1" strike="noStrike">
                <a:solidFill>
                  <a:srgbClr val="222222"/>
                </a:solidFill>
                <a:latin typeface="Yu Gothic"/>
              </a:rPr>
              <a:t>)</a:t>
            </a:r>
            <a:endParaRPr b="0" lang="en-US" sz="1150" spc="-1" strike="noStrike">
              <a:latin typeface="Arial"/>
            </a:endParaRPr>
          </a:p>
        </p:txBody>
      </p:sp>
      <p:sp>
        <p:nvSpPr>
          <p:cNvPr id="786" name="CustomShape 21"/>
          <p:cNvSpPr/>
          <p:nvPr/>
        </p:nvSpPr>
        <p:spPr>
          <a:xfrm>
            <a:off x="548640" y="5715000"/>
            <a:ext cx="2742840" cy="658080"/>
          </a:xfrm>
          <a:prstGeom prst="roundRect">
            <a:avLst>
              <a:gd name="adj" fmla="val 16667"/>
            </a:avLst>
          </a:prstGeom>
          <a:solidFill>
            <a:srgbClr val="6b7280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zh-CN" sz="1200" spc="-1" strike="noStrike">
                <a:solidFill>
                  <a:srgbClr val="ffffff"/>
                </a:solidFill>
                <a:latin typeface="Yu Gothic"/>
              </a:rPr>
              <a:t>制御ループ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787" name="CustomShape 22"/>
          <p:cNvSpPr/>
          <p:nvPr/>
        </p:nvSpPr>
        <p:spPr>
          <a:xfrm>
            <a:off x="3364920" y="5751720"/>
            <a:ext cx="3968280" cy="2829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10000"/>
              </a:lnSpc>
            </a:pPr>
            <a:r>
              <a:rPr b="0" lang="en-US" sz="1150" spc="-1" strike="noStrike">
                <a:solidFill>
                  <a:srgbClr val="222222"/>
                </a:solidFill>
                <a:latin typeface="Yu Gothic"/>
              </a:rPr>
              <a:t>RCB-4: </a:t>
            </a:r>
            <a:r>
              <a:rPr b="0" lang="zh-CN" sz="1150" spc="-1" strike="noStrike">
                <a:solidFill>
                  <a:srgbClr val="222222"/>
                </a:solidFill>
                <a:latin typeface="Yu Gothic"/>
              </a:rPr>
              <a:t>数十</a:t>
            </a:r>
            <a:r>
              <a:rPr b="0" lang="en-US" sz="1150" spc="-1" strike="noStrike">
                <a:solidFill>
                  <a:srgbClr val="222222"/>
                </a:solidFill>
                <a:latin typeface="Yu Gothic"/>
              </a:rPr>
              <a:t>Hz</a:t>
            </a:r>
            <a:r>
              <a:rPr b="0" lang="zh-CN" sz="1150" spc="-1" strike="noStrike">
                <a:solidFill>
                  <a:srgbClr val="222222"/>
                </a:solidFill>
                <a:latin typeface="Yu Gothic"/>
              </a:rPr>
              <a:t>程度</a:t>
            </a:r>
            <a:endParaRPr b="0" lang="en-US" sz="1150" spc="-1" strike="noStrike">
              <a:latin typeface="Arial"/>
            </a:endParaRPr>
          </a:p>
        </p:txBody>
      </p:sp>
      <p:sp>
        <p:nvSpPr>
          <p:cNvPr id="788" name="CustomShape 23"/>
          <p:cNvSpPr/>
          <p:nvPr/>
        </p:nvSpPr>
        <p:spPr>
          <a:xfrm>
            <a:off x="7479720" y="5751720"/>
            <a:ext cx="3693960" cy="4755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10000"/>
              </a:lnSpc>
            </a:pPr>
            <a:r>
              <a:rPr b="0" lang="zh-CN" sz="1150" spc="-1" strike="noStrike">
                <a:solidFill>
                  <a:srgbClr val="222222"/>
                </a:solidFill>
                <a:latin typeface="Yu Gothic"/>
              </a:rPr>
              <a:t>高トルク制御は</a:t>
            </a:r>
            <a:r>
              <a:rPr b="0" lang="en-US" sz="1150" spc="-1" strike="noStrike">
                <a:solidFill>
                  <a:srgbClr val="222222"/>
                </a:solidFill>
                <a:latin typeface="Yu Gothic"/>
              </a:rPr>
              <a:t>1kHz</a:t>
            </a:r>
            <a:r>
              <a:rPr b="0" lang="zh-CN" sz="1150" spc="-1" strike="noStrike">
                <a:solidFill>
                  <a:srgbClr val="222222"/>
                </a:solidFill>
                <a:latin typeface="Yu Gothic"/>
              </a:rPr>
              <a:t>級の</a:t>
            </a:r>
            <a:endParaRPr b="0" lang="en-US" sz="1150" spc="-1" strike="noStrike">
              <a:latin typeface="Arial"/>
            </a:endParaRPr>
          </a:p>
          <a:p>
            <a:pPr>
              <a:lnSpc>
                <a:spcPct val="110000"/>
              </a:lnSpc>
            </a:pPr>
            <a:r>
              <a:rPr b="0" lang="zh-CN" sz="1150" spc="-1" strike="noStrike">
                <a:solidFill>
                  <a:srgbClr val="222222"/>
                </a:solidFill>
                <a:latin typeface="Yu Gothic"/>
              </a:rPr>
              <a:t>リアルタイム制御が必要な場合も</a:t>
            </a:r>
            <a:endParaRPr b="0" lang="en-US" sz="1150" spc="-1" strike="noStrike">
              <a:latin typeface="Arial"/>
            </a:endParaRPr>
          </a:p>
        </p:txBody>
      </p:sp>
      <p:sp>
        <p:nvSpPr>
          <p:cNvPr id="789" name="CustomShape 24"/>
          <p:cNvSpPr/>
          <p:nvPr/>
        </p:nvSpPr>
        <p:spPr>
          <a:xfrm>
            <a:off x="548640" y="6400800"/>
            <a:ext cx="11063880" cy="2728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zh-CN" sz="1200" spc="-1" strike="noStrike">
                <a:solidFill>
                  <a:srgbClr val="6b7280"/>
                </a:solidFill>
                <a:latin typeface="Yu Gothic"/>
              </a:rPr>
              <a:t>変わるのは規模とリスクの大きさ </a:t>
            </a:r>
            <a:r>
              <a:rPr b="0" lang="en-US" sz="1200" spc="-1" strike="noStrike">
                <a:solidFill>
                  <a:srgbClr val="6b7280"/>
                </a:solidFill>
                <a:latin typeface="Yu Gothic"/>
              </a:rPr>
              <a:t>-- </a:t>
            </a:r>
            <a:r>
              <a:rPr b="0" lang="zh-CN" sz="1200" spc="-1" strike="noStrike">
                <a:solidFill>
                  <a:srgbClr val="6b7280"/>
                </a:solidFill>
                <a:latin typeface="Yu Gothic"/>
              </a:rPr>
              <a:t>「脳を外に置き、身体を軽量化する」という設計思想自体は共通。</a:t>
            </a:r>
            <a:endParaRPr b="0" lang="en-US" sz="1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0" name="CustomShape 1"/>
          <p:cNvSpPr/>
          <p:nvPr/>
        </p:nvSpPr>
        <p:spPr>
          <a:xfrm>
            <a:off x="548640" y="320040"/>
            <a:ext cx="8229240" cy="3337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rgbClr val="6b3fa0"/>
                </a:solidFill>
                <a:latin typeface="Yu Gothic"/>
              </a:rPr>
              <a:t>FUTURE DIRECTION (</a:t>
            </a:r>
            <a:r>
              <a:rPr b="1" lang="zh-CN" sz="1600" spc="-1" strike="noStrike">
                <a:solidFill>
                  <a:srgbClr val="6b3fa0"/>
                </a:solidFill>
                <a:latin typeface="Yu Gothic"/>
              </a:rPr>
              <a:t>構想</a:t>
            </a:r>
            <a:r>
              <a:rPr b="1" lang="en-US" sz="1600" spc="-1" strike="noStrike">
                <a:solidFill>
                  <a:srgbClr val="6b3fa0"/>
                </a:solidFill>
                <a:latin typeface="Yu Gothic"/>
              </a:rPr>
              <a:t>)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791" name="CustomShape 2"/>
          <p:cNvSpPr/>
          <p:nvPr/>
        </p:nvSpPr>
        <p:spPr>
          <a:xfrm>
            <a:off x="548640" y="685800"/>
            <a:ext cx="10515240" cy="10033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3000" spc="-1" strike="noStrike">
                <a:solidFill>
                  <a:srgbClr val="1f2a44"/>
                </a:solidFill>
                <a:latin typeface="Yu Gothic"/>
              </a:rPr>
              <a:t>Sim2Real</a:t>
            </a:r>
            <a:r>
              <a:rPr b="1" lang="zh-CN" sz="3000" spc="-1" strike="noStrike">
                <a:solidFill>
                  <a:srgbClr val="1f2a44"/>
                </a:solidFill>
                <a:latin typeface="Yu Gothic"/>
              </a:rPr>
              <a:t>の見通し</a:t>
            </a:r>
            <a:r>
              <a:rPr b="1" lang="en-US" sz="3000" spc="-1" strike="noStrike">
                <a:solidFill>
                  <a:srgbClr val="1f2a44"/>
                </a:solidFill>
                <a:latin typeface="Yu Gothic"/>
              </a:rPr>
              <a:t>: </a:t>
            </a:r>
            <a:r>
              <a:rPr b="1" lang="zh-CN" sz="3000" spc="-1" strike="noStrike">
                <a:solidFill>
                  <a:srgbClr val="1f2a44"/>
                </a:solidFill>
                <a:latin typeface="Yu Gothic"/>
              </a:rPr>
              <a:t>小型で今できること・等身大での実現法</a:t>
            </a:r>
            <a:endParaRPr b="0" lang="en-US" sz="3000" spc="-1" strike="noStrike">
              <a:latin typeface="Arial"/>
            </a:endParaRPr>
          </a:p>
        </p:txBody>
      </p:sp>
      <p:sp>
        <p:nvSpPr>
          <p:cNvPr id="792" name="CustomShape 3"/>
          <p:cNvSpPr/>
          <p:nvPr/>
        </p:nvSpPr>
        <p:spPr>
          <a:xfrm>
            <a:off x="548640" y="1554480"/>
            <a:ext cx="5303160" cy="502560"/>
          </a:xfrm>
          <a:prstGeom prst="roundRect">
            <a:avLst>
              <a:gd name="adj" fmla="val 16667"/>
            </a:avLst>
          </a:prstGeom>
          <a:solidFill>
            <a:srgbClr val="2e6fc7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zh-CN" sz="1400" spc="-1" strike="noStrike">
                <a:solidFill>
                  <a:srgbClr val="ffffff"/>
                </a:solidFill>
                <a:latin typeface="Yu Gothic"/>
              </a:rPr>
              <a:t>小型</a:t>
            </a:r>
            <a:r>
              <a:rPr b="1" lang="en-US" sz="1400" spc="-1" strike="noStrike">
                <a:solidFill>
                  <a:srgbClr val="ffffff"/>
                </a:solidFill>
                <a:latin typeface="Yu Gothic"/>
              </a:rPr>
              <a:t>(kxr)</a:t>
            </a:r>
            <a:r>
              <a:rPr b="1" lang="zh-CN" sz="1400" spc="-1" strike="noStrike">
                <a:solidFill>
                  <a:srgbClr val="ffffff"/>
                </a:solidFill>
                <a:latin typeface="Yu Gothic"/>
              </a:rPr>
              <a:t>で既に実施していること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793" name="CustomShape 4"/>
          <p:cNvSpPr/>
          <p:nvPr/>
        </p:nvSpPr>
        <p:spPr>
          <a:xfrm>
            <a:off x="548640" y="2148840"/>
            <a:ext cx="5303160" cy="18921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30000"/>
              </a:lnSpc>
            </a:pPr>
            <a:r>
              <a:rPr b="0" lang="zh-CN" sz="1300" spc="-1" strike="noStrike">
                <a:solidFill>
                  <a:srgbClr val="222222"/>
                </a:solidFill>
                <a:latin typeface="Yu Gothic"/>
              </a:rPr>
              <a:t>・</a:t>
            </a:r>
            <a:r>
              <a:rPr b="0" lang="en-US" sz="1300" spc="-1" strike="noStrike">
                <a:solidFill>
                  <a:srgbClr val="222222"/>
                </a:solidFill>
                <a:latin typeface="Yu Gothic"/>
              </a:rPr>
              <a:t>MuJoCo</a:t>
            </a:r>
            <a:r>
              <a:rPr b="0" lang="zh-CN" sz="1300" spc="-1" strike="noStrike">
                <a:solidFill>
                  <a:srgbClr val="222222"/>
                </a:solidFill>
                <a:latin typeface="Yu Gothic"/>
              </a:rPr>
              <a:t>上で</a:t>
            </a:r>
            <a:r>
              <a:rPr b="0" lang="en-US" sz="1300" spc="-1" strike="noStrike">
                <a:solidFill>
                  <a:srgbClr val="222222"/>
                </a:solidFill>
                <a:latin typeface="Yu Gothic"/>
              </a:rPr>
              <a:t>NN</a:t>
            </a:r>
            <a:r>
              <a:rPr b="0" lang="zh-CN" sz="1300" spc="-1" strike="noStrike">
                <a:solidFill>
                  <a:srgbClr val="222222"/>
                </a:solidFill>
                <a:latin typeface="Yu Gothic"/>
              </a:rPr>
              <a:t>方策を学習</a:t>
            </a:r>
            <a:endParaRPr b="0" lang="en-US" sz="1300" spc="-1" strike="noStrike">
              <a:latin typeface="Arial"/>
            </a:endParaRPr>
          </a:p>
          <a:p>
            <a:pPr>
              <a:lnSpc>
                <a:spcPct val="130000"/>
              </a:lnSpc>
            </a:pPr>
            <a:r>
              <a:rPr b="0" lang="zh-CN" sz="1300" spc="-1" strike="noStrike">
                <a:solidFill>
                  <a:srgbClr val="222222"/>
                </a:solidFill>
                <a:latin typeface="Yu Gothic"/>
              </a:rPr>
              <a:t>・</a:t>
            </a:r>
            <a:r>
              <a:rPr b="0" lang="en-US" sz="1300" spc="-1" strike="noStrike">
                <a:solidFill>
                  <a:srgbClr val="222222"/>
                </a:solidFill>
                <a:latin typeface="Yu Gothic"/>
              </a:rPr>
              <a:t>int16</a:t>
            </a:r>
            <a:r>
              <a:rPr b="0" lang="zh-CN" sz="1300" spc="-1" strike="noStrike">
                <a:solidFill>
                  <a:srgbClr val="222222"/>
                </a:solidFill>
                <a:latin typeface="Yu Gothic"/>
              </a:rPr>
              <a:t>量子化して</a:t>
            </a:r>
            <a:r>
              <a:rPr b="0" lang="en-US" sz="1300" spc="-1" strike="noStrike">
                <a:solidFill>
                  <a:srgbClr val="222222"/>
                </a:solidFill>
                <a:latin typeface="Yu Gothic"/>
              </a:rPr>
              <a:t>ESP32</a:t>
            </a:r>
            <a:r>
              <a:rPr b="0" lang="zh-CN" sz="1300" spc="-1" strike="noStrike">
                <a:solidFill>
                  <a:srgbClr val="222222"/>
                </a:solidFill>
                <a:latin typeface="Yu Gothic"/>
              </a:rPr>
              <a:t>上に直接実装し推論</a:t>
            </a:r>
            <a:endParaRPr b="0" lang="en-US" sz="1300" spc="-1" strike="noStrike">
              <a:latin typeface="Arial"/>
            </a:endParaRPr>
          </a:p>
          <a:p>
            <a:pPr>
              <a:lnSpc>
                <a:spcPct val="130000"/>
              </a:lnSpc>
            </a:pPr>
            <a:r>
              <a:rPr b="0" lang="en-US" sz="1300" spc="-1" strike="noStrike">
                <a:solidFill>
                  <a:srgbClr val="222222"/>
                </a:solidFill>
                <a:latin typeface="Yu Gothic"/>
              </a:rPr>
              <a:t>  </a:t>
            </a:r>
            <a:r>
              <a:rPr b="0" lang="en-US" sz="1300" spc="-1" strike="noStrike">
                <a:solidFill>
                  <a:srgbClr val="222222"/>
                </a:solidFill>
                <a:latin typeface="Yu Gothic"/>
              </a:rPr>
              <a:t>(GPU</a:t>
            </a:r>
            <a:r>
              <a:rPr b="0" lang="zh-CN" sz="1300" spc="-1" strike="noStrike">
                <a:solidFill>
                  <a:srgbClr val="222222"/>
                </a:solidFill>
                <a:latin typeface="Yu Gothic"/>
              </a:rPr>
              <a:t>なしのマイコンでリアルタイム実行</a:t>
            </a:r>
            <a:r>
              <a:rPr b="0" lang="en-US" sz="1300" spc="-1" strike="noStrike">
                <a:solidFill>
                  <a:srgbClr val="222222"/>
                </a:solidFill>
                <a:latin typeface="Yu Gothic"/>
              </a:rPr>
              <a:t>)</a:t>
            </a:r>
            <a:endParaRPr b="0" lang="en-US" sz="1300" spc="-1" strike="noStrike">
              <a:latin typeface="Arial"/>
            </a:endParaRPr>
          </a:p>
          <a:p>
            <a:pPr>
              <a:lnSpc>
                <a:spcPct val="130000"/>
              </a:lnSpc>
            </a:pPr>
            <a:r>
              <a:rPr b="0" lang="zh-CN" sz="1300" spc="-1" strike="noStrike">
                <a:solidFill>
                  <a:srgbClr val="222222"/>
                </a:solidFill>
                <a:latin typeface="Yu Gothic"/>
              </a:rPr>
              <a:t>・軽量なため、シミュレータと実機に多少の</a:t>
            </a:r>
            <a:endParaRPr b="0" lang="en-US" sz="1300" spc="-1" strike="noStrike">
              <a:latin typeface="Arial"/>
            </a:endParaRPr>
          </a:p>
          <a:p>
            <a:pPr>
              <a:lnSpc>
                <a:spcPct val="130000"/>
              </a:lnSpc>
            </a:pPr>
            <a:r>
              <a:rPr b="0" lang="en-US" sz="1300" spc="-1" strike="noStrike">
                <a:solidFill>
                  <a:srgbClr val="222222"/>
                </a:solidFill>
                <a:latin typeface="Yu Gothic"/>
              </a:rPr>
              <a:t>  </a:t>
            </a:r>
            <a:r>
              <a:rPr b="0" lang="zh-CN" sz="1300" spc="-1" strike="noStrike">
                <a:solidFill>
                  <a:srgbClr val="222222"/>
                </a:solidFill>
                <a:latin typeface="Yu Gothic"/>
              </a:rPr>
              <a:t>ズレがあっても壊れにくく試行錯誤しやすい</a:t>
            </a:r>
            <a:endParaRPr b="0" lang="en-US" sz="1300" spc="-1" strike="noStrike">
              <a:latin typeface="Arial"/>
            </a:endParaRPr>
          </a:p>
          <a:p>
            <a:pPr>
              <a:lnSpc>
                <a:spcPct val="130000"/>
              </a:lnSpc>
            </a:pPr>
            <a:r>
              <a:rPr b="0" lang="zh-CN" sz="1300" spc="-1" strike="noStrike">
                <a:solidFill>
                  <a:srgbClr val="222222"/>
                </a:solidFill>
                <a:latin typeface="Yu Gothic"/>
              </a:rPr>
              <a:t>・フェーズ</a:t>
            </a:r>
            <a:r>
              <a:rPr b="0" lang="en-US" sz="1300" spc="-1" strike="noStrike">
                <a:solidFill>
                  <a:srgbClr val="222222"/>
                </a:solidFill>
                <a:latin typeface="Yu Gothic"/>
              </a:rPr>
              <a:t>4-5</a:t>
            </a:r>
            <a:r>
              <a:rPr b="0" lang="zh-CN" sz="1300" spc="-1" strike="noStrike">
                <a:solidFill>
                  <a:srgbClr val="222222"/>
                </a:solidFill>
                <a:latin typeface="Yu Gothic"/>
              </a:rPr>
              <a:t>で目指す「ロボット記述ブロブ」も</a:t>
            </a:r>
            <a:endParaRPr b="0" lang="en-US" sz="1300" spc="-1" strike="noStrike">
              <a:latin typeface="Arial"/>
            </a:endParaRPr>
          </a:p>
          <a:p>
            <a:pPr>
              <a:lnSpc>
                <a:spcPct val="130000"/>
              </a:lnSpc>
            </a:pPr>
            <a:r>
              <a:rPr b="0" lang="en-US" sz="1300" spc="-1" strike="noStrike">
                <a:solidFill>
                  <a:srgbClr val="222222"/>
                </a:solidFill>
                <a:latin typeface="Yu Gothic"/>
              </a:rPr>
              <a:t>  </a:t>
            </a:r>
            <a:r>
              <a:rPr b="0" lang="zh-CN" sz="1300" spc="-1" strike="noStrike">
                <a:solidFill>
                  <a:srgbClr val="222222"/>
                </a:solidFill>
                <a:latin typeface="Yu Gothic"/>
              </a:rPr>
              <a:t>この延長線上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794" name="CustomShape 5"/>
          <p:cNvSpPr/>
          <p:nvPr/>
        </p:nvSpPr>
        <p:spPr>
          <a:xfrm>
            <a:off x="6126480" y="1554480"/>
            <a:ext cx="5303160" cy="502560"/>
          </a:xfrm>
          <a:prstGeom prst="roundRect">
            <a:avLst>
              <a:gd name="adj" fmla="val 16667"/>
            </a:avLst>
          </a:prstGeom>
          <a:solidFill>
            <a:srgbClr val="b03030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zh-CN" sz="1400" spc="-1" strike="noStrike">
                <a:solidFill>
                  <a:srgbClr val="ffffff"/>
                </a:solidFill>
                <a:latin typeface="Yu Gothic"/>
              </a:rPr>
              <a:t>等身大での実現の見通し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795" name="CustomShape 6"/>
          <p:cNvSpPr/>
          <p:nvPr/>
        </p:nvSpPr>
        <p:spPr>
          <a:xfrm>
            <a:off x="6126480" y="2148840"/>
            <a:ext cx="5303160" cy="18921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30000"/>
              </a:lnSpc>
            </a:pPr>
            <a:r>
              <a:rPr b="0" lang="zh-CN" sz="1300" spc="-1" strike="noStrike">
                <a:solidFill>
                  <a:srgbClr val="222222"/>
                </a:solidFill>
                <a:latin typeface="Yu Gothic"/>
              </a:rPr>
              <a:t>・</a:t>
            </a:r>
            <a:r>
              <a:rPr b="0" lang="en-US" sz="1300" spc="-1" strike="noStrike">
                <a:solidFill>
                  <a:srgbClr val="222222"/>
                </a:solidFill>
                <a:latin typeface="Yu Gothic"/>
              </a:rPr>
              <a:t>NN</a:t>
            </a:r>
            <a:r>
              <a:rPr b="0" lang="zh-CN" sz="1300" spc="-1" strike="noStrike">
                <a:solidFill>
                  <a:srgbClr val="222222"/>
                </a:solidFill>
                <a:latin typeface="Yu Gothic"/>
              </a:rPr>
              <a:t>をマイコン上で直接実行するのは困難</a:t>
            </a:r>
            <a:endParaRPr b="0" lang="en-US" sz="1300" spc="-1" strike="noStrike">
              <a:latin typeface="Arial"/>
            </a:endParaRPr>
          </a:p>
          <a:p>
            <a:pPr>
              <a:lnSpc>
                <a:spcPct val="130000"/>
              </a:lnSpc>
            </a:pPr>
            <a:r>
              <a:rPr b="0" lang="en-US" sz="1300" spc="-1" strike="noStrike">
                <a:solidFill>
                  <a:srgbClr val="222222"/>
                </a:solidFill>
                <a:latin typeface="Yu Gothic"/>
              </a:rPr>
              <a:t>  </a:t>
            </a:r>
            <a:r>
              <a:rPr b="0" lang="en-US" sz="1300" spc="-1" strike="noStrike">
                <a:solidFill>
                  <a:srgbClr val="222222"/>
                </a:solidFill>
                <a:latin typeface="Yu Gothic"/>
              </a:rPr>
              <a:t>-- </a:t>
            </a:r>
            <a:r>
              <a:rPr b="0" lang="zh-CN" sz="1300" spc="-1" strike="noStrike">
                <a:solidFill>
                  <a:srgbClr val="222222"/>
                </a:solidFill>
                <a:latin typeface="Yu Gothic"/>
              </a:rPr>
              <a:t>推論はロボット搭載の</a:t>
            </a:r>
            <a:r>
              <a:rPr b="0" lang="en-US" sz="1300" spc="-1" strike="noStrike">
                <a:solidFill>
                  <a:srgbClr val="222222"/>
                </a:solidFill>
                <a:latin typeface="Yu Gothic"/>
              </a:rPr>
              <a:t>Jetson/x86</a:t>
            </a:r>
            <a:r>
              <a:rPr b="0" lang="zh-CN" sz="1300" spc="-1" strike="noStrike">
                <a:solidFill>
                  <a:srgbClr val="222222"/>
                </a:solidFill>
                <a:latin typeface="Yu Gothic"/>
              </a:rPr>
              <a:t>側で行う</a:t>
            </a:r>
            <a:endParaRPr b="0" lang="en-US" sz="1300" spc="-1" strike="noStrike">
              <a:latin typeface="Arial"/>
            </a:endParaRPr>
          </a:p>
          <a:p>
            <a:pPr>
              <a:lnSpc>
                <a:spcPct val="130000"/>
              </a:lnSpc>
            </a:pPr>
            <a:r>
              <a:rPr b="0" lang="en-US" sz="1300" spc="-1" strike="noStrike">
                <a:solidFill>
                  <a:srgbClr val="222222"/>
                </a:solidFill>
                <a:latin typeface="Yu Gothic"/>
              </a:rPr>
              <a:t>  </a:t>
            </a:r>
            <a:r>
              <a:rPr b="0" lang="zh-CN" sz="1300" spc="-1" strike="noStrike">
                <a:solidFill>
                  <a:srgbClr val="222222"/>
                </a:solidFill>
                <a:latin typeface="Yu Gothic"/>
              </a:rPr>
              <a:t>「リモートブレイン」に近い構成に回帰</a:t>
            </a:r>
            <a:endParaRPr b="0" lang="en-US" sz="1300" spc="-1" strike="noStrike">
              <a:latin typeface="Arial"/>
            </a:endParaRPr>
          </a:p>
          <a:p>
            <a:pPr>
              <a:lnSpc>
                <a:spcPct val="130000"/>
              </a:lnSpc>
            </a:pPr>
            <a:r>
              <a:rPr b="0" lang="zh-CN" sz="1300" spc="-1" strike="noStrike">
                <a:solidFill>
                  <a:srgbClr val="222222"/>
                </a:solidFill>
                <a:latin typeface="Yu Gothic"/>
              </a:rPr>
              <a:t>・学習自体は手元の</a:t>
            </a:r>
            <a:r>
              <a:rPr b="0" lang="en-US" sz="1300" spc="-1" strike="noStrike">
                <a:solidFill>
                  <a:srgbClr val="222222"/>
                </a:solidFill>
                <a:latin typeface="Yu Gothic"/>
              </a:rPr>
              <a:t>GPU</a:t>
            </a:r>
            <a:r>
              <a:rPr b="0" lang="zh-CN" sz="1300" spc="-1" strike="noStrike">
                <a:solidFill>
                  <a:srgbClr val="222222"/>
                </a:solidFill>
                <a:latin typeface="Yu Gothic"/>
              </a:rPr>
              <a:t>サーバ</a:t>
            </a:r>
            <a:r>
              <a:rPr b="0" lang="en-US" sz="1300" spc="-1" strike="noStrike">
                <a:solidFill>
                  <a:srgbClr val="222222"/>
                </a:solidFill>
                <a:latin typeface="Yu Gothic"/>
              </a:rPr>
              <a:t>(hatori/pro1)</a:t>
            </a:r>
            <a:r>
              <a:rPr b="0" lang="zh-CN" sz="1300" spc="-1" strike="noStrike">
                <a:solidFill>
                  <a:srgbClr val="222222"/>
                </a:solidFill>
                <a:latin typeface="Yu Gothic"/>
              </a:rPr>
              <a:t>で</a:t>
            </a:r>
            <a:endParaRPr b="0" lang="en-US" sz="1300" spc="-1" strike="noStrike">
              <a:latin typeface="Arial"/>
            </a:endParaRPr>
          </a:p>
          <a:p>
            <a:pPr>
              <a:lnSpc>
                <a:spcPct val="130000"/>
              </a:lnSpc>
            </a:pPr>
            <a:r>
              <a:rPr b="0" lang="en-US" sz="1300" spc="-1" strike="noStrike">
                <a:solidFill>
                  <a:srgbClr val="222222"/>
                </a:solidFill>
                <a:latin typeface="Yu Gothic"/>
              </a:rPr>
              <a:t>  </a:t>
            </a:r>
            <a:r>
              <a:rPr b="0" lang="en-US" sz="1300" spc="-1" strike="noStrike">
                <a:solidFill>
                  <a:srgbClr val="222222"/>
                </a:solidFill>
                <a:latin typeface="Yu Gothic"/>
              </a:rPr>
              <a:t>Isaac Lab/Genesis</a:t>
            </a:r>
            <a:r>
              <a:rPr b="0" lang="zh-CN" sz="1300" spc="-1" strike="noStrike">
                <a:solidFill>
                  <a:srgbClr val="222222"/>
                </a:solidFill>
                <a:latin typeface="Yu Gothic"/>
              </a:rPr>
              <a:t>等を使い大規模並列で実行</a:t>
            </a:r>
            <a:endParaRPr b="0" lang="en-US" sz="1300" spc="-1" strike="noStrike">
              <a:latin typeface="Arial"/>
            </a:endParaRPr>
          </a:p>
          <a:p>
            <a:pPr>
              <a:lnSpc>
                <a:spcPct val="130000"/>
              </a:lnSpc>
            </a:pPr>
            <a:r>
              <a:rPr b="0" lang="zh-CN" sz="1300" spc="-1" strike="noStrike">
                <a:solidFill>
                  <a:srgbClr val="222222"/>
                </a:solidFill>
                <a:latin typeface="Yu Gothic"/>
              </a:rPr>
              <a:t>・実機アクチュエータの非線形応答を</a:t>
            </a:r>
            <a:r>
              <a:rPr b="0" lang="en-US" sz="1300" spc="-1" strike="noStrike">
                <a:solidFill>
                  <a:srgbClr val="222222"/>
                </a:solidFill>
                <a:latin typeface="Yu Gothic"/>
              </a:rPr>
              <a:t>Actuator</a:t>
            </a:r>
            <a:endParaRPr b="0" lang="en-US" sz="1300" spc="-1" strike="noStrike">
              <a:latin typeface="Arial"/>
            </a:endParaRPr>
          </a:p>
          <a:p>
            <a:pPr>
              <a:lnSpc>
                <a:spcPct val="130000"/>
              </a:lnSpc>
            </a:pPr>
            <a:r>
              <a:rPr b="0" lang="en-US" sz="1300" spc="-1" strike="noStrike">
                <a:solidFill>
                  <a:srgbClr val="222222"/>
                </a:solidFill>
                <a:latin typeface="Yu Gothic"/>
              </a:rPr>
              <a:t>  </a:t>
            </a:r>
            <a:r>
              <a:rPr b="0" lang="en-US" sz="1300" spc="-1" strike="noStrike">
                <a:solidFill>
                  <a:srgbClr val="222222"/>
                </a:solidFill>
                <a:latin typeface="Yu Gothic"/>
              </a:rPr>
              <a:t>Network</a:t>
            </a:r>
            <a:r>
              <a:rPr b="0" lang="zh-CN" sz="1300" spc="-1" strike="noStrike">
                <a:solidFill>
                  <a:srgbClr val="222222"/>
                </a:solidFill>
                <a:latin typeface="Yu Gothic"/>
              </a:rPr>
              <a:t>で較正してから</a:t>
            </a:r>
            <a:r>
              <a:rPr b="0" lang="en-US" sz="1300" spc="-1" strike="noStrike">
                <a:solidFill>
                  <a:srgbClr val="222222"/>
                </a:solidFill>
                <a:latin typeface="Yu Gothic"/>
              </a:rPr>
              <a:t>sim2real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796" name="CustomShape 7"/>
          <p:cNvSpPr/>
          <p:nvPr/>
        </p:nvSpPr>
        <p:spPr>
          <a:xfrm>
            <a:off x="548640" y="5349240"/>
            <a:ext cx="11063880" cy="6051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30000"/>
              </a:lnSpc>
            </a:pPr>
            <a:r>
              <a:rPr b="0" lang="zh-CN" sz="1300" spc="-1" strike="noStrike">
                <a:solidFill>
                  <a:srgbClr val="6b7280"/>
                </a:solidFill>
                <a:latin typeface="Yu Gothic"/>
              </a:rPr>
              <a:t>小型・等身大とも「シミュレータで学習し、実機固有のズレを何らかの方法で補正して転移する」という</a:t>
            </a:r>
            <a:endParaRPr b="0" lang="en-US" sz="1300" spc="-1" strike="noStrike">
              <a:latin typeface="Arial"/>
            </a:endParaRPr>
          </a:p>
          <a:p>
            <a:pPr>
              <a:lnSpc>
                <a:spcPct val="130000"/>
              </a:lnSpc>
            </a:pPr>
            <a:r>
              <a:rPr b="0" lang="zh-CN" sz="1300" spc="-1" strike="noStrike">
                <a:solidFill>
                  <a:srgbClr val="6b7280"/>
                </a:solidFill>
                <a:latin typeface="Yu Gothic"/>
              </a:rPr>
              <a:t>基本パターンは同じ </a:t>
            </a:r>
            <a:r>
              <a:rPr b="0" lang="en-US" sz="1300" spc="-1" strike="noStrike">
                <a:solidFill>
                  <a:srgbClr val="6b7280"/>
                </a:solidFill>
                <a:latin typeface="Yu Gothic"/>
              </a:rPr>
              <a:t>-- </a:t>
            </a:r>
            <a:r>
              <a:rPr b="0" lang="zh-CN" sz="1300" spc="-1" strike="noStrike">
                <a:solidFill>
                  <a:srgbClr val="6b7280"/>
                </a:solidFill>
                <a:latin typeface="Yu Gothic"/>
              </a:rPr>
              <a:t>次のスライドで、その補正方法</a:t>
            </a:r>
            <a:r>
              <a:rPr b="0" lang="en-US" sz="1300" spc="-1" strike="noStrike">
                <a:solidFill>
                  <a:srgbClr val="6b7280"/>
                </a:solidFill>
                <a:latin typeface="Yu Gothic"/>
              </a:rPr>
              <a:t>(Sim2Real</a:t>
            </a:r>
            <a:r>
              <a:rPr b="0" lang="zh-CN" sz="1300" spc="-1" strike="noStrike">
                <a:solidFill>
                  <a:srgbClr val="6b7280"/>
                </a:solidFill>
                <a:latin typeface="Yu Gothic"/>
              </a:rPr>
              <a:t>手法</a:t>
            </a:r>
            <a:r>
              <a:rPr b="0" lang="en-US" sz="1300" spc="-1" strike="noStrike">
                <a:solidFill>
                  <a:srgbClr val="6b7280"/>
                </a:solidFill>
                <a:latin typeface="Yu Gothic"/>
              </a:rPr>
              <a:t>)</a:t>
            </a:r>
            <a:r>
              <a:rPr b="0" lang="zh-CN" sz="1300" spc="-1" strike="noStrike">
                <a:solidFill>
                  <a:srgbClr val="6b7280"/>
                </a:solidFill>
                <a:latin typeface="Yu Gothic"/>
              </a:rPr>
              <a:t>を具体的に見ていく。</a:t>
            </a:r>
            <a:endParaRPr b="0" lang="en-US" sz="13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7" name="CustomShape 1"/>
          <p:cNvSpPr/>
          <p:nvPr/>
        </p:nvSpPr>
        <p:spPr>
          <a:xfrm>
            <a:off x="548640" y="320040"/>
            <a:ext cx="8229240" cy="3337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rgbClr val="6b3fa0"/>
                </a:solidFill>
                <a:latin typeface="Yu Gothic"/>
              </a:rPr>
              <a:t>FUTURE DIRECTION (</a:t>
            </a:r>
            <a:r>
              <a:rPr b="1" lang="zh-CN" sz="1600" spc="-1" strike="noStrike">
                <a:solidFill>
                  <a:srgbClr val="6b3fa0"/>
                </a:solidFill>
                <a:latin typeface="Yu Gothic"/>
              </a:rPr>
              <a:t>構想</a:t>
            </a:r>
            <a:r>
              <a:rPr b="1" lang="en-US" sz="1600" spc="-1" strike="noStrike">
                <a:solidFill>
                  <a:srgbClr val="6b3fa0"/>
                </a:solidFill>
                <a:latin typeface="Yu Gothic"/>
              </a:rPr>
              <a:t>)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798" name="CustomShape 2"/>
          <p:cNvSpPr/>
          <p:nvPr/>
        </p:nvSpPr>
        <p:spPr>
          <a:xfrm>
            <a:off x="548640" y="685800"/>
            <a:ext cx="10515240" cy="5472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3000" spc="-1" strike="noStrike">
                <a:solidFill>
                  <a:srgbClr val="1f2a44"/>
                </a:solidFill>
                <a:latin typeface="Yu Gothic"/>
              </a:rPr>
              <a:t>Sim2Real</a:t>
            </a:r>
            <a:r>
              <a:rPr b="1" lang="zh-CN" sz="3000" spc="-1" strike="noStrike">
                <a:solidFill>
                  <a:srgbClr val="1f2a44"/>
                </a:solidFill>
                <a:latin typeface="Yu Gothic"/>
              </a:rPr>
              <a:t>手法サーベイ</a:t>
            </a:r>
            <a:endParaRPr b="0" lang="en-US" sz="3000" spc="-1" strike="noStrike">
              <a:latin typeface="Arial"/>
            </a:endParaRPr>
          </a:p>
        </p:txBody>
      </p:sp>
      <p:sp>
        <p:nvSpPr>
          <p:cNvPr id="799" name="CustomShape 3"/>
          <p:cNvSpPr/>
          <p:nvPr/>
        </p:nvSpPr>
        <p:spPr>
          <a:xfrm>
            <a:off x="548640" y="1417320"/>
            <a:ext cx="2194200" cy="456840"/>
          </a:xfrm>
          <a:prstGeom prst="roundRect">
            <a:avLst>
              <a:gd name="adj" fmla="val 16667"/>
            </a:avLst>
          </a:prstGeom>
          <a:solidFill>
            <a:srgbClr val="1f2a44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zh-CN" sz="1250" spc="-1" strike="noStrike">
                <a:solidFill>
                  <a:srgbClr val="ffffff"/>
                </a:solidFill>
                <a:latin typeface="Yu Gothic"/>
              </a:rPr>
              <a:t>手法</a:t>
            </a:r>
            <a:endParaRPr b="0" lang="en-US" sz="1250" spc="-1" strike="noStrike">
              <a:latin typeface="Arial"/>
            </a:endParaRPr>
          </a:p>
        </p:txBody>
      </p:sp>
      <p:sp>
        <p:nvSpPr>
          <p:cNvPr id="800" name="CustomShape 4"/>
          <p:cNvSpPr/>
          <p:nvPr/>
        </p:nvSpPr>
        <p:spPr>
          <a:xfrm>
            <a:off x="2743200" y="1417320"/>
            <a:ext cx="5120280" cy="456840"/>
          </a:xfrm>
          <a:prstGeom prst="roundRect">
            <a:avLst>
              <a:gd name="adj" fmla="val 16667"/>
            </a:avLst>
          </a:prstGeom>
          <a:solidFill>
            <a:srgbClr val="1f2a44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zh-CN" sz="1250" spc="-1" strike="noStrike">
                <a:solidFill>
                  <a:srgbClr val="ffffff"/>
                </a:solidFill>
                <a:latin typeface="Yu Gothic"/>
              </a:rPr>
              <a:t>内容</a:t>
            </a:r>
            <a:endParaRPr b="0" lang="en-US" sz="1250" spc="-1" strike="noStrike">
              <a:latin typeface="Arial"/>
            </a:endParaRPr>
          </a:p>
        </p:txBody>
      </p:sp>
      <p:sp>
        <p:nvSpPr>
          <p:cNvPr id="801" name="CustomShape 5"/>
          <p:cNvSpPr/>
          <p:nvPr/>
        </p:nvSpPr>
        <p:spPr>
          <a:xfrm>
            <a:off x="7863840" y="1417320"/>
            <a:ext cx="3382920" cy="456840"/>
          </a:xfrm>
          <a:prstGeom prst="roundRect">
            <a:avLst>
              <a:gd name="adj" fmla="val 16667"/>
            </a:avLst>
          </a:prstGeom>
          <a:solidFill>
            <a:srgbClr val="1f2a44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zh-CN" sz="1250" spc="-1" strike="noStrike">
                <a:solidFill>
                  <a:srgbClr val="ffffff"/>
                </a:solidFill>
                <a:latin typeface="Yu Gothic"/>
              </a:rPr>
              <a:t>出典・適用例</a:t>
            </a:r>
            <a:endParaRPr b="0" lang="en-US" sz="1250" spc="-1" strike="noStrike">
              <a:latin typeface="Arial"/>
            </a:endParaRPr>
          </a:p>
        </p:txBody>
      </p:sp>
      <p:sp>
        <p:nvSpPr>
          <p:cNvPr id="802" name="CustomShape 6"/>
          <p:cNvSpPr/>
          <p:nvPr/>
        </p:nvSpPr>
        <p:spPr>
          <a:xfrm>
            <a:off x="548640" y="1920240"/>
            <a:ext cx="2194200" cy="566640"/>
          </a:xfrm>
          <a:prstGeom prst="roundRect">
            <a:avLst>
              <a:gd name="adj" fmla="val 16667"/>
            </a:avLst>
          </a:prstGeom>
          <a:solidFill>
            <a:srgbClr val="2e6fc7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050" spc="-1" strike="noStrike">
                <a:solidFill>
                  <a:srgbClr val="ffffff"/>
                </a:solidFill>
                <a:latin typeface="Yu Gothic"/>
              </a:rPr>
              <a:t>Domain</a:t>
            </a:r>
            <a:br/>
            <a:r>
              <a:rPr b="1" lang="en-US" sz="1050" spc="-1" strike="noStrike">
                <a:solidFill>
                  <a:srgbClr val="ffffff"/>
                </a:solidFill>
                <a:latin typeface="Yu Gothic"/>
              </a:rPr>
              <a:t>Randomization</a:t>
            </a:r>
            <a:endParaRPr b="0" lang="en-US" sz="1050" spc="-1" strike="noStrike">
              <a:latin typeface="Arial"/>
            </a:endParaRPr>
          </a:p>
        </p:txBody>
      </p:sp>
      <p:sp>
        <p:nvSpPr>
          <p:cNvPr id="803" name="CustomShape 7"/>
          <p:cNvSpPr/>
          <p:nvPr/>
        </p:nvSpPr>
        <p:spPr>
          <a:xfrm>
            <a:off x="2797920" y="1938600"/>
            <a:ext cx="5010480" cy="4100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5000"/>
              </a:lnSpc>
            </a:pPr>
            <a:r>
              <a:rPr b="0" lang="zh-CN" sz="1000" spc="-1" strike="noStrike">
                <a:solidFill>
                  <a:srgbClr val="222222"/>
                </a:solidFill>
                <a:latin typeface="Yu Gothic"/>
              </a:rPr>
              <a:t>シミュレータの見た目・物理パラメータ</a:t>
            </a:r>
            <a:r>
              <a:rPr b="0" lang="en-US" sz="1000" spc="-1" strike="noStrike">
                <a:solidFill>
                  <a:srgbClr val="222222"/>
                </a:solidFill>
                <a:latin typeface="Yu Gothic"/>
              </a:rPr>
              <a:t>(</a:t>
            </a:r>
            <a:r>
              <a:rPr b="0" lang="zh-CN" sz="1000" spc="-1" strike="noStrike">
                <a:solidFill>
                  <a:srgbClr val="222222"/>
                </a:solidFill>
                <a:latin typeface="Yu Gothic"/>
              </a:rPr>
              <a:t>質感・質量・摩擦等</a:t>
            </a:r>
            <a:r>
              <a:rPr b="0" lang="en-US" sz="1000" spc="-1" strike="noStrike">
                <a:solidFill>
                  <a:srgbClr val="222222"/>
                </a:solidFill>
                <a:latin typeface="Yu Gothic"/>
              </a:rPr>
              <a:t>)</a:t>
            </a:r>
            <a:r>
              <a:rPr b="0" lang="zh-CN" sz="1000" spc="-1" strike="noStrike">
                <a:solidFill>
                  <a:srgbClr val="222222"/>
                </a:solidFill>
                <a:latin typeface="Yu Gothic"/>
              </a:rPr>
              <a:t>を</a:t>
            </a:r>
            <a:endParaRPr b="0" lang="en-US" sz="1000" spc="-1" strike="noStrike">
              <a:latin typeface="Arial"/>
            </a:endParaRPr>
          </a:p>
          <a:p>
            <a:pPr>
              <a:lnSpc>
                <a:spcPct val="105000"/>
              </a:lnSpc>
            </a:pPr>
            <a:r>
              <a:rPr b="0" lang="zh-CN" sz="1000" spc="-1" strike="noStrike">
                <a:solidFill>
                  <a:srgbClr val="222222"/>
                </a:solidFill>
                <a:latin typeface="Yu Gothic"/>
              </a:rPr>
              <a:t>訓練中に大きくランダム化し、実機とのズレをロバスト性で吸収する。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804" name="CustomShape 8"/>
          <p:cNvSpPr/>
          <p:nvPr/>
        </p:nvSpPr>
        <p:spPr>
          <a:xfrm>
            <a:off x="7918560" y="1938600"/>
            <a:ext cx="3273120" cy="3942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5000"/>
              </a:lnSpc>
            </a:pPr>
            <a:r>
              <a:rPr b="0" lang="en-US" sz="950" spc="-1" strike="noStrike">
                <a:solidFill>
                  <a:srgbClr val="6b7280"/>
                </a:solidFill>
                <a:latin typeface="Yu Gothic"/>
              </a:rPr>
              <a:t>Tobin+ 2017(IROS)</a:t>
            </a:r>
            <a:endParaRPr b="0" lang="en-US" sz="950" spc="-1" strike="noStrike">
              <a:latin typeface="Arial"/>
            </a:endParaRPr>
          </a:p>
          <a:p>
            <a:pPr>
              <a:lnSpc>
                <a:spcPct val="105000"/>
              </a:lnSpc>
            </a:pPr>
            <a:r>
              <a:rPr b="0" lang="zh-CN" sz="950" spc="-1" strike="noStrike">
                <a:solidFill>
                  <a:srgbClr val="6b7280"/>
                </a:solidFill>
                <a:latin typeface="Yu Gothic"/>
              </a:rPr>
              <a:t>小型〜等身大共通の基本手法</a:t>
            </a:r>
            <a:endParaRPr b="0" lang="en-US" sz="950" spc="-1" strike="noStrike">
              <a:latin typeface="Arial"/>
            </a:endParaRPr>
          </a:p>
        </p:txBody>
      </p:sp>
      <p:sp>
        <p:nvSpPr>
          <p:cNvPr id="805" name="CustomShape 9"/>
          <p:cNvSpPr/>
          <p:nvPr/>
        </p:nvSpPr>
        <p:spPr>
          <a:xfrm>
            <a:off x="548640" y="2523600"/>
            <a:ext cx="2194200" cy="566640"/>
          </a:xfrm>
          <a:prstGeom prst="roundRect">
            <a:avLst>
              <a:gd name="adj" fmla="val 16667"/>
            </a:avLst>
          </a:prstGeom>
          <a:solidFill>
            <a:srgbClr val="2e6fc7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050" spc="-1" strike="noStrike">
                <a:solidFill>
                  <a:srgbClr val="ffffff"/>
                </a:solidFill>
                <a:latin typeface="Yu Gothic"/>
              </a:rPr>
              <a:t>OpenAI Dactyl</a:t>
            </a:r>
            <a:endParaRPr b="0" lang="en-US" sz="1050" spc="-1" strike="noStrike">
              <a:latin typeface="Arial"/>
            </a:endParaRPr>
          </a:p>
        </p:txBody>
      </p:sp>
      <p:sp>
        <p:nvSpPr>
          <p:cNvPr id="806" name="CustomShape 10"/>
          <p:cNvSpPr/>
          <p:nvPr/>
        </p:nvSpPr>
        <p:spPr>
          <a:xfrm>
            <a:off x="2797920" y="2541960"/>
            <a:ext cx="5010480" cy="4100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5000"/>
              </a:lnSpc>
            </a:pPr>
            <a:r>
              <a:rPr b="0" lang="zh-CN" sz="1000" spc="-1" strike="noStrike">
                <a:solidFill>
                  <a:srgbClr val="222222"/>
                </a:solidFill>
                <a:latin typeface="Yu Gothic"/>
              </a:rPr>
              <a:t>自動ドメインランダム化</a:t>
            </a:r>
            <a:r>
              <a:rPr b="0" lang="en-US" sz="1000" spc="-1" strike="noStrike">
                <a:solidFill>
                  <a:srgbClr val="222222"/>
                </a:solidFill>
                <a:latin typeface="Yu Gothic"/>
              </a:rPr>
              <a:t>(ADR)</a:t>
            </a:r>
            <a:r>
              <a:rPr b="0" lang="zh-CN" sz="1000" spc="-1" strike="noStrike">
                <a:solidFill>
                  <a:srgbClr val="222222"/>
                </a:solidFill>
                <a:latin typeface="Yu Gothic"/>
              </a:rPr>
              <a:t>で難度を自動調整しながら学習し、</a:t>
            </a:r>
            <a:endParaRPr b="0" lang="en-US" sz="1000" spc="-1" strike="noStrike">
              <a:latin typeface="Arial"/>
            </a:endParaRPr>
          </a:p>
          <a:p>
            <a:pPr>
              <a:lnSpc>
                <a:spcPct val="105000"/>
              </a:lnSpc>
            </a:pPr>
            <a:r>
              <a:rPr b="0" lang="zh-CN" sz="1000" spc="-1" strike="noStrike">
                <a:solidFill>
                  <a:srgbClr val="222222"/>
                </a:solidFill>
                <a:latin typeface="Yu Gothic"/>
              </a:rPr>
              <a:t>多指ハンドでルービックキューブ操作を実機のみで達成。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807" name="CustomShape 11"/>
          <p:cNvSpPr/>
          <p:nvPr/>
        </p:nvSpPr>
        <p:spPr>
          <a:xfrm>
            <a:off x="7918560" y="2541960"/>
            <a:ext cx="3273120" cy="3942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5000"/>
              </a:lnSpc>
            </a:pPr>
            <a:r>
              <a:rPr b="0" lang="en-US" sz="950" spc="-1" strike="noStrike">
                <a:solidFill>
                  <a:srgbClr val="6b7280"/>
                </a:solidFill>
                <a:latin typeface="Yu Gothic"/>
              </a:rPr>
              <a:t>OpenAI 2018-2019</a:t>
            </a:r>
            <a:endParaRPr b="0" lang="en-US" sz="950" spc="-1" strike="noStrike">
              <a:latin typeface="Arial"/>
            </a:endParaRPr>
          </a:p>
          <a:p>
            <a:pPr>
              <a:lnSpc>
                <a:spcPct val="105000"/>
              </a:lnSpc>
            </a:pPr>
            <a:r>
              <a:rPr b="0" lang="zh-CN" sz="950" spc="-1" strike="noStrike">
                <a:solidFill>
                  <a:srgbClr val="6b7280"/>
                </a:solidFill>
                <a:latin typeface="Yu Gothic"/>
              </a:rPr>
              <a:t>小型</a:t>
            </a:r>
            <a:r>
              <a:rPr b="0" lang="en-US" sz="950" spc="-1" strike="noStrike">
                <a:solidFill>
                  <a:srgbClr val="6b7280"/>
                </a:solidFill>
                <a:latin typeface="Yu Gothic"/>
              </a:rPr>
              <a:t>(</a:t>
            </a:r>
            <a:r>
              <a:rPr b="0" lang="zh-CN" sz="950" spc="-1" strike="noStrike">
                <a:solidFill>
                  <a:srgbClr val="6b7280"/>
                </a:solidFill>
                <a:latin typeface="Yu Gothic"/>
              </a:rPr>
              <a:t>器用な手</a:t>
            </a:r>
            <a:r>
              <a:rPr b="0" lang="en-US" sz="950" spc="-1" strike="noStrike">
                <a:solidFill>
                  <a:srgbClr val="6b7280"/>
                </a:solidFill>
                <a:latin typeface="Yu Gothic"/>
              </a:rPr>
              <a:t>)</a:t>
            </a:r>
            <a:endParaRPr b="0" lang="en-US" sz="950" spc="-1" strike="noStrike">
              <a:latin typeface="Arial"/>
            </a:endParaRPr>
          </a:p>
        </p:txBody>
      </p:sp>
      <p:sp>
        <p:nvSpPr>
          <p:cNvPr id="808" name="CustomShape 12"/>
          <p:cNvSpPr/>
          <p:nvPr/>
        </p:nvSpPr>
        <p:spPr>
          <a:xfrm>
            <a:off x="548640" y="3127320"/>
            <a:ext cx="2194200" cy="566640"/>
          </a:xfrm>
          <a:prstGeom prst="roundRect">
            <a:avLst>
              <a:gd name="adj" fmla="val 16667"/>
            </a:avLst>
          </a:prstGeom>
          <a:solidFill>
            <a:srgbClr val="2e6fc7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050" spc="-1" strike="noStrike">
                <a:solidFill>
                  <a:srgbClr val="ffffff"/>
                </a:solidFill>
                <a:latin typeface="Yu Gothic"/>
              </a:rPr>
              <a:t>Actuator Network</a:t>
            </a:r>
            <a:endParaRPr b="0" lang="en-US" sz="1050" spc="-1" strike="noStrike">
              <a:latin typeface="Arial"/>
            </a:endParaRPr>
          </a:p>
        </p:txBody>
      </p:sp>
      <p:sp>
        <p:nvSpPr>
          <p:cNvPr id="809" name="CustomShape 13"/>
          <p:cNvSpPr/>
          <p:nvPr/>
        </p:nvSpPr>
        <p:spPr>
          <a:xfrm>
            <a:off x="2797920" y="3145680"/>
            <a:ext cx="5010480" cy="4100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5000"/>
              </a:lnSpc>
            </a:pPr>
            <a:r>
              <a:rPr b="0" lang="zh-CN" sz="1000" spc="-1" strike="noStrike">
                <a:solidFill>
                  <a:srgbClr val="222222"/>
                </a:solidFill>
                <a:latin typeface="Yu Gothic"/>
              </a:rPr>
              <a:t>実機アクチュエータの非線形な応答</a:t>
            </a:r>
            <a:r>
              <a:rPr b="0" lang="en-US" sz="1000" spc="-1" strike="noStrike">
                <a:solidFill>
                  <a:srgbClr val="222222"/>
                </a:solidFill>
                <a:latin typeface="Yu Gothic"/>
              </a:rPr>
              <a:t>(</a:t>
            </a:r>
            <a:r>
              <a:rPr b="0" lang="zh-CN" sz="1000" spc="-1" strike="noStrike">
                <a:solidFill>
                  <a:srgbClr val="222222"/>
                </a:solidFill>
                <a:latin typeface="Yu Gothic"/>
              </a:rPr>
              <a:t>コンプライアンス・減衰</a:t>
            </a:r>
            <a:r>
              <a:rPr b="0" lang="en-US" sz="1000" spc="-1" strike="noStrike">
                <a:solidFill>
                  <a:srgbClr val="222222"/>
                </a:solidFill>
                <a:latin typeface="Yu Gothic"/>
              </a:rPr>
              <a:t>)</a:t>
            </a:r>
            <a:r>
              <a:rPr b="0" lang="zh-CN" sz="1000" spc="-1" strike="noStrike">
                <a:solidFill>
                  <a:srgbClr val="222222"/>
                </a:solidFill>
                <a:latin typeface="Yu Gothic"/>
              </a:rPr>
              <a:t>を</a:t>
            </a:r>
            <a:endParaRPr b="0" lang="en-US" sz="1000" spc="-1" strike="noStrike">
              <a:latin typeface="Arial"/>
            </a:endParaRPr>
          </a:p>
          <a:p>
            <a:pPr>
              <a:lnSpc>
                <a:spcPct val="105000"/>
              </a:lnSpc>
            </a:pPr>
            <a:r>
              <a:rPr b="0" lang="en-US" sz="1000" spc="-1" strike="noStrike">
                <a:solidFill>
                  <a:srgbClr val="222222"/>
                </a:solidFill>
                <a:latin typeface="Yu Gothic"/>
              </a:rPr>
              <a:t>NN</a:t>
            </a:r>
            <a:r>
              <a:rPr b="0" lang="zh-CN" sz="1000" spc="-1" strike="noStrike">
                <a:solidFill>
                  <a:srgbClr val="222222"/>
                </a:solidFill>
                <a:latin typeface="Yu Gothic"/>
              </a:rPr>
              <a:t>で学習し、シミュレータ内の理想モータモデルを置き換える。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810" name="CustomShape 14"/>
          <p:cNvSpPr/>
          <p:nvPr/>
        </p:nvSpPr>
        <p:spPr>
          <a:xfrm>
            <a:off x="7918560" y="3145680"/>
            <a:ext cx="3273120" cy="3942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5000"/>
              </a:lnSpc>
            </a:pPr>
            <a:r>
              <a:rPr b="0" lang="en-US" sz="950" spc="-1" strike="noStrike">
                <a:solidFill>
                  <a:srgbClr val="6b7280"/>
                </a:solidFill>
                <a:latin typeface="Yu Gothic"/>
              </a:rPr>
              <a:t>Hwangbo+ 2019</a:t>
            </a:r>
            <a:endParaRPr b="0" lang="en-US" sz="950" spc="-1" strike="noStrike">
              <a:latin typeface="Arial"/>
            </a:endParaRPr>
          </a:p>
          <a:p>
            <a:pPr>
              <a:lnSpc>
                <a:spcPct val="105000"/>
              </a:lnSpc>
            </a:pPr>
            <a:r>
              <a:rPr b="0" lang="en-US" sz="950" spc="-1" strike="noStrike">
                <a:solidFill>
                  <a:srgbClr val="6b7280"/>
                </a:solidFill>
                <a:latin typeface="Yu Gothic"/>
              </a:rPr>
              <a:t>Science Robotics(ANYmal, 4</a:t>
            </a:r>
            <a:r>
              <a:rPr b="0" lang="zh-CN" sz="950" spc="-1" strike="noStrike">
                <a:solidFill>
                  <a:srgbClr val="6b7280"/>
                </a:solidFill>
                <a:latin typeface="Yu Gothic"/>
              </a:rPr>
              <a:t>脚</a:t>
            </a:r>
            <a:r>
              <a:rPr b="0" lang="en-US" sz="950" spc="-1" strike="noStrike">
                <a:solidFill>
                  <a:srgbClr val="6b7280"/>
                </a:solidFill>
                <a:latin typeface="Yu Gothic"/>
              </a:rPr>
              <a:t>)</a:t>
            </a:r>
            <a:endParaRPr b="0" lang="en-US" sz="950" spc="-1" strike="noStrike">
              <a:latin typeface="Arial"/>
            </a:endParaRPr>
          </a:p>
        </p:txBody>
      </p:sp>
      <p:sp>
        <p:nvSpPr>
          <p:cNvPr id="811" name="CustomShape 15"/>
          <p:cNvSpPr/>
          <p:nvPr/>
        </p:nvSpPr>
        <p:spPr>
          <a:xfrm>
            <a:off x="548640" y="3730680"/>
            <a:ext cx="2194200" cy="566640"/>
          </a:xfrm>
          <a:prstGeom prst="roundRect">
            <a:avLst>
              <a:gd name="adj" fmla="val 16667"/>
            </a:avLst>
          </a:prstGeom>
          <a:solidFill>
            <a:srgbClr val="2e6fc7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050" spc="-1" strike="noStrike">
                <a:solidFill>
                  <a:srgbClr val="ffffff"/>
                </a:solidFill>
                <a:latin typeface="Yu Gothic"/>
              </a:rPr>
              <a:t>RMA</a:t>
            </a:r>
            <a:br/>
            <a:r>
              <a:rPr b="1" lang="en-US" sz="1050" spc="-1" strike="noStrike">
                <a:solidFill>
                  <a:srgbClr val="ffffff"/>
                </a:solidFill>
                <a:latin typeface="Yu Gothic"/>
              </a:rPr>
              <a:t>(Rapid Motor Adaptation)</a:t>
            </a:r>
            <a:endParaRPr b="0" lang="en-US" sz="1050" spc="-1" strike="noStrike">
              <a:latin typeface="Arial"/>
            </a:endParaRPr>
          </a:p>
        </p:txBody>
      </p:sp>
      <p:sp>
        <p:nvSpPr>
          <p:cNvPr id="812" name="CustomShape 16"/>
          <p:cNvSpPr/>
          <p:nvPr/>
        </p:nvSpPr>
        <p:spPr>
          <a:xfrm>
            <a:off x="2797920" y="3749040"/>
            <a:ext cx="5010480" cy="4100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5000"/>
              </a:lnSpc>
            </a:pPr>
            <a:r>
              <a:rPr b="0" lang="zh-CN" sz="1000" spc="-1" strike="noStrike">
                <a:solidFill>
                  <a:srgbClr val="222222"/>
                </a:solidFill>
                <a:latin typeface="Yu Gothic"/>
              </a:rPr>
              <a:t>特権情報付きでまず学習し、実機では姿勢の時系列履歴だけから</a:t>
            </a:r>
            <a:endParaRPr b="0" lang="en-US" sz="1000" spc="-1" strike="noStrike">
              <a:latin typeface="Arial"/>
            </a:endParaRPr>
          </a:p>
          <a:p>
            <a:pPr>
              <a:lnSpc>
                <a:spcPct val="105000"/>
              </a:lnSpc>
            </a:pPr>
            <a:r>
              <a:rPr b="0" lang="zh-CN" sz="1000" spc="-1" strike="noStrike">
                <a:solidFill>
                  <a:srgbClr val="222222"/>
                </a:solidFill>
                <a:latin typeface="Yu Gothic"/>
              </a:rPr>
              <a:t>環境パラメータをオンライン推定するアダプタを追加する。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813" name="CustomShape 17"/>
          <p:cNvSpPr/>
          <p:nvPr/>
        </p:nvSpPr>
        <p:spPr>
          <a:xfrm>
            <a:off x="7918560" y="3749040"/>
            <a:ext cx="3273120" cy="3942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5000"/>
              </a:lnSpc>
            </a:pPr>
            <a:r>
              <a:rPr b="0" lang="en-US" sz="950" spc="-1" strike="noStrike">
                <a:solidFill>
                  <a:srgbClr val="6b7280"/>
                </a:solidFill>
                <a:latin typeface="Yu Gothic"/>
              </a:rPr>
              <a:t>Kumar+ 2021</a:t>
            </a:r>
            <a:endParaRPr b="0" lang="en-US" sz="950" spc="-1" strike="noStrike">
              <a:latin typeface="Arial"/>
            </a:endParaRPr>
          </a:p>
          <a:p>
            <a:pPr>
              <a:lnSpc>
                <a:spcPct val="105000"/>
              </a:lnSpc>
            </a:pPr>
            <a:r>
              <a:rPr b="0" lang="en-US" sz="950" spc="-1" strike="noStrike">
                <a:solidFill>
                  <a:srgbClr val="6b7280"/>
                </a:solidFill>
                <a:latin typeface="Yu Gothic"/>
              </a:rPr>
              <a:t>4</a:t>
            </a:r>
            <a:r>
              <a:rPr b="0" lang="zh-CN" sz="950" spc="-1" strike="noStrike">
                <a:solidFill>
                  <a:srgbClr val="6b7280"/>
                </a:solidFill>
                <a:latin typeface="Yu Gothic"/>
              </a:rPr>
              <a:t>脚</a:t>
            </a:r>
            <a:endParaRPr b="0" lang="en-US" sz="950" spc="-1" strike="noStrike">
              <a:latin typeface="Arial"/>
            </a:endParaRPr>
          </a:p>
        </p:txBody>
      </p:sp>
      <p:sp>
        <p:nvSpPr>
          <p:cNvPr id="814" name="CustomShape 18"/>
          <p:cNvSpPr/>
          <p:nvPr/>
        </p:nvSpPr>
        <p:spPr>
          <a:xfrm>
            <a:off x="548640" y="4334400"/>
            <a:ext cx="2194200" cy="566640"/>
          </a:xfrm>
          <a:prstGeom prst="roundRect">
            <a:avLst>
              <a:gd name="adj" fmla="val 16667"/>
            </a:avLst>
          </a:prstGeom>
          <a:solidFill>
            <a:srgbClr val="2e6fc7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zh-CN" sz="1050" spc="-1" strike="noStrike">
                <a:solidFill>
                  <a:srgbClr val="ffffff"/>
                </a:solidFill>
                <a:latin typeface="Yu Gothic"/>
              </a:rPr>
              <a:t>大規模並列</a:t>
            </a:r>
            <a:r>
              <a:rPr b="1" lang="en-US" sz="1050" spc="-1" strike="noStrike">
                <a:solidFill>
                  <a:srgbClr val="ffffff"/>
                </a:solidFill>
                <a:latin typeface="Yu Gothic"/>
              </a:rPr>
              <a:t>GPU</a:t>
            </a:r>
            <a:r>
              <a:rPr b="1" lang="zh-CN" sz="1050" spc="-1" strike="noStrike">
                <a:solidFill>
                  <a:srgbClr val="ffffff"/>
                </a:solidFill>
                <a:latin typeface="Yu Gothic"/>
              </a:rPr>
              <a:t>学習</a:t>
            </a:r>
            <a:endParaRPr b="0" lang="en-US" sz="1050" spc="-1" strike="noStrike">
              <a:latin typeface="Arial"/>
            </a:endParaRPr>
          </a:p>
        </p:txBody>
      </p:sp>
      <p:sp>
        <p:nvSpPr>
          <p:cNvPr id="815" name="CustomShape 19"/>
          <p:cNvSpPr/>
          <p:nvPr/>
        </p:nvSpPr>
        <p:spPr>
          <a:xfrm>
            <a:off x="2797920" y="4352400"/>
            <a:ext cx="5010480" cy="4100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5000"/>
              </a:lnSpc>
            </a:pPr>
            <a:r>
              <a:rPr b="0" lang="zh-CN" sz="1000" spc="-1" strike="noStrike">
                <a:solidFill>
                  <a:srgbClr val="222222"/>
                </a:solidFill>
                <a:latin typeface="Yu Gothic"/>
              </a:rPr>
              <a:t>数千体のロボットを</a:t>
            </a:r>
            <a:r>
              <a:rPr b="0" lang="en-US" sz="1000" spc="-1" strike="noStrike">
                <a:solidFill>
                  <a:srgbClr val="222222"/>
                </a:solidFill>
                <a:latin typeface="Yu Gothic"/>
              </a:rPr>
              <a:t>GPU</a:t>
            </a:r>
            <a:r>
              <a:rPr b="0" lang="zh-CN" sz="1000" spc="-1" strike="noStrike">
                <a:solidFill>
                  <a:srgbClr val="222222"/>
                </a:solidFill>
                <a:latin typeface="Yu Gothic"/>
              </a:rPr>
              <a:t>上で同時にシミュレートし、</a:t>
            </a:r>
            <a:endParaRPr b="0" lang="en-US" sz="1000" spc="-1" strike="noStrike">
              <a:latin typeface="Arial"/>
            </a:endParaRPr>
          </a:p>
          <a:p>
            <a:pPr>
              <a:lnSpc>
                <a:spcPct val="105000"/>
              </a:lnSpc>
            </a:pPr>
            <a:r>
              <a:rPr b="0" lang="zh-CN" sz="1000" spc="-1" strike="noStrike">
                <a:solidFill>
                  <a:srgbClr val="222222"/>
                </a:solidFill>
                <a:latin typeface="Yu Gothic"/>
              </a:rPr>
              <a:t>歩行方策を数十分で獲得</a:t>
            </a:r>
            <a:r>
              <a:rPr b="0" lang="en-US" sz="1000" spc="-1" strike="noStrike">
                <a:solidFill>
                  <a:srgbClr val="222222"/>
                </a:solidFill>
                <a:latin typeface="Yu Gothic"/>
              </a:rPr>
              <a:t>(Isaac Gym/Lab)</a:t>
            </a:r>
            <a:r>
              <a:rPr b="0" lang="zh-CN" sz="1000" spc="-1" strike="noStrike">
                <a:solidFill>
                  <a:srgbClr val="222222"/>
                </a:solidFill>
                <a:latin typeface="Yu Gothic"/>
              </a:rPr>
              <a:t>。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816" name="CustomShape 20"/>
          <p:cNvSpPr/>
          <p:nvPr/>
        </p:nvSpPr>
        <p:spPr>
          <a:xfrm>
            <a:off x="7918560" y="4352400"/>
            <a:ext cx="3273120" cy="3942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5000"/>
              </a:lnSpc>
            </a:pPr>
            <a:r>
              <a:rPr b="0" lang="en-US" sz="950" spc="-1" strike="noStrike">
                <a:solidFill>
                  <a:srgbClr val="6b7280"/>
                </a:solidFill>
                <a:latin typeface="Yu Gothic"/>
              </a:rPr>
              <a:t>Rudin+ 2021</a:t>
            </a:r>
            <a:endParaRPr b="0" lang="en-US" sz="950" spc="-1" strike="noStrike">
              <a:latin typeface="Arial"/>
            </a:endParaRPr>
          </a:p>
          <a:p>
            <a:pPr>
              <a:lnSpc>
                <a:spcPct val="105000"/>
              </a:lnSpc>
            </a:pPr>
            <a:r>
              <a:rPr b="0" lang="en-US" sz="950" spc="-1" strike="noStrike">
                <a:solidFill>
                  <a:srgbClr val="6b7280"/>
                </a:solidFill>
                <a:latin typeface="Yu Gothic"/>
              </a:rPr>
              <a:t>"Learning to walk in minutes"</a:t>
            </a:r>
            <a:endParaRPr b="0" lang="en-US" sz="950" spc="-1" strike="noStrike">
              <a:latin typeface="Arial"/>
            </a:endParaRPr>
          </a:p>
        </p:txBody>
      </p:sp>
      <p:sp>
        <p:nvSpPr>
          <p:cNvPr id="817" name="CustomShape 21"/>
          <p:cNvSpPr/>
          <p:nvPr/>
        </p:nvSpPr>
        <p:spPr>
          <a:xfrm>
            <a:off x="548640" y="4937760"/>
            <a:ext cx="2194200" cy="566640"/>
          </a:xfrm>
          <a:prstGeom prst="roundRect">
            <a:avLst>
              <a:gd name="adj" fmla="val 16667"/>
            </a:avLst>
          </a:prstGeom>
          <a:solidFill>
            <a:srgbClr val="2e6fc7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050" spc="-1" strike="noStrike">
                <a:solidFill>
                  <a:srgbClr val="ffffff"/>
                </a:solidFill>
                <a:latin typeface="Yu Gothic"/>
              </a:rPr>
              <a:t>ASAP</a:t>
            </a:r>
            <a:endParaRPr b="0" lang="en-US" sz="1050" spc="-1" strike="noStrike">
              <a:latin typeface="Arial"/>
            </a:endParaRPr>
          </a:p>
        </p:txBody>
      </p:sp>
      <p:sp>
        <p:nvSpPr>
          <p:cNvPr id="818" name="CustomShape 22"/>
          <p:cNvSpPr/>
          <p:nvPr/>
        </p:nvSpPr>
        <p:spPr>
          <a:xfrm>
            <a:off x="2797920" y="4956120"/>
            <a:ext cx="5010480" cy="4100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5000"/>
              </a:lnSpc>
            </a:pPr>
            <a:r>
              <a:rPr b="0" lang="zh-CN" sz="1000" spc="-1" strike="noStrike">
                <a:solidFill>
                  <a:srgbClr val="222222"/>
                </a:solidFill>
                <a:latin typeface="Yu Gothic"/>
              </a:rPr>
              <a:t>シミュレータの物理パラメータ自体を実機データで事後補正し、</a:t>
            </a:r>
            <a:endParaRPr b="0" lang="en-US" sz="1000" spc="-1" strike="noStrike">
              <a:latin typeface="Arial"/>
            </a:endParaRPr>
          </a:p>
          <a:p>
            <a:pPr>
              <a:lnSpc>
                <a:spcPct val="105000"/>
              </a:lnSpc>
            </a:pPr>
            <a:r>
              <a:rPr b="0" lang="zh-CN" sz="1000" spc="-1" strike="noStrike">
                <a:solidFill>
                  <a:srgbClr val="222222"/>
                </a:solidFill>
                <a:latin typeface="Yu Gothic"/>
              </a:rPr>
              <a:t>ヒューマノイドの俊敏な全身動作の</a:t>
            </a:r>
            <a:r>
              <a:rPr b="0" lang="en-US" sz="1000" spc="-1" strike="noStrike">
                <a:solidFill>
                  <a:srgbClr val="222222"/>
                </a:solidFill>
                <a:latin typeface="Yu Gothic"/>
              </a:rPr>
              <a:t>sim2real</a:t>
            </a:r>
            <a:r>
              <a:rPr b="0" lang="zh-CN" sz="1000" spc="-1" strike="noStrike">
                <a:solidFill>
                  <a:srgbClr val="222222"/>
                </a:solidFill>
                <a:latin typeface="Yu Gothic"/>
              </a:rPr>
              <a:t>ギャップを縮める。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819" name="CustomShape 23"/>
          <p:cNvSpPr/>
          <p:nvPr/>
        </p:nvSpPr>
        <p:spPr>
          <a:xfrm>
            <a:off x="7918560" y="4956120"/>
            <a:ext cx="3273120" cy="2422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5000"/>
              </a:lnSpc>
            </a:pPr>
            <a:r>
              <a:rPr b="0" lang="en-US" sz="950" spc="-1" strike="noStrike">
                <a:solidFill>
                  <a:srgbClr val="6b7280"/>
                </a:solidFill>
                <a:latin typeface="Yu Gothic"/>
              </a:rPr>
              <a:t>2025, </a:t>
            </a:r>
            <a:r>
              <a:rPr b="0" lang="zh-CN" sz="950" spc="-1" strike="noStrike">
                <a:solidFill>
                  <a:srgbClr val="6b7280"/>
                </a:solidFill>
                <a:latin typeface="Yu Gothic"/>
              </a:rPr>
              <a:t>ヒューマノイド</a:t>
            </a:r>
            <a:r>
              <a:rPr b="0" lang="en-US" sz="950" spc="-1" strike="noStrike">
                <a:solidFill>
                  <a:srgbClr val="6b7280"/>
                </a:solidFill>
                <a:latin typeface="Yu Gothic"/>
              </a:rPr>
              <a:t>(</a:t>
            </a:r>
            <a:r>
              <a:rPr b="0" lang="zh-CN" sz="950" spc="-1" strike="noStrike">
                <a:solidFill>
                  <a:srgbClr val="6b7280"/>
                </a:solidFill>
                <a:latin typeface="Yu Gothic"/>
              </a:rPr>
              <a:t>等身大</a:t>
            </a:r>
            <a:r>
              <a:rPr b="0" lang="en-US" sz="950" spc="-1" strike="noStrike">
                <a:solidFill>
                  <a:srgbClr val="6b7280"/>
                </a:solidFill>
                <a:latin typeface="Yu Gothic"/>
              </a:rPr>
              <a:t>)</a:t>
            </a:r>
            <a:endParaRPr b="0" lang="en-US" sz="950" spc="-1" strike="noStrike">
              <a:latin typeface="Arial"/>
            </a:endParaRPr>
          </a:p>
        </p:txBody>
      </p:sp>
      <p:sp>
        <p:nvSpPr>
          <p:cNvPr id="820" name="CustomShape 24"/>
          <p:cNvSpPr/>
          <p:nvPr/>
        </p:nvSpPr>
        <p:spPr>
          <a:xfrm>
            <a:off x="548640" y="6355080"/>
            <a:ext cx="11063880" cy="4741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15000"/>
              </a:lnSpc>
            </a:pPr>
            <a:r>
              <a:rPr b="0" lang="zh-CN" sz="1100" spc="-1" strike="noStrike">
                <a:solidFill>
                  <a:srgbClr val="6b7280"/>
                </a:solidFill>
                <a:latin typeface="Yu Gothic"/>
              </a:rPr>
              <a:t>土台として</a:t>
            </a:r>
            <a:r>
              <a:rPr b="0" lang="en-US" sz="1100" spc="-1" strike="noStrike">
                <a:solidFill>
                  <a:srgbClr val="6b7280"/>
                </a:solidFill>
                <a:latin typeface="Yu Gothic"/>
              </a:rPr>
              <a:t>Genesis(2024, RTX4090</a:t>
            </a:r>
            <a:r>
              <a:rPr b="0" lang="zh-CN" sz="1100" spc="-1" strike="noStrike">
                <a:solidFill>
                  <a:srgbClr val="6b7280"/>
                </a:solidFill>
                <a:latin typeface="Yu Gothic"/>
              </a:rPr>
              <a:t>上で実時間の</a:t>
            </a:r>
            <a:r>
              <a:rPr b="0" lang="en-US" sz="1100" spc="-1" strike="noStrike">
                <a:solidFill>
                  <a:srgbClr val="6b7280"/>
                </a:solidFill>
                <a:latin typeface="Yu Gothic"/>
              </a:rPr>
              <a:t>43</a:t>
            </a:r>
            <a:r>
              <a:rPr b="0" lang="zh-CN" sz="1100" spc="-1" strike="noStrike">
                <a:solidFill>
                  <a:srgbClr val="6b7280"/>
                </a:solidFill>
                <a:latin typeface="Yu Gothic"/>
              </a:rPr>
              <a:t>万倍・歩行方策を</a:t>
            </a:r>
            <a:r>
              <a:rPr b="0" lang="en-US" sz="1100" spc="-1" strike="noStrike">
                <a:solidFill>
                  <a:srgbClr val="6b7280"/>
                </a:solidFill>
                <a:latin typeface="Yu Gothic"/>
              </a:rPr>
              <a:t>26</a:t>
            </a:r>
            <a:r>
              <a:rPr b="0" lang="zh-CN" sz="1100" spc="-1" strike="noStrike">
                <a:solidFill>
                  <a:srgbClr val="6b7280"/>
                </a:solidFill>
                <a:latin typeface="Yu Gothic"/>
              </a:rPr>
              <a:t>秒で学習</a:t>
            </a:r>
            <a:r>
              <a:rPr b="0" lang="en-US" sz="1100" spc="-1" strike="noStrike">
                <a:solidFill>
                  <a:srgbClr val="6b7280"/>
                </a:solidFill>
                <a:latin typeface="Yu Gothic"/>
              </a:rPr>
              <a:t>)</a:t>
            </a:r>
            <a:r>
              <a:rPr b="0" lang="zh-CN" sz="1100" spc="-1" strike="noStrike">
                <a:solidFill>
                  <a:srgbClr val="6b7280"/>
                </a:solidFill>
                <a:latin typeface="Yu Gothic"/>
              </a:rPr>
              <a:t>のような超高速物理エンジンが</a:t>
            </a:r>
            <a:endParaRPr b="0" lang="en-US" sz="1100" spc="-1" strike="noStrike">
              <a:latin typeface="Arial"/>
            </a:endParaRPr>
          </a:p>
          <a:p>
            <a:pPr>
              <a:lnSpc>
                <a:spcPct val="115000"/>
              </a:lnSpc>
            </a:pPr>
            <a:r>
              <a:rPr b="0" lang="en-US" sz="1100" spc="-1" strike="noStrike">
                <a:solidFill>
                  <a:srgbClr val="6b7280"/>
                </a:solidFill>
                <a:latin typeface="Yu Gothic"/>
              </a:rPr>
              <a:t>sim2real</a:t>
            </a:r>
            <a:r>
              <a:rPr b="0" lang="zh-CN" sz="1100" spc="-1" strike="noStrike">
                <a:solidFill>
                  <a:srgbClr val="6b7280"/>
                </a:solidFill>
                <a:latin typeface="Yu Gothic"/>
              </a:rPr>
              <a:t>の反復速度自体を大きく引き上げつつある。</a:t>
            </a:r>
            <a:endParaRPr b="0" lang="en-US" sz="11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1" name="CustomShape 1"/>
          <p:cNvSpPr/>
          <p:nvPr/>
        </p:nvSpPr>
        <p:spPr>
          <a:xfrm>
            <a:off x="548640" y="320040"/>
            <a:ext cx="8229240" cy="3337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rgbClr val="6b3fa0"/>
                </a:solidFill>
                <a:latin typeface="Yu Gothic"/>
              </a:rPr>
              <a:t>FUTURE DIRECTION (</a:t>
            </a:r>
            <a:r>
              <a:rPr b="1" lang="zh-CN" sz="1600" spc="-1" strike="noStrike">
                <a:solidFill>
                  <a:srgbClr val="6b3fa0"/>
                </a:solidFill>
                <a:latin typeface="Yu Gothic"/>
              </a:rPr>
              <a:t>構想</a:t>
            </a:r>
            <a:r>
              <a:rPr b="1" lang="en-US" sz="1600" spc="-1" strike="noStrike">
                <a:solidFill>
                  <a:srgbClr val="6b3fa0"/>
                </a:solidFill>
                <a:latin typeface="Yu Gothic"/>
              </a:rPr>
              <a:t>)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822" name="CustomShape 2"/>
          <p:cNvSpPr/>
          <p:nvPr/>
        </p:nvSpPr>
        <p:spPr>
          <a:xfrm>
            <a:off x="548640" y="685800"/>
            <a:ext cx="10515240" cy="10033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3000" spc="-1" strike="noStrike">
                <a:solidFill>
                  <a:srgbClr val="1f2a44"/>
                </a:solidFill>
                <a:latin typeface="Yu Gothic"/>
              </a:rPr>
              <a:t>Real2Sim</a:t>
            </a:r>
            <a:r>
              <a:rPr b="1" lang="zh-CN" sz="3000" spc="-1" strike="noStrike">
                <a:solidFill>
                  <a:srgbClr val="1f2a44"/>
                </a:solidFill>
                <a:latin typeface="Yu Gothic"/>
              </a:rPr>
              <a:t>が重要になる理由</a:t>
            </a:r>
            <a:r>
              <a:rPr b="1" lang="en-US" sz="3000" spc="-1" strike="noStrike">
                <a:solidFill>
                  <a:srgbClr val="1f2a44"/>
                </a:solidFill>
                <a:latin typeface="Yu Gothic"/>
              </a:rPr>
              <a:t>(</a:t>
            </a:r>
            <a:r>
              <a:rPr b="1" lang="zh-CN" sz="3000" spc="-1" strike="noStrike">
                <a:solidFill>
                  <a:srgbClr val="1f2a44"/>
                </a:solidFill>
                <a:latin typeface="Yu Gothic"/>
              </a:rPr>
              <a:t>モジュール構成 </a:t>
            </a:r>
            <a:r>
              <a:rPr b="1" lang="en-US" sz="3000" spc="-1" strike="noStrike">
                <a:solidFill>
                  <a:srgbClr val="1f2a44"/>
                </a:solidFill>
                <a:latin typeface="Yu Gothic"/>
              </a:rPr>
              <a:t>x </a:t>
            </a:r>
            <a:r>
              <a:rPr b="1" lang="zh-CN" sz="3000" spc="-1" strike="noStrike">
                <a:solidFill>
                  <a:srgbClr val="1f2a44"/>
                </a:solidFill>
                <a:latin typeface="Yu Gothic"/>
              </a:rPr>
              <a:t>道具利用</a:t>
            </a:r>
            <a:r>
              <a:rPr b="1" lang="en-US" sz="3000" spc="-1" strike="noStrike">
                <a:solidFill>
                  <a:srgbClr val="1f2a44"/>
                </a:solidFill>
                <a:latin typeface="Yu Gothic"/>
              </a:rPr>
              <a:t>)</a:t>
            </a:r>
            <a:endParaRPr b="0" lang="en-US" sz="3000" spc="-1" strike="noStrike">
              <a:latin typeface="Arial"/>
            </a:endParaRPr>
          </a:p>
        </p:txBody>
      </p:sp>
      <p:sp>
        <p:nvSpPr>
          <p:cNvPr id="823" name="CustomShape 3"/>
          <p:cNvSpPr/>
          <p:nvPr/>
        </p:nvSpPr>
        <p:spPr>
          <a:xfrm>
            <a:off x="548640" y="1600200"/>
            <a:ext cx="5303160" cy="502560"/>
          </a:xfrm>
          <a:prstGeom prst="roundRect">
            <a:avLst>
              <a:gd name="adj" fmla="val 16667"/>
            </a:avLst>
          </a:prstGeom>
          <a:solidFill>
            <a:srgbClr val="2e6fc7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zh-CN" sz="1400" spc="-1" strike="noStrike">
                <a:solidFill>
                  <a:srgbClr val="ffffff"/>
                </a:solidFill>
                <a:latin typeface="Yu Gothic"/>
              </a:rPr>
              <a:t>モジュールの組み合わせ爆発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824" name="CustomShape 4"/>
          <p:cNvSpPr/>
          <p:nvPr/>
        </p:nvSpPr>
        <p:spPr>
          <a:xfrm>
            <a:off x="548640" y="2194560"/>
            <a:ext cx="5303160" cy="19911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30000"/>
              </a:lnSpc>
            </a:pPr>
            <a:r>
              <a:rPr b="0" lang="en-US" sz="1300" spc="-1" strike="noStrike">
                <a:solidFill>
                  <a:srgbClr val="222222"/>
                </a:solidFill>
                <a:latin typeface="Yu Gothic"/>
              </a:rPr>
              <a:t>kxr</a:t>
            </a:r>
            <a:r>
              <a:rPr b="0" lang="zh-CN" sz="1300" spc="-1" strike="noStrike">
                <a:solidFill>
                  <a:srgbClr val="222222"/>
                </a:solidFill>
                <a:latin typeface="Yu Gothic"/>
              </a:rPr>
              <a:t>のように脚・腕・頭部等のモジュールを</a:t>
            </a:r>
            <a:endParaRPr b="0" lang="en-US" sz="1300" spc="-1" strike="noStrike">
              <a:latin typeface="Arial"/>
            </a:endParaRPr>
          </a:p>
          <a:p>
            <a:pPr>
              <a:lnSpc>
                <a:spcPct val="130000"/>
              </a:lnSpc>
            </a:pPr>
            <a:r>
              <a:rPr b="0" lang="zh-CN" sz="1300" spc="-1" strike="noStrike">
                <a:solidFill>
                  <a:srgbClr val="222222"/>
                </a:solidFill>
                <a:latin typeface="Yu Gothic"/>
              </a:rPr>
              <a:t>組み合わせると、</a:t>
            </a:r>
            <a:r>
              <a:rPr b="0" lang="en-US" sz="1300" spc="-1" strike="noStrike">
                <a:solidFill>
                  <a:srgbClr val="222222"/>
                </a:solidFill>
                <a:latin typeface="Yu Gothic"/>
              </a:rPr>
              <a:t>rcb4robotconfig.l</a:t>
            </a:r>
            <a:r>
              <a:rPr b="0" lang="zh-CN" sz="1300" spc="-1" strike="noStrike">
                <a:solidFill>
                  <a:srgbClr val="222222"/>
                </a:solidFill>
                <a:latin typeface="Yu Gothic"/>
              </a:rPr>
              <a:t>だけでも</a:t>
            </a:r>
            <a:endParaRPr b="0" lang="en-US" sz="1300" spc="-1" strike="noStrike">
              <a:latin typeface="Arial"/>
            </a:endParaRPr>
          </a:p>
          <a:p>
            <a:pPr>
              <a:lnSpc>
                <a:spcPct val="130000"/>
              </a:lnSpc>
            </a:pPr>
            <a:r>
              <a:rPr b="0" lang="en-US" sz="1300" spc="-1" strike="noStrike">
                <a:solidFill>
                  <a:srgbClr val="222222"/>
                </a:solidFill>
                <a:latin typeface="Yu Gothic"/>
              </a:rPr>
              <a:t>500</a:t>
            </a:r>
            <a:r>
              <a:rPr b="0" lang="zh-CN" sz="1300" spc="-1" strike="noStrike">
                <a:solidFill>
                  <a:srgbClr val="222222"/>
                </a:solidFill>
                <a:latin typeface="Yu Gothic"/>
              </a:rPr>
              <a:t>種類規模の実機バリエーションが生まれる</a:t>
            </a:r>
            <a:endParaRPr b="0" lang="en-US" sz="1300" spc="-1" strike="noStrike">
              <a:latin typeface="Arial"/>
            </a:endParaRPr>
          </a:p>
          <a:p>
            <a:pPr>
              <a:lnSpc>
                <a:spcPct val="130000"/>
              </a:lnSpc>
            </a:pPr>
            <a:r>
              <a:rPr b="0" lang="en-US" sz="1300" spc="-1" strike="noStrike">
                <a:solidFill>
                  <a:srgbClr val="222222"/>
                </a:solidFill>
                <a:latin typeface="Yu Gothic"/>
              </a:rPr>
              <a:t>(500</a:t>
            </a:r>
            <a:r>
              <a:rPr b="0" lang="zh-CN" sz="1300" spc="-1" strike="noStrike">
                <a:solidFill>
                  <a:srgbClr val="222222"/>
                </a:solidFill>
                <a:latin typeface="Yu Gothic"/>
              </a:rPr>
              <a:t>種類化構想そのもの</a:t>
            </a:r>
            <a:r>
              <a:rPr b="0" lang="en-US" sz="1300" spc="-1" strike="noStrike">
                <a:solidFill>
                  <a:srgbClr val="222222"/>
                </a:solidFill>
                <a:latin typeface="Yu Gothic"/>
              </a:rPr>
              <a:t>)</a:t>
            </a:r>
            <a:r>
              <a:rPr b="0" lang="zh-CN" sz="1300" spc="-1" strike="noStrike">
                <a:solidFill>
                  <a:srgbClr val="222222"/>
                </a:solidFill>
                <a:latin typeface="Yu Gothic"/>
              </a:rPr>
              <a:t>。</a:t>
            </a:r>
            <a:endParaRPr b="0" lang="en-US" sz="1300" spc="-1" strike="noStrike">
              <a:latin typeface="Arial"/>
            </a:endParaRPr>
          </a:p>
          <a:p>
            <a:pPr>
              <a:lnSpc>
                <a:spcPct val="130000"/>
              </a:lnSpc>
            </a:pPr>
            <a:endParaRPr b="0" lang="en-US" sz="1300" spc="-1" strike="noStrike">
              <a:latin typeface="Arial"/>
            </a:endParaRPr>
          </a:p>
          <a:p>
            <a:pPr>
              <a:lnSpc>
                <a:spcPct val="130000"/>
              </a:lnSpc>
            </a:pPr>
            <a:r>
              <a:rPr b="0" lang="en-US" sz="1300" spc="-1" strike="noStrike">
                <a:solidFill>
                  <a:srgbClr val="222222"/>
                </a:solidFill>
                <a:latin typeface="Yu Gothic"/>
              </a:rPr>
              <a:t>→ </a:t>
            </a:r>
            <a:r>
              <a:rPr b="0" lang="zh-CN" sz="1300" spc="-1" strike="noStrike">
                <a:solidFill>
                  <a:srgbClr val="222222"/>
                </a:solidFill>
                <a:latin typeface="Yu Gothic"/>
              </a:rPr>
              <a:t>実機ごとに人手でシミュレータモデルを</a:t>
            </a:r>
            <a:endParaRPr b="0" lang="en-US" sz="1300" spc="-1" strike="noStrike">
              <a:latin typeface="Arial"/>
            </a:endParaRPr>
          </a:p>
          <a:p>
            <a:pPr>
              <a:lnSpc>
                <a:spcPct val="130000"/>
              </a:lnSpc>
            </a:pPr>
            <a:r>
              <a:rPr b="0" lang="en-US" sz="1300" spc="-1" strike="noStrike">
                <a:solidFill>
                  <a:srgbClr val="222222"/>
                </a:solidFill>
                <a:latin typeface="Yu Gothic"/>
              </a:rPr>
              <a:t>  </a:t>
            </a:r>
            <a:r>
              <a:rPr b="0" lang="zh-CN" sz="1300" spc="-1" strike="noStrike">
                <a:solidFill>
                  <a:srgbClr val="222222"/>
                </a:solidFill>
                <a:latin typeface="Yu Gothic"/>
              </a:rPr>
              <a:t>作るのは非現実的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825" name="CustomShape 5"/>
          <p:cNvSpPr/>
          <p:nvPr/>
        </p:nvSpPr>
        <p:spPr>
          <a:xfrm>
            <a:off x="6126480" y="1600200"/>
            <a:ext cx="5303160" cy="502560"/>
          </a:xfrm>
          <a:prstGeom prst="roundRect">
            <a:avLst>
              <a:gd name="adj" fmla="val 16667"/>
            </a:avLst>
          </a:prstGeom>
          <a:solidFill>
            <a:srgbClr val="b03030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zh-CN" sz="1400" spc="-1" strike="noStrike">
                <a:solidFill>
                  <a:srgbClr val="ffffff"/>
                </a:solidFill>
                <a:latin typeface="Yu Gothic"/>
              </a:rPr>
              <a:t>道具を使うと対象も増える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826" name="CustomShape 6"/>
          <p:cNvSpPr/>
          <p:nvPr/>
        </p:nvSpPr>
        <p:spPr>
          <a:xfrm>
            <a:off x="6126480" y="2194560"/>
            <a:ext cx="5303160" cy="19911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30000"/>
              </a:lnSpc>
            </a:pPr>
            <a:r>
              <a:rPr b="0" lang="zh-CN" sz="1300" spc="-1" strike="noStrike">
                <a:solidFill>
                  <a:srgbClr val="222222"/>
                </a:solidFill>
                <a:latin typeface="Yu Gothic"/>
              </a:rPr>
              <a:t>ロボット本体だけでなく、掴む・使う</a:t>
            </a:r>
            <a:endParaRPr b="0" lang="en-US" sz="1300" spc="-1" strike="noStrike">
              <a:latin typeface="Arial"/>
            </a:endParaRPr>
          </a:p>
          <a:p>
            <a:pPr>
              <a:lnSpc>
                <a:spcPct val="130000"/>
              </a:lnSpc>
            </a:pPr>
            <a:r>
              <a:rPr b="0" lang="zh-CN" sz="1300" spc="-1" strike="noStrike">
                <a:solidFill>
                  <a:srgbClr val="222222"/>
                </a:solidFill>
                <a:latin typeface="Yu Gothic"/>
              </a:rPr>
              <a:t>「道具」自体の形状・質量・摩擦も</a:t>
            </a:r>
            <a:endParaRPr b="0" lang="en-US" sz="1300" spc="-1" strike="noStrike">
              <a:latin typeface="Arial"/>
            </a:endParaRPr>
          </a:p>
          <a:p>
            <a:pPr>
              <a:lnSpc>
                <a:spcPct val="130000"/>
              </a:lnSpc>
            </a:pPr>
            <a:r>
              <a:rPr b="0" lang="zh-CN" sz="1300" spc="-1" strike="noStrike">
                <a:solidFill>
                  <a:srgbClr val="222222"/>
                </a:solidFill>
                <a:latin typeface="Yu Gothic"/>
              </a:rPr>
              <a:t>シミュレータに反映する必要がある。</a:t>
            </a:r>
            <a:endParaRPr b="0" lang="en-US" sz="1300" spc="-1" strike="noStrike">
              <a:latin typeface="Arial"/>
            </a:endParaRPr>
          </a:p>
          <a:p>
            <a:pPr>
              <a:lnSpc>
                <a:spcPct val="130000"/>
              </a:lnSpc>
            </a:pPr>
            <a:endParaRPr b="0" lang="en-US" sz="1300" spc="-1" strike="noStrike">
              <a:latin typeface="Arial"/>
            </a:endParaRPr>
          </a:p>
          <a:p>
            <a:pPr>
              <a:lnSpc>
                <a:spcPct val="130000"/>
              </a:lnSpc>
            </a:pPr>
            <a:r>
              <a:rPr b="0" lang="en-US" sz="1300" spc="-1" strike="noStrike">
                <a:solidFill>
                  <a:srgbClr val="222222"/>
                </a:solidFill>
                <a:latin typeface="Yu Gothic"/>
              </a:rPr>
              <a:t>→ </a:t>
            </a:r>
            <a:r>
              <a:rPr b="0" lang="zh-CN" sz="1300" spc="-1" strike="noStrike">
                <a:solidFill>
                  <a:srgbClr val="222222"/>
                </a:solidFill>
                <a:latin typeface="Yu Gothic"/>
              </a:rPr>
              <a:t>ロボット本体</a:t>
            </a:r>
            <a:r>
              <a:rPr b="0" lang="en-US" sz="1300" spc="-1" strike="noStrike">
                <a:solidFill>
                  <a:srgbClr val="222222"/>
                </a:solidFill>
                <a:latin typeface="Yu Gothic"/>
              </a:rPr>
              <a:t>+</a:t>
            </a:r>
            <a:r>
              <a:rPr b="0" lang="zh-CN" sz="1300" spc="-1" strike="noStrike">
                <a:solidFill>
                  <a:srgbClr val="222222"/>
                </a:solidFill>
                <a:latin typeface="Yu Gothic"/>
              </a:rPr>
              <a:t>周囲の物体の両方を</a:t>
            </a:r>
            <a:endParaRPr b="0" lang="en-US" sz="1300" spc="-1" strike="noStrike">
              <a:latin typeface="Arial"/>
            </a:endParaRPr>
          </a:p>
          <a:p>
            <a:pPr>
              <a:lnSpc>
                <a:spcPct val="130000"/>
              </a:lnSpc>
            </a:pPr>
            <a:r>
              <a:rPr b="0" lang="en-US" sz="1300" spc="-1" strike="noStrike">
                <a:solidFill>
                  <a:srgbClr val="222222"/>
                </a:solidFill>
                <a:latin typeface="Yu Gothic"/>
              </a:rPr>
              <a:t>  </a:t>
            </a:r>
            <a:r>
              <a:rPr b="0" lang="zh-CN" sz="1300" spc="-1" strike="noStrike">
                <a:solidFill>
                  <a:srgbClr val="222222"/>
                </a:solidFill>
                <a:latin typeface="Yu Gothic"/>
              </a:rPr>
              <a:t>自動的にシミュレータへ取り込む</a:t>
            </a:r>
            <a:endParaRPr b="0" lang="en-US" sz="1300" spc="-1" strike="noStrike">
              <a:latin typeface="Arial"/>
            </a:endParaRPr>
          </a:p>
          <a:p>
            <a:pPr>
              <a:lnSpc>
                <a:spcPct val="130000"/>
              </a:lnSpc>
            </a:pPr>
            <a:r>
              <a:rPr b="0" lang="en-US" sz="1300" spc="-1" strike="noStrike">
                <a:solidFill>
                  <a:srgbClr val="222222"/>
                </a:solidFill>
                <a:latin typeface="Yu Gothic"/>
              </a:rPr>
              <a:t>  </a:t>
            </a:r>
            <a:r>
              <a:rPr b="0" lang="zh-CN" sz="1300" spc="-1" strike="noStrike">
                <a:solidFill>
                  <a:srgbClr val="222222"/>
                </a:solidFill>
                <a:latin typeface="Yu Gothic"/>
              </a:rPr>
              <a:t>「</a:t>
            </a:r>
            <a:r>
              <a:rPr b="0" lang="en-US" sz="1300" spc="-1" strike="noStrike">
                <a:solidFill>
                  <a:srgbClr val="222222"/>
                </a:solidFill>
                <a:latin typeface="Yu Gothic"/>
              </a:rPr>
              <a:t>Real2Sim</a:t>
            </a:r>
            <a:r>
              <a:rPr b="0" lang="zh-CN" sz="1300" spc="-1" strike="noStrike">
                <a:solidFill>
                  <a:srgbClr val="222222"/>
                </a:solidFill>
                <a:latin typeface="Yu Gothic"/>
              </a:rPr>
              <a:t>」が不可欠になる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827" name="CustomShape 7"/>
          <p:cNvSpPr/>
          <p:nvPr/>
        </p:nvSpPr>
        <p:spPr>
          <a:xfrm>
            <a:off x="548640" y="4572000"/>
            <a:ext cx="11063880" cy="15152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30000"/>
              </a:lnSpc>
            </a:pPr>
            <a:r>
              <a:rPr b="0" lang="en-US" sz="1350" spc="-1" strike="noStrike">
                <a:solidFill>
                  <a:srgbClr val="222222"/>
                </a:solidFill>
                <a:latin typeface="Yu Gothic"/>
              </a:rPr>
              <a:t>kxr</a:t>
            </a:r>
            <a:r>
              <a:rPr b="0" lang="zh-CN" sz="1350" spc="-1" strike="noStrike">
                <a:solidFill>
                  <a:srgbClr val="222222"/>
                </a:solidFill>
                <a:latin typeface="Yu Gothic"/>
              </a:rPr>
              <a:t>自身は「</a:t>
            </a:r>
            <a:r>
              <a:rPr b="0" lang="en-US" sz="1350" spc="-1" strike="noStrike">
                <a:solidFill>
                  <a:srgbClr val="222222"/>
                </a:solidFill>
                <a:latin typeface="Yu Gothic"/>
              </a:rPr>
              <a:t>rcb4robotconfig.l(</a:t>
            </a:r>
            <a:r>
              <a:rPr b="0" lang="zh-CN" sz="1350" spc="-1" strike="noStrike">
                <a:solidFill>
                  <a:srgbClr val="222222"/>
                </a:solidFill>
                <a:latin typeface="Yu Gothic"/>
              </a:rPr>
              <a:t>設計データ</a:t>
            </a:r>
            <a:r>
              <a:rPr b="0" lang="en-US" sz="1350" spc="-1" strike="noStrike">
                <a:solidFill>
                  <a:srgbClr val="222222"/>
                </a:solidFill>
                <a:latin typeface="Yu Gothic"/>
              </a:rPr>
              <a:t>)</a:t>
            </a:r>
            <a:r>
              <a:rPr b="0" lang="zh-CN" sz="1350" spc="-1" strike="noStrike">
                <a:solidFill>
                  <a:srgbClr val="222222"/>
                </a:solidFill>
                <a:latin typeface="Yu Gothic"/>
              </a:rPr>
              <a:t>から</a:t>
            </a:r>
            <a:r>
              <a:rPr b="0" lang="en-US" sz="1350" spc="-1" strike="noStrike">
                <a:solidFill>
                  <a:srgbClr val="222222"/>
                </a:solidFill>
                <a:latin typeface="Yu Gothic"/>
              </a:rPr>
              <a:t>URDF/MuJoCo</a:t>
            </a:r>
            <a:r>
              <a:rPr b="0" lang="zh-CN" sz="1350" spc="-1" strike="noStrike">
                <a:solidFill>
                  <a:srgbClr val="222222"/>
                </a:solidFill>
                <a:latin typeface="Yu Gothic"/>
              </a:rPr>
              <a:t>を直接生成する」という、</a:t>
            </a:r>
            <a:endParaRPr b="0" lang="en-US" sz="1350" spc="-1" strike="noStrike">
              <a:latin typeface="Arial"/>
            </a:endParaRPr>
          </a:p>
          <a:p>
            <a:pPr>
              <a:lnSpc>
                <a:spcPct val="130000"/>
              </a:lnSpc>
            </a:pPr>
            <a:r>
              <a:rPr b="0" lang="zh-CN" sz="1350" spc="-1" strike="noStrike">
                <a:solidFill>
                  <a:srgbClr val="222222"/>
                </a:solidFill>
                <a:latin typeface="Yu Gothic"/>
              </a:rPr>
              <a:t>視覚的な逆推定を経ない別解を既に持っている</a:t>
            </a:r>
            <a:r>
              <a:rPr b="0" lang="en-US" sz="1350" spc="-1" strike="noStrike">
                <a:solidFill>
                  <a:srgbClr val="222222"/>
                </a:solidFill>
                <a:latin typeface="Yu Gothic"/>
              </a:rPr>
              <a:t>(</a:t>
            </a:r>
            <a:r>
              <a:rPr b="0" lang="zh-CN" sz="1350" spc="-1" strike="noStrike">
                <a:solidFill>
                  <a:srgbClr val="222222"/>
                </a:solidFill>
                <a:latin typeface="Yu Gothic"/>
              </a:rPr>
              <a:t>設計時点で</a:t>
            </a:r>
            <a:r>
              <a:rPr b="0" lang="en-US" sz="1350" spc="-1" strike="noStrike">
                <a:solidFill>
                  <a:srgbClr val="222222"/>
                </a:solidFill>
                <a:latin typeface="Yu Gothic"/>
              </a:rPr>
              <a:t>Real/Sim</a:t>
            </a:r>
            <a:r>
              <a:rPr b="0" lang="zh-CN" sz="1350" spc="-1" strike="noStrike">
                <a:solidFill>
                  <a:srgbClr val="222222"/>
                </a:solidFill>
                <a:latin typeface="Yu Gothic"/>
              </a:rPr>
              <a:t>が最初から一致している</a:t>
            </a:r>
            <a:r>
              <a:rPr b="0" lang="en-US" sz="1350" spc="-1" strike="noStrike">
                <a:solidFill>
                  <a:srgbClr val="222222"/>
                </a:solidFill>
                <a:latin typeface="Yu Gothic"/>
              </a:rPr>
              <a:t>)</a:t>
            </a:r>
            <a:r>
              <a:rPr b="0" lang="zh-CN" sz="1350" spc="-1" strike="noStrike">
                <a:solidFill>
                  <a:srgbClr val="222222"/>
                </a:solidFill>
                <a:latin typeface="Yu Gothic"/>
              </a:rPr>
              <a:t>。</a:t>
            </a:r>
            <a:endParaRPr b="0" lang="en-US" sz="1350" spc="-1" strike="noStrike">
              <a:latin typeface="Arial"/>
            </a:endParaRPr>
          </a:p>
          <a:p>
            <a:pPr>
              <a:lnSpc>
                <a:spcPct val="130000"/>
              </a:lnSpc>
            </a:pPr>
            <a:endParaRPr b="0" lang="en-US" sz="1350" spc="-1" strike="noStrike">
              <a:latin typeface="Arial"/>
            </a:endParaRPr>
          </a:p>
          <a:p>
            <a:pPr>
              <a:lnSpc>
                <a:spcPct val="130000"/>
              </a:lnSpc>
            </a:pPr>
            <a:r>
              <a:rPr b="0" lang="zh-CN" sz="1350" spc="-1" strike="noStrike">
                <a:solidFill>
                  <a:srgbClr val="222222"/>
                </a:solidFill>
                <a:latin typeface="Yu Gothic"/>
              </a:rPr>
              <a:t>一方、道具や環境、他社の既製ロボットのように設計データが手に入らない対象には、</a:t>
            </a:r>
            <a:endParaRPr b="0" lang="en-US" sz="1350" spc="-1" strike="noStrike">
              <a:latin typeface="Arial"/>
            </a:endParaRPr>
          </a:p>
          <a:p>
            <a:pPr>
              <a:lnSpc>
                <a:spcPct val="130000"/>
              </a:lnSpc>
            </a:pPr>
            <a:r>
              <a:rPr b="0" lang="zh-CN" sz="1350" spc="-1" strike="noStrike">
                <a:solidFill>
                  <a:srgbClr val="222222"/>
                </a:solidFill>
                <a:latin typeface="Yu Gothic"/>
              </a:rPr>
              <a:t>実機・環境を「見て」シミュレータへ取り込む、次ページのような</a:t>
            </a:r>
            <a:r>
              <a:rPr b="0" lang="en-US" sz="1350" spc="-1" strike="noStrike">
                <a:solidFill>
                  <a:srgbClr val="222222"/>
                </a:solidFill>
                <a:latin typeface="Yu Gothic"/>
              </a:rPr>
              <a:t>Real2Sim</a:t>
            </a:r>
            <a:r>
              <a:rPr b="0" lang="zh-CN" sz="1350" spc="-1" strike="noStrike">
                <a:solidFill>
                  <a:srgbClr val="222222"/>
                </a:solidFill>
                <a:latin typeface="Yu Gothic"/>
              </a:rPr>
              <a:t>手法が必要になる。</a:t>
            </a:r>
            <a:endParaRPr b="0" lang="en-US" sz="135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8" name="CustomShape 1"/>
          <p:cNvSpPr/>
          <p:nvPr/>
        </p:nvSpPr>
        <p:spPr>
          <a:xfrm>
            <a:off x="548640" y="320040"/>
            <a:ext cx="8229240" cy="3337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rgbClr val="6b3fa0"/>
                </a:solidFill>
                <a:latin typeface="Yu Gothic"/>
              </a:rPr>
              <a:t>FUTURE DIRECTION (</a:t>
            </a:r>
            <a:r>
              <a:rPr b="1" lang="zh-CN" sz="1600" spc="-1" strike="noStrike">
                <a:solidFill>
                  <a:srgbClr val="6b3fa0"/>
                </a:solidFill>
                <a:latin typeface="Yu Gothic"/>
              </a:rPr>
              <a:t>構想</a:t>
            </a:r>
            <a:r>
              <a:rPr b="1" lang="en-US" sz="1600" spc="-1" strike="noStrike">
                <a:solidFill>
                  <a:srgbClr val="6b3fa0"/>
                </a:solidFill>
                <a:latin typeface="Yu Gothic"/>
              </a:rPr>
              <a:t>)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829" name="CustomShape 2"/>
          <p:cNvSpPr/>
          <p:nvPr/>
        </p:nvSpPr>
        <p:spPr>
          <a:xfrm>
            <a:off x="548640" y="685800"/>
            <a:ext cx="10515240" cy="5472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3000" spc="-1" strike="noStrike">
                <a:solidFill>
                  <a:srgbClr val="1f2a44"/>
                </a:solidFill>
                <a:latin typeface="Yu Gothic"/>
              </a:rPr>
              <a:t>Real2Sim</a:t>
            </a:r>
            <a:r>
              <a:rPr b="1" lang="zh-CN" sz="3000" spc="-1" strike="noStrike">
                <a:solidFill>
                  <a:srgbClr val="1f2a44"/>
                </a:solidFill>
                <a:latin typeface="Yu Gothic"/>
              </a:rPr>
              <a:t>手法サーベイ</a:t>
            </a:r>
            <a:endParaRPr b="0" lang="en-US" sz="3000" spc="-1" strike="noStrike">
              <a:latin typeface="Arial"/>
            </a:endParaRPr>
          </a:p>
        </p:txBody>
      </p:sp>
      <p:sp>
        <p:nvSpPr>
          <p:cNvPr id="830" name="CustomShape 3"/>
          <p:cNvSpPr/>
          <p:nvPr/>
        </p:nvSpPr>
        <p:spPr>
          <a:xfrm>
            <a:off x="548640" y="1417320"/>
            <a:ext cx="2194200" cy="456840"/>
          </a:xfrm>
          <a:prstGeom prst="roundRect">
            <a:avLst>
              <a:gd name="adj" fmla="val 16667"/>
            </a:avLst>
          </a:prstGeom>
          <a:solidFill>
            <a:srgbClr val="1f2a44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zh-CN" sz="1250" spc="-1" strike="noStrike">
                <a:solidFill>
                  <a:srgbClr val="ffffff"/>
                </a:solidFill>
                <a:latin typeface="Yu Gothic"/>
              </a:rPr>
              <a:t>手法</a:t>
            </a:r>
            <a:endParaRPr b="0" lang="en-US" sz="1250" spc="-1" strike="noStrike">
              <a:latin typeface="Arial"/>
            </a:endParaRPr>
          </a:p>
        </p:txBody>
      </p:sp>
      <p:sp>
        <p:nvSpPr>
          <p:cNvPr id="831" name="CustomShape 4"/>
          <p:cNvSpPr/>
          <p:nvPr/>
        </p:nvSpPr>
        <p:spPr>
          <a:xfrm>
            <a:off x="2743200" y="1417320"/>
            <a:ext cx="5120280" cy="456840"/>
          </a:xfrm>
          <a:prstGeom prst="roundRect">
            <a:avLst>
              <a:gd name="adj" fmla="val 16667"/>
            </a:avLst>
          </a:prstGeom>
          <a:solidFill>
            <a:srgbClr val="1f2a44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zh-CN" sz="1250" spc="-1" strike="noStrike">
                <a:solidFill>
                  <a:srgbClr val="ffffff"/>
                </a:solidFill>
                <a:latin typeface="Yu Gothic"/>
              </a:rPr>
              <a:t>内容</a:t>
            </a:r>
            <a:endParaRPr b="0" lang="en-US" sz="1250" spc="-1" strike="noStrike">
              <a:latin typeface="Arial"/>
            </a:endParaRPr>
          </a:p>
        </p:txBody>
      </p:sp>
      <p:sp>
        <p:nvSpPr>
          <p:cNvPr id="832" name="CustomShape 5"/>
          <p:cNvSpPr/>
          <p:nvPr/>
        </p:nvSpPr>
        <p:spPr>
          <a:xfrm>
            <a:off x="7863840" y="1417320"/>
            <a:ext cx="3382920" cy="456840"/>
          </a:xfrm>
          <a:prstGeom prst="roundRect">
            <a:avLst>
              <a:gd name="adj" fmla="val 16667"/>
            </a:avLst>
          </a:prstGeom>
          <a:solidFill>
            <a:srgbClr val="1f2a44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zh-CN" sz="1250" spc="-1" strike="noStrike">
                <a:solidFill>
                  <a:srgbClr val="ffffff"/>
                </a:solidFill>
                <a:latin typeface="Yu Gothic"/>
              </a:rPr>
              <a:t>出典・適用例</a:t>
            </a:r>
            <a:endParaRPr b="0" lang="en-US" sz="1250" spc="-1" strike="noStrike">
              <a:latin typeface="Arial"/>
            </a:endParaRPr>
          </a:p>
        </p:txBody>
      </p:sp>
      <p:sp>
        <p:nvSpPr>
          <p:cNvPr id="833" name="CustomShape 6"/>
          <p:cNvSpPr/>
          <p:nvPr/>
        </p:nvSpPr>
        <p:spPr>
          <a:xfrm>
            <a:off x="548640" y="1965960"/>
            <a:ext cx="2194200" cy="914040"/>
          </a:xfrm>
          <a:prstGeom prst="roundRect">
            <a:avLst>
              <a:gd name="adj" fmla="val 16667"/>
            </a:avLst>
          </a:prstGeom>
          <a:solidFill>
            <a:srgbClr val="2ea059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zh-CN" sz="1100" spc="-1" strike="noStrike">
                <a:solidFill>
                  <a:srgbClr val="ffffff"/>
                </a:solidFill>
                <a:latin typeface="Yu Gothic"/>
              </a:rPr>
              <a:t>フォトグラメトリ </a:t>
            </a:r>
            <a:r>
              <a:rPr b="1" lang="en-US" sz="1100" spc="-1" strike="noStrike">
                <a:solidFill>
                  <a:srgbClr val="ffffff"/>
                </a:solidFill>
                <a:latin typeface="Yu Gothic"/>
              </a:rPr>
              <a:t>/</a:t>
            </a:r>
            <a:br/>
            <a:r>
              <a:rPr b="1" lang="en-US" sz="1100" spc="-1" strike="noStrike">
                <a:solidFill>
                  <a:srgbClr val="ffffff"/>
                </a:solidFill>
                <a:latin typeface="Yu Gothic"/>
              </a:rPr>
              <a:t>NeRF / Gaussian</a:t>
            </a:r>
            <a:br/>
            <a:r>
              <a:rPr b="1" lang="en-US" sz="1100" spc="-1" strike="noStrike">
                <a:solidFill>
                  <a:srgbClr val="ffffff"/>
                </a:solidFill>
                <a:latin typeface="Yu Gothic"/>
              </a:rPr>
              <a:t>Splatting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834" name="CustomShape 7"/>
          <p:cNvSpPr/>
          <p:nvPr/>
        </p:nvSpPr>
        <p:spPr>
          <a:xfrm>
            <a:off x="2797920" y="1993320"/>
            <a:ext cx="5010480" cy="4417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10000"/>
              </a:lnSpc>
            </a:pPr>
            <a:r>
              <a:rPr b="0" lang="zh-CN" sz="1050" spc="-1" strike="noStrike">
                <a:solidFill>
                  <a:srgbClr val="222222"/>
                </a:solidFill>
                <a:latin typeface="Yu Gothic"/>
              </a:rPr>
              <a:t>スマホで撮影した映像から、数分で形状</a:t>
            </a:r>
            <a:r>
              <a:rPr b="0" lang="en-US" sz="1050" spc="-1" strike="noStrike">
                <a:solidFill>
                  <a:srgbClr val="222222"/>
                </a:solidFill>
                <a:latin typeface="Yu Gothic"/>
              </a:rPr>
              <a:t>+</a:t>
            </a:r>
            <a:r>
              <a:rPr b="0" lang="zh-CN" sz="1050" spc="-1" strike="noStrike">
                <a:solidFill>
                  <a:srgbClr val="222222"/>
                </a:solidFill>
                <a:latin typeface="Yu Gothic"/>
              </a:rPr>
              <a:t>コリジョン</a:t>
            </a:r>
            <a:endParaRPr b="0" lang="en-US" sz="1050" spc="-1" strike="noStrike">
              <a:latin typeface="Arial"/>
            </a:endParaRPr>
          </a:p>
          <a:p>
            <a:pPr>
              <a:lnSpc>
                <a:spcPct val="110000"/>
              </a:lnSpc>
            </a:pPr>
            <a:r>
              <a:rPr b="0" lang="zh-CN" sz="1050" spc="-1" strike="noStrike">
                <a:solidFill>
                  <a:srgbClr val="222222"/>
                </a:solidFill>
                <a:latin typeface="Yu Gothic"/>
              </a:rPr>
              <a:t>メッシュ付きの </a:t>
            </a:r>
            <a:r>
              <a:rPr b="0" lang="en-US" sz="1050" spc="-1" strike="noStrike">
                <a:solidFill>
                  <a:srgbClr val="222222"/>
                </a:solidFill>
                <a:latin typeface="Yu Gothic"/>
              </a:rPr>
              <a:t>digital twin </a:t>
            </a:r>
            <a:r>
              <a:rPr b="0" lang="zh-CN" sz="1050" spc="-1" strike="noStrike">
                <a:solidFill>
                  <a:srgbClr val="222222"/>
                </a:solidFill>
                <a:latin typeface="Yu Gothic"/>
              </a:rPr>
              <a:t>を自動生成する。</a:t>
            </a:r>
            <a:endParaRPr b="0" lang="en-US" sz="1050" spc="-1" strike="noStrike">
              <a:latin typeface="Arial"/>
            </a:endParaRPr>
          </a:p>
        </p:txBody>
      </p:sp>
      <p:sp>
        <p:nvSpPr>
          <p:cNvPr id="835" name="CustomShape 8"/>
          <p:cNvSpPr/>
          <p:nvPr/>
        </p:nvSpPr>
        <p:spPr>
          <a:xfrm>
            <a:off x="7918560" y="1993320"/>
            <a:ext cx="3273120" cy="7599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10000"/>
              </a:lnSpc>
            </a:pPr>
            <a:r>
              <a:rPr b="0" lang="en-US" sz="1000" spc="-1" strike="noStrike">
                <a:solidFill>
                  <a:srgbClr val="6b7280"/>
                </a:solidFill>
                <a:latin typeface="Yu Gothic"/>
              </a:rPr>
              <a:t>PhysTwin/GaussTwin/</a:t>
            </a:r>
            <a:endParaRPr b="0" lang="en-US" sz="1000" spc="-1" strike="noStrike">
              <a:latin typeface="Arial"/>
            </a:endParaRPr>
          </a:p>
          <a:p>
            <a:pPr>
              <a:lnSpc>
                <a:spcPct val="110000"/>
              </a:lnSpc>
            </a:pPr>
            <a:r>
              <a:rPr b="0" lang="en-US" sz="1000" spc="-1" strike="noStrike">
                <a:solidFill>
                  <a:srgbClr val="6b7280"/>
                </a:solidFill>
                <a:latin typeface="Yu Gothic"/>
              </a:rPr>
              <a:t>TwinAligner/GSWorld</a:t>
            </a:r>
            <a:r>
              <a:rPr b="0" lang="zh-CN" sz="1000" spc="-1" strike="noStrike">
                <a:solidFill>
                  <a:srgbClr val="6b7280"/>
                </a:solidFill>
                <a:latin typeface="Yu Gothic"/>
              </a:rPr>
              <a:t>等</a:t>
            </a:r>
            <a:endParaRPr b="0" lang="en-US" sz="1000" spc="-1" strike="noStrike">
              <a:latin typeface="Arial"/>
            </a:endParaRPr>
          </a:p>
          <a:p>
            <a:pPr>
              <a:lnSpc>
                <a:spcPct val="110000"/>
              </a:lnSpc>
            </a:pPr>
            <a:r>
              <a:rPr b="0" lang="en-US" sz="1000" spc="-1" strike="noStrike">
                <a:solidFill>
                  <a:srgbClr val="6b7280"/>
                </a:solidFill>
                <a:latin typeface="Yu Gothic"/>
              </a:rPr>
              <a:t>(2023</a:t>
            </a:r>
            <a:r>
              <a:rPr b="0" lang="zh-CN" sz="1000" spc="-1" strike="noStrike">
                <a:solidFill>
                  <a:srgbClr val="6b7280"/>
                </a:solidFill>
                <a:latin typeface="Yu Gothic"/>
              </a:rPr>
              <a:t>〜</a:t>
            </a:r>
            <a:r>
              <a:rPr b="0" lang="en-US" sz="1000" spc="-1" strike="noStrike">
                <a:solidFill>
                  <a:srgbClr val="6b7280"/>
                </a:solidFill>
                <a:latin typeface="Yu Gothic"/>
              </a:rPr>
              <a:t>2026</a:t>
            </a:r>
            <a:r>
              <a:rPr b="0" lang="zh-CN" sz="1000" spc="-1" strike="noStrike">
                <a:solidFill>
                  <a:srgbClr val="6b7280"/>
                </a:solidFill>
                <a:latin typeface="Yu Gothic"/>
              </a:rPr>
              <a:t>多数</a:t>
            </a:r>
            <a:r>
              <a:rPr b="0" lang="en-US" sz="1000" spc="-1" strike="noStrike">
                <a:solidFill>
                  <a:srgbClr val="6b7280"/>
                </a:solidFill>
                <a:latin typeface="Yu Gothic"/>
              </a:rPr>
              <a:t>)</a:t>
            </a:r>
            <a:endParaRPr b="0" lang="en-US" sz="1000" spc="-1" strike="noStrike">
              <a:latin typeface="Arial"/>
            </a:endParaRPr>
          </a:p>
          <a:p>
            <a:pPr>
              <a:lnSpc>
                <a:spcPct val="110000"/>
              </a:lnSpc>
            </a:pPr>
            <a:r>
              <a:rPr b="0" lang="zh-CN" sz="1000" spc="-1" strike="noStrike">
                <a:solidFill>
                  <a:srgbClr val="6b7280"/>
                </a:solidFill>
                <a:latin typeface="Yu Gothic"/>
              </a:rPr>
              <a:t>環境・物体・小型実機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836" name="CustomShape 9"/>
          <p:cNvSpPr/>
          <p:nvPr/>
        </p:nvSpPr>
        <p:spPr>
          <a:xfrm>
            <a:off x="548640" y="2953440"/>
            <a:ext cx="2194200" cy="914040"/>
          </a:xfrm>
          <a:prstGeom prst="roundRect">
            <a:avLst>
              <a:gd name="adj" fmla="val 16667"/>
            </a:avLst>
          </a:prstGeom>
          <a:solidFill>
            <a:srgbClr val="2ea059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100" spc="-1" strike="noStrike">
                <a:solidFill>
                  <a:srgbClr val="ffffff"/>
                </a:solidFill>
                <a:latin typeface="Yu Gothic"/>
              </a:rPr>
              <a:t>RialTo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837" name="CustomShape 10"/>
          <p:cNvSpPr/>
          <p:nvPr/>
        </p:nvSpPr>
        <p:spPr>
          <a:xfrm>
            <a:off x="2797920" y="2980800"/>
            <a:ext cx="5010480" cy="6174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10000"/>
              </a:lnSpc>
            </a:pPr>
            <a:r>
              <a:rPr b="0" lang="en-US" sz="1050" spc="-1" strike="noStrike">
                <a:solidFill>
                  <a:srgbClr val="222222"/>
                </a:solidFill>
                <a:latin typeface="Yu Gothic"/>
              </a:rPr>
              <a:t>NeRFStudio/ARCode/Polycam</a:t>
            </a:r>
            <a:r>
              <a:rPr b="0" lang="zh-CN" sz="1050" spc="-1" strike="noStrike">
                <a:solidFill>
                  <a:srgbClr val="222222"/>
                </a:solidFill>
                <a:latin typeface="Yu Gothic"/>
              </a:rPr>
              <a:t>等でスキャン→</a:t>
            </a:r>
            <a:r>
              <a:rPr b="0" lang="en-US" sz="1050" spc="-1" strike="noStrike">
                <a:solidFill>
                  <a:srgbClr val="222222"/>
                </a:solidFill>
                <a:latin typeface="Yu Gothic"/>
              </a:rPr>
              <a:t>GUI</a:t>
            </a:r>
            <a:r>
              <a:rPr b="0" lang="zh-CN" sz="1050" spc="-1" strike="noStrike">
                <a:solidFill>
                  <a:srgbClr val="222222"/>
                </a:solidFill>
                <a:latin typeface="Yu Gothic"/>
              </a:rPr>
              <a:t>で</a:t>
            </a:r>
            <a:endParaRPr b="0" lang="en-US" sz="1050" spc="-1" strike="noStrike">
              <a:latin typeface="Arial"/>
            </a:endParaRPr>
          </a:p>
          <a:p>
            <a:pPr>
              <a:lnSpc>
                <a:spcPct val="110000"/>
              </a:lnSpc>
            </a:pPr>
            <a:r>
              <a:rPr b="0" lang="zh-CN" sz="1050" spc="-1" strike="noStrike">
                <a:solidFill>
                  <a:srgbClr val="222222"/>
                </a:solidFill>
                <a:latin typeface="Yu Gothic"/>
              </a:rPr>
              <a:t>関節付与→シミュレータへ→実機デモを「</a:t>
            </a:r>
            <a:r>
              <a:rPr b="0" lang="en-US" sz="1050" spc="-1" strike="noStrike">
                <a:solidFill>
                  <a:srgbClr val="222222"/>
                </a:solidFill>
                <a:latin typeface="Yu Gothic"/>
              </a:rPr>
              <a:t>inverse</a:t>
            </a:r>
            <a:endParaRPr b="0" lang="en-US" sz="1050" spc="-1" strike="noStrike">
              <a:latin typeface="Arial"/>
            </a:endParaRPr>
          </a:p>
          <a:p>
            <a:pPr>
              <a:lnSpc>
                <a:spcPct val="110000"/>
              </a:lnSpc>
            </a:pPr>
            <a:r>
              <a:rPr b="0" lang="en-US" sz="1050" spc="-1" strike="noStrike">
                <a:solidFill>
                  <a:srgbClr val="222222"/>
                </a:solidFill>
                <a:latin typeface="Yu Gothic"/>
              </a:rPr>
              <a:t>distillation</a:t>
            </a:r>
            <a:r>
              <a:rPr b="0" lang="zh-CN" sz="1050" spc="-1" strike="noStrike">
                <a:solidFill>
                  <a:srgbClr val="222222"/>
                </a:solidFill>
                <a:latin typeface="Yu Gothic"/>
              </a:rPr>
              <a:t>」で</a:t>
            </a:r>
            <a:r>
              <a:rPr b="0" lang="en-US" sz="1050" spc="-1" strike="noStrike">
                <a:solidFill>
                  <a:srgbClr val="222222"/>
                </a:solidFill>
                <a:latin typeface="Yu Gothic"/>
              </a:rPr>
              <a:t>sim</a:t>
            </a:r>
            <a:r>
              <a:rPr b="0" lang="zh-CN" sz="1050" spc="-1" strike="noStrike">
                <a:solidFill>
                  <a:srgbClr val="222222"/>
                </a:solidFill>
                <a:latin typeface="Yu Gothic"/>
              </a:rPr>
              <a:t>に取り込み</a:t>
            </a:r>
            <a:r>
              <a:rPr b="0" lang="en-US" sz="1050" spc="-1" strike="noStrike">
                <a:solidFill>
                  <a:srgbClr val="222222"/>
                </a:solidFill>
                <a:latin typeface="Yu Gothic"/>
              </a:rPr>
              <a:t>RL</a:t>
            </a:r>
            <a:r>
              <a:rPr b="0" lang="zh-CN" sz="1050" spc="-1" strike="noStrike">
                <a:solidFill>
                  <a:srgbClr val="222222"/>
                </a:solidFill>
                <a:latin typeface="Yu Gothic"/>
              </a:rPr>
              <a:t>で磨き上げ→実機へ再展開。</a:t>
            </a:r>
            <a:endParaRPr b="0" lang="en-US" sz="1050" spc="-1" strike="noStrike">
              <a:latin typeface="Arial"/>
            </a:endParaRPr>
          </a:p>
        </p:txBody>
      </p:sp>
      <p:sp>
        <p:nvSpPr>
          <p:cNvPr id="838" name="CustomShape 11"/>
          <p:cNvSpPr/>
          <p:nvPr/>
        </p:nvSpPr>
        <p:spPr>
          <a:xfrm>
            <a:off x="7918560" y="2980800"/>
            <a:ext cx="3273120" cy="4251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10000"/>
              </a:lnSpc>
            </a:pPr>
            <a:r>
              <a:rPr b="0" lang="en-US" sz="1000" spc="-1" strike="noStrike">
                <a:solidFill>
                  <a:srgbClr val="6b7280"/>
                </a:solidFill>
                <a:latin typeface="Yu Gothic"/>
              </a:rPr>
              <a:t>MIT CSAIL 2024(OSS)</a:t>
            </a:r>
            <a:endParaRPr b="0" lang="en-US" sz="1000" spc="-1" strike="noStrike">
              <a:latin typeface="Arial"/>
            </a:endParaRPr>
          </a:p>
          <a:p>
            <a:pPr>
              <a:lnSpc>
                <a:spcPct val="110000"/>
              </a:lnSpc>
            </a:pPr>
            <a:r>
              <a:rPr b="0" lang="zh-CN" sz="1000" spc="-1" strike="noStrike">
                <a:solidFill>
                  <a:srgbClr val="6b7280"/>
                </a:solidFill>
                <a:latin typeface="Yu Gothic"/>
              </a:rPr>
              <a:t>食器並べ・棚整理等</a:t>
            </a:r>
            <a:r>
              <a:rPr b="0" lang="en-US" sz="1000" spc="-1" strike="noStrike">
                <a:solidFill>
                  <a:srgbClr val="6b7280"/>
                </a:solidFill>
                <a:latin typeface="Yu Gothic"/>
              </a:rPr>
              <a:t>7</a:t>
            </a:r>
            <a:r>
              <a:rPr b="0" lang="zh-CN" sz="1000" spc="-1" strike="noStrike">
                <a:solidFill>
                  <a:srgbClr val="6b7280"/>
                </a:solidFill>
                <a:latin typeface="Yu Gothic"/>
              </a:rPr>
              <a:t>タスク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839" name="CustomShape 12"/>
          <p:cNvSpPr/>
          <p:nvPr/>
        </p:nvSpPr>
        <p:spPr>
          <a:xfrm>
            <a:off x="548640" y="3940920"/>
            <a:ext cx="2194200" cy="914040"/>
          </a:xfrm>
          <a:prstGeom prst="roundRect">
            <a:avLst>
              <a:gd name="adj" fmla="val 16667"/>
            </a:avLst>
          </a:prstGeom>
          <a:solidFill>
            <a:srgbClr val="2ea059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zh-CN" sz="1100" spc="-1" strike="noStrike">
                <a:solidFill>
                  <a:srgbClr val="ffffff"/>
                </a:solidFill>
                <a:latin typeface="Yu Gothic"/>
              </a:rPr>
              <a:t>システム同定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840" name="CustomShape 13"/>
          <p:cNvSpPr/>
          <p:nvPr/>
        </p:nvSpPr>
        <p:spPr>
          <a:xfrm>
            <a:off x="2797920" y="3968640"/>
            <a:ext cx="5010480" cy="4417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10000"/>
              </a:lnSpc>
            </a:pPr>
            <a:r>
              <a:rPr b="0" lang="zh-CN" sz="1050" spc="-1" strike="noStrike">
                <a:solidFill>
                  <a:srgbClr val="222222"/>
                </a:solidFill>
                <a:latin typeface="Yu Gothic"/>
              </a:rPr>
              <a:t>ロボット自身の動作軌道とセンサ値から質量・重心・</a:t>
            </a:r>
            <a:endParaRPr b="0" lang="en-US" sz="1050" spc="-1" strike="noStrike">
              <a:latin typeface="Arial"/>
            </a:endParaRPr>
          </a:p>
          <a:p>
            <a:pPr>
              <a:lnSpc>
                <a:spcPct val="110000"/>
              </a:lnSpc>
            </a:pPr>
            <a:r>
              <a:rPr b="0" lang="zh-CN" sz="1050" spc="-1" strike="noStrike">
                <a:solidFill>
                  <a:srgbClr val="222222"/>
                </a:solidFill>
                <a:latin typeface="Yu Gothic"/>
              </a:rPr>
              <a:t>慣性・摩擦を推定する</a:t>
            </a:r>
            <a:r>
              <a:rPr b="0" lang="en-US" sz="1050" spc="-1" strike="noStrike">
                <a:solidFill>
                  <a:srgbClr val="222222"/>
                </a:solidFill>
                <a:latin typeface="Yu Gothic"/>
              </a:rPr>
              <a:t>(</a:t>
            </a:r>
            <a:r>
              <a:rPr b="0" lang="zh-CN" sz="1050" spc="-1" strike="noStrike">
                <a:solidFill>
                  <a:srgbClr val="222222"/>
                </a:solidFill>
                <a:latin typeface="Yu Gothic"/>
              </a:rPr>
              <a:t>道具を持った際の追加質量にも応用可</a:t>
            </a:r>
            <a:r>
              <a:rPr b="0" lang="en-US" sz="1050" spc="-1" strike="noStrike">
                <a:solidFill>
                  <a:srgbClr val="222222"/>
                </a:solidFill>
                <a:latin typeface="Yu Gothic"/>
              </a:rPr>
              <a:t>)</a:t>
            </a:r>
            <a:r>
              <a:rPr b="0" lang="zh-CN" sz="1050" spc="-1" strike="noStrike">
                <a:solidFill>
                  <a:srgbClr val="222222"/>
                </a:solidFill>
                <a:latin typeface="Yu Gothic"/>
              </a:rPr>
              <a:t>。</a:t>
            </a:r>
            <a:endParaRPr b="0" lang="en-US" sz="1050" spc="-1" strike="noStrike">
              <a:latin typeface="Arial"/>
            </a:endParaRPr>
          </a:p>
        </p:txBody>
      </p:sp>
      <p:sp>
        <p:nvSpPr>
          <p:cNvPr id="841" name="CustomShape 14"/>
          <p:cNvSpPr/>
          <p:nvPr/>
        </p:nvSpPr>
        <p:spPr>
          <a:xfrm>
            <a:off x="7918560" y="3968640"/>
            <a:ext cx="3273120" cy="4251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10000"/>
              </a:lnSpc>
            </a:pPr>
            <a:r>
              <a:rPr b="0" lang="zh-CN" sz="1000" spc="-1" strike="noStrike">
                <a:solidFill>
                  <a:srgbClr val="6b7280"/>
                </a:solidFill>
                <a:latin typeface="Yu Gothic"/>
              </a:rPr>
              <a:t>多数の先行研究</a:t>
            </a:r>
            <a:endParaRPr b="0" lang="en-US" sz="1000" spc="-1" strike="noStrike">
              <a:latin typeface="Arial"/>
            </a:endParaRPr>
          </a:p>
          <a:p>
            <a:pPr>
              <a:lnSpc>
                <a:spcPct val="110000"/>
              </a:lnSpc>
            </a:pPr>
            <a:r>
              <a:rPr b="0" lang="zh-CN" sz="1000" spc="-1" strike="noStrike">
                <a:solidFill>
                  <a:srgbClr val="6b7280"/>
                </a:solidFill>
                <a:latin typeface="Yu Gothic"/>
              </a:rPr>
              <a:t>小型〜等身大共通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842" name="CustomShape 15"/>
          <p:cNvSpPr/>
          <p:nvPr/>
        </p:nvSpPr>
        <p:spPr>
          <a:xfrm>
            <a:off x="548640" y="4928760"/>
            <a:ext cx="2194200" cy="914040"/>
          </a:xfrm>
          <a:prstGeom prst="roundRect">
            <a:avLst>
              <a:gd name="adj" fmla="val 16667"/>
            </a:avLst>
          </a:prstGeom>
          <a:solidFill>
            <a:srgbClr val="2ea059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100" spc="-1" strike="noStrike">
                <a:solidFill>
                  <a:srgbClr val="ffffff"/>
                </a:solidFill>
                <a:latin typeface="Yu Gothic"/>
              </a:rPr>
              <a:t>kxr</a:t>
            </a:r>
            <a:r>
              <a:rPr b="1" lang="zh-CN" sz="1100" spc="-1" strike="noStrike">
                <a:solidFill>
                  <a:srgbClr val="ffffff"/>
                </a:solidFill>
                <a:latin typeface="Yu Gothic"/>
              </a:rPr>
              <a:t>自身のアプローチ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843" name="CustomShape 16"/>
          <p:cNvSpPr/>
          <p:nvPr/>
        </p:nvSpPr>
        <p:spPr>
          <a:xfrm>
            <a:off x="2797920" y="4956120"/>
            <a:ext cx="5010480" cy="4417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10000"/>
              </a:lnSpc>
            </a:pPr>
            <a:r>
              <a:rPr b="0" lang="en-US" sz="1050" spc="-1" strike="noStrike">
                <a:solidFill>
                  <a:srgbClr val="222222"/>
                </a:solidFill>
                <a:latin typeface="Yu Gothic"/>
              </a:rPr>
              <a:t>rcb4robotconfig.l(</a:t>
            </a:r>
            <a:r>
              <a:rPr b="0" lang="zh-CN" sz="1050" spc="-1" strike="noStrike">
                <a:solidFill>
                  <a:srgbClr val="222222"/>
                </a:solidFill>
                <a:latin typeface="Yu Gothic"/>
              </a:rPr>
              <a:t>設計データ</a:t>
            </a:r>
            <a:r>
              <a:rPr b="0" lang="en-US" sz="1050" spc="-1" strike="noStrike">
                <a:solidFill>
                  <a:srgbClr val="222222"/>
                </a:solidFill>
                <a:latin typeface="Yu Gothic"/>
              </a:rPr>
              <a:t>)</a:t>
            </a:r>
            <a:r>
              <a:rPr b="0" lang="zh-CN" sz="1050" spc="-1" strike="noStrike">
                <a:solidFill>
                  <a:srgbClr val="222222"/>
                </a:solidFill>
                <a:latin typeface="Yu Gothic"/>
              </a:rPr>
              <a:t>から</a:t>
            </a:r>
            <a:r>
              <a:rPr b="0" lang="en-US" sz="1050" spc="-1" strike="noStrike">
                <a:solidFill>
                  <a:srgbClr val="222222"/>
                </a:solidFill>
                <a:latin typeface="Yu Gothic"/>
              </a:rPr>
              <a:t>URDF/MuJoCo</a:t>
            </a:r>
            <a:r>
              <a:rPr b="0" lang="zh-CN" sz="1050" spc="-1" strike="noStrike">
                <a:solidFill>
                  <a:srgbClr val="222222"/>
                </a:solidFill>
                <a:latin typeface="Yu Gothic"/>
              </a:rPr>
              <a:t>を</a:t>
            </a:r>
            <a:endParaRPr b="0" lang="en-US" sz="1050" spc="-1" strike="noStrike">
              <a:latin typeface="Arial"/>
            </a:endParaRPr>
          </a:p>
          <a:p>
            <a:pPr>
              <a:lnSpc>
                <a:spcPct val="110000"/>
              </a:lnSpc>
            </a:pPr>
            <a:r>
              <a:rPr b="0" lang="zh-CN" sz="1050" spc="-1" strike="noStrike">
                <a:solidFill>
                  <a:srgbClr val="222222"/>
                </a:solidFill>
                <a:latin typeface="Yu Gothic"/>
              </a:rPr>
              <a:t>直接生成 </a:t>
            </a:r>
            <a:r>
              <a:rPr b="0" lang="en-US" sz="1050" spc="-1" strike="noStrike">
                <a:solidFill>
                  <a:srgbClr val="222222"/>
                </a:solidFill>
                <a:latin typeface="Yu Gothic"/>
              </a:rPr>
              <a:t>-- </a:t>
            </a:r>
            <a:r>
              <a:rPr b="0" lang="zh-CN" sz="1050" spc="-1" strike="noStrike">
                <a:solidFill>
                  <a:srgbClr val="222222"/>
                </a:solidFill>
                <a:latin typeface="Yu Gothic"/>
              </a:rPr>
              <a:t>視覚的な逆推定を経ず設計時点で</a:t>
            </a:r>
            <a:r>
              <a:rPr b="0" lang="en-US" sz="1050" spc="-1" strike="noStrike">
                <a:solidFill>
                  <a:srgbClr val="222222"/>
                </a:solidFill>
                <a:latin typeface="Yu Gothic"/>
              </a:rPr>
              <a:t>Real/Sim</a:t>
            </a:r>
            <a:r>
              <a:rPr b="0" lang="zh-CN" sz="1050" spc="-1" strike="noStrike">
                <a:solidFill>
                  <a:srgbClr val="222222"/>
                </a:solidFill>
                <a:latin typeface="Yu Gothic"/>
              </a:rPr>
              <a:t>が一致。</a:t>
            </a:r>
            <a:endParaRPr b="0" lang="en-US" sz="1050" spc="-1" strike="noStrike">
              <a:latin typeface="Arial"/>
            </a:endParaRPr>
          </a:p>
        </p:txBody>
      </p:sp>
      <p:sp>
        <p:nvSpPr>
          <p:cNvPr id="844" name="CustomShape 17"/>
          <p:cNvSpPr/>
          <p:nvPr/>
        </p:nvSpPr>
        <p:spPr>
          <a:xfrm>
            <a:off x="7918560" y="4956120"/>
            <a:ext cx="3273120" cy="4251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10000"/>
              </a:lnSpc>
            </a:pPr>
            <a:r>
              <a:rPr b="0" lang="zh-CN" sz="1000" spc="-1" strike="noStrike">
                <a:solidFill>
                  <a:srgbClr val="6b7280"/>
                </a:solidFill>
                <a:latin typeface="Yu Gothic"/>
              </a:rPr>
              <a:t>本プロジェクト独自</a:t>
            </a:r>
            <a:endParaRPr b="0" lang="en-US" sz="1000" spc="-1" strike="noStrike">
              <a:latin typeface="Arial"/>
            </a:endParaRPr>
          </a:p>
          <a:p>
            <a:pPr>
              <a:lnSpc>
                <a:spcPct val="110000"/>
              </a:lnSpc>
            </a:pPr>
            <a:r>
              <a:rPr b="0" lang="en-US" sz="1000" spc="-1" strike="noStrike">
                <a:solidFill>
                  <a:srgbClr val="6b7280"/>
                </a:solidFill>
                <a:latin typeface="Yu Gothic"/>
              </a:rPr>
              <a:t>(</a:t>
            </a:r>
            <a:r>
              <a:rPr b="0" lang="zh-CN" sz="1000" spc="-1" strike="noStrike">
                <a:solidFill>
                  <a:srgbClr val="6b7280"/>
                </a:solidFill>
                <a:latin typeface="Yu Gothic"/>
              </a:rPr>
              <a:t>フェーズ</a:t>
            </a:r>
            <a:r>
              <a:rPr b="0" lang="en-US" sz="1000" spc="-1" strike="noStrike">
                <a:solidFill>
                  <a:srgbClr val="6b7280"/>
                </a:solidFill>
                <a:latin typeface="Yu Gothic"/>
              </a:rPr>
              <a:t>2</a:t>
            </a:r>
            <a:r>
              <a:rPr b="0" lang="zh-CN" sz="1000" spc="-1" strike="noStrike">
                <a:solidFill>
                  <a:srgbClr val="6b7280"/>
                </a:solidFill>
                <a:latin typeface="Yu Gothic"/>
              </a:rPr>
              <a:t>で実装済み</a:t>
            </a:r>
            <a:r>
              <a:rPr b="0" lang="en-US" sz="1000" spc="-1" strike="noStrike">
                <a:solidFill>
                  <a:srgbClr val="6b7280"/>
                </a:solidFill>
                <a:latin typeface="Yu Gothic"/>
              </a:rPr>
              <a:t>)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845" name="CustomShape 18"/>
          <p:cNvSpPr/>
          <p:nvPr/>
        </p:nvSpPr>
        <p:spPr>
          <a:xfrm>
            <a:off x="548640" y="5943600"/>
            <a:ext cx="11063880" cy="4928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15000"/>
              </a:lnSpc>
            </a:pPr>
            <a:r>
              <a:rPr b="0" lang="zh-CN" sz="1150" spc="-1" strike="noStrike">
                <a:solidFill>
                  <a:srgbClr val="6b7280"/>
                </a:solidFill>
                <a:latin typeface="Yu Gothic"/>
              </a:rPr>
              <a:t>小型ロボット・道具・等身大ロボットのいずれも、根っこは同じ「実物からシミュレート可能なモデルを</a:t>
            </a:r>
            <a:endParaRPr b="0" lang="en-US" sz="1150" spc="-1" strike="noStrike">
              <a:latin typeface="Arial"/>
            </a:endParaRPr>
          </a:p>
          <a:p>
            <a:pPr>
              <a:lnSpc>
                <a:spcPct val="115000"/>
              </a:lnSpc>
            </a:pPr>
            <a:r>
              <a:rPr b="0" lang="zh-CN" sz="1150" spc="-1" strike="noStrike">
                <a:solidFill>
                  <a:srgbClr val="6b7280"/>
                </a:solidFill>
                <a:latin typeface="Yu Gothic"/>
              </a:rPr>
              <a:t>自動的に得る」という課題。</a:t>
            </a:r>
            <a:endParaRPr b="0" lang="en-US" sz="115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6" name="CustomShape 1"/>
          <p:cNvSpPr/>
          <p:nvPr/>
        </p:nvSpPr>
        <p:spPr>
          <a:xfrm>
            <a:off x="548640" y="320040"/>
            <a:ext cx="8229240" cy="3337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rgbClr val="6b3fa0"/>
                </a:solidFill>
                <a:latin typeface="Yu Gothic"/>
              </a:rPr>
              <a:t>FUTURE DIRECTION (</a:t>
            </a:r>
            <a:r>
              <a:rPr b="1" lang="zh-CN" sz="1600" spc="-1" strike="noStrike">
                <a:solidFill>
                  <a:srgbClr val="6b3fa0"/>
                </a:solidFill>
                <a:latin typeface="Yu Gothic"/>
              </a:rPr>
              <a:t>構想</a:t>
            </a:r>
            <a:r>
              <a:rPr b="1" lang="en-US" sz="1600" spc="-1" strike="noStrike">
                <a:solidFill>
                  <a:srgbClr val="6b3fa0"/>
                </a:solidFill>
                <a:latin typeface="Yu Gothic"/>
              </a:rPr>
              <a:t>)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847" name="CustomShape 2"/>
          <p:cNvSpPr/>
          <p:nvPr/>
        </p:nvSpPr>
        <p:spPr>
          <a:xfrm>
            <a:off x="548640" y="685800"/>
            <a:ext cx="10515240" cy="5472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zh-CN" sz="3000" spc="-1" strike="noStrike">
                <a:solidFill>
                  <a:srgbClr val="1f2a44"/>
                </a:solidFill>
                <a:latin typeface="Yu Gothic"/>
              </a:rPr>
              <a:t>利用可能な代表的ソフトウェア</a:t>
            </a:r>
            <a:endParaRPr b="0" lang="en-US" sz="3000" spc="-1" strike="noStrike">
              <a:latin typeface="Arial"/>
            </a:endParaRPr>
          </a:p>
        </p:txBody>
      </p:sp>
      <p:sp>
        <p:nvSpPr>
          <p:cNvPr id="848" name="CustomShape 3"/>
          <p:cNvSpPr/>
          <p:nvPr/>
        </p:nvSpPr>
        <p:spPr>
          <a:xfrm>
            <a:off x="548640" y="1600200"/>
            <a:ext cx="5394600" cy="456840"/>
          </a:xfrm>
          <a:prstGeom prst="roundRect">
            <a:avLst>
              <a:gd name="adj" fmla="val 16667"/>
            </a:avLst>
          </a:prstGeom>
          <a:solidFill>
            <a:srgbClr val="2e6fc7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zh-CN" sz="1300" spc="-1" strike="noStrike">
                <a:solidFill>
                  <a:srgbClr val="ffffff"/>
                </a:solidFill>
                <a:latin typeface="Yu Gothic"/>
              </a:rPr>
              <a:t>シミュレータ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849" name="CustomShape 4"/>
          <p:cNvSpPr/>
          <p:nvPr/>
        </p:nvSpPr>
        <p:spPr>
          <a:xfrm>
            <a:off x="640080" y="2148840"/>
            <a:ext cx="5211720" cy="2883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zh-CN" sz="1300" spc="-1" strike="noStrike">
                <a:solidFill>
                  <a:srgbClr val="222222"/>
                </a:solidFill>
                <a:latin typeface="Yu Gothic"/>
              </a:rPr>
              <a:t>・</a:t>
            </a:r>
            <a:r>
              <a:rPr b="0" lang="en-US" sz="1300" spc="-1" strike="noStrike">
                <a:solidFill>
                  <a:srgbClr val="222222"/>
                </a:solidFill>
                <a:latin typeface="Yu Gothic"/>
              </a:rPr>
              <a:t>NVIDIA Isaac Sim / Isaac Lab(USD, GPU</a:t>
            </a:r>
            <a:r>
              <a:rPr b="0" lang="zh-CN" sz="1300" spc="-1" strike="noStrike">
                <a:solidFill>
                  <a:srgbClr val="222222"/>
                </a:solidFill>
                <a:latin typeface="Yu Gothic"/>
              </a:rPr>
              <a:t>並列</a:t>
            </a:r>
            <a:r>
              <a:rPr b="0" lang="en-US" sz="1300" spc="-1" strike="noStrike">
                <a:solidFill>
                  <a:srgbClr val="222222"/>
                </a:solidFill>
                <a:latin typeface="Yu Gothic"/>
              </a:rPr>
              <a:t>)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850" name="CustomShape 5"/>
          <p:cNvSpPr/>
          <p:nvPr/>
        </p:nvSpPr>
        <p:spPr>
          <a:xfrm>
            <a:off x="640080" y="2532960"/>
            <a:ext cx="5211720" cy="2883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zh-CN" sz="1300" spc="-1" strike="noStrike">
                <a:solidFill>
                  <a:srgbClr val="222222"/>
                </a:solidFill>
                <a:latin typeface="Yu Gothic"/>
              </a:rPr>
              <a:t>・</a:t>
            </a:r>
            <a:r>
              <a:rPr b="0" lang="en-US" sz="1300" spc="-1" strike="noStrike">
                <a:solidFill>
                  <a:srgbClr val="222222"/>
                </a:solidFill>
                <a:latin typeface="Yu Gothic"/>
              </a:rPr>
              <a:t>MuJoCo(kxr</a:t>
            </a:r>
            <a:r>
              <a:rPr b="0" lang="zh-CN" sz="1300" spc="-1" strike="noStrike">
                <a:solidFill>
                  <a:srgbClr val="222222"/>
                </a:solidFill>
                <a:latin typeface="Yu Gothic"/>
              </a:rPr>
              <a:t>で使用中</a:t>
            </a:r>
            <a:r>
              <a:rPr b="0" lang="en-US" sz="1300" spc="-1" strike="noStrike">
                <a:solidFill>
                  <a:srgbClr val="222222"/>
                </a:solidFill>
                <a:latin typeface="Yu Gothic"/>
              </a:rPr>
              <a:t>)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851" name="CustomShape 6"/>
          <p:cNvSpPr/>
          <p:nvPr/>
        </p:nvSpPr>
        <p:spPr>
          <a:xfrm>
            <a:off x="640080" y="2917080"/>
            <a:ext cx="5211720" cy="2883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zh-CN" sz="1300" spc="-1" strike="noStrike">
                <a:solidFill>
                  <a:srgbClr val="222222"/>
                </a:solidFill>
                <a:latin typeface="Yu Gothic"/>
              </a:rPr>
              <a:t>・</a:t>
            </a:r>
            <a:r>
              <a:rPr b="0" lang="en-US" sz="1300" spc="-1" strike="noStrike">
                <a:solidFill>
                  <a:srgbClr val="222222"/>
                </a:solidFill>
                <a:latin typeface="Yu Gothic"/>
              </a:rPr>
              <a:t>Genesis(</a:t>
            </a:r>
            <a:r>
              <a:rPr b="0" lang="zh-CN" sz="1300" spc="-1" strike="noStrike">
                <a:solidFill>
                  <a:srgbClr val="222222"/>
                </a:solidFill>
                <a:latin typeface="Yu Gothic"/>
              </a:rPr>
              <a:t>超高速物理エンジン</a:t>
            </a:r>
            <a:r>
              <a:rPr b="0" lang="en-US" sz="1300" spc="-1" strike="noStrike">
                <a:solidFill>
                  <a:srgbClr val="222222"/>
                </a:solidFill>
                <a:latin typeface="Yu Gothic"/>
              </a:rPr>
              <a:t>, OSS, 2024)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852" name="CustomShape 7"/>
          <p:cNvSpPr/>
          <p:nvPr/>
        </p:nvSpPr>
        <p:spPr>
          <a:xfrm>
            <a:off x="6217920" y="1600200"/>
            <a:ext cx="5394600" cy="456840"/>
          </a:xfrm>
          <a:prstGeom prst="roundRect">
            <a:avLst>
              <a:gd name="adj" fmla="val 16667"/>
            </a:avLst>
          </a:prstGeom>
          <a:solidFill>
            <a:srgbClr val="2ea059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Yu Gothic"/>
              </a:rPr>
              <a:t>Real2Sim</a:t>
            </a:r>
            <a:r>
              <a:rPr b="1" lang="zh-CN" sz="1300" spc="-1" strike="noStrike">
                <a:solidFill>
                  <a:srgbClr val="ffffff"/>
                </a:solidFill>
                <a:latin typeface="Yu Gothic"/>
              </a:rPr>
              <a:t>スキャン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853" name="CustomShape 8"/>
          <p:cNvSpPr/>
          <p:nvPr/>
        </p:nvSpPr>
        <p:spPr>
          <a:xfrm>
            <a:off x="6309360" y="2148840"/>
            <a:ext cx="5211720" cy="2883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zh-CN" sz="1300" spc="-1" strike="noStrike">
                <a:solidFill>
                  <a:srgbClr val="222222"/>
                </a:solidFill>
                <a:latin typeface="Yu Gothic"/>
              </a:rPr>
              <a:t>・</a:t>
            </a:r>
            <a:r>
              <a:rPr b="0" lang="en-US" sz="1300" spc="-1" strike="noStrike">
                <a:solidFill>
                  <a:srgbClr val="222222"/>
                </a:solidFill>
                <a:latin typeface="Yu Gothic"/>
              </a:rPr>
              <a:t>NeRFStudio(OSS)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854" name="CustomShape 9"/>
          <p:cNvSpPr/>
          <p:nvPr/>
        </p:nvSpPr>
        <p:spPr>
          <a:xfrm>
            <a:off x="6309360" y="2532960"/>
            <a:ext cx="5211720" cy="2883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zh-CN" sz="1300" spc="-1" strike="noStrike">
                <a:solidFill>
                  <a:srgbClr val="222222"/>
                </a:solidFill>
                <a:latin typeface="Yu Gothic"/>
              </a:rPr>
              <a:t>・</a:t>
            </a:r>
            <a:r>
              <a:rPr b="0" lang="en-US" sz="1300" spc="-1" strike="noStrike">
                <a:solidFill>
                  <a:srgbClr val="222222"/>
                </a:solidFill>
                <a:latin typeface="Yu Gothic"/>
              </a:rPr>
              <a:t>Polycam(</a:t>
            </a:r>
            <a:r>
              <a:rPr b="0" lang="zh-CN" sz="1300" spc="-1" strike="noStrike">
                <a:solidFill>
                  <a:srgbClr val="222222"/>
                </a:solidFill>
                <a:latin typeface="Yu Gothic"/>
              </a:rPr>
              <a:t>スマホアプリ</a:t>
            </a:r>
            <a:r>
              <a:rPr b="0" lang="en-US" sz="1300" spc="-1" strike="noStrike">
                <a:solidFill>
                  <a:srgbClr val="222222"/>
                </a:solidFill>
                <a:latin typeface="Yu Gothic"/>
              </a:rPr>
              <a:t>)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855" name="CustomShape 10"/>
          <p:cNvSpPr/>
          <p:nvPr/>
        </p:nvSpPr>
        <p:spPr>
          <a:xfrm>
            <a:off x="6309360" y="2917080"/>
            <a:ext cx="5211720" cy="2883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zh-CN" sz="1300" spc="-1" strike="noStrike">
                <a:solidFill>
                  <a:srgbClr val="222222"/>
                </a:solidFill>
                <a:latin typeface="Yu Gothic"/>
              </a:rPr>
              <a:t>・</a:t>
            </a:r>
            <a:r>
              <a:rPr b="0" lang="en-US" sz="1300" spc="-1" strike="noStrike">
                <a:solidFill>
                  <a:srgbClr val="222222"/>
                </a:solidFill>
                <a:latin typeface="Yu Gothic"/>
              </a:rPr>
              <a:t>ARCode(</a:t>
            </a:r>
            <a:r>
              <a:rPr b="0" lang="zh-CN" sz="1300" spc="-1" strike="noStrike">
                <a:solidFill>
                  <a:srgbClr val="222222"/>
                </a:solidFill>
                <a:latin typeface="Yu Gothic"/>
              </a:rPr>
              <a:t>スマホアプリ</a:t>
            </a:r>
            <a:r>
              <a:rPr b="0" lang="en-US" sz="1300" spc="-1" strike="noStrike">
                <a:solidFill>
                  <a:srgbClr val="222222"/>
                </a:solidFill>
                <a:latin typeface="Yu Gothic"/>
              </a:rPr>
              <a:t>)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856" name="CustomShape 11"/>
          <p:cNvSpPr/>
          <p:nvPr/>
        </p:nvSpPr>
        <p:spPr>
          <a:xfrm>
            <a:off x="548640" y="3657600"/>
            <a:ext cx="5394600" cy="456840"/>
          </a:xfrm>
          <a:prstGeom prst="roundRect">
            <a:avLst>
              <a:gd name="adj" fmla="val 16667"/>
            </a:avLst>
          </a:prstGeom>
          <a:solidFill>
            <a:srgbClr val="b03030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Yu Gothic"/>
              </a:rPr>
              <a:t>Real2Sim</a:t>
            </a:r>
            <a:r>
              <a:rPr b="1" lang="zh-CN" sz="1300" spc="-1" strike="noStrike">
                <a:solidFill>
                  <a:srgbClr val="ffffff"/>
                </a:solidFill>
                <a:latin typeface="Yu Gothic"/>
              </a:rPr>
              <a:t>パイプライン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857" name="CustomShape 12"/>
          <p:cNvSpPr/>
          <p:nvPr/>
        </p:nvSpPr>
        <p:spPr>
          <a:xfrm>
            <a:off x="640080" y="4206240"/>
            <a:ext cx="5211720" cy="2883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zh-CN" sz="1300" spc="-1" strike="noStrike">
                <a:solidFill>
                  <a:srgbClr val="222222"/>
                </a:solidFill>
                <a:latin typeface="Yu Gothic"/>
              </a:rPr>
              <a:t>・</a:t>
            </a:r>
            <a:r>
              <a:rPr b="0" lang="en-US" sz="1300" spc="-1" strike="noStrike">
                <a:solidFill>
                  <a:srgbClr val="222222"/>
                </a:solidFill>
                <a:latin typeface="Yu Gothic"/>
              </a:rPr>
              <a:t>RialTo / RialToGUI(MIT CSAIL, OSS, GitHub</a:t>
            </a:r>
            <a:r>
              <a:rPr b="0" lang="zh-CN" sz="1300" spc="-1" strike="noStrike">
                <a:solidFill>
                  <a:srgbClr val="222222"/>
                </a:solidFill>
                <a:latin typeface="Yu Gothic"/>
              </a:rPr>
              <a:t>公開</a:t>
            </a:r>
            <a:r>
              <a:rPr b="0" lang="en-US" sz="1300" spc="-1" strike="noStrike">
                <a:solidFill>
                  <a:srgbClr val="222222"/>
                </a:solidFill>
                <a:latin typeface="Yu Gothic"/>
              </a:rPr>
              <a:t>)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858" name="CustomShape 13"/>
          <p:cNvSpPr/>
          <p:nvPr/>
        </p:nvSpPr>
        <p:spPr>
          <a:xfrm>
            <a:off x="6217920" y="3657600"/>
            <a:ext cx="5394600" cy="456840"/>
          </a:xfrm>
          <a:prstGeom prst="roundRect">
            <a:avLst>
              <a:gd name="adj" fmla="val 16667"/>
            </a:avLst>
          </a:prstGeom>
          <a:solidFill>
            <a:srgbClr val="1f2a44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zh-CN" sz="1300" spc="-1" strike="noStrike">
                <a:solidFill>
                  <a:srgbClr val="ffffff"/>
                </a:solidFill>
                <a:latin typeface="Yu Gothic"/>
              </a:rPr>
              <a:t>学習データ・モデル形式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859" name="CustomShape 14"/>
          <p:cNvSpPr/>
          <p:nvPr/>
        </p:nvSpPr>
        <p:spPr>
          <a:xfrm>
            <a:off x="6309360" y="4206240"/>
            <a:ext cx="5211720" cy="2883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zh-CN" sz="1300" spc="-1" strike="noStrike">
                <a:solidFill>
                  <a:srgbClr val="222222"/>
                </a:solidFill>
                <a:latin typeface="Yu Gothic"/>
              </a:rPr>
              <a:t>・</a:t>
            </a:r>
            <a:r>
              <a:rPr b="0" lang="en-US" sz="1300" spc="-1" strike="noStrike">
                <a:solidFill>
                  <a:srgbClr val="222222"/>
                </a:solidFill>
                <a:latin typeface="Yu Gothic"/>
              </a:rPr>
              <a:t>LeRobot(Hugging Face)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860" name="CustomShape 15"/>
          <p:cNvSpPr/>
          <p:nvPr/>
        </p:nvSpPr>
        <p:spPr>
          <a:xfrm>
            <a:off x="6309360" y="4590360"/>
            <a:ext cx="5211720" cy="2883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zh-CN" sz="1300" spc="-1" strike="noStrike">
                <a:solidFill>
                  <a:srgbClr val="222222"/>
                </a:solidFill>
                <a:latin typeface="Yu Gothic"/>
              </a:rPr>
              <a:t>・</a:t>
            </a:r>
            <a:r>
              <a:rPr b="0" lang="en-US" sz="1300" spc="-1" strike="noStrike">
                <a:solidFill>
                  <a:srgbClr val="222222"/>
                </a:solidFill>
                <a:latin typeface="Yu Gothic"/>
              </a:rPr>
              <a:t>NVIDIA Isaac GR00T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861" name="CustomShape 16"/>
          <p:cNvSpPr/>
          <p:nvPr/>
        </p:nvSpPr>
        <p:spPr>
          <a:xfrm>
            <a:off x="548640" y="5852160"/>
            <a:ext cx="11063880" cy="6051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30000"/>
              </a:lnSpc>
            </a:pPr>
            <a:r>
              <a:rPr b="0" lang="zh-CN" sz="1300" spc="-1" strike="noStrike">
                <a:solidFill>
                  <a:srgbClr val="222222"/>
                </a:solidFill>
                <a:latin typeface="Yu Gothic"/>
              </a:rPr>
              <a:t>いずれもオープンソースまたは無償利用可能なツールが中心 </a:t>
            </a:r>
            <a:r>
              <a:rPr b="0" lang="en-US" sz="1300" spc="-1" strike="noStrike">
                <a:solidFill>
                  <a:srgbClr val="222222"/>
                </a:solidFill>
                <a:latin typeface="Yu Gothic"/>
              </a:rPr>
              <a:t>-- kxr</a:t>
            </a:r>
            <a:r>
              <a:rPr b="0" lang="zh-CN" sz="1300" spc="-1" strike="noStrike">
                <a:solidFill>
                  <a:srgbClr val="222222"/>
                </a:solidFill>
                <a:latin typeface="Yu Gothic"/>
              </a:rPr>
              <a:t>の</a:t>
            </a:r>
            <a:r>
              <a:rPr b="0" lang="en-US" sz="1300" spc="-1" strike="noStrike">
                <a:solidFill>
                  <a:srgbClr val="222222"/>
                </a:solidFill>
                <a:latin typeface="Yu Gothic"/>
              </a:rPr>
              <a:t>URDF</a:t>
            </a:r>
            <a:r>
              <a:rPr b="0" lang="zh-CN" sz="1300" spc="-1" strike="noStrike">
                <a:solidFill>
                  <a:srgbClr val="222222"/>
                </a:solidFill>
                <a:latin typeface="Yu Gothic"/>
              </a:rPr>
              <a:t>資産</a:t>
            </a:r>
            <a:r>
              <a:rPr b="0" lang="en-US" sz="1300" spc="-1" strike="noStrike">
                <a:solidFill>
                  <a:srgbClr val="222222"/>
                </a:solidFill>
                <a:latin typeface="Yu Gothic"/>
              </a:rPr>
              <a:t>(</a:t>
            </a:r>
            <a:r>
              <a:rPr b="0" lang="zh-CN" sz="1300" spc="-1" strike="noStrike">
                <a:solidFill>
                  <a:srgbClr val="222222"/>
                </a:solidFill>
                <a:latin typeface="Yu Gothic"/>
              </a:rPr>
              <a:t>フェーズ</a:t>
            </a:r>
            <a:r>
              <a:rPr b="0" lang="en-US" sz="1300" spc="-1" strike="noStrike">
                <a:solidFill>
                  <a:srgbClr val="222222"/>
                </a:solidFill>
                <a:latin typeface="Yu Gothic"/>
              </a:rPr>
              <a:t>2)</a:t>
            </a:r>
            <a:r>
              <a:rPr b="0" lang="zh-CN" sz="1300" spc="-1" strike="noStrike">
                <a:solidFill>
                  <a:srgbClr val="222222"/>
                </a:solidFill>
                <a:latin typeface="Yu Gothic"/>
              </a:rPr>
              <a:t>は</a:t>
            </a:r>
            <a:endParaRPr b="0" lang="en-US" sz="1300" spc="-1" strike="noStrike">
              <a:latin typeface="Arial"/>
            </a:endParaRPr>
          </a:p>
          <a:p>
            <a:pPr>
              <a:lnSpc>
                <a:spcPct val="130000"/>
              </a:lnSpc>
            </a:pPr>
            <a:r>
              <a:rPr b="0" lang="en-US" sz="1300" spc="-1" strike="noStrike">
                <a:solidFill>
                  <a:srgbClr val="222222"/>
                </a:solidFill>
                <a:latin typeface="Yu Gothic"/>
              </a:rPr>
              <a:t>Isaac Sim/Genesis/RialTo</a:t>
            </a:r>
            <a:r>
              <a:rPr b="0" lang="zh-CN" sz="1300" spc="-1" strike="noStrike">
                <a:solidFill>
                  <a:srgbClr val="222222"/>
                </a:solidFill>
                <a:latin typeface="Yu Gothic"/>
              </a:rPr>
              <a:t>のいずれにもそのまま持ち込める形式になっている。</a:t>
            </a:r>
            <a:endParaRPr b="0" lang="en-US" sz="13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f2a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2" name="CustomShape 1"/>
          <p:cNvSpPr/>
          <p:nvPr/>
        </p:nvSpPr>
        <p:spPr>
          <a:xfrm>
            <a:off x="914400" y="2560320"/>
            <a:ext cx="10332360" cy="12769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30000"/>
              </a:lnSpc>
            </a:pPr>
            <a:r>
              <a:rPr b="1" lang="en-US" sz="3000" spc="-1" strike="noStrike">
                <a:solidFill>
                  <a:srgbClr val="ffffff"/>
                </a:solidFill>
                <a:latin typeface="Yu Gothic"/>
              </a:rPr>
              <a:t>5</a:t>
            </a:r>
            <a:r>
              <a:rPr b="1" lang="zh-CN" sz="3000" spc="-1" strike="noStrike">
                <a:solidFill>
                  <a:srgbClr val="ffffff"/>
                </a:solidFill>
                <a:latin typeface="Yu Gothic"/>
              </a:rPr>
              <a:t>種類で確立した仕組みを、</a:t>
            </a:r>
            <a:endParaRPr b="0" lang="en-US" sz="3000" spc="-1" strike="noStrike">
              <a:latin typeface="Arial"/>
            </a:endParaRPr>
          </a:p>
          <a:p>
            <a:pPr>
              <a:lnSpc>
                <a:spcPct val="130000"/>
              </a:lnSpc>
            </a:pPr>
            <a:r>
              <a:rPr b="1" lang="zh-CN" sz="3000" spc="-1" strike="noStrike">
                <a:solidFill>
                  <a:srgbClr val="ffffff"/>
                </a:solidFill>
                <a:latin typeface="Yu Gothic"/>
              </a:rPr>
              <a:t>そのまま</a:t>
            </a:r>
            <a:r>
              <a:rPr b="1" lang="en-US" sz="3000" spc="-1" strike="noStrike">
                <a:solidFill>
                  <a:srgbClr val="ffffff"/>
                </a:solidFill>
                <a:latin typeface="Yu Gothic"/>
              </a:rPr>
              <a:t>500</a:t>
            </a:r>
            <a:r>
              <a:rPr b="1" lang="zh-CN" sz="3000" spc="-1" strike="noStrike">
                <a:solidFill>
                  <a:srgbClr val="ffffff"/>
                </a:solidFill>
                <a:latin typeface="Yu Gothic"/>
              </a:rPr>
              <a:t>種類に一般化する</a:t>
            </a:r>
            <a:endParaRPr b="0" lang="en-US" sz="3000" spc="-1" strike="noStrike">
              <a:latin typeface="Arial"/>
            </a:endParaRPr>
          </a:p>
        </p:txBody>
      </p:sp>
      <p:sp>
        <p:nvSpPr>
          <p:cNvPr id="863" name="CustomShape 2"/>
          <p:cNvSpPr/>
          <p:nvPr/>
        </p:nvSpPr>
        <p:spPr>
          <a:xfrm>
            <a:off x="914400" y="4206240"/>
            <a:ext cx="10332360" cy="3646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zh-CN" sz="1800" spc="-1" strike="noStrike">
                <a:solidFill>
                  <a:srgbClr val="c9d6ea"/>
                </a:solidFill>
                <a:latin typeface="Yu Gothic"/>
              </a:rPr>
              <a:t>次のステップ</a:t>
            </a:r>
            <a:r>
              <a:rPr b="0" lang="en-US" sz="1800" spc="-1" strike="noStrike">
                <a:solidFill>
                  <a:srgbClr val="c9d6ea"/>
                </a:solidFill>
                <a:latin typeface="Yu Gothic"/>
              </a:rPr>
              <a:t>: </a:t>
            </a:r>
            <a:r>
              <a:rPr b="0" lang="zh-CN" sz="1800" spc="-1" strike="noStrike">
                <a:solidFill>
                  <a:srgbClr val="c9d6ea"/>
                </a:solidFill>
                <a:latin typeface="Yu Gothic"/>
              </a:rPr>
              <a:t>フェーズ</a:t>
            </a:r>
            <a:r>
              <a:rPr b="0" lang="en-US" sz="1800" spc="-1" strike="noStrike">
                <a:solidFill>
                  <a:srgbClr val="c9d6ea"/>
                </a:solidFill>
                <a:latin typeface="Yu Gothic"/>
              </a:rPr>
              <a:t>1(</a:t>
            </a:r>
            <a:r>
              <a:rPr b="0" lang="zh-CN" sz="1800" spc="-1" strike="noStrike">
                <a:solidFill>
                  <a:srgbClr val="c9d6ea"/>
                </a:solidFill>
                <a:latin typeface="Yu Gothic"/>
              </a:rPr>
              <a:t>サーボ</a:t>
            </a:r>
            <a:r>
              <a:rPr b="0" lang="en-US" sz="1800" spc="-1" strike="noStrike">
                <a:solidFill>
                  <a:srgbClr val="c9d6ea"/>
                </a:solidFill>
                <a:latin typeface="Yu Gothic"/>
              </a:rPr>
              <a:t>ID</a:t>
            </a:r>
            <a:r>
              <a:rPr b="0" lang="zh-CN" sz="1800" spc="-1" strike="noStrike">
                <a:solidFill>
                  <a:srgbClr val="c9d6ea"/>
                </a:solidFill>
                <a:latin typeface="Yu Gothic"/>
              </a:rPr>
              <a:t>候補検出の</a:t>
            </a:r>
            <a:r>
              <a:rPr b="0" lang="en-US" sz="1800" spc="-1" strike="noStrike">
                <a:solidFill>
                  <a:srgbClr val="c9d6ea"/>
                </a:solidFill>
                <a:latin typeface="Yu Gothic"/>
              </a:rPr>
              <a:t>JSON</a:t>
            </a:r>
            <a:r>
              <a:rPr b="0" lang="zh-CN" sz="1800" spc="-1" strike="noStrike">
                <a:solidFill>
                  <a:srgbClr val="c9d6ea"/>
                </a:solidFill>
                <a:latin typeface="Yu Gothic"/>
              </a:rPr>
              <a:t>公開</a:t>
            </a:r>
            <a:r>
              <a:rPr b="0" lang="en-US" sz="1800" spc="-1" strike="noStrike">
                <a:solidFill>
                  <a:srgbClr val="c9d6ea"/>
                </a:solidFill>
                <a:latin typeface="Yu Gothic"/>
              </a:rPr>
              <a:t>)</a:t>
            </a:r>
            <a:r>
              <a:rPr b="0" lang="zh-CN" sz="1800" spc="-1" strike="noStrike">
                <a:solidFill>
                  <a:srgbClr val="c9d6ea"/>
                </a:solidFill>
                <a:latin typeface="Yu Gothic"/>
              </a:rPr>
              <a:t>から着手</a:t>
            </a:r>
            <a:endParaRPr b="0" lang="en-US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</TotalTime>
  <Application>LibreOffice/6.4.7.2$Linux_X86_64 LibreOffice_project/40$Build-2</Applicat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2026-09-26T08:18:35Z</dcterms:modified>
  <cp:revision>2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ppVersion">
    <vt:lpwstr>14.0000</vt:lpwstr>
  </property>
  <property fmtid="{D5CDD505-2E9C-101B-9397-08002B2CF9AE}" pid="3" name="HiddenSlides">
    <vt:i4>0</vt:i4>
  </property>
  <property fmtid="{D5CDD505-2E9C-101B-9397-08002B2CF9AE}" pid="4" name="HyperlinksChanged">
    <vt:bool>0</vt:bool>
  </property>
  <property fmtid="{D5CDD505-2E9C-101B-9397-08002B2CF9AE}" pid="5" name="LinksUpToDate">
    <vt:bool>0</vt:bool>
  </property>
  <property fmtid="{D5CDD505-2E9C-101B-9397-08002B2CF9AE}" pid="6" name="MMClips">
    <vt:i4>0</vt:i4>
  </property>
  <property fmtid="{D5CDD505-2E9C-101B-9397-08002B2CF9AE}" pid="7" name="Notes">
    <vt:i4>0</vt:i4>
  </property>
  <property fmtid="{D5CDD505-2E9C-101B-9397-08002B2CF9AE}" pid="8" name="PresentationFormat">
    <vt:lpwstr>On-screen Show (4:3)</vt:lpwstr>
  </property>
  <property fmtid="{D5CDD505-2E9C-101B-9397-08002B2CF9AE}" pid="9" name="ScaleCrop">
    <vt:bool>0</vt:bool>
  </property>
  <property fmtid="{D5CDD505-2E9C-101B-9397-08002B2CF9AE}" pid="10" name="ShareDoc">
    <vt:bool>0</vt:bool>
  </property>
  <property fmtid="{D5CDD505-2E9C-101B-9397-08002B2CF9AE}" pid="11" name="Slides">
    <vt:i4>0</vt:i4>
  </property>
</Properties>
</file>