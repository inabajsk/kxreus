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0.png" ContentType="image/png"/>
  <Override PartName="/ppt/media/image49.png" ContentType="image/png"/>
  <Override PartName="/ppt/media/image47.png" ContentType="image/png"/>
  <Override PartName="/ppt/media/image46.png" ContentType="image/png"/>
  <Override PartName="/ppt/media/image15.jpeg" ContentType="image/jpeg"/>
  <Override PartName="/ppt/media/image64.png" ContentType="image/png"/>
  <Override PartName="/ppt/media/image51.png" ContentType="image/png"/>
  <Override PartName="/ppt/media/image61.png" ContentType="image/png"/>
  <Override PartName="/ppt/media/image21.png" ContentType="image/png"/>
  <Override PartName="/ppt/media/image58.png" ContentType="image/png"/>
  <Override PartName="/ppt/media/image60.png" ContentType="image/png"/>
  <Override PartName="/ppt/media/image20.png" ContentType="image/png"/>
  <Override PartName="/ppt/media/image57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18.png" ContentType="image/png"/>
  <Override PartName="/ppt/media/image3.gif" ContentType="image/gif"/>
  <Override PartName="/ppt/media/image26.png" ContentType="image/png"/>
  <Override PartName="/ppt/media/image66.png" ContentType="image/png"/>
  <Override PartName="/ppt/media/image14.gif" ContentType="image/gif"/>
  <Override PartName="/ppt/media/image2.gif" ContentType="image/gif"/>
  <Override PartName="/ppt/media/image25.png" ContentType="image/png"/>
  <Override PartName="/ppt/media/image65.png" ContentType="image/png"/>
  <Override PartName="/ppt/media/image27.png" ContentType="image/png"/>
  <Override PartName="/ppt/media/image16.gif" ContentType="image/gif"/>
  <Override PartName="/ppt/media/image19.png" ContentType="image/png"/>
  <Override PartName="/ppt/media/image4.gif" ContentType="image/gif"/>
  <Override PartName="/ppt/media/image17.jpeg" ContentType="image/jpeg"/>
  <Override PartName="/ppt/media/image63.png" ContentType="image/png"/>
  <Override PartName="/ppt/media/image62.png" ContentType="image/png"/>
  <Override PartName="/ppt/media/image59.png" ContentType="image/png"/>
  <Override PartName="/ppt/media/image22.png" ContentType="image/png"/>
  <Override PartName="/ppt/media/image24.png" ContentType="image/png"/>
  <Override PartName="/ppt/media/image23.png" ContentType="image/png"/>
  <Override PartName="/ppt/media/image12.jpeg" ContentType="image/jpeg"/>
  <Override PartName="/ppt/media/image34.png" ContentType="image/png"/>
  <Override PartName="/ppt/media/image29.png" ContentType="image/png"/>
  <Override PartName="/ppt/media/image6.gif" ContentType="image/gif"/>
  <Override PartName="/ppt/media/image5.gif" ContentType="image/gif"/>
  <Override PartName="/ppt/media/image28.png" ContentType="image/png"/>
  <Override PartName="/ppt/media/image10.jpeg" ContentType="image/jpeg"/>
  <Override PartName="/ppt/media/image11.gif" ContentType="image/gif"/>
  <Override PartName="/ppt/media/image7.gif" ContentType="image/gif"/>
  <Override PartName="/ppt/media/image8.gif" ContentType="image/gif"/>
  <Override PartName="/ppt/media/image1.gif" ContentType="image/gif"/>
  <Override PartName="/ppt/media/image13.gif" ContentType="image/gif"/>
  <Override PartName="/ppt/media/image48.png" ContentType="image/png"/>
  <Override PartName="/ppt/media/image32.png" ContentType="image/png"/>
  <Override PartName="/ppt/media/image33.png" ContentType="image/png"/>
  <Override PartName="/ppt/media/image35.png" ContentType="image/png"/>
  <Override PartName="/ppt/media/image9.jpeg" ContentType="image/jpe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E61679D-1F9B-49CE-89C4-B5AFEB2BC78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9/26/26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2AB86FD-36A4-407B-A459-542065DE0EA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Relationship Id="rId6" Type="http://schemas.openxmlformats.org/officeDocument/2006/relationships/image" Target="../media/image6.gif"/><Relationship Id="rId7" Type="http://schemas.openxmlformats.org/officeDocument/2006/relationships/image" Target="../media/image7.gif"/><Relationship Id="rId8" Type="http://schemas.openxmlformats.org/officeDocument/2006/relationships/image" Target="../media/image8.gif"/><Relationship Id="rId9" Type="http://schemas.openxmlformats.org/officeDocument/2006/relationships/image" Target="../media/image9.jpeg"/><Relationship Id="rId10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gif"/><Relationship Id="rId3" Type="http://schemas.openxmlformats.org/officeDocument/2006/relationships/image" Target="../media/image12.jpeg"/><Relationship Id="rId4" Type="http://schemas.openxmlformats.org/officeDocument/2006/relationships/image" Target="../media/image13.gif"/><Relationship Id="rId5" Type="http://schemas.openxmlformats.org/officeDocument/2006/relationships/image" Target="../media/image14.gif"/><Relationship Id="rId6" Type="http://schemas.openxmlformats.org/officeDocument/2006/relationships/image" Target="../media/image15.jpeg"/><Relationship Id="rId7" Type="http://schemas.openxmlformats.org/officeDocument/2006/relationships/image" Target="../media/image16.gif"/><Relationship Id="rId8" Type="http://schemas.openxmlformats.org/officeDocument/2006/relationships/image" Target="../media/image17.jpeg"/><Relationship Id="rId9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914400" y="2194560"/>
            <a:ext cx="10332360" cy="69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Meiryo"/>
                <a:ea typeface="Meiryo"/>
              </a:rPr>
              <a:t>kxr5s </a:t>
            </a:r>
            <a:r>
              <a:rPr b="1" lang="ja-JP" sz="4000" spc="-1" strike="noStrike">
                <a:solidFill>
                  <a:srgbClr val="ffffff"/>
                </a:solidFill>
                <a:latin typeface="Meiryo"/>
                <a:ea typeface="Meiryo"/>
              </a:rPr>
              <a:t>から </a:t>
            </a:r>
            <a:r>
              <a:rPr b="1" lang="en-US" sz="4000" spc="-1" strike="noStrike">
                <a:solidFill>
                  <a:srgbClr val="ffffff"/>
                </a:solidFill>
                <a:latin typeface="Meiryo"/>
                <a:ea typeface="Meiryo"/>
              </a:rPr>
              <a:t>500 </a:t>
            </a:r>
            <a:r>
              <a:rPr b="1" lang="ja-JP" sz="4000" spc="-1" strike="noStrike">
                <a:solidFill>
                  <a:srgbClr val="ffffff"/>
                </a:solidFill>
                <a:latin typeface="Meiryo"/>
                <a:ea typeface="Meiryo"/>
              </a:rPr>
              <a:t>種類のロボットへ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914400" y="3291840"/>
            <a:ext cx="1033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2000" spc="-1" strike="noStrike">
                <a:solidFill>
                  <a:srgbClr val="c9d6ea"/>
                </a:solidFill>
                <a:latin typeface="Meiryo"/>
                <a:ea typeface="Meiryo"/>
              </a:rPr>
              <a:t>コンパイル済み</a:t>
            </a:r>
            <a:r>
              <a:rPr b="0" lang="en-US" sz="2000" spc="-1" strike="noStrike">
                <a:solidFill>
                  <a:srgbClr val="c9d6ea"/>
                </a:solidFill>
                <a:latin typeface="Meiryo"/>
                <a:ea typeface="Meiryo"/>
              </a:rPr>
              <a:t>5</a:t>
            </a:r>
            <a:r>
              <a:rPr b="0" lang="ja-JP" sz="2000" spc="-1" strike="noStrike">
                <a:solidFill>
                  <a:srgbClr val="c9d6ea"/>
                </a:solidFill>
                <a:latin typeface="Meiryo"/>
                <a:ea typeface="Meiryo"/>
              </a:rPr>
              <a:t>体構成から、データ駆動の汎用ロボットプラットフォームへ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914400" y="6035040"/>
            <a:ext cx="100580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c9bc0"/>
                </a:solidFill>
                <a:latin typeface="Meiryo"/>
                <a:ea typeface="Meiryo"/>
              </a:rPr>
              <a:t>kxreus </a:t>
            </a:r>
            <a:r>
              <a:rPr b="0" lang="ja-JP" sz="1300" spc="-1" strike="noStrike">
                <a:solidFill>
                  <a:srgbClr val="8c9bc0"/>
                </a:solidFill>
                <a:latin typeface="Meiryo"/>
                <a:ea typeface="Meiryo"/>
              </a:rPr>
              <a:t>プロジェクト </a:t>
            </a:r>
            <a:r>
              <a:rPr b="0" lang="en-US" sz="1300" spc="-1" strike="noStrike">
                <a:solidFill>
                  <a:srgbClr val="8c9bc0"/>
                </a:solidFill>
                <a:latin typeface="Meiryo"/>
                <a:ea typeface="Meiryo"/>
              </a:rPr>
              <a:t>-- </a:t>
            </a:r>
            <a:r>
              <a:rPr b="0" lang="ja-JP" sz="1300" spc="-1" strike="noStrike">
                <a:solidFill>
                  <a:srgbClr val="8c9bc0"/>
                </a:solidFill>
                <a:latin typeface="Meiryo"/>
                <a:ea typeface="Meiryo"/>
              </a:rPr>
              <a:t>ファームウェア・アーキテクチャ検討資料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AGENDA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本資料の構成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914400" y="160020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0.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源流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: 1990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年代のリモートブレインロボット研究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914400" y="222192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1.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現状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: kxr5s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は何ができていて、何が限界か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914400" y="284364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2.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対象ロボットたち 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-- kxrl4t / kxrl4d / kxrl6 / kxrl2g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9" name="CustomShape 6"/>
          <p:cNvSpPr/>
          <p:nvPr/>
        </p:nvSpPr>
        <p:spPr>
          <a:xfrm>
            <a:off x="914400" y="346572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3.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なぜ「コンパイルして詰め込む」方式は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種類に届かないのか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0" name="CustomShape 7"/>
          <p:cNvSpPr/>
          <p:nvPr/>
        </p:nvSpPr>
        <p:spPr>
          <a:xfrm>
            <a:off x="914400" y="408744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4.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目指す姿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ロボット非依存の汎用インタプリタ 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+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データ配信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1" name="CustomShape 8"/>
          <p:cNvSpPr/>
          <p:nvPr/>
        </p:nvSpPr>
        <p:spPr>
          <a:xfrm>
            <a:off x="914400" y="470916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5.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サーボ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自動検出 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x 3D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モデル選択の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UX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52" name="CustomShape 9"/>
          <p:cNvSpPr/>
          <p:nvPr/>
        </p:nvSpPr>
        <p:spPr>
          <a:xfrm>
            <a:off x="914400" y="5330880"/>
            <a:ext cx="10058040" cy="3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6. 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段階的ロードマップ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900" spc="-1" strike="noStrike">
                <a:solidFill>
                  <a:srgbClr val="222222"/>
                </a:solidFill>
                <a:latin typeface="Meiryo"/>
                <a:ea typeface="Meiryo"/>
              </a:rPr>
              <a:t>〜</a:t>
            </a:r>
            <a:r>
              <a:rPr b="0" lang="en-US" sz="1900" spc="-1" strike="noStrike">
                <a:solidFill>
                  <a:srgbClr val="222222"/>
                </a:solidFill>
                <a:latin typeface="Meiryo"/>
                <a:ea typeface="Meiryo"/>
              </a:rPr>
              <a:t>5)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ORIGINS -- 1990s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源流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リモートブレインロボット研究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(1990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年代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548640" y="1371600"/>
            <a:ext cx="11063880" cy="80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「脳」はトランスピュータ数十個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+MEP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搭載の視覚処理タワー 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+ Sun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ワークステーション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学生間でソフト共有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「身体」は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RC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用アクチュエータ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受信モジュール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カメラ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映像送信機のみの軽量構成 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同じタワーに、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形態の異なる様々なロボット身体をつないで全身行動を実装した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出典</a:t>
            </a:r>
            <a:r>
              <a:rPr b="0" lang="en-US" sz="1250" spc="-1" strike="noStrike">
                <a:solidFill>
                  <a:srgbClr val="222222"/>
                </a:solidFill>
                <a:latin typeface="Meiryo"/>
                <a:ea typeface="Meiryo"/>
              </a:rPr>
              <a:t>: JSK Remote-Brained Robotics)</a:t>
            </a:r>
            <a:r>
              <a:rPr b="0" lang="ja-JP" sz="12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6" name="CustomShape 4"/>
          <p:cNvSpPr/>
          <p:nvPr/>
        </p:nvSpPr>
        <p:spPr>
          <a:xfrm>
            <a:off x="548640" y="2286000"/>
            <a:ext cx="3611520" cy="41112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車輪型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(Wheeled)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CustomShape 5"/>
          <p:cNvSpPr/>
          <p:nvPr/>
        </p:nvSpPr>
        <p:spPr>
          <a:xfrm>
            <a:off x="64008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8" name="Picture 6" descr="sumo_small.gif"/>
          <p:cNvPicPr/>
          <p:nvPr/>
        </p:nvPicPr>
        <p:blipFill>
          <a:blip r:embed="rId1"/>
          <a:stretch/>
        </p:blipFill>
        <p:spPr>
          <a:xfrm>
            <a:off x="676800" y="2940480"/>
            <a:ext cx="1023840" cy="839880"/>
          </a:xfrm>
          <a:prstGeom prst="rect">
            <a:avLst/>
          </a:prstGeom>
          <a:ln>
            <a:noFill/>
          </a:ln>
        </p:spPr>
      </p:pic>
      <p:sp>
        <p:nvSpPr>
          <p:cNvPr id="59" name="CustomShape 6"/>
          <p:cNvSpPr/>
          <p:nvPr/>
        </p:nvSpPr>
        <p:spPr>
          <a:xfrm>
            <a:off x="64008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Sumo Robot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0" name="CustomShape 7"/>
          <p:cNvSpPr/>
          <p:nvPr/>
        </p:nvSpPr>
        <p:spPr>
          <a:xfrm>
            <a:off x="182880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1" name="Picture 9" descr="distributed_small.gif"/>
          <p:cNvPicPr/>
          <p:nvPr/>
        </p:nvPicPr>
        <p:blipFill>
          <a:blip r:embed="rId2"/>
          <a:stretch/>
        </p:blipFill>
        <p:spPr>
          <a:xfrm>
            <a:off x="1865520" y="2982600"/>
            <a:ext cx="1023840" cy="755640"/>
          </a:xfrm>
          <a:prstGeom prst="rect">
            <a:avLst/>
          </a:prstGeom>
          <a:ln>
            <a:noFill/>
          </a:ln>
        </p:spPr>
      </p:pic>
      <p:sp>
        <p:nvSpPr>
          <p:cNvPr id="62" name="CustomShape 8"/>
          <p:cNvSpPr/>
          <p:nvPr/>
        </p:nvSpPr>
        <p:spPr>
          <a:xfrm>
            <a:off x="1828800" y="3904560"/>
            <a:ext cx="10969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Distributed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Modular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3" name="CustomShape 9"/>
          <p:cNvSpPr/>
          <p:nvPr/>
        </p:nvSpPr>
        <p:spPr>
          <a:xfrm>
            <a:off x="301752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4" name="Picture 12" descr="nomoid_small.gif"/>
          <p:cNvPicPr/>
          <p:nvPr/>
        </p:nvPicPr>
        <p:blipFill>
          <a:blip r:embed="rId3"/>
          <a:stretch/>
        </p:blipFill>
        <p:spPr>
          <a:xfrm>
            <a:off x="3054240" y="2985840"/>
            <a:ext cx="1023840" cy="749160"/>
          </a:xfrm>
          <a:prstGeom prst="rect">
            <a:avLst/>
          </a:prstGeom>
          <a:ln>
            <a:noFill/>
          </a:ln>
        </p:spPr>
      </p:pic>
      <p:sp>
        <p:nvSpPr>
          <p:cNvPr id="65" name="CustomShape 10"/>
          <p:cNvSpPr/>
          <p:nvPr/>
        </p:nvSpPr>
        <p:spPr>
          <a:xfrm>
            <a:off x="301752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Nomoid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" name="CustomShape 11"/>
          <p:cNvSpPr/>
          <p:nvPr/>
        </p:nvSpPr>
        <p:spPr>
          <a:xfrm>
            <a:off x="4297680" y="2286000"/>
            <a:ext cx="3611520" cy="41112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4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脚型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(Quadruped)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CustomShape 12"/>
          <p:cNvSpPr/>
          <p:nvPr/>
        </p:nvSpPr>
        <p:spPr>
          <a:xfrm>
            <a:off x="438912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8" name="Picture 16" descr="goemon_small.gif"/>
          <p:cNvPicPr/>
          <p:nvPr/>
        </p:nvPicPr>
        <p:blipFill>
          <a:blip r:embed="rId4"/>
          <a:stretch/>
        </p:blipFill>
        <p:spPr>
          <a:xfrm>
            <a:off x="4425840" y="2975400"/>
            <a:ext cx="1023840" cy="769680"/>
          </a:xfrm>
          <a:prstGeom prst="rect">
            <a:avLst/>
          </a:prstGeom>
          <a:ln>
            <a:noFill/>
          </a:ln>
        </p:spPr>
      </p:pic>
      <p:sp>
        <p:nvSpPr>
          <p:cNvPr id="69" name="CustomShape 13"/>
          <p:cNvSpPr/>
          <p:nvPr/>
        </p:nvSpPr>
        <p:spPr>
          <a:xfrm>
            <a:off x="438912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Goemon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0" name="CustomShape 14"/>
          <p:cNvSpPr/>
          <p:nvPr/>
        </p:nvSpPr>
        <p:spPr>
          <a:xfrm>
            <a:off x="557784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1" name="Picture 19" descr="tama_small.gif"/>
          <p:cNvPicPr/>
          <p:nvPr/>
        </p:nvPicPr>
        <p:blipFill>
          <a:blip r:embed="rId5"/>
          <a:stretch/>
        </p:blipFill>
        <p:spPr>
          <a:xfrm>
            <a:off x="5614560" y="3020400"/>
            <a:ext cx="1023840" cy="680040"/>
          </a:xfrm>
          <a:prstGeom prst="rect">
            <a:avLst/>
          </a:prstGeom>
          <a:ln>
            <a:noFill/>
          </a:ln>
        </p:spPr>
      </p:pic>
      <p:sp>
        <p:nvSpPr>
          <p:cNvPr id="72" name="CustomShape 15"/>
          <p:cNvSpPr/>
          <p:nvPr/>
        </p:nvSpPr>
        <p:spPr>
          <a:xfrm>
            <a:off x="557784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Tama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CustomShape 16"/>
          <p:cNvSpPr/>
          <p:nvPr/>
        </p:nvSpPr>
        <p:spPr>
          <a:xfrm>
            <a:off x="676656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4" name="Picture 22" descr="kama3_small.gif"/>
          <p:cNvPicPr/>
          <p:nvPr/>
        </p:nvPicPr>
        <p:blipFill>
          <a:blip r:embed="rId6"/>
          <a:stretch/>
        </p:blipFill>
        <p:spPr>
          <a:xfrm>
            <a:off x="6822000" y="2871360"/>
            <a:ext cx="986400" cy="978120"/>
          </a:xfrm>
          <a:prstGeom prst="rect">
            <a:avLst/>
          </a:prstGeom>
          <a:ln>
            <a:noFill/>
          </a:ln>
        </p:spPr>
      </p:pic>
      <p:sp>
        <p:nvSpPr>
          <p:cNvPr id="75" name="CustomShape 17"/>
          <p:cNvSpPr/>
          <p:nvPr/>
        </p:nvSpPr>
        <p:spPr>
          <a:xfrm>
            <a:off x="676656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Kamakiri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6" name="CustomShape 18"/>
          <p:cNvSpPr/>
          <p:nvPr/>
        </p:nvSpPr>
        <p:spPr>
          <a:xfrm>
            <a:off x="8046720" y="2286000"/>
            <a:ext cx="3611520" cy="41112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ヒューマノイド型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(Humanoid)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" name="CustomShape 19"/>
          <p:cNvSpPr/>
          <p:nvPr/>
        </p:nvSpPr>
        <p:spPr>
          <a:xfrm>
            <a:off x="813816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8" name="Picture 26" descr="hanzou_small.gif"/>
          <p:cNvPicPr/>
          <p:nvPr/>
        </p:nvPicPr>
        <p:blipFill>
          <a:blip r:embed="rId7"/>
          <a:stretch/>
        </p:blipFill>
        <p:spPr>
          <a:xfrm>
            <a:off x="8393760" y="2871360"/>
            <a:ext cx="585720" cy="978120"/>
          </a:xfrm>
          <a:prstGeom prst="rect">
            <a:avLst/>
          </a:prstGeom>
          <a:ln>
            <a:noFill/>
          </a:ln>
        </p:spPr>
      </p:pic>
      <p:sp>
        <p:nvSpPr>
          <p:cNvPr id="79" name="CustomShape 20"/>
          <p:cNvSpPr/>
          <p:nvPr/>
        </p:nvSpPr>
        <p:spPr>
          <a:xfrm>
            <a:off x="813816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Hanzou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" name="CustomShape 21"/>
          <p:cNvSpPr/>
          <p:nvPr/>
        </p:nvSpPr>
        <p:spPr>
          <a:xfrm>
            <a:off x="932688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1" name="Picture 29" descr="akira-small.gif"/>
          <p:cNvPicPr/>
          <p:nvPr/>
        </p:nvPicPr>
        <p:blipFill>
          <a:blip r:embed="rId8"/>
          <a:stretch/>
        </p:blipFill>
        <p:spPr>
          <a:xfrm>
            <a:off x="9487440" y="2871360"/>
            <a:ext cx="775800" cy="978120"/>
          </a:xfrm>
          <a:prstGeom prst="rect">
            <a:avLst/>
          </a:prstGeom>
          <a:ln>
            <a:noFill/>
          </a:ln>
        </p:spPr>
      </p:pic>
      <p:sp>
        <p:nvSpPr>
          <p:cNvPr id="82" name="CustomShape 22"/>
          <p:cNvSpPr/>
          <p:nvPr/>
        </p:nvSpPr>
        <p:spPr>
          <a:xfrm>
            <a:off x="932688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Akira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3" name="CustomShape 23"/>
          <p:cNvSpPr/>
          <p:nvPr/>
        </p:nvSpPr>
        <p:spPr>
          <a:xfrm>
            <a:off x="10515600" y="2834640"/>
            <a:ext cx="1096920" cy="10512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4" name="Picture 32" descr="kaz.jpg"/>
          <p:cNvPicPr/>
          <p:nvPr/>
        </p:nvPicPr>
        <p:blipFill>
          <a:blip r:embed="rId9"/>
          <a:stretch/>
        </p:blipFill>
        <p:spPr>
          <a:xfrm>
            <a:off x="10553400" y="2871360"/>
            <a:ext cx="1021320" cy="978120"/>
          </a:xfrm>
          <a:prstGeom prst="rect">
            <a:avLst/>
          </a:prstGeom>
          <a:ln>
            <a:noFill/>
          </a:ln>
        </p:spPr>
      </p:pic>
      <p:sp>
        <p:nvSpPr>
          <p:cNvPr id="85" name="CustomShape 24"/>
          <p:cNvSpPr/>
          <p:nvPr/>
        </p:nvSpPr>
        <p:spPr>
          <a:xfrm>
            <a:off x="10515600" y="3904560"/>
            <a:ext cx="10969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222222"/>
                </a:solidFill>
                <a:latin typeface="Meiryo"/>
                <a:ea typeface="Meiryo"/>
              </a:rPr>
              <a:t>Kaz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6" name="CustomShape 25"/>
          <p:cNvSpPr/>
          <p:nvPr/>
        </p:nvSpPr>
        <p:spPr>
          <a:xfrm>
            <a:off x="548640" y="4709160"/>
            <a:ext cx="11063880" cy="12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様々な形態のロボットで全身行動を実装し、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ISRR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RSJ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で発表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多数の博士論文もここから生まれた。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のように、同じタワー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/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制御方式のまま様々な形態のロボット本体に載せ替えて動かす、という発想は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この「タワー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脳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は共通、身体は交換可能」という考え方に直接つながっている。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CustomShape 26"/>
          <p:cNvSpPr/>
          <p:nvPr/>
        </p:nvSpPr>
        <p:spPr>
          <a:xfrm>
            <a:off x="548640" y="6537960"/>
            <a:ext cx="1106388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900" spc="-1" strike="noStrike">
                <a:solidFill>
                  <a:srgbClr val="6b7280"/>
                </a:solidFill>
                <a:latin typeface="Meiryo"/>
                <a:ea typeface="Meiryo"/>
              </a:rPr>
              <a:t>画像出典</a:t>
            </a: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: JSK (</a:t>
            </a:r>
            <a:r>
              <a:rPr b="0" lang="ja-JP" sz="900" spc="-1" strike="noStrike">
                <a:solidFill>
                  <a:srgbClr val="6b7280"/>
                </a:solidFill>
                <a:latin typeface="Meiryo"/>
                <a:ea typeface="Meiryo"/>
              </a:rPr>
              <a:t>東京大学 情報システム工学研究室</a:t>
            </a: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) Remote-Brained Robotics </a:t>
            </a:r>
            <a:r>
              <a:rPr b="0" lang="ja-JP" sz="900" spc="-1" strike="noStrike">
                <a:solidFill>
                  <a:srgbClr val="6b7280"/>
                </a:solidFill>
                <a:latin typeface="Meiryo"/>
                <a:ea typeface="Meiryo"/>
              </a:rPr>
              <a:t>ページ </a:t>
            </a: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(jsk.t.u-tokyo.ac.jp/research/rbr/)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ORIGINS -- 1990s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実装された全身行動ロボットの例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48640" y="150876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1" name="Picture 4" descr="chibikaz-rope.jpg"/>
          <p:cNvPicPr/>
          <p:nvPr/>
        </p:nvPicPr>
        <p:blipFill>
          <a:blip r:embed="rId1"/>
          <a:stretch/>
        </p:blipFill>
        <p:spPr>
          <a:xfrm>
            <a:off x="978480" y="1545480"/>
            <a:ext cx="1791720" cy="1343880"/>
          </a:xfrm>
          <a:prstGeom prst="rect">
            <a:avLst/>
          </a:prstGeom>
          <a:ln>
            <a:noFill/>
          </a:ln>
        </p:spPr>
      </p:pic>
      <p:sp>
        <p:nvSpPr>
          <p:cNvPr id="92" name="CustomShape 4"/>
          <p:cNvSpPr/>
          <p:nvPr/>
        </p:nvSpPr>
        <p:spPr>
          <a:xfrm>
            <a:off x="548640" y="294444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ブランコ運動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3" name="CustomShape 5"/>
          <p:cNvSpPr/>
          <p:nvPr/>
        </p:nvSpPr>
        <p:spPr>
          <a:xfrm>
            <a:off x="3383280" y="150876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4" name="Picture 7" descr="kama4_small.gif"/>
          <p:cNvPicPr/>
          <p:nvPr/>
        </p:nvPicPr>
        <p:blipFill>
          <a:blip r:embed="rId2"/>
          <a:stretch/>
        </p:blipFill>
        <p:spPr>
          <a:xfrm>
            <a:off x="4042800" y="1545480"/>
            <a:ext cx="1332360" cy="1343880"/>
          </a:xfrm>
          <a:prstGeom prst="rect">
            <a:avLst/>
          </a:prstGeom>
          <a:ln>
            <a:noFill/>
          </a:ln>
        </p:spPr>
      </p:pic>
      <p:sp>
        <p:nvSpPr>
          <p:cNvPr id="95" name="CustomShape 6"/>
          <p:cNvSpPr/>
          <p:nvPr/>
        </p:nvSpPr>
        <p:spPr>
          <a:xfrm>
            <a:off x="3383280" y="294444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４脚２腕かまきり型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6" name="CustomShape 7"/>
          <p:cNvSpPr/>
          <p:nvPr/>
        </p:nvSpPr>
        <p:spPr>
          <a:xfrm>
            <a:off x="6217920" y="150876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7" name="Picture 10" descr="kaz-walk-catch-robot.jpg"/>
          <p:cNvPicPr/>
          <p:nvPr/>
        </p:nvPicPr>
        <p:blipFill>
          <a:blip r:embed="rId3"/>
          <a:stretch/>
        </p:blipFill>
        <p:spPr>
          <a:xfrm>
            <a:off x="6566400" y="1545480"/>
            <a:ext cx="1954800" cy="1343880"/>
          </a:xfrm>
          <a:prstGeom prst="rect">
            <a:avLst/>
          </a:prstGeom>
          <a:ln>
            <a:noFill/>
          </a:ln>
        </p:spPr>
      </p:pic>
      <p:sp>
        <p:nvSpPr>
          <p:cNvPr id="98" name="CustomShape 8"/>
          <p:cNvSpPr/>
          <p:nvPr/>
        </p:nvSpPr>
        <p:spPr>
          <a:xfrm>
            <a:off x="6217920" y="294444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ボールを探して拾ってくる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9" name="CustomShape 9"/>
          <p:cNvSpPr/>
          <p:nvPr/>
        </p:nvSpPr>
        <p:spPr>
          <a:xfrm>
            <a:off x="9052560" y="150876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0" name="Picture 13" descr="akira-small.gif"/>
          <p:cNvPicPr/>
          <p:nvPr/>
        </p:nvPicPr>
        <p:blipFill>
          <a:blip r:embed="rId4"/>
          <a:stretch/>
        </p:blipFill>
        <p:spPr>
          <a:xfrm>
            <a:off x="9845280" y="1545480"/>
            <a:ext cx="1065960" cy="1343880"/>
          </a:xfrm>
          <a:prstGeom prst="rect">
            <a:avLst/>
          </a:prstGeom>
          <a:ln>
            <a:noFill/>
          </a:ln>
        </p:spPr>
      </p:pic>
      <p:sp>
        <p:nvSpPr>
          <p:cNvPr id="101" name="CustomShape 10"/>
          <p:cNvSpPr/>
          <p:nvPr/>
        </p:nvSpPr>
        <p:spPr>
          <a:xfrm>
            <a:off x="9052560" y="2944440"/>
            <a:ext cx="265140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板の上でバランスをとる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小型ヒューマノイド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2" name="CustomShape 11"/>
          <p:cNvSpPr/>
          <p:nvPr/>
        </p:nvSpPr>
        <p:spPr>
          <a:xfrm>
            <a:off x="548640" y="365760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3" name="Picture 16" descr="haru-give1_small.gif"/>
          <p:cNvPicPr/>
          <p:nvPr/>
        </p:nvPicPr>
        <p:blipFill>
          <a:blip r:embed="rId5"/>
          <a:stretch/>
        </p:blipFill>
        <p:spPr>
          <a:xfrm>
            <a:off x="978480" y="3694320"/>
            <a:ext cx="1791720" cy="1343880"/>
          </a:xfrm>
          <a:prstGeom prst="rect">
            <a:avLst/>
          </a:prstGeom>
          <a:ln>
            <a:noFill/>
          </a:ln>
        </p:spPr>
      </p:pic>
      <p:sp>
        <p:nvSpPr>
          <p:cNvPr id="104" name="CustomShape 12"/>
          <p:cNvSpPr/>
          <p:nvPr/>
        </p:nvSpPr>
        <p:spPr>
          <a:xfrm>
            <a:off x="548640" y="509328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en-US" sz="1050" spc="-1" strike="noStrike">
                <a:solidFill>
                  <a:srgbClr val="1f2a44"/>
                </a:solidFill>
                <a:latin typeface="Meiryo"/>
                <a:ea typeface="Meiryo"/>
              </a:rPr>
              <a:t>2</a:t>
            </a: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台の小型ヒューマノイド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3383280" y="365760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6" name="Picture 19" descr="kaz-seri-ladder.jpg"/>
          <p:cNvPicPr/>
          <p:nvPr/>
        </p:nvPicPr>
        <p:blipFill>
          <a:blip r:embed="rId6"/>
          <a:stretch/>
        </p:blipFill>
        <p:spPr>
          <a:xfrm>
            <a:off x="3813120" y="3694320"/>
            <a:ext cx="1791720" cy="1343880"/>
          </a:xfrm>
          <a:prstGeom prst="rect">
            <a:avLst/>
          </a:prstGeom>
          <a:ln>
            <a:noFill/>
          </a:ln>
        </p:spPr>
      </p:pic>
      <p:sp>
        <p:nvSpPr>
          <p:cNvPr id="107" name="CustomShape 14"/>
          <p:cNvSpPr/>
          <p:nvPr/>
        </p:nvSpPr>
        <p:spPr>
          <a:xfrm>
            <a:off x="3383280" y="509328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はしごを上る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8" name="CustomShape 15"/>
          <p:cNvSpPr/>
          <p:nvPr/>
        </p:nvSpPr>
        <p:spPr>
          <a:xfrm>
            <a:off x="6217920" y="365760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9" name="Picture 22" descr="sumo_small.gif"/>
          <p:cNvPicPr/>
          <p:nvPr/>
        </p:nvPicPr>
        <p:blipFill>
          <a:blip r:embed="rId7"/>
          <a:stretch/>
        </p:blipFill>
        <p:spPr>
          <a:xfrm>
            <a:off x="6724440" y="3694320"/>
            <a:ext cx="1638360" cy="1343880"/>
          </a:xfrm>
          <a:prstGeom prst="rect">
            <a:avLst/>
          </a:prstGeom>
          <a:ln>
            <a:noFill/>
          </a:ln>
        </p:spPr>
      </p:pic>
      <p:sp>
        <p:nvSpPr>
          <p:cNvPr id="110" name="CustomShape 16"/>
          <p:cNvSpPr/>
          <p:nvPr/>
        </p:nvSpPr>
        <p:spPr>
          <a:xfrm>
            <a:off x="6217920" y="509328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相撲ロボット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1" name="CustomShape 17"/>
          <p:cNvSpPr/>
          <p:nvPr/>
        </p:nvSpPr>
        <p:spPr>
          <a:xfrm>
            <a:off x="9052560" y="3657600"/>
            <a:ext cx="2651400" cy="14169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12" name="Picture 25" descr="chibikaz.jpg"/>
          <p:cNvPicPr/>
          <p:nvPr/>
        </p:nvPicPr>
        <p:blipFill>
          <a:blip r:embed="rId8"/>
          <a:stretch/>
        </p:blipFill>
        <p:spPr>
          <a:xfrm>
            <a:off x="9482400" y="3694320"/>
            <a:ext cx="1791720" cy="1343880"/>
          </a:xfrm>
          <a:prstGeom prst="rect">
            <a:avLst/>
          </a:prstGeom>
          <a:ln>
            <a:noFill/>
          </a:ln>
        </p:spPr>
      </p:pic>
      <p:sp>
        <p:nvSpPr>
          <p:cNvPr id="113" name="CustomShape 18"/>
          <p:cNvSpPr/>
          <p:nvPr/>
        </p:nvSpPr>
        <p:spPr>
          <a:xfrm>
            <a:off x="9052560" y="5093280"/>
            <a:ext cx="26514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1" lang="ja-JP" sz="1050" spc="-1" strike="noStrike">
                <a:solidFill>
                  <a:srgbClr val="1f2a44"/>
                </a:solidFill>
                <a:latin typeface="Meiryo"/>
                <a:ea typeface="Meiryo"/>
              </a:rPr>
              <a:t>手のひらに載る小型サイズ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4" name="CustomShape 19"/>
          <p:cNvSpPr/>
          <p:nvPr/>
        </p:nvSpPr>
        <p:spPr>
          <a:xfrm>
            <a:off x="548640" y="6080760"/>
            <a:ext cx="11063880" cy="47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いずれも「軽量な身体</a:t>
            </a:r>
            <a:r>
              <a:rPr b="0" lang="en-US" sz="105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無線</a:t>
            </a:r>
            <a:r>
              <a:rPr b="0" lang="en-US" sz="105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外部の強力な計算機」という同じ構成のまま様々な動作を実装した成果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写真は</a:t>
            </a:r>
            <a:r>
              <a:rPr b="0" lang="en-US" sz="1050" spc="-1" strike="noStrike">
                <a:solidFill>
                  <a:srgbClr val="6b7280"/>
                </a:solidFill>
                <a:latin typeface="Meiryo"/>
                <a:ea typeface="Meiryo"/>
              </a:rPr>
              <a:t>JSK Remote-Brained Robotics</a:t>
            </a: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より。個別動作の厳密な記録写真ではなく代表画像</a:t>
            </a:r>
            <a:r>
              <a:rPr b="0" lang="en-US" sz="105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050" spc="-1" strike="noStrike">
                <a:solidFill>
                  <a:srgbClr val="6b7280"/>
                </a:solidFill>
                <a:latin typeface="Meiryo"/>
                <a:ea typeface="Meiryo"/>
              </a:rPr>
              <a:t>。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ORIGINS -- THEN vs NOW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当時と現在の計算機環境の比較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7" name="CustomShape 3"/>
          <p:cNvSpPr/>
          <p:nvPr/>
        </p:nvSpPr>
        <p:spPr>
          <a:xfrm>
            <a:off x="548640" y="146304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項目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8" name="CustomShape 4"/>
          <p:cNvSpPr/>
          <p:nvPr/>
        </p:nvSpPr>
        <p:spPr>
          <a:xfrm>
            <a:off x="3108960" y="1463040"/>
            <a:ext cx="438876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1990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年代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トランスピュータタワー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9" name="CustomShape 5"/>
          <p:cNvSpPr/>
          <p:nvPr/>
        </p:nvSpPr>
        <p:spPr>
          <a:xfrm>
            <a:off x="7589520" y="1463040"/>
            <a:ext cx="365724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現在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(kxr)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0" name="CustomShape 6"/>
          <p:cNvSpPr/>
          <p:nvPr/>
        </p:nvSpPr>
        <p:spPr>
          <a:xfrm>
            <a:off x="548640" y="205740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「脳」側の計算機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3182040" y="2094120"/>
            <a:ext cx="424260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トランスピュータ数十個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+MEP(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視覚処理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Sun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ワークステーション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ソフト共有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2" name="CustomShape 8"/>
          <p:cNvSpPr/>
          <p:nvPr/>
        </p:nvSpPr>
        <p:spPr>
          <a:xfrm>
            <a:off x="7662600" y="209412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スマホ・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PC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GitHub(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データ配信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GPU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サーバ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(hatori/pro1,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学習用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3" name="CustomShape 9"/>
          <p:cNvSpPr/>
          <p:nvPr/>
        </p:nvSpPr>
        <p:spPr>
          <a:xfrm>
            <a:off x="548640" y="277056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ロボット身体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CustomShape 10"/>
          <p:cNvSpPr/>
          <p:nvPr/>
        </p:nvSpPr>
        <p:spPr>
          <a:xfrm>
            <a:off x="3182040" y="2807280"/>
            <a:ext cx="424260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RC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用小型アクチュエータ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受信モジュール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カメラ 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映像送信機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5" name="CustomShape 11"/>
          <p:cNvSpPr/>
          <p:nvPr/>
        </p:nvSpPr>
        <p:spPr>
          <a:xfrm>
            <a:off x="7662600" y="280728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RCB-4 +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サーボ 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M5StickV(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カメラ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AtomS3/M5StickC(WiFi)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6" name="CustomShape 12"/>
          <p:cNvSpPr/>
          <p:nvPr/>
        </p:nvSpPr>
        <p:spPr>
          <a:xfrm>
            <a:off x="548640" y="348372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通信方式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7" name="CustomShape 13"/>
          <p:cNvSpPr/>
          <p:nvPr/>
        </p:nvSpPr>
        <p:spPr>
          <a:xfrm>
            <a:off x="3182040" y="3520440"/>
            <a:ext cx="42426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UHF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無線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映像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)+ RC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無線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サーボ指令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8" name="CustomShape 14"/>
          <p:cNvSpPr/>
          <p:nvPr/>
        </p:nvSpPr>
        <p:spPr>
          <a:xfrm>
            <a:off x="7662600" y="352044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WiFi(HTTPS/POST)+ ESP-NOW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 UART(RCB-4, 1.25Mbps/625kbps)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29" name="CustomShape 15"/>
          <p:cNvSpPr/>
          <p:nvPr/>
        </p:nvSpPr>
        <p:spPr>
          <a:xfrm>
            <a:off x="548640" y="419724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系統が制御するサーボ数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CustomShape 16"/>
          <p:cNvSpPr/>
          <p:nvPr/>
        </p:nvSpPr>
        <p:spPr>
          <a:xfrm>
            <a:off x="3182040" y="4233600"/>
            <a:ext cx="424260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20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〜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40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個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ロボット形態により様々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1" name="CustomShape 17"/>
          <p:cNvSpPr/>
          <p:nvPr/>
        </p:nvSpPr>
        <p:spPr>
          <a:xfrm>
            <a:off x="7662600" y="423360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同程度の規模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(rcb4robotconfig.l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の軸の組合せ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2" name="CustomShape 18"/>
          <p:cNvSpPr/>
          <p:nvPr/>
        </p:nvSpPr>
        <p:spPr>
          <a:xfrm>
            <a:off x="548640" y="491040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ソフトウェアの共有方法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3" name="CustomShape 19"/>
          <p:cNvSpPr/>
          <p:nvPr/>
        </p:nvSpPr>
        <p:spPr>
          <a:xfrm>
            <a:off x="3182040" y="4946760"/>
            <a:ext cx="424260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Sun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ワークステーション上で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学生間が直接共有・継承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4" name="CustomShape 20"/>
          <p:cNvSpPr/>
          <p:nvPr/>
        </p:nvSpPr>
        <p:spPr>
          <a:xfrm>
            <a:off x="7662600" y="494676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GitHub(downloadable_policies/,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urdf_viewer/)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でクラウド共有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5" name="CustomShape 21"/>
          <p:cNvSpPr/>
          <p:nvPr/>
        </p:nvSpPr>
        <p:spPr>
          <a:xfrm>
            <a:off x="548640" y="5623560"/>
            <a:ext cx="246852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知能の実体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6" name="CustomShape 22"/>
          <p:cNvSpPr/>
          <p:nvPr/>
        </p:nvSpPr>
        <p:spPr>
          <a:xfrm>
            <a:off x="3182040" y="5660280"/>
            <a:ext cx="424260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各自が書いた行動プログラム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(Transputer occam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7" name="CustomShape 23"/>
          <p:cNvSpPr/>
          <p:nvPr/>
        </p:nvSpPr>
        <p:spPr>
          <a:xfrm>
            <a:off x="7662600" y="5660280"/>
            <a:ext cx="351108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学習済み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方策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(int16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量子化、将来はデータ駆動化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38" name="CustomShape 24"/>
          <p:cNvSpPr/>
          <p:nvPr/>
        </p:nvSpPr>
        <p:spPr>
          <a:xfrm>
            <a:off x="548640" y="6355080"/>
            <a:ext cx="11063880" cy="51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変わったのは計算機の規模と共有手段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(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専用タワー→クラウド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)-- 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「脳は外、身体は軽量・交換可能」という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思想そのものは、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1990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年代のリモートブレインロボットから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kxr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まで一貫して受け継がれている。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CURRENT STATE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kxr5s: 1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つのファームウェアで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種類のロボットに対応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548640" y="1554480"/>
            <a:ext cx="5760360" cy="277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atoms3_m5stickv_kxr5s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m5stickc_m5stickv_kxr5s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NVS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に保存したロボット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で、起動時にどのロボット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として振る舞うか決まる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(kxrl4t / kxrl4d / kxrl6 / kxrl2g / kxra6g)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・各ロボットの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重み・関節定義・モーションテーブルは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すべてコンパイル時に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Flash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へ焼き込み済み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2" name="CustomShape 4"/>
          <p:cNvSpPr/>
          <p:nvPr/>
        </p:nvSpPr>
        <p:spPr>
          <a:xfrm>
            <a:off x="6400800" y="1554480"/>
            <a:ext cx="5211720" cy="32914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CustomShape 5"/>
          <p:cNvSpPr/>
          <p:nvPr/>
        </p:nvSpPr>
        <p:spPr>
          <a:xfrm>
            <a:off x="6583680" y="1645920"/>
            <a:ext cx="48459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f2a44"/>
                </a:solidFill>
                <a:latin typeface="Meiryo"/>
                <a:ea typeface="Meiryo"/>
              </a:rPr>
              <a:t>1</a:t>
            </a:r>
            <a:r>
              <a:rPr b="1" lang="ja-JP" sz="1400" spc="-1" strike="noStrike">
                <a:solidFill>
                  <a:srgbClr val="1f2a44"/>
                </a:solidFill>
                <a:latin typeface="Meiryo"/>
                <a:ea typeface="Meiryo"/>
              </a:rPr>
              <a:t>個のファームウェアイメージ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CustomShape 6"/>
          <p:cNvSpPr/>
          <p:nvPr/>
        </p:nvSpPr>
        <p:spPr>
          <a:xfrm>
            <a:off x="6720840" y="2194560"/>
            <a:ext cx="155412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kxrl4t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8412480" y="2194560"/>
            <a:ext cx="155412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kxrl4d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6" name="CustomShape 8"/>
          <p:cNvSpPr/>
          <p:nvPr/>
        </p:nvSpPr>
        <p:spPr>
          <a:xfrm>
            <a:off x="6720840" y="3108960"/>
            <a:ext cx="155412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kxrl6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7" name="CustomShape 9"/>
          <p:cNvSpPr/>
          <p:nvPr/>
        </p:nvSpPr>
        <p:spPr>
          <a:xfrm>
            <a:off x="8412480" y="3108960"/>
            <a:ext cx="155412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kxrl2g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8" name="CustomShape 10"/>
          <p:cNvSpPr/>
          <p:nvPr/>
        </p:nvSpPr>
        <p:spPr>
          <a:xfrm>
            <a:off x="7562160" y="4023360"/>
            <a:ext cx="155412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kxra6g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9" name="CustomShape 11"/>
          <p:cNvSpPr/>
          <p:nvPr/>
        </p:nvSpPr>
        <p:spPr>
          <a:xfrm>
            <a:off x="548640" y="5029200"/>
            <a:ext cx="11063880" cy="110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Flash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の使用率はすでに 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78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〜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83%(atoms3 / m5stickc 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とも、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5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種類の時点で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)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。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各ロボットの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NN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重み・仕様・モーションテーブルを丸ごとコンパイルする方式は、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台数が増えるほど線形に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Flash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を消費する </a:t>
            </a:r>
            <a:r>
              <a:rPr b="1" lang="en-US" sz="1700" spc="-1" strike="noStrike">
                <a:solidFill>
                  <a:srgbClr val="b03030"/>
                </a:solidFill>
                <a:latin typeface="Meiryo"/>
                <a:ea typeface="Meiryo"/>
              </a:rPr>
              <a:t>-- 500</a:t>
            </a:r>
            <a:r>
              <a:rPr b="1" lang="ja-JP" sz="1700" spc="-1" strike="noStrike">
                <a:solidFill>
                  <a:srgbClr val="b03030"/>
                </a:solidFill>
                <a:latin typeface="Meiryo"/>
                <a:ea typeface="Meiryo"/>
              </a:rPr>
              <a:t>種類には物理的に届かない。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THE ROBOTS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1" name="CustomShape 2"/>
          <p:cNvSpPr/>
          <p:nvPr/>
        </p:nvSpPr>
        <p:spPr>
          <a:xfrm>
            <a:off x="548640" y="685800"/>
            <a:ext cx="105152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対応する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4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体の実機モデル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(URDF+3D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メッシュより自動レンダリング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52" name="CustomShape 3"/>
          <p:cNvSpPr/>
          <p:nvPr/>
        </p:nvSpPr>
        <p:spPr>
          <a:xfrm>
            <a:off x="640080" y="1645920"/>
            <a:ext cx="2468520" cy="246852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3" name="Picture 4" descr="kxrl4t.png"/>
          <p:cNvPicPr/>
          <p:nvPr/>
        </p:nvPicPr>
        <p:blipFill>
          <a:blip r:embed="rId1"/>
          <a:stretch/>
        </p:blipFill>
        <p:spPr>
          <a:xfrm>
            <a:off x="777240" y="1968480"/>
            <a:ext cx="2194200" cy="1823400"/>
          </a:xfrm>
          <a:prstGeom prst="rect">
            <a:avLst/>
          </a:prstGeom>
          <a:ln>
            <a:noFill/>
          </a:ln>
        </p:spPr>
      </p:pic>
      <p:sp>
        <p:nvSpPr>
          <p:cNvPr id="154" name="CustomShape 4"/>
          <p:cNvSpPr/>
          <p:nvPr/>
        </p:nvSpPr>
        <p:spPr>
          <a:xfrm>
            <a:off x="640080" y="4206240"/>
            <a:ext cx="2468520" cy="59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kxrl4t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(4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脚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, 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シンプル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5" name="CustomShape 5"/>
          <p:cNvSpPr/>
          <p:nvPr/>
        </p:nvSpPr>
        <p:spPr>
          <a:xfrm>
            <a:off x="3246120" y="1645920"/>
            <a:ext cx="2468520" cy="246852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6" name="Picture 7" descr="kxrl4d.png"/>
          <p:cNvPicPr/>
          <p:nvPr/>
        </p:nvPicPr>
        <p:blipFill>
          <a:blip r:embed="rId2"/>
          <a:stretch/>
        </p:blipFill>
        <p:spPr>
          <a:xfrm>
            <a:off x="3805200" y="1783080"/>
            <a:ext cx="1350360" cy="2194200"/>
          </a:xfrm>
          <a:prstGeom prst="rect">
            <a:avLst/>
          </a:prstGeom>
          <a:ln>
            <a:noFill/>
          </a:ln>
        </p:spPr>
      </p:pic>
      <p:sp>
        <p:nvSpPr>
          <p:cNvPr id="157" name="CustomShape 6"/>
          <p:cNvSpPr/>
          <p:nvPr/>
        </p:nvSpPr>
        <p:spPr>
          <a:xfrm>
            <a:off x="3246120" y="4206240"/>
            <a:ext cx="2468520" cy="59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kxrl4d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(4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脚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+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グリッパー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8" name="CustomShape 7"/>
          <p:cNvSpPr/>
          <p:nvPr/>
        </p:nvSpPr>
        <p:spPr>
          <a:xfrm>
            <a:off x="5852160" y="1645920"/>
            <a:ext cx="2468520" cy="246852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9" name="Picture 10" descr="kxrl6.png"/>
          <p:cNvPicPr/>
          <p:nvPr/>
        </p:nvPicPr>
        <p:blipFill>
          <a:blip r:embed="rId3"/>
          <a:stretch/>
        </p:blipFill>
        <p:spPr>
          <a:xfrm>
            <a:off x="5989320" y="2238840"/>
            <a:ext cx="2194200" cy="1283040"/>
          </a:xfrm>
          <a:prstGeom prst="rect">
            <a:avLst/>
          </a:prstGeom>
          <a:ln>
            <a:noFill/>
          </a:ln>
        </p:spPr>
      </p:pic>
      <p:sp>
        <p:nvSpPr>
          <p:cNvPr id="160" name="CustomShape 8"/>
          <p:cNvSpPr/>
          <p:nvPr/>
        </p:nvSpPr>
        <p:spPr>
          <a:xfrm>
            <a:off x="5852160" y="4206240"/>
            <a:ext cx="2468520" cy="59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kxrl6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(6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脚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8458200" y="1645920"/>
            <a:ext cx="2468520" cy="246852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62" name="Picture 13" descr="kxrl2g.png"/>
          <p:cNvPicPr/>
          <p:nvPr/>
        </p:nvPicPr>
        <p:blipFill>
          <a:blip r:embed="rId4"/>
          <a:stretch/>
        </p:blipFill>
        <p:spPr>
          <a:xfrm>
            <a:off x="9107640" y="1783080"/>
            <a:ext cx="1169640" cy="2194200"/>
          </a:xfrm>
          <a:prstGeom prst="rect">
            <a:avLst/>
          </a:prstGeom>
          <a:ln>
            <a:noFill/>
          </a:ln>
        </p:spPr>
      </p:pic>
      <p:sp>
        <p:nvSpPr>
          <p:cNvPr id="163" name="CustomShape 10"/>
          <p:cNvSpPr/>
          <p:nvPr/>
        </p:nvSpPr>
        <p:spPr>
          <a:xfrm>
            <a:off x="8458200" y="4206240"/>
            <a:ext cx="2468520" cy="59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kxrl2g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(2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脚ヒューマノイド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4" name="CustomShape 11"/>
          <p:cNvSpPr/>
          <p:nvPr/>
        </p:nvSpPr>
        <p:spPr>
          <a:xfrm>
            <a:off x="548640" y="5120640"/>
            <a:ext cx="11063880" cy="98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これらのモデルは </a:t>
            </a: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~/kxreus/urdfs/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に </a:t>
            </a: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URDF + COLLADA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メッシュとして既に存在し、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walking-kxr-rl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の </a:t>
            </a: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home.json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が定める実際の「立ちポーズ」の関節角で描画している。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rcb4robotconfig.l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のプロジェクトファイル名ごとに、同じ形式で </a:t>
            </a:r>
            <a:r>
              <a:rPr b="0" lang="en-US" sz="1500" spc="-1" strike="noStrike">
                <a:solidFill>
                  <a:srgbClr val="6b7280"/>
                </a:solidFill>
                <a:latin typeface="Meiryo"/>
                <a:ea typeface="Meiryo"/>
              </a:rPr>
              <a:t>500 </a:t>
            </a:r>
            <a:r>
              <a:rPr b="0" lang="ja-JP" sz="1500" spc="-1" strike="noStrike">
                <a:solidFill>
                  <a:srgbClr val="6b7280"/>
                </a:solidFill>
                <a:latin typeface="Meiryo"/>
                <a:ea typeface="Meiryo"/>
              </a:rPr>
              <a:t>種類まで用意できる。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SOFTWARE ARCHITECTURE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kxr5s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ファームウェアのソフトウェア構成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67" name="CustomShape 3"/>
          <p:cNvSpPr/>
          <p:nvPr/>
        </p:nvSpPr>
        <p:spPr>
          <a:xfrm>
            <a:off x="3566160" y="1554480"/>
            <a:ext cx="5028840" cy="6854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main.cpp -- 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モード切り替え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ボタン長押し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8" name="Line 4"/>
          <p:cNvSpPr/>
          <p:nvPr/>
        </p:nvSpPr>
        <p:spPr>
          <a:xfrm>
            <a:off x="6080760" y="2240280"/>
            <a:ext cx="0" cy="13716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9" name="Line 5"/>
          <p:cNvSpPr/>
          <p:nvPr/>
        </p:nvSpPr>
        <p:spPr>
          <a:xfrm>
            <a:off x="2011680" y="2377440"/>
            <a:ext cx="768096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0" name="Line 6"/>
          <p:cNvSpPr/>
          <p:nvPr/>
        </p:nvSpPr>
        <p:spPr>
          <a:xfrm>
            <a:off x="201168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" name="Line 7"/>
          <p:cNvSpPr/>
          <p:nvPr/>
        </p:nvSpPr>
        <p:spPr>
          <a:xfrm>
            <a:off x="457200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" name="Line 8"/>
          <p:cNvSpPr/>
          <p:nvPr/>
        </p:nvSpPr>
        <p:spPr>
          <a:xfrm>
            <a:off x="713232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3" name="Line 9"/>
          <p:cNvSpPr/>
          <p:nvPr/>
        </p:nvSpPr>
        <p:spPr>
          <a:xfrm>
            <a:off x="969264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" name="CustomShape 10"/>
          <p:cNvSpPr/>
          <p:nvPr/>
        </p:nvSpPr>
        <p:spPr>
          <a:xfrm>
            <a:off x="82296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BRIDGE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PC/ATOM Echo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と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RCB-4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を直結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5" name="CustomShape 11"/>
          <p:cNvSpPr/>
          <p:nvPr/>
        </p:nvSpPr>
        <p:spPr>
          <a:xfrm>
            <a:off x="338328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STATUS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通信状態の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表示専用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6" name="CustomShape 12"/>
          <p:cNvSpPr/>
          <p:nvPr/>
        </p:nvSpPr>
        <p:spPr>
          <a:xfrm>
            <a:off x="594360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ROBOT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ロボット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ID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を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選ぶ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(NVS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保存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7" name="CustomShape 13"/>
          <p:cNvSpPr/>
          <p:nvPr/>
        </p:nvSpPr>
        <p:spPr>
          <a:xfrm>
            <a:off x="850392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POLICY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学習済み方策で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自律歩行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8" name="CustomShape 14"/>
          <p:cNvSpPr/>
          <p:nvPr/>
        </p:nvSpPr>
        <p:spPr>
          <a:xfrm>
            <a:off x="822960" y="3886200"/>
            <a:ext cx="36572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r>
              <a:rPr b="1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つのモードが共有するライブラリ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9" name="CustomShape 15"/>
          <p:cNvSpPr/>
          <p:nvPr/>
        </p:nvSpPr>
        <p:spPr>
          <a:xfrm>
            <a:off x="822960" y="4251960"/>
            <a:ext cx="2605680" cy="13712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Rcb4Link</a:t>
            </a:r>
            <a:br/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RCB-4 UART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制御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+ I2C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カメラ橋渡し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+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内蔵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IMU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CustomShape 16"/>
          <p:cNvSpPr/>
          <p:nvPr/>
        </p:nvSpPr>
        <p:spPr>
          <a:xfrm>
            <a:off x="3566160" y="4251960"/>
            <a:ext cx="2605680" cy="13712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policy</a:t>
            </a:r>
            <a:br/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ロボット別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NN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重み・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サーボマップ・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モーションテーブル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1" name="CustomShape 17"/>
          <p:cNvSpPr/>
          <p:nvPr/>
        </p:nvSpPr>
        <p:spPr>
          <a:xfrm>
            <a:off x="6309360" y="4251960"/>
            <a:ext cx="2605680" cy="13712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net /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https_server</a:t>
            </a:r>
            <a:br/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スマホ向け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制御ページ・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/info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・ポリシー配信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2" name="CustomShape 18"/>
          <p:cNvSpPr/>
          <p:nvPr/>
        </p:nvSpPr>
        <p:spPr>
          <a:xfrm>
            <a:off x="9052560" y="4251960"/>
            <a:ext cx="2605680" cy="13712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EspNowLink /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HostRelay</a:t>
            </a:r>
            <a:br/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PC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・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ATOM Echo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との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無線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/USB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橋渡し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CustomShape 19"/>
          <p:cNvSpPr/>
          <p:nvPr/>
        </p:nvSpPr>
        <p:spPr>
          <a:xfrm>
            <a:off x="548640" y="5852160"/>
            <a:ext cx="1106388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500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種類化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(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フェーズ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4)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で変わるのは 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policy 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ライブラリだけ 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-- 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コンパイル時の固定テーブルから、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ダウンロードした「ロボット記述ブロブ」を読む汎用インタプリタに置き換える。他は変更不要。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ROBOT DATA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policy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ライブラリが持つ「ロボット依存データ」の内訳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548640" y="1417320"/>
            <a:ext cx="110638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1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体のロボットにつき </a:t>
            </a: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RobotEntry 1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件</a:t>
            </a: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(kRobots[])-- 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中身は </a:t>
            </a: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Actor 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構造体</a:t>
            </a: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(NN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ごと</a:t>
            </a:r>
            <a:r>
              <a:rPr b="0" lang="en-US" sz="1400" spc="-1" strike="noStrike">
                <a:solidFill>
                  <a:srgbClr val="6b7280"/>
                </a:solidFill>
                <a:latin typeface="Meiryo"/>
                <a:ea typeface="Meiryo"/>
              </a:rPr>
              <a:t>)+ </a:t>
            </a:r>
            <a:r>
              <a:rPr b="0" lang="ja-JP" sz="1400" spc="-1" strike="noStrike">
                <a:solidFill>
                  <a:srgbClr val="6b7280"/>
                </a:solidFill>
                <a:latin typeface="Meiryo"/>
                <a:ea typeface="Meiryo"/>
              </a:rPr>
              <a:t>モーションテーブル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548640" y="178308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NN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の入出力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3017520" y="1792080"/>
            <a:ext cx="51202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mean / inv_std(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観測正規化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action_scale(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出力スケール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9" name="CustomShape 6"/>
          <p:cNvSpPr/>
          <p:nvPr/>
        </p:nvSpPr>
        <p:spPr>
          <a:xfrm>
            <a:off x="548640" y="239580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NN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の構造・重み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3017520" y="2404800"/>
            <a:ext cx="51202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layers / layer_in / layer_out(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層構成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weights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biases(float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、または量子化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int16+scale)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1" name="CustomShape 8"/>
          <p:cNvSpPr/>
          <p:nvPr/>
        </p:nvSpPr>
        <p:spPr>
          <a:xfrm>
            <a:off x="548640" y="300852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身体パラメータ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2" name="CustomShape 9"/>
          <p:cNvSpPr/>
          <p:nvPr/>
        </p:nvSpPr>
        <p:spPr>
          <a:xfrm>
            <a:off x="3017520" y="3017520"/>
            <a:ext cx="5120280" cy="61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servo_ids(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関節→サーボ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ID)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home_rad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joint_low/high(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ホーム姿勢・可動域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servo_direction(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回転方向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3" name="CustomShape 10"/>
          <p:cNvSpPr/>
          <p:nvPr/>
        </p:nvSpPr>
        <p:spPr>
          <a:xfrm>
            <a:off x="548640" y="362088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歩行コマンド範囲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" name="CustomShape 11"/>
          <p:cNvSpPr/>
          <p:nvPr/>
        </p:nvSpPr>
        <p:spPr>
          <a:xfrm>
            <a:off x="3017520" y="3630240"/>
            <a:ext cx="5120280" cy="61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command_vx_min/max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command_wz_max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phase_period_s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standing_fraction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stance_gravity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root_to_gyro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5" name="CustomShape 12"/>
          <p:cNvSpPr/>
          <p:nvPr/>
        </p:nvSpPr>
        <p:spPr>
          <a:xfrm>
            <a:off x="548640" y="423360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モーションテーブル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CustomShape 13"/>
          <p:cNvSpPr/>
          <p:nvPr/>
        </p:nvSpPr>
        <p:spPr>
          <a:xfrm>
            <a:off x="3017520" y="4242960"/>
            <a:ext cx="51202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RobotEntry.motions[]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番号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名前、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RCB-4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内蔵プログラムへのジャンプ先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7" name="CustomShape 14"/>
          <p:cNvSpPr/>
          <p:nvPr/>
        </p:nvSpPr>
        <p:spPr>
          <a:xfrm>
            <a:off x="548640" y="4846320"/>
            <a:ext cx="2285640" cy="566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識別・表示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8" name="CustomShape 15"/>
          <p:cNvSpPr/>
          <p:nvPr/>
        </p:nvSpPr>
        <p:spPr>
          <a:xfrm>
            <a:off x="3017520" y="4855320"/>
            <a:ext cx="51202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name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detect_ids/detect_count(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サーボ検出用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display_rotation(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液晶の向き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99" name="CustomShape 16"/>
          <p:cNvSpPr/>
          <p:nvPr/>
        </p:nvSpPr>
        <p:spPr>
          <a:xfrm>
            <a:off x="8503920" y="1965960"/>
            <a:ext cx="329148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主な利用元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0" name="CustomShape 17"/>
          <p:cNvSpPr/>
          <p:nvPr/>
        </p:nvSpPr>
        <p:spPr>
          <a:xfrm>
            <a:off x="8503920" y="2377440"/>
            <a:ext cx="329148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policy_mode -- NN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推論・関節コマンド生成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1" name="CustomShape 18"/>
          <p:cNvSpPr/>
          <p:nvPr/>
        </p:nvSpPr>
        <p:spPr>
          <a:xfrm>
            <a:off x="8503920" y="3063240"/>
            <a:ext cx="3291480" cy="30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rcb4_link -- servo_direction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の適用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2" name="CustomShape 19"/>
          <p:cNvSpPr/>
          <p:nvPr/>
        </p:nvSpPr>
        <p:spPr>
          <a:xfrm>
            <a:off x="8503920" y="3749040"/>
            <a:ext cx="329148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robot_select_mode -- detect_ids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でのサーボ照合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3" name="CustomShape 20"/>
          <p:cNvSpPr/>
          <p:nvPr/>
        </p:nvSpPr>
        <p:spPr>
          <a:xfrm>
            <a:off x="8503920" y="4434840"/>
            <a:ext cx="329148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bridge_mode / net --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モーションテーブルの一覧表示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4" name="CustomShape 21"/>
          <p:cNvSpPr/>
          <p:nvPr/>
        </p:nvSpPr>
        <p:spPr>
          <a:xfrm>
            <a:off x="548640" y="5943600"/>
            <a:ext cx="11063880" cy="56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種類化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フェーズ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4)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では、この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6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カテゴリすべてを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1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つの「ロボット記述ブロブ」にまとめ、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コンパイル時の固定テーブルではなくダウンロードしたデータとして読む。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SYSTEM OVERVIEW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6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システム全体構成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07" name="CustomShape 3"/>
          <p:cNvSpPr/>
          <p:nvPr/>
        </p:nvSpPr>
        <p:spPr>
          <a:xfrm>
            <a:off x="4754880" y="274320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kxr5s</a:t>
            </a:r>
            <a:br/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(AtomS3 / M5StickC)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8" name="CustomShape 4"/>
          <p:cNvSpPr/>
          <p:nvPr/>
        </p:nvSpPr>
        <p:spPr>
          <a:xfrm>
            <a:off x="457200" y="1691640"/>
            <a:ext cx="2651400" cy="9140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スマホ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ブラウザ制御・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3D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ビューア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9" name="Line 5"/>
          <p:cNvSpPr/>
          <p:nvPr/>
        </p:nvSpPr>
        <p:spPr>
          <a:xfrm>
            <a:off x="3108960" y="2148840"/>
            <a:ext cx="1645920" cy="8686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0" name="CustomShape 6"/>
          <p:cNvSpPr/>
          <p:nvPr/>
        </p:nvSpPr>
        <p:spPr>
          <a:xfrm>
            <a:off x="2331720" y="2423160"/>
            <a:ext cx="2194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WiFi</a:t>
            </a:r>
            <a:endParaRPr b="0" lang="en-US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(POST)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1" name="CustomShape 7"/>
          <p:cNvSpPr/>
          <p:nvPr/>
        </p:nvSpPr>
        <p:spPr>
          <a:xfrm>
            <a:off x="4663440" y="1965960"/>
            <a:ext cx="2834280" cy="59400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GitHub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(downloadable_policies/)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2" name="Line 8"/>
          <p:cNvSpPr/>
          <p:nvPr/>
        </p:nvSpPr>
        <p:spPr>
          <a:xfrm flipH="1" flipV="1">
            <a:off x="3108960" y="2148840"/>
            <a:ext cx="1554480" cy="11412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3" name="CustomShape 9"/>
          <p:cNvSpPr/>
          <p:nvPr/>
        </p:nvSpPr>
        <p:spPr>
          <a:xfrm>
            <a:off x="4709160" y="169164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HTTPS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4" name="CustomShape 10"/>
          <p:cNvSpPr/>
          <p:nvPr/>
        </p:nvSpPr>
        <p:spPr>
          <a:xfrm>
            <a:off x="9144000" y="1005840"/>
            <a:ext cx="2468520" cy="9140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PC / ATOM Echo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5" name="Line 11"/>
          <p:cNvSpPr/>
          <p:nvPr/>
        </p:nvSpPr>
        <p:spPr>
          <a:xfrm flipH="1">
            <a:off x="7498080" y="1554480"/>
            <a:ext cx="1645920" cy="146304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6" name="CustomShape 12"/>
          <p:cNvSpPr/>
          <p:nvPr/>
        </p:nvSpPr>
        <p:spPr>
          <a:xfrm>
            <a:off x="7772400" y="2697480"/>
            <a:ext cx="959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USB-CDC/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ESP-NOW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7" name="CustomShape 13"/>
          <p:cNvSpPr/>
          <p:nvPr/>
        </p:nvSpPr>
        <p:spPr>
          <a:xfrm>
            <a:off x="548640" y="2880360"/>
            <a:ext cx="237708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M5StickV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カメラ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(0x24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左目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/ 0x25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右目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8" name="Line 14"/>
          <p:cNvSpPr/>
          <p:nvPr/>
        </p:nvSpPr>
        <p:spPr>
          <a:xfrm>
            <a:off x="2926080" y="3337560"/>
            <a:ext cx="1828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9" name="CustomShape 15"/>
          <p:cNvSpPr/>
          <p:nvPr/>
        </p:nvSpPr>
        <p:spPr>
          <a:xfrm>
            <a:off x="3017520" y="3017520"/>
            <a:ext cx="16455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I2C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0" name="CustomShape 16"/>
          <p:cNvSpPr/>
          <p:nvPr/>
        </p:nvSpPr>
        <p:spPr>
          <a:xfrm>
            <a:off x="4983480" y="4480560"/>
            <a:ext cx="2285640" cy="7768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RCB-4 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コントローラ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1" name="Line 17"/>
          <p:cNvSpPr/>
          <p:nvPr/>
        </p:nvSpPr>
        <p:spPr>
          <a:xfrm>
            <a:off x="6126480" y="3931920"/>
            <a:ext cx="0" cy="54864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2" name="CustomShape 18"/>
          <p:cNvSpPr/>
          <p:nvPr/>
        </p:nvSpPr>
        <p:spPr>
          <a:xfrm>
            <a:off x="6263640" y="3977640"/>
            <a:ext cx="20113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UART (1.25M/625K)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3" name="Line 19"/>
          <p:cNvSpPr/>
          <p:nvPr/>
        </p:nvSpPr>
        <p:spPr>
          <a:xfrm>
            <a:off x="6126480" y="5257800"/>
            <a:ext cx="0" cy="22860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pic>
        <p:nvPicPr>
          <p:cNvPr id="224" name="Picture 20" descr="kxrl2g.png"/>
          <p:cNvPicPr/>
          <p:nvPr/>
        </p:nvPicPr>
        <p:blipFill>
          <a:blip r:embed="rId1"/>
          <a:stretch/>
        </p:blipFill>
        <p:spPr>
          <a:xfrm>
            <a:off x="5797440" y="5532120"/>
            <a:ext cx="657720" cy="1234080"/>
          </a:xfrm>
          <a:prstGeom prst="rect">
            <a:avLst/>
          </a:prstGeom>
          <a:ln>
            <a:noFill/>
          </a:ln>
        </p:spPr>
      </p:pic>
      <p:sp>
        <p:nvSpPr>
          <p:cNvPr id="225" name="CustomShape 20"/>
          <p:cNvSpPr/>
          <p:nvPr/>
        </p:nvSpPr>
        <p:spPr>
          <a:xfrm>
            <a:off x="4023360" y="5921280"/>
            <a:ext cx="1919880" cy="45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サーボ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バス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6" name="CustomShape 21"/>
          <p:cNvSpPr/>
          <p:nvPr/>
        </p:nvSpPr>
        <p:spPr>
          <a:xfrm>
            <a:off x="548640" y="3977640"/>
            <a:ext cx="36572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200" spc="-1" strike="noStrike">
                <a:solidFill>
                  <a:srgbClr val="1f2a44"/>
                </a:solidFill>
                <a:latin typeface="Meiryo"/>
                <a:ea typeface="Meiryo"/>
              </a:rPr>
              <a:t>計算機スペック</a:t>
            </a:r>
            <a:r>
              <a:rPr b="1" lang="en-US" sz="12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1f2a44"/>
                </a:solidFill>
                <a:latin typeface="Meiryo"/>
                <a:ea typeface="Meiryo"/>
              </a:rPr>
              <a:t>この構成図の要素</a:t>
            </a:r>
            <a:r>
              <a:rPr b="1" lang="en-US" sz="12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7" name="CustomShape 22"/>
          <p:cNvSpPr/>
          <p:nvPr/>
        </p:nvSpPr>
        <p:spPr>
          <a:xfrm>
            <a:off x="548640" y="4306680"/>
            <a:ext cx="3657240" cy="182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AtomS3(ESP32-S3): 240MHz / RAM 512KB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8MB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M5StickC(ESP32): 240MHz / RAM 520KB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4MB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M5StickV(K210): 400MHz(RISC-V) / SRAM 8MB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16MB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microSD(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容量はカード依存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RCB-4: CPU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仕様は近藤科学非公開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通信速度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1.25Mbps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625kbps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PC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・スマホ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使用機種に依存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対象外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GitHub: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クラウドサービス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対象外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28" name="CustomShape 23"/>
          <p:cNvSpPr/>
          <p:nvPr/>
        </p:nvSpPr>
        <p:spPr>
          <a:xfrm>
            <a:off x="8778240" y="2103120"/>
            <a:ext cx="3017160" cy="37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に置いてあるもの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(5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種類時点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manifest.json(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候補一覧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・学習済みポリシー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.bin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(NN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重み、ロボットごと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RCB-4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は実際のサーボを駆動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・サーボ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の配線状態を読み取り、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候補ロボットを絞り込む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/info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に公開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・カメラの見た目は変わらないが、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ロボット本体は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どれにでもなり得る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THE SCALE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rcb4robotconfig.l: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数百通りの組み合わせ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548640" y="1645920"/>
            <a:ext cx="5668920" cy="411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ロボットは「タイプ」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(l2 / l4 / l6 ...)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ごとに、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多数の独立した軸の組み合わせで定義されている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・脚の種類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(:leg)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・腕の種類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(:arm)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・頭部の種類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(:head)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・胴体のバリエーション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(:torso / :body)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・グリッパー・センサーの有無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:project-file 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ごとに固有の名前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(kxrl4d, kxrl2makabe, kxrl2l6a4h2, ...)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3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→ 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urdfs/ 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には既に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52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種類のモデルが用意されている。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6675120" y="1828800"/>
            <a:ext cx="4845960" cy="9140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5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現状の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kxr5s)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3" name="CustomShape 5"/>
          <p:cNvSpPr/>
          <p:nvPr/>
        </p:nvSpPr>
        <p:spPr>
          <a:xfrm>
            <a:off x="6675120" y="3017520"/>
            <a:ext cx="484596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52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(urdfs/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に既存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4" name="CustomShape 6"/>
          <p:cNvSpPr/>
          <p:nvPr/>
        </p:nvSpPr>
        <p:spPr>
          <a:xfrm>
            <a:off x="6675120" y="4206240"/>
            <a:ext cx="4845960" cy="9140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(rcb4robotconfig.l</a:t>
            </a:r>
            <a:r>
              <a:rPr b="1" lang="ja-JP" sz="1800" spc="-1" strike="noStrike">
                <a:solidFill>
                  <a:srgbClr val="ffffff"/>
                </a:solidFill>
                <a:latin typeface="Meiryo"/>
                <a:ea typeface="Meiryo"/>
              </a:rPr>
              <a:t>の組み合わせ規模</a:t>
            </a:r>
            <a:r>
              <a:rPr b="1" lang="en-US" sz="18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WHY IT DOESN'T SCALE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6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「コンパイルして詰め込む」方式の限界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548640" y="1737360"/>
            <a:ext cx="2377080" cy="11883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Meiryo"/>
                <a:ea typeface="Meiryo"/>
              </a:rPr>
              <a:t>Flash</a:t>
            </a:r>
            <a:r>
              <a:rPr b="1" lang="ja-JP" sz="1600" spc="-1" strike="noStrike">
                <a:solidFill>
                  <a:srgbClr val="ffffff"/>
                </a:solidFill>
                <a:latin typeface="Meiryo"/>
                <a:ea typeface="Meiryo"/>
              </a:rPr>
              <a:t>サイズ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3108960" y="1783080"/>
            <a:ext cx="8412120" cy="69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ロボット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体分の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重みは約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100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〜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200KB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体分をコンパイルすると数十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MB -- ESP32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Flash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容量を大きく超える。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548640" y="3200400"/>
            <a:ext cx="2377080" cy="11883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600" spc="-1" strike="noStrike">
                <a:solidFill>
                  <a:srgbClr val="ffffff"/>
                </a:solidFill>
                <a:latin typeface="Meiryo"/>
                <a:ea typeface="Meiryo"/>
              </a:rPr>
              <a:t>ビルドの複雑さ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0" name="CustomShape 6"/>
          <p:cNvSpPr/>
          <p:nvPr/>
        </p:nvSpPr>
        <p:spPr>
          <a:xfrm>
            <a:off x="3108960" y="3246120"/>
            <a:ext cx="8412120" cy="69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体分のヘッダファイル・重みテーブルを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つのビルドに含めることになり、保守が破綻する。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1" name="CustomShape 7"/>
          <p:cNvSpPr/>
          <p:nvPr/>
        </p:nvSpPr>
        <p:spPr>
          <a:xfrm>
            <a:off x="548640" y="4663440"/>
            <a:ext cx="2377080" cy="11883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600" spc="-1" strike="noStrike">
                <a:solidFill>
                  <a:srgbClr val="ffffff"/>
                </a:solidFill>
                <a:latin typeface="Meiryo"/>
                <a:ea typeface="Meiryo"/>
              </a:rPr>
              <a:t>今の設計の前提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2" name="CustomShape 8"/>
          <p:cNvSpPr/>
          <p:nvPr/>
        </p:nvSpPr>
        <p:spPr>
          <a:xfrm>
            <a:off x="3108960" y="4709160"/>
            <a:ext cx="8412120" cy="69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policy::beginUpload() 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は「</a:t>
            </a:r>
            <a:r>
              <a:rPr b="0" lang="en-US" sz="16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の重み」だけを差し替え対象にしていて、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600" spc="-1" strike="noStrike">
                <a:solidFill>
                  <a:srgbClr val="222222"/>
                </a:solidFill>
                <a:latin typeface="Meiryo"/>
                <a:ea typeface="Meiryo"/>
              </a:rPr>
              <a:t>層構成・サーボ数はコンパイル時の固定値のまま。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TARGET ARCHITECTURE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目指す姿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ロボット非依存の汎用インタプリタ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45" name="CustomShape 3"/>
          <p:cNvSpPr/>
          <p:nvPr/>
        </p:nvSpPr>
        <p:spPr>
          <a:xfrm>
            <a:off x="731520" y="1828800"/>
            <a:ext cx="3291480" cy="11883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汎用ファームウェア</a:t>
            </a:r>
            <a:br/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全ロボット共通・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6" name="CustomShape 4"/>
          <p:cNvSpPr/>
          <p:nvPr/>
        </p:nvSpPr>
        <p:spPr>
          <a:xfrm>
            <a:off x="4846320" y="1828800"/>
            <a:ext cx="3291480" cy="118836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ロボット記述ブロブ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(NN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形状・重み・サーボマップ・</a:t>
            </a:r>
            <a:br/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ホーム位置・モーション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7" name="CustomShape 5"/>
          <p:cNvSpPr/>
          <p:nvPr/>
        </p:nvSpPr>
        <p:spPr>
          <a:xfrm>
            <a:off x="8961120" y="1828800"/>
            <a:ext cx="2468520" cy="118836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GitHub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上に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種類分を公開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8" name="Line 6"/>
          <p:cNvSpPr/>
          <p:nvPr/>
        </p:nvSpPr>
        <p:spPr>
          <a:xfrm>
            <a:off x="4023360" y="2423160"/>
            <a:ext cx="822960" cy="0"/>
          </a:xfrm>
          <a:prstGeom prst="line">
            <a:avLst/>
          </a:prstGeom>
          <a:ln w="31680"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9" name="Line 7"/>
          <p:cNvSpPr/>
          <p:nvPr/>
        </p:nvSpPr>
        <p:spPr>
          <a:xfrm>
            <a:off x="8138160" y="2423160"/>
            <a:ext cx="822960" cy="0"/>
          </a:xfrm>
          <a:prstGeom prst="line">
            <a:avLst/>
          </a:prstGeom>
          <a:ln w="31680"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0" name="CustomShape 8"/>
          <p:cNvSpPr/>
          <p:nvPr/>
        </p:nvSpPr>
        <p:spPr>
          <a:xfrm>
            <a:off x="548640" y="3291840"/>
            <a:ext cx="11063880" cy="339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既存の仕組みをそのまま拡張する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: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policy::beginUpload() / saveUploaded() / loadSaved()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今は「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の重みだけ」が対象 → 層構成・サーボマップ・モーションテーブルも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 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含む「ロボット記述ブロブ」全体に対象を広げる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・スマホが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から取得して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POST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する方式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ポリシー配信と同じ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ロボット自身が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HTTPS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で直接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を叩くと不安定になることは既に判明済み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・生成元は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rcb4robotconfig.l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の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:project-file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名ごと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既存の</a:t>
            </a:r>
            <a:r>
              <a:rPr b="0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URDF/MuJoCo</a:t>
            </a:r>
            <a:r>
              <a:rPr b="0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変換パイプラインと同じ場所で機械的に生成できる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500 ROBOTS -- VARIETY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種類に増えると、こんなロボットも対象になる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50292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4" name="Picture 4" descr="kxrkamakiri.png"/>
          <p:cNvPicPr/>
          <p:nvPr/>
        </p:nvPicPr>
        <p:blipFill>
          <a:blip r:embed="rId1"/>
          <a:stretch/>
        </p:blipFill>
        <p:spPr>
          <a:xfrm>
            <a:off x="704880" y="1444680"/>
            <a:ext cx="1058400" cy="1316520"/>
          </a:xfrm>
          <a:prstGeom prst="rect">
            <a:avLst/>
          </a:prstGeom>
          <a:ln>
            <a:noFill/>
          </a:ln>
        </p:spPr>
      </p:pic>
      <p:sp>
        <p:nvSpPr>
          <p:cNvPr id="255" name="CustomShape 4"/>
          <p:cNvSpPr/>
          <p:nvPr/>
        </p:nvSpPr>
        <p:spPr>
          <a:xfrm>
            <a:off x="50292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kxrkamakiri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56" name="CustomShape 5"/>
          <p:cNvSpPr/>
          <p:nvPr/>
        </p:nvSpPr>
        <p:spPr>
          <a:xfrm>
            <a:off x="50292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kamakiri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型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固有デザイン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57" name="CustomShape 6"/>
          <p:cNvSpPr/>
          <p:nvPr/>
        </p:nvSpPr>
        <p:spPr>
          <a:xfrm>
            <a:off x="213048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8" name="Picture 8" descr="kxrdw4a6h2m.png"/>
          <p:cNvPicPr/>
          <p:nvPr/>
        </p:nvPicPr>
        <p:blipFill>
          <a:blip r:embed="rId2"/>
          <a:stretch/>
        </p:blipFill>
        <p:spPr>
          <a:xfrm>
            <a:off x="2408400" y="1444680"/>
            <a:ext cx="907200" cy="1316520"/>
          </a:xfrm>
          <a:prstGeom prst="rect">
            <a:avLst/>
          </a:prstGeom>
          <a:ln>
            <a:noFill/>
          </a:ln>
        </p:spPr>
      </p:pic>
      <p:sp>
        <p:nvSpPr>
          <p:cNvPr id="259" name="CustomShape 7"/>
          <p:cNvSpPr/>
          <p:nvPr/>
        </p:nvSpPr>
        <p:spPr>
          <a:xfrm>
            <a:off x="213048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kxrdw4a6h2m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0" name="CustomShape 8"/>
          <p:cNvSpPr/>
          <p:nvPr/>
        </p:nvSpPr>
        <p:spPr>
          <a:xfrm>
            <a:off x="2130480" y="3099960"/>
            <a:ext cx="146268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差動車輪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4+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6+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頭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61" name="CustomShape 9"/>
          <p:cNvSpPr/>
          <p:nvPr/>
        </p:nvSpPr>
        <p:spPr>
          <a:xfrm>
            <a:off x="375804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2" name="Picture 12" descr="kxrl2w2l6a6h2.png"/>
          <p:cNvPicPr/>
          <p:nvPr/>
        </p:nvPicPr>
        <p:blipFill>
          <a:blip r:embed="rId3"/>
          <a:stretch/>
        </p:blipFill>
        <p:spPr>
          <a:xfrm>
            <a:off x="4051800" y="1444680"/>
            <a:ext cx="875520" cy="1316520"/>
          </a:xfrm>
          <a:prstGeom prst="rect">
            <a:avLst/>
          </a:prstGeom>
          <a:ln>
            <a:noFill/>
          </a:ln>
        </p:spPr>
      </p:pic>
      <p:sp>
        <p:nvSpPr>
          <p:cNvPr id="263" name="CustomShape 10"/>
          <p:cNvSpPr/>
          <p:nvPr/>
        </p:nvSpPr>
        <p:spPr>
          <a:xfrm>
            <a:off x="375804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kxrl2w2l6a6h2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4" name="CustomShape 11"/>
          <p:cNvSpPr/>
          <p:nvPr/>
        </p:nvSpPr>
        <p:spPr>
          <a:xfrm>
            <a:off x="375804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車輪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6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6+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頭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65" name="CustomShape 12"/>
          <p:cNvSpPr/>
          <p:nvPr/>
        </p:nvSpPr>
        <p:spPr>
          <a:xfrm>
            <a:off x="538596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6" name="Picture 16" descr="kxrmw4a7h2g.png"/>
          <p:cNvPicPr/>
          <p:nvPr/>
        </p:nvPicPr>
        <p:blipFill>
          <a:blip r:embed="rId4"/>
          <a:stretch/>
        </p:blipFill>
        <p:spPr>
          <a:xfrm>
            <a:off x="5575680" y="1444680"/>
            <a:ext cx="1082520" cy="1316520"/>
          </a:xfrm>
          <a:prstGeom prst="rect">
            <a:avLst/>
          </a:prstGeom>
          <a:ln>
            <a:noFill/>
          </a:ln>
        </p:spPr>
      </p:pic>
      <p:sp>
        <p:nvSpPr>
          <p:cNvPr id="267" name="CustomShape 13"/>
          <p:cNvSpPr/>
          <p:nvPr/>
        </p:nvSpPr>
        <p:spPr>
          <a:xfrm>
            <a:off x="538596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kxrmw4a7h2g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8" name="CustomShape 14"/>
          <p:cNvSpPr/>
          <p:nvPr/>
        </p:nvSpPr>
        <p:spPr>
          <a:xfrm>
            <a:off x="538596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車輪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4+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7+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頭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グリッパー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69" name="CustomShape 15"/>
          <p:cNvSpPr/>
          <p:nvPr/>
        </p:nvSpPr>
        <p:spPr>
          <a:xfrm>
            <a:off x="701352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70" name="Picture 20" descr="kxrl4b1.png"/>
          <p:cNvPicPr/>
          <p:nvPr/>
        </p:nvPicPr>
        <p:blipFill>
          <a:blip r:embed="rId5"/>
          <a:stretch/>
        </p:blipFill>
        <p:spPr>
          <a:xfrm>
            <a:off x="7169040" y="1444680"/>
            <a:ext cx="1151280" cy="1316520"/>
          </a:xfrm>
          <a:prstGeom prst="rect">
            <a:avLst/>
          </a:prstGeom>
          <a:ln>
            <a:noFill/>
          </a:ln>
        </p:spPr>
      </p:pic>
      <p:sp>
        <p:nvSpPr>
          <p:cNvPr id="271" name="CustomShape 16"/>
          <p:cNvSpPr/>
          <p:nvPr/>
        </p:nvSpPr>
        <p:spPr>
          <a:xfrm>
            <a:off x="701352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kxrl4b1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2" name="CustomShape 17"/>
          <p:cNvSpPr/>
          <p:nvPr/>
        </p:nvSpPr>
        <p:spPr>
          <a:xfrm>
            <a:off x="701352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4+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胴体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バリエーション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73" name="CustomShape 18"/>
          <p:cNvSpPr/>
          <p:nvPr/>
        </p:nvSpPr>
        <p:spPr>
          <a:xfrm>
            <a:off x="864108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74" name="Picture 24" descr="kxrl2makabe.png"/>
          <p:cNvPicPr/>
          <p:nvPr/>
        </p:nvPicPr>
        <p:blipFill>
          <a:blip r:embed="rId6"/>
          <a:stretch/>
        </p:blipFill>
        <p:spPr>
          <a:xfrm>
            <a:off x="8966880" y="1444680"/>
            <a:ext cx="811440" cy="1316520"/>
          </a:xfrm>
          <a:prstGeom prst="rect">
            <a:avLst/>
          </a:prstGeom>
          <a:ln>
            <a:noFill/>
          </a:ln>
        </p:spPr>
      </p:pic>
      <p:sp>
        <p:nvSpPr>
          <p:cNvPr id="275" name="CustomShape 19"/>
          <p:cNvSpPr/>
          <p:nvPr/>
        </p:nvSpPr>
        <p:spPr>
          <a:xfrm>
            <a:off x="864108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kxrl2makabe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6" name="CustomShape 20"/>
          <p:cNvSpPr/>
          <p:nvPr/>
        </p:nvSpPr>
        <p:spPr>
          <a:xfrm>
            <a:off x="864108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makabe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型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・固有デザイン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77" name="CustomShape 21"/>
          <p:cNvSpPr/>
          <p:nvPr/>
        </p:nvSpPr>
        <p:spPr>
          <a:xfrm>
            <a:off x="10268640" y="137160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78" name="Picture 28" descr="kxrow4a6h2m.png"/>
          <p:cNvPicPr/>
          <p:nvPr/>
        </p:nvPicPr>
        <p:blipFill>
          <a:blip r:embed="rId7"/>
          <a:stretch/>
        </p:blipFill>
        <p:spPr>
          <a:xfrm>
            <a:off x="10515600" y="1444680"/>
            <a:ext cx="969120" cy="1316520"/>
          </a:xfrm>
          <a:prstGeom prst="rect">
            <a:avLst/>
          </a:prstGeom>
          <a:ln>
            <a:noFill/>
          </a:ln>
        </p:spPr>
      </p:pic>
      <p:sp>
        <p:nvSpPr>
          <p:cNvPr id="279" name="CustomShape 22"/>
          <p:cNvSpPr/>
          <p:nvPr/>
        </p:nvSpPr>
        <p:spPr>
          <a:xfrm>
            <a:off x="10268640" y="285300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kxrow4a6h2m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80" name="CustomShape 23"/>
          <p:cNvSpPr/>
          <p:nvPr/>
        </p:nvSpPr>
        <p:spPr>
          <a:xfrm>
            <a:off x="10268640" y="309996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オムニ車輪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6+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頭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1" name="CustomShape 24"/>
          <p:cNvSpPr/>
          <p:nvPr/>
        </p:nvSpPr>
        <p:spPr>
          <a:xfrm>
            <a:off x="50292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82" name="Picture 32" descr="kxrl2l6a7h2.png"/>
          <p:cNvPicPr/>
          <p:nvPr/>
        </p:nvPicPr>
        <p:blipFill>
          <a:blip r:embed="rId8"/>
          <a:stretch/>
        </p:blipFill>
        <p:spPr>
          <a:xfrm>
            <a:off x="771480" y="3593520"/>
            <a:ext cx="925560" cy="1316520"/>
          </a:xfrm>
          <a:prstGeom prst="rect">
            <a:avLst/>
          </a:prstGeom>
          <a:ln>
            <a:noFill/>
          </a:ln>
        </p:spPr>
      </p:pic>
      <p:sp>
        <p:nvSpPr>
          <p:cNvPr id="283" name="CustomShape 25"/>
          <p:cNvSpPr/>
          <p:nvPr/>
        </p:nvSpPr>
        <p:spPr>
          <a:xfrm>
            <a:off x="50292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kxrl2l6a7h2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84" name="CustomShape 26"/>
          <p:cNvSpPr/>
          <p:nvPr/>
        </p:nvSpPr>
        <p:spPr>
          <a:xfrm>
            <a:off x="50292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6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7+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頭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5" name="CustomShape 27"/>
          <p:cNvSpPr/>
          <p:nvPr/>
        </p:nvSpPr>
        <p:spPr>
          <a:xfrm>
            <a:off x="213048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86" name="Picture 36" descr="kxrl2semi2022s.png"/>
          <p:cNvPicPr/>
          <p:nvPr/>
        </p:nvPicPr>
        <p:blipFill>
          <a:blip r:embed="rId9"/>
          <a:stretch/>
        </p:blipFill>
        <p:spPr>
          <a:xfrm>
            <a:off x="2379240" y="3593520"/>
            <a:ext cx="965160" cy="1316520"/>
          </a:xfrm>
          <a:prstGeom prst="rect">
            <a:avLst/>
          </a:prstGeom>
          <a:ln>
            <a:noFill/>
          </a:ln>
        </p:spPr>
      </p:pic>
      <p:sp>
        <p:nvSpPr>
          <p:cNvPr id="287" name="CustomShape 28"/>
          <p:cNvSpPr/>
          <p:nvPr/>
        </p:nvSpPr>
        <p:spPr>
          <a:xfrm>
            <a:off x="213048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kxrl2semi2022s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88" name="CustomShape 29"/>
          <p:cNvSpPr/>
          <p:nvPr/>
        </p:nvSpPr>
        <p:spPr>
          <a:xfrm>
            <a:off x="213048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関節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脚型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シンプル二足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89" name="CustomShape 30"/>
          <p:cNvSpPr/>
          <p:nvPr/>
        </p:nvSpPr>
        <p:spPr>
          <a:xfrm>
            <a:off x="375804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90" name="Picture 40" descr="kxrl4c.png"/>
          <p:cNvPicPr/>
          <p:nvPr/>
        </p:nvPicPr>
        <p:blipFill>
          <a:blip r:embed="rId10"/>
          <a:stretch/>
        </p:blipFill>
        <p:spPr>
          <a:xfrm>
            <a:off x="4028760" y="3593520"/>
            <a:ext cx="921960" cy="1316520"/>
          </a:xfrm>
          <a:prstGeom prst="rect">
            <a:avLst/>
          </a:prstGeom>
          <a:ln>
            <a:noFill/>
          </a:ln>
        </p:spPr>
      </p:pic>
      <p:sp>
        <p:nvSpPr>
          <p:cNvPr id="291" name="CustomShape 31"/>
          <p:cNvSpPr/>
          <p:nvPr/>
        </p:nvSpPr>
        <p:spPr>
          <a:xfrm>
            <a:off x="375804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kxrl4c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2" name="CustomShape 32"/>
          <p:cNvSpPr/>
          <p:nvPr/>
        </p:nvSpPr>
        <p:spPr>
          <a:xfrm>
            <a:off x="3758040" y="5248800"/>
            <a:ext cx="1462680" cy="21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双腕型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93" name="CustomShape 33"/>
          <p:cNvSpPr/>
          <p:nvPr/>
        </p:nvSpPr>
        <p:spPr>
          <a:xfrm>
            <a:off x="538596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94" name="Picture 44" descr="kxrl2l7a7w.png"/>
          <p:cNvPicPr/>
          <p:nvPr/>
        </p:nvPicPr>
        <p:blipFill>
          <a:blip r:embed="rId11"/>
          <a:stretch/>
        </p:blipFill>
        <p:spPr>
          <a:xfrm>
            <a:off x="5807520" y="3593520"/>
            <a:ext cx="618840" cy="1316520"/>
          </a:xfrm>
          <a:prstGeom prst="rect">
            <a:avLst/>
          </a:prstGeom>
          <a:ln>
            <a:noFill/>
          </a:ln>
        </p:spPr>
      </p:pic>
      <p:sp>
        <p:nvSpPr>
          <p:cNvPr id="295" name="CustomShape 34"/>
          <p:cNvSpPr/>
          <p:nvPr/>
        </p:nvSpPr>
        <p:spPr>
          <a:xfrm>
            <a:off x="538596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kxrl2l7a7w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96" name="CustomShape 35"/>
          <p:cNvSpPr/>
          <p:nvPr/>
        </p:nvSpPr>
        <p:spPr>
          <a:xfrm>
            <a:off x="538596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2+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7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腕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7+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車輪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97" name="CustomShape 36"/>
          <p:cNvSpPr/>
          <p:nvPr/>
        </p:nvSpPr>
        <p:spPr>
          <a:xfrm>
            <a:off x="701352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98" name="Picture 48" descr="kxrroboset4.png"/>
          <p:cNvPicPr/>
          <p:nvPr/>
        </p:nvPicPr>
        <p:blipFill>
          <a:blip r:embed="rId12"/>
          <a:stretch/>
        </p:blipFill>
        <p:spPr>
          <a:xfrm>
            <a:off x="7275240" y="3593520"/>
            <a:ext cx="939240" cy="1316520"/>
          </a:xfrm>
          <a:prstGeom prst="rect">
            <a:avLst/>
          </a:prstGeom>
          <a:ln>
            <a:noFill/>
          </a:ln>
        </p:spPr>
      </p:pic>
      <p:sp>
        <p:nvSpPr>
          <p:cNvPr id="299" name="CustomShape 37"/>
          <p:cNvSpPr/>
          <p:nvPr/>
        </p:nvSpPr>
        <p:spPr>
          <a:xfrm>
            <a:off x="701352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kxrroboset4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00" name="CustomShape 38"/>
          <p:cNvSpPr/>
          <p:nvPr/>
        </p:nvSpPr>
        <p:spPr>
          <a:xfrm>
            <a:off x="701352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roboset4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型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固有デザイン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01" name="CustomShape 39"/>
          <p:cNvSpPr/>
          <p:nvPr/>
        </p:nvSpPr>
        <p:spPr>
          <a:xfrm>
            <a:off x="864108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02" name="Picture 52" descr="khranzaifly.png"/>
          <p:cNvPicPr/>
          <p:nvPr/>
        </p:nvPicPr>
        <p:blipFill>
          <a:blip r:embed="rId13"/>
          <a:stretch/>
        </p:blipFill>
        <p:spPr>
          <a:xfrm>
            <a:off x="8871480" y="3593520"/>
            <a:ext cx="1001520" cy="1316520"/>
          </a:xfrm>
          <a:prstGeom prst="rect">
            <a:avLst/>
          </a:prstGeom>
          <a:ln>
            <a:noFill/>
          </a:ln>
        </p:spPr>
      </p:pic>
      <p:sp>
        <p:nvSpPr>
          <p:cNvPr id="303" name="CustomShape 40"/>
          <p:cNvSpPr/>
          <p:nvPr/>
        </p:nvSpPr>
        <p:spPr>
          <a:xfrm>
            <a:off x="864108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khranzaifly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04" name="CustomShape 41"/>
          <p:cNvSpPr/>
          <p:nvPr/>
        </p:nvSpPr>
        <p:spPr>
          <a:xfrm>
            <a:off x="864108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KHR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系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+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ドローンロータ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飛行ユニット付き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05" name="CustomShape 42"/>
          <p:cNvSpPr/>
          <p:nvPr/>
        </p:nvSpPr>
        <p:spPr>
          <a:xfrm>
            <a:off x="10268640" y="3520440"/>
            <a:ext cx="1462680" cy="14626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06" name="Picture 56" descr="khr20.png"/>
          <p:cNvPicPr/>
          <p:nvPr/>
        </p:nvPicPr>
        <p:blipFill>
          <a:blip r:embed="rId14"/>
          <a:stretch/>
        </p:blipFill>
        <p:spPr>
          <a:xfrm>
            <a:off x="10677960" y="3593520"/>
            <a:ext cx="643680" cy="1316520"/>
          </a:xfrm>
          <a:prstGeom prst="rect">
            <a:avLst/>
          </a:prstGeom>
          <a:ln>
            <a:noFill/>
          </a:ln>
        </p:spPr>
      </p:pic>
      <p:sp>
        <p:nvSpPr>
          <p:cNvPr id="307" name="CustomShape 43"/>
          <p:cNvSpPr/>
          <p:nvPr/>
        </p:nvSpPr>
        <p:spPr>
          <a:xfrm>
            <a:off x="10268640" y="5001840"/>
            <a:ext cx="1462680" cy="23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1f2a44"/>
                </a:solidFill>
                <a:latin typeface="Meiryo"/>
                <a:ea typeface="Meiryo"/>
              </a:rPr>
              <a:t>khr20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08" name="CustomShape 44"/>
          <p:cNvSpPr/>
          <p:nvPr/>
        </p:nvSpPr>
        <p:spPr>
          <a:xfrm>
            <a:off x="10268640" y="5248800"/>
            <a:ext cx="146268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KHR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系ヒューマノイド</a:t>
            </a:r>
            <a:endParaRPr b="0" lang="en-US" sz="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800" spc="-1" strike="noStrike">
                <a:solidFill>
                  <a:srgbClr val="6b7280"/>
                </a:solidFill>
                <a:latin typeface="Meiryo"/>
                <a:ea typeface="Meiryo"/>
              </a:rPr>
              <a:t>ロータなし</a:t>
            </a:r>
            <a:r>
              <a:rPr b="0" lang="en-US" sz="8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09" name="CustomShape 45"/>
          <p:cNvSpPr/>
          <p:nvPr/>
        </p:nvSpPr>
        <p:spPr>
          <a:xfrm>
            <a:off x="548640" y="5806440"/>
            <a:ext cx="11063880" cy="4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名称は 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rcb4robotconfig.l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の軸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(leg / arm / head / wheel / gripper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等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の組み合わせ、または固有デザイン名。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khranzaifly / khr20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は近藤科学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KHR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シリーズ系統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ドローンロータ付き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/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なし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)--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いずれも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urdfs/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に同じ形式で用意できる。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500 ROBOTS -- SYSTEM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種類スケールでのシステム構成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12" name="CustomShape 3"/>
          <p:cNvSpPr/>
          <p:nvPr/>
        </p:nvSpPr>
        <p:spPr>
          <a:xfrm>
            <a:off x="4754880" y="2743200"/>
            <a:ext cx="2742840" cy="11883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汎用ファームウェア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全ロボット共通・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13" name="CustomShape 4"/>
          <p:cNvSpPr/>
          <p:nvPr/>
        </p:nvSpPr>
        <p:spPr>
          <a:xfrm>
            <a:off x="457200" y="1691640"/>
            <a:ext cx="2651400" cy="9140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スマホ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候補一覧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+3D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ビューアから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体選ぶ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4" name="Line 5"/>
          <p:cNvSpPr/>
          <p:nvPr/>
        </p:nvSpPr>
        <p:spPr>
          <a:xfrm>
            <a:off x="3108960" y="2148840"/>
            <a:ext cx="1645920" cy="8686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15" name="CustomShape 6"/>
          <p:cNvSpPr/>
          <p:nvPr/>
        </p:nvSpPr>
        <p:spPr>
          <a:xfrm>
            <a:off x="2331720" y="2423160"/>
            <a:ext cx="2194200" cy="5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WiFi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選んだ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1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体分のブロブを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POST)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6" name="CustomShape 7"/>
          <p:cNvSpPr/>
          <p:nvPr/>
        </p:nvSpPr>
        <p:spPr>
          <a:xfrm>
            <a:off x="4663440" y="1965960"/>
            <a:ext cx="2834280" cy="59400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GitHub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(500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ロボット分の記述ブロブ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7" name="Line 8"/>
          <p:cNvSpPr/>
          <p:nvPr/>
        </p:nvSpPr>
        <p:spPr>
          <a:xfrm flipH="1" flipV="1">
            <a:off x="3108960" y="2148840"/>
            <a:ext cx="1554480" cy="11412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18" name="CustomShape 9"/>
          <p:cNvSpPr/>
          <p:nvPr/>
        </p:nvSpPr>
        <p:spPr>
          <a:xfrm>
            <a:off x="4709160" y="169164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HTTPS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19" name="CustomShape 10"/>
          <p:cNvSpPr/>
          <p:nvPr/>
        </p:nvSpPr>
        <p:spPr>
          <a:xfrm>
            <a:off x="9144000" y="1005840"/>
            <a:ext cx="2468520" cy="9140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PC / ATOM Echo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0" name="Line 11"/>
          <p:cNvSpPr/>
          <p:nvPr/>
        </p:nvSpPr>
        <p:spPr>
          <a:xfrm flipH="1">
            <a:off x="7498080" y="1554480"/>
            <a:ext cx="1645920" cy="146304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1" name="CustomShape 12"/>
          <p:cNvSpPr/>
          <p:nvPr/>
        </p:nvSpPr>
        <p:spPr>
          <a:xfrm>
            <a:off x="7772400" y="2697480"/>
            <a:ext cx="959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USB-CDC/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ESP-NOW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2" name="CustomShape 13"/>
          <p:cNvSpPr/>
          <p:nvPr/>
        </p:nvSpPr>
        <p:spPr>
          <a:xfrm>
            <a:off x="548640" y="2880360"/>
            <a:ext cx="237708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M5StickV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カメラ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(0x24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左目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/ 0x25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右目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3" name="Line 14"/>
          <p:cNvSpPr/>
          <p:nvPr/>
        </p:nvSpPr>
        <p:spPr>
          <a:xfrm>
            <a:off x="2926080" y="3337560"/>
            <a:ext cx="1828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4" name="CustomShape 15"/>
          <p:cNvSpPr/>
          <p:nvPr/>
        </p:nvSpPr>
        <p:spPr>
          <a:xfrm>
            <a:off x="3017520" y="3017520"/>
            <a:ext cx="16455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I2C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5" name="CustomShape 16"/>
          <p:cNvSpPr/>
          <p:nvPr/>
        </p:nvSpPr>
        <p:spPr>
          <a:xfrm>
            <a:off x="4983480" y="4480560"/>
            <a:ext cx="2285640" cy="7768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RCB-4 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コントローラ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26" name="Line 17"/>
          <p:cNvSpPr/>
          <p:nvPr/>
        </p:nvSpPr>
        <p:spPr>
          <a:xfrm>
            <a:off x="6126480" y="3931920"/>
            <a:ext cx="0" cy="54864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7" name="CustomShape 18"/>
          <p:cNvSpPr/>
          <p:nvPr/>
        </p:nvSpPr>
        <p:spPr>
          <a:xfrm>
            <a:off x="6263640" y="3977640"/>
            <a:ext cx="20113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UART (1.25M/625K)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8" name="Line 19"/>
          <p:cNvSpPr/>
          <p:nvPr/>
        </p:nvSpPr>
        <p:spPr>
          <a:xfrm>
            <a:off x="6126480" y="5257800"/>
            <a:ext cx="0" cy="22860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29" name="CustomShape 20"/>
          <p:cNvSpPr/>
          <p:nvPr/>
        </p:nvSpPr>
        <p:spPr>
          <a:xfrm>
            <a:off x="5120640" y="5600880"/>
            <a:ext cx="2011320" cy="684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種類の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どれか</a:t>
            </a:r>
            <a:r>
              <a:rPr b="1" lang="en-US" sz="1300" spc="-1" strike="noStrike">
                <a:solidFill>
                  <a:srgbClr val="1f2a44"/>
                </a:solidFill>
                <a:latin typeface="Meiryo"/>
                <a:ea typeface="Meiryo"/>
              </a:rPr>
              <a:t>1</a:t>
            </a: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体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実行時に決まる</a:t>
            </a:r>
            <a:r>
              <a:rPr b="1" lang="en-US" sz="13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0" name="CustomShape 21"/>
          <p:cNvSpPr/>
          <p:nvPr/>
        </p:nvSpPr>
        <p:spPr>
          <a:xfrm>
            <a:off x="548640" y="3977640"/>
            <a:ext cx="36572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200" spc="-1" strike="noStrike">
                <a:solidFill>
                  <a:srgbClr val="1f2a44"/>
                </a:solidFill>
                <a:latin typeface="Meiryo"/>
                <a:ea typeface="Meiryo"/>
              </a:rPr>
              <a:t>計算機スペック</a:t>
            </a:r>
            <a:r>
              <a:rPr b="1" lang="en-US" sz="12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1f2a44"/>
                </a:solidFill>
                <a:latin typeface="Meiryo"/>
                <a:ea typeface="Meiryo"/>
              </a:rPr>
              <a:t>この構成図の要素</a:t>
            </a:r>
            <a:r>
              <a:rPr b="1" lang="en-US" sz="12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1" name="CustomShape 22"/>
          <p:cNvSpPr/>
          <p:nvPr/>
        </p:nvSpPr>
        <p:spPr>
          <a:xfrm>
            <a:off x="548640" y="4306680"/>
            <a:ext cx="3657240" cy="182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AtomS3(ESP32-S3): 240MHz / RAM 512KB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8MB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M5StickC(ESP32): 240MHz / RAM 520KB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4MB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M5StickV(K210): 400MHz(RISC-V) / SRAM 8MB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Flash 16MB 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補助記憶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microSD(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容量はカード依存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RCB-4: CPU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仕様は近藤科学非公開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/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通信速度 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1.25Mbps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625kbps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PC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・スマホ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使用機種に依存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対象外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GitHub: 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クラウドサービス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222222"/>
                </a:solidFill>
                <a:latin typeface="Meiryo"/>
                <a:ea typeface="Meiryo"/>
              </a:rPr>
              <a:t>対象外</a:t>
            </a:r>
            <a:r>
              <a:rPr b="0" lang="en-US" sz="9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32" name="CustomShape 23"/>
          <p:cNvSpPr/>
          <p:nvPr/>
        </p:nvSpPr>
        <p:spPr>
          <a:xfrm>
            <a:off x="8778240" y="2103120"/>
            <a:ext cx="3017160" cy="374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に置いてあるもの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種類時点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):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manifest.json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ロボット分の候補一覧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各ロボットの期待サーボ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集合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・ロボット記述ブロブ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.bin x 500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(NN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形状・重み・サーボマップ・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ホーム位置・モーション、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体分ずつ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・端末が保持するのは選んだ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体分のブロブのみ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(LittleFS)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5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種類版と物理構成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(RCB-4/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カメラ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/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サーボバス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は全く同じ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500 ROBOTS -- SOFTWARE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種類スケールでのソフトウェア構成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35" name="CustomShape 3"/>
          <p:cNvSpPr/>
          <p:nvPr/>
        </p:nvSpPr>
        <p:spPr>
          <a:xfrm>
            <a:off x="3566160" y="1554480"/>
            <a:ext cx="5028840" cy="6854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main.cpp -- 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モード切り替え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ボタン長押し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)  ※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36" name="Line 4"/>
          <p:cNvSpPr/>
          <p:nvPr/>
        </p:nvSpPr>
        <p:spPr>
          <a:xfrm>
            <a:off x="6080760" y="2240280"/>
            <a:ext cx="0" cy="13716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7" name="Line 5"/>
          <p:cNvSpPr/>
          <p:nvPr/>
        </p:nvSpPr>
        <p:spPr>
          <a:xfrm>
            <a:off x="2011680" y="2377440"/>
            <a:ext cx="768096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8" name="Line 6"/>
          <p:cNvSpPr/>
          <p:nvPr/>
        </p:nvSpPr>
        <p:spPr>
          <a:xfrm>
            <a:off x="201168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39" name="Line 7"/>
          <p:cNvSpPr/>
          <p:nvPr/>
        </p:nvSpPr>
        <p:spPr>
          <a:xfrm>
            <a:off x="457200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0" name="Line 8"/>
          <p:cNvSpPr/>
          <p:nvPr/>
        </p:nvSpPr>
        <p:spPr>
          <a:xfrm>
            <a:off x="713232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1" name="Line 9"/>
          <p:cNvSpPr/>
          <p:nvPr/>
        </p:nvSpPr>
        <p:spPr>
          <a:xfrm>
            <a:off x="9692640" y="2377440"/>
            <a:ext cx="0" cy="1828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2" name="CustomShape 10"/>
          <p:cNvSpPr/>
          <p:nvPr/>
        </p:nvSpPr>
        <p:spPr>
          <a:xfrm>
            <a:off x="82296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BRIDGE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3" name="CustomShape 11"/>
          <p:cNvSpPr/>
          <p:nvPr/>
        </p:nvSpPr>
        <p:spPr>
          <a:xfrm>
            <a:off x="338328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STATUS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4" name="CustomShape 12"/>
          <p:cNvSpPr/>
          <p:nvPr/>
        </p:nvSpPr>
        <p:spPr>
          <a:xfrm>
            <a:off x="594360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ROBOT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候補は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件、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選択後にダウンロード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5" name="CustomShape 13"/>
          <p:cNvSpPr/>
          <p:nvPr/>
        </p:nvSpPr>
        <p:spPr>
          <a:xfrm>
            <a:off x="8503920" y="2560320"/>
            <a:ext cx="2377080" cy="105120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POLICY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汎用インタプリタで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ブロブを実行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6" name="CustomShape 14"/>
          <p:cNvSpPr/>
          <p:nvPr/>
        </p:nvSpPr>
        <p:spPr>
          <a:xfrm>
            <a:off x="822960" y="3886200"/>
            <a:ext cx="54860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r>
              <a:rPr b="1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つのモードが共有するライブラリ </a:t>
            </a:r>
            <a:r>
              <a:rPr b="1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1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太字が変わる部分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7" name="CustomShape 15"/>
          <p:cNvSpPr/>
          <p:nvPr/>
        </p:nvSpPr>
        <p:spPr>
          <a:xfrm>
            <a:off x="822960" y="425196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Rcb4Link</a:t>
            </a:r>
            <a:br/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RCB-4 UART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制御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+ I2C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カメラ橋渡し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+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内蔵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IMU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8" name="CustomShape 16"/>
          <p:cNvSpPr/>
          <p:nvPr/>
        </p:nvSpPr>
        <p:spPr>
          <a:xfrm>
            <a:off x="3566160" y="425196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policy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汎用インタプリタ化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br/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コンパイル時の固定テーブル</a:t>
            </a:r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ではなく、ダウンロードした</a:t>
            </a:r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ブロブを解釈して実行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9" name="CustomShape 17"/>
          <p:cNvSpPr/>
          <p:nvPr/>
        </p:nvSpPr>
        <p:spPr>
          <a:xfrm>
            <a:off x="6309360" y="425196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net /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https_server</a:t>
            </a:r>
            <a:br/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スマホ向け</a:t>
            </a:r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制御ページ・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/info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・</a:t>
            </a:r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ブロブ配信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候補が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件に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0" name="CustomShape 18"/>
          <p:cNvSpPr/>
          <p:nvPr/>
        </p:nvSpPr>
        <p:spPr>
          <a:xfrm>
            <a:off x="9052560" y="4251960"/>
            <a:ext cx="2605680" cy="14626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EspNowLink /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HostRelay</a:t>
            </a:r>
            <a:br/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PC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・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ATOM Echo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との</a:t>
            </a:r>
            <a:br/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無線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/USB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橋渡し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変更なし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1" name="CustomShape 19"/>
          <p:cNvSpPr/>
          <p:nvPr/>
        </p:nvSpPr>
        <p:spPr>
          <a:xfrm>
            <a:off x="548640" y="5943600"/>
            <a:ext cx="11063880" cy="62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モード構成・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main.cpp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・他ライブラリは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5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種類版と同一 </a:t>
            </a:r>
            <a:r>
              <a:rPr b="1" lang="en-US" sz="1400" spc="-1" strike="noStrike">
                <a:solidFill>
                  <a:srgbClr val="b03030"/>
                </a:solidFill>
                <a:latin typeface="Meiryo"/>
                <a:ea typeface="Meiryo"/>
              </a:rPr>
              <a:t>-- policy </a:t>
            </a: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ライブラリの内部実装だけが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lang="ja-JP" sz="1400" spc="-1" strike="noStrike">
                <a:solidFill>
                  <a:srgbClr val="b03030"/>
                </a:solidFill>
                <a:latin typeface="Meiryo"/>
                <a:ea typeface="Meiryo"/>
              </a:rPr>
              <a:t>「コンパイル済みテーブルを読む」から「ダウンロードしたブロブを読む」に置き換わる。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500 ROBOTS -- DATA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種類スケールでのデータ構成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54" name="CustomShape 3"/>
          <p:cNvSpPr/>
          <p:nvPr/>
        </p:nvSpPr>
        <p:spPr>
          <a:xfrm>
            <a:off x="1234440" y="1463040"/>
            <a:ext cx="4434480" cy="50256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現状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: 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コンパイル済みテーブル 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kRobots[5]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5" name="CustomShape 4"/>
          <p:cNvSpPr/>
          <p:nvPr/>
        </p:nvSpPr>
        <p:spPr>
          <a:xfrm>
            <a:off x="6309360" y="146304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種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: 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ダウンロードした記述ブロブ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(1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体分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234440" y="2148840"/>
            <a:ext cx="4434480" cy="566640"/>
          </a:xfrm>
          <a:prstGeom prst="roundRect">
            <a:avLst>
              <a:gd name="adj" fmla="val 16667"/>
            </a:avLst>
          </a:prstGeom>
          <a:solidFill>
            <a:srgbClr val="b8bec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kxrl4t </a:t>
            </a:r>
            <a:r>
              <a:rPr b="1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用 </a:t>
            </a: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RobotEntry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548640" y="2176200"/>
            <a:ext cx="5025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58" name="Picture 7" descr="kxrl4t.png"/>
          <p:cNvPicPr/>
          <p:nvPr/>
        </p:nvPicPr>
        <p:blipFill>
          <a:blip r:embed="rId1"/>
          <a:stretch/>
        </p:blipFill>
        <p:spPr>
          <a:xfrm>
            <a:off x="567000" y="2233800"/>
            <a:ext cx="465840" cy="387360"/>
          </a:xfrm>
          <a:prstGeom prst="rect">
            <a:avLst/>
          </a:prstGeom>
          <a:ln>
            <a:noFill/>
          </a:ln>
        </p:spPr>
      </p:pic>
      <p:sp>
        <p:nvSpPr>
          <p:cNvPr id="359" name="CustomShape 7"/>
          <p:cNvSpPr/>
          <p:nvPr/>
        </p:nvSpPr>
        <p:spPr>
          <a:xfrm>
            <a:off x="1234440" y="2807280"/>
            <a:ext cx="4434480" cy="566640"/>
          </a:xfrm>
          <a:prstGeom prst="roundRect">
            <a:avLst>
              <a:gd name="adj" fmla="val 16667"/>
            </a:avLst>
          </a:prstGeom>
          <a:solidFill>
            <a:srgbClr val="b8bec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kxrl4d </a:t>
            </a:r>
            <a:r>
              <a:rPr b="1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用 </a:t>
            </a: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RobotEntry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0" name="CustomShape 8"/>
          <p:cNvSpPr/>
          <p:nvPr/>
        </p:nvSpPr>
        <p:spPr>
          <a:xfrm>
            <a:off x="548640" y="2834640"/>
            <a:ext cx="5025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1" name="Picture 10" descr="kxrl4d.png"/>
          <p:cNvPicPr/>
          <p:nvPr/>
        </p:nvPicPr>
        <p:blipFill>
          <a:blip r:embed="rId2"/>
          <a:stretch/>
        </p:blipFill>
        <p:spPr>
          <a:xfrm>
            <a:off x="656640" y="2853000"/>
            <a:ext cx="286560" cy="465840"/>
          </a:xfrm>
          <a:prstGeom prst="rect">
            <a:avLst/>
          </a:prstGeom>
          <a:ln>
            <a:noFill/>
          </a:ln>
        </p:spPr>
      </p:pic>
      <p:sp>
        <p:nvSpPr>
          <p:cNvPr id="362" name="CustomShape 9"/>
          <p:cNvSpPr/>
          <p:nvPr/>
        </p:nvSpPr>
        <p:spPr>
          <a:xfrm>
            <a:off x="1234440" y="3465720"/>
            <a:ext cx="4434480" cy="566640"/>
          </a:xfrm>
          <a:prstGeom prst="roundRect">
            <a:avLst>
              <a:gd name="adj" fmla="val 16667"/>
            </a:avLst>
          </a:prstGeom>
          <a:solidFill>
            <a:srgbClr val="b8bec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kxrl6 </a:t>
            </a:r>
            <a:r>
              <a:rPr b="1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用 </a:t>
            </a: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RobotEntry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3" name="CustomShape 10"/>
          <p:cNvSpPr/>
          <p:nvPr/>
        </p:nvSpPr>
        <p:spPr>
          <a:xfrm>
            <a:off x="548640" y="3493080"/>
            <a:ext cx="5025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4" name="Picture 13" descr="kxrl6.png"/>
          <p:cNvPicPr/>
          <p:nvPr/>
        </p:nvPicPr>
        <p:blipFill>
          <a:blip r:embed="rId3"/>
          <a:stretch/>
        </p:blipFill>
        <p:spPr>
          <a:xfrm>
            <a:off x="567000" y="3608280"/>
            <a:ext cx="465840" cy="272520"/>
          </a:xfrm>
          <a:prstGeom prst="rect">
            <a:avLst/>
          </a:prstGeom>
          <a:ln>
            <a:noFill/>
          </a:ln>
        </p:spPr>
      </p:pic>
      <p:sp>
        <p:nvSpPr>
          <p:cNvPr id="365" name="CustomShape 11"/>
          <p:cNvSpPr/>
          <p:nvPr/>
        </p:nvSpPr>
        <p:spPr>
          <a:xfrm>
            <a:off x="1234440" y="4123800"/>
            <a:ext cx="4434480" cy="566640"/>
          </a:xfrm>
          <a:prstGeom prst="roundRect">
            <a:avLst>
              <a:gd name="adj" fmla="val 16667"/>
            </a:avLst>
          </a:prstGeom>
          <a:solidFill>
            <a:srgbClr val="b8bec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kxrl2g </a:t>
            </a:r>
            <a:r>
              <a:rPr b="1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用 </a:t>
            </a: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RobotEntry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6" name="CustomShape 12"/>
          <p:cNvSpPr/>
          <p:nvPr/>
        </p:nvSpPr>
        <p:spPr>
          <a:xfrm>
            <a:off x="548640" y="4151520"/>
            <a:ext cx="5025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7" name="Picture 16" descr="kxrl2g.png"/>
          <p:cNvPicPr/>
          <p:nvPr/>
        </p:nvPicPr>
        <p:blipFill>
          <a:blip r:embed="rId4"/>
          <a:stretch/>
        </p:blipFill>
        <p:spPr>
          <a:xfrm>
            <a:off x="675720" y="4169520"/>
            <a:ext cx="248400" cy="465840"/>
          </a:xfrm>
          <a:prstGeom prst="rect">
            <a:avLst/>
          </a:prstGeom>
          <a:ln>
            <a:noFill/>
          </a:ln>
        </p:spPr>
      </p:pic>
      <p:sp>
        <p:nvSpPr>
          <p:cNvPr id="368" name="CustomShape 13"/>
          <p:cNvSpPr/>
          <p:nvPr/>
        </p:nvSpPr>
        <p:spPr>
          <a:xfrm>
            <a:off x="1234440" y="4782240"/>
            <a:ext cx="4434480" cy="566640"/>
          </a:xfrm>
          <a:prstGeom prst="roundRect">
            <a:avLst>
              <a:gd name="adj" fmla="val 16667"/>
            </a:avLst>
          </a:prstGeom>
          <a:solidFill>
            <a:srgbClr val="b8bec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kxra6g </a:t>
            </a:r>
            <a:r>
              <a:rPr b="1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用 </a:t>
            </a:r>
            <a:r>
              <a:rPr b="1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RobotEntry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69" name="CustomShape 14"/>
          <p:cNvSpPr/>
          <p:nvPr/>
        </p:nvSpPr>
        <p:spPr>
          <a:xfrm>
            <a:off x="548640" y="4809600"/>
            <a:ext cx="50256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70" name="Picture 19" descr="kxra6g.png"/>
          <p:cNvPicPr/>
          <p:nvPr/>
        </p:nvPicPr>
        <p:blipFill>
          <a:blip r:embed="rId5"/>
          <a:stretch/>
        </p:blipFill>
        <p:spPr>
          <a:xfrm>
            <a:off x="596880" y="4827960"/>
            <a:ext cx="406080" cy="465840"/>
          </a:xfrm>
          <a:prstGeom prst="rect">
            <a:avLst/>
          </a:prstGeom>
          <a:ln>
            <a:noFill/>
          </a:ln>
        </p:spPr>
      </p:pic>
      <p:sp>
        <p:nvSpPr>
          <p:cNvPr id="371" name="CustomShape 15"/>
          <p:cNvSpPr/>
          <p:nvPr/>
        </p:nvSpPr>
        <p:spPr>
          <a:xfrm>
            <a:off x="548640" y="5486400"/>
            <a:ext cx="512028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→ </a:t>
            </a: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Flash</a:t>
            </a:r>
            <a:r>
              <a:rPr b="0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に常時</a:t>
            </a: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5</a:t>
            </a:r>
            <a:r>
              <a:rPr b="0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体分が同居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  </a:t>
            </a: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(</a:t>
            </a:r>
            <a:r>
              <a:rPr b="0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ビルド時に選べない・全部載る</a:t>
            </a:r>
            <a:r>
              <a:rPr b="0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2" name="CustomShape 16"/>
          <p:cNvSpPr/>
          <p:nvPr/>
        </p:nvSpPr>
        <p:spPr>
          <a:xfrm>
            <a:off x="6309360" y="214884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NN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の入出力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3" name="CustomShape 17"/>
          <p:cNvSpPr/>
          <p:nvPr/>
        </p:nvSpPr>
        <p:spPr>
          <a:xfrm>
            <a:off x="6309360" y="267912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NN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の構造・重み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4" name="CustomShape 18"/>
          <p:cNvSpPr/>
          <p:nvPr/>
        </p:nvSpPr>
        <p:spPr>
          <a:xfrm>
            <a:off x="6309360" y="320940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身体パラメータ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5" name="CustomShape 19"/>
          <p:cNvSpPr/>
          <p:nvPr/>
        </p:nvSpPr>
        <p:spPr>
          <a:xfrm>
            <a:off x="6309360" y="374004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歩行コマンド範囲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6" name="CustomShape 20"/>
          <p:cNvSpPr/>
          <p:nvPr/>
        </p:nvSpPr>
        <p:spPr>
          <a:xfrm>
            <a:off x="6309360" y="427032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モーションテーブル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7" name="CustomShape 21"/>
          <p:cNvSpPr/>
          <p:nvPr/>
        </p:nvSpPr>
        <p:spPr>
          <a:xfrm>
            <a:off x="6309360" y="4800600"/>
            <a:ext cx="411444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識別・表示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8" name="CustomShape 22"/>
          <p:cNvSpPr/>
          <p:nvPr/>
        </p:nvSpPr>
        <p:spPr>
          <a:xfrm>
            <a:off x="6309360" y="5376600"/>
            <a:ext cx="411444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→ 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選んだロボット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1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体分だけが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LittleFS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に存在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  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残り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499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体分は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GitHub</a:t>
            </a:r>
            <a:r>
              <a:rPr b="1" lang="ja-JP" sz="1200" spc="-1" strike="noStrike">
                <a:solidFill>
                  <a:srgbClr val="2ea059"/>
                </a:solidFill>
                <a:latin typeface="Meiryo"/>
                <a:ea typeface="Meiryo"/>
              </a:rPr>
              <a:t>に置いたまま</a:t>
            </a:r>
            <a:r>
              <a:rPr b="1" lang="en-US" sz="1200" spc="-1" strike="noStrike">
                <a:solidFill>
                  <a:srgbClr val="2ea059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9" name="CustomShape 23"/>
          <p:cNvSpPr/>
          <p:nvPr/>
        </p:nvSpPr>
        <p:spPr>
          <a:xfrm>
            <a:off x="10561320" y="1463040"/>
            <a:ext cx="1234080" cy="416016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80" name="Picture 29" descr="_overlay_500.png"/>
          <p:cNvPicPr/>
          <p:nvPr/>
        </p:nvPicPr>
        <p:blipFill>
          <a:blip r:embed="rId6"/>
          <a:stretch/>
        </p:blipFill>
        <p:spPr>
          <a:xfrm>
            <a:off x="10598040" y="2962800"/>
            <a:ext cx="1161000" cy="1161000"/>
          </a:xfrm>
          <a:prstGeom prst="rect">
            <a:avLst/>
          </a:prstGeom>
          <a:ln>
            <a:noFill/>
          </a:ln>
        </p:spPr>
      </p:pic>
      <p:sp>
        <p:nvSpPr>
          <p:cNvPr id="381" name="CustomShape 24"/>
          <p:cNvSpPr/>
          <p:nvPr/>
        </p:nvSpPr>
        <p:spPr>
          <a:xfrm>
            <a:off x="10469880" y="5669280"/>
            <a:ext cx="141696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900" spc="-1" strike="noStrike">
                <a:solidFill>
                  <a:srgbClr val="6b7280"/>
                </a:solidFill>
                <a:latin typeface="Meiryo"/>
                <a:ea typeface="Meiryo"/>
              </a:rPr>
              <a:t>500</a:t>
            </a:r>
            <a:r>
              <a:rPr b="0" lang="ja-JP" sz="900" spc="-1" strike="noStrike">
                <a:solidFill>
                  <a:srgbClr val="6b7280"/>
                </a:solidFill>
                <a:latin typeface="Meiryo"/>
                <a:ea typeface="Meiryo"/>
              </a:rPr>
              <a:t>種を重畳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2" name="CustomShape 25"/>
          <p:cNvSpPr/>
          <p:nvPr/>
        </p:nvSpPr>
        <p:spPr>
          <a:xfrm>
            <a:off x="548640" y="6172200"/>
            <a:ext cx="1106388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ブロブの中身自体は現状の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6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カテゴリ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スライド「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policy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ライブラリが持つロボット依存データ」参照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と同じ 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保存場所と生成タイミングが変わるだけ。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 vs 500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種類版 と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種類版 の違い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85" name="CustomShape 3"/>
          <p:cNvSpPr/>
          <p:nvPr/>
        </p:nvSpPr>
        <p:spPr>
          <a:xfrm>
            <a:off x="548640" y="1417320"/>
            <a:ext cx="237708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項目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6" name="CustomShape 4"/>
          <p:cNvSpPr/>
          <p:nvPr/>
        </p:nvSpPr>
        <p:spPr>
          <a:xfrm>
            <a:off x="3017520" y="1417320"/>
            <a:ext cx="44802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5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現状の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kxr5s)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7" name="CustomShape 5"/>
          <p:cNvSpPr/>
          <p:nvPr/>
        </p:nvSpPr>
        <p:spPr>
          <a:xfrm>
            <a:off x="7589520" y="1417320"/>
            <a:ext cx="40230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種類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目指す姿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8" name="CustomShape 6"/>
          <p:cNvSpPr/>
          <p:nvPr/>
        </p:nvSpPr>
        <p:spPr>
          <a:xfrm>
            <a:off x="548640" y="196596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保存場所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9" name="CustomShape 7"/>
          <p:cNvSpPr/>
          <p:nvPr/>
        </p:nvSpPr>
        <p:spPr>
          <a:xfrm>
            <a:off x="3108960" y="1993320"/>
            <a:ext cx="4297320" cy="29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コンパイル時に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Flash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へ埋め込み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0" name="CustomShape 8"/>
          <p:cNvSpPr/>
          <p:nvPr/>
        </p:nvSpPr>
        <p:spPr>
          <a:xfrm>
            <a:off x="7680960" y="1993320"/>
            <a:ext cx="3840120" cy="29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の記述ブロブ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必要な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体だけ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DL)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1" name="CustomShape 9"/>
          <p:cNvSpPr/>
          <p:nvPr/>
        </p:nvSpPr>
        <p:spPr>
          <a:xfrm>
            <a:off x="548640" y="273420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ファームウェア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2" name="CustomShape 10"/>
          <p:cNvSpPr/>
          <p:nvPr/>
        </p:nvSpPr>
        <p:spPr>
          <a:xfrm>
            <a:off x="3108960" y="2761560"/>
            <a:ext cx="4297320" cy="29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5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体分を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つのイメージに同梱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3" name="CustomShape 11"/>
          <p:cNvSpPr/>
          <p:nvPr/>
        </p:nvSpPr>
        <p:spPr>
          <a:xfrm>
            <a:off x="7680960" y="2761560"/>
            <a:ext cx="3840120" cy="29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全ロボット共通の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種類のみ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4" name="CustomShape 12"/>
          <p:cNvSpPr/>
          <p:nvPr/>
        </p:nvSpPr>
        <p:spPr>
          <a:xfrm>
            <a:off x="548640" y="350208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ロボット追加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5" name="CustomShape 13"/>
          <p:cNvSpPr/>
          <p:nvPr/>
        </p:nvSpPr>
        <p:spPr>
          <a:xfrm>
            <a:off x="3108960" y="3529440"/>
            <a:ext cx="42973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重み・仕様を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firmware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に追加して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再ビルド・再フラッシュ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6" name="CustomShape 14"/>
          <p:cNvSpPr/>
          <p:nvPr/>
        </p:nvSpPr>
        <p:spPr>
          <a:xfrm>
            <a:off x="7680960" y="3529440"/>
            <a:ext cx="38401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ブロブを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個生成して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に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置くだけ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(firmware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変更なし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7" name="CustomShape 15"/>
          <p:cNvSpPr/>
          <p:nvPr/>
        </p:nvSpPr>
        <p:spPr>
          <a:xfrm>
            <a:off x="548640" y="427032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切り替え方法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8" name="CustomShape 16"/>
          <p:cNvSpPr/>
          <p:nvPr/>
        </p:nvSpPr>
        <p:spPr>
          <a:xfrm>
            <a:off x="3108960" y="4297680"/>
            <a:ext cx="42973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NVS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に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を保存して再起動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重みは既に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Flash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上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9" name="CustomShape 17"/>
          <p:cNvSpPr/>
          <p:nvPr/>
        </p:nvSpPr>
        <p:spPr>
          <a:xfrm>
            <a:off x="7680960" y="4297680"/>
            <a:ext cx="38401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ブロブをダウンロード・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LittleFS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に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保存して再起動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0" name="CustomShape 18"/>
          <p:cNvSpPr/>
          <p:nvPr/>
        </p:nvSpPr>
        <p:spPr>
          <a:xfrm>
            <a:off x="548640" y="503820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Flash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使用量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1" name="CustomShape 19"/>
          <p:cNvSpPr/>
          <p:nvPr/>
        </p:nvSpPr>
        <p:spPr>
          <a:xfrm>
            <a:off x="3108960" y="5065920"/>
            <a:ext cx="42973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ロボット数に比例して増加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(5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種で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78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〜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83%)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2" name="CustomShape 20"/>
          <p:cNvSpPr/>
          <p:nvPr/>
        </p:nvSpPr>
        <p:spPr>
          <a:xfrm>
            <a:off x="7680960" y="5065920"/>
            <a:ext cx="38401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ほぼ一定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インタプリタのコードサイズのみ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3" name="CustomShape 21"/>
          <p:cNvSpPr/>
          <p:nvPr/>
        </p:nvSpPr>
        <p:spPr>
          <a:xfrm>
            <a:off x="548640" y="5806440"/>
            <a:ext cx="2377080" cy="7128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サーボ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ID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検出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4" name="CustomShape 22"/>
          <p:cNvSpPr/>
          <p:nvPr/>
        </p:nvSpPr>
        <p:spPr>
          <a:xfrm>
            <a:off x="3108960" y="5833800"/>
            <a:ext cx="4297320" cy="29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既知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5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体をスコアリング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5" name="CustomShape 23"/>
          <p:cNvSpPr/>
          <p:nvPr/>
        </p:nvSpPr>
        <p:spPr>
          <a:xfrm>
            <a:off x="7680960" y="5833800"/>
            <a:ext cx="384012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同じロジックで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上の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manifest(500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件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をスコアリング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500 ROBOTS -- MEMORY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ファームウェア上の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Flash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使用量はどう変わるか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08" name="Line 3"/>
          <p:cNvSpPr/>
          <p:nvPr/>
        </p:nvSpPr>
        <p:spPr>
          <a:xfrm>
            <a:off x="1005840" y="4869000"/>
            <a:ext cx="10332720" cy="0"/>
          </a:xfrm>
          <a:prstGeom prst="line">
            <a:avLst/>
          </a:prstGeom>
          <a:ln w="9360">
            <a:solidFill>
              <a:srgbClr val="ddddd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09" name="CustomShape 4"/>
          <p:cNvSpPr/>
          <p:nvPr/>
        </p:nvSpPr>
        <p:spPr>
          <a:xfrm>
            <a:off x="274320" y="4759560"/>
            <a:ext cx="8226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25%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0" name="Line 5"/>
          <p:cNvSpPr/>
          <p:nvPr/>
        </p:nvSpPr>
        <p:spPr>
          <a:xfrm>
            <a:off x="1005840" y="3977640"/>
            <a:ext cx="10332720" cy="0"/>
          </a:xfrm>
          <a:prstGeom prst="line">
            <a:avLst/>
          </a:prstGeom>
          <a:ln w="9360">
            <a:solidFill>
              <a:srgbClr val="ddddd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1" name="CustomShape 6"/>
          <p:cNvSpPr/>
          <p:nvPr/>
        </p:nvSpPr>
        <p:spPr>
          <a:xfrm>
            <a:off x="274320" y="3867840"/>
            <a:ext cx="8226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50%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2" name="Line 7"/>
          <p:cNvSpPr/>
          <p:nvPr/>
        </p:nvSpPr>
        <p:spPr>
          <a:xfrm>
            <a:off x="1005840" y="3085920"/>
            <a:ext cx="10332720" cy="0"/>
          </a:xfrm>
          <a:prstGeom prst="line">
            <a:avLst/>
          </a:prstGeom>
          <a:ln w="9360">
            <a:solidFill>
              <a:srgbClr val="ddddd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3" name="CustomShape 8"/>
          <p:cNvSpPr/>
          <p:nvPr/>
        </p:nvSpPr>
        <p:spPr>
          <a:xfrm>
            <a:off x="274320" y="2976480"/>
            <a:ext cx="8226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75%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4" name="Line 9"/>
          <p:cNvSpPr/>
          <p:nvPr/>
        </p:nvSpPr>
        <p:spPr>
          <a:xfrm>
            <a:off x="1005840" y="2194560"/>
            <a:ext cx="10332720" cy="0"/>
          </a:xfrm>
          <a:prstGeom prst="line">
            <a:avLst/>
          </a:prstGeom>
          <a:ln w="9360">
            <a:solidFill>
              <a:srgbClr val="dddddd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15" name="CustomShape 10"/>
          <p:cNvSpPr/>
          <p:nvPr/>
        </p:nvSpPr>
        <p:spPr>
          <a:xfrm>
            <a:off x="274320" y="2084760"/>
            <a:ext cx="8226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100%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16" name="CustomShape 11"/>
          <p:cNvSpPr/>
          <p:nvPr/>
        </p:nvSpPr>
        <p:spPr>
          <a:xfrm>
            <a:off x="1097280" y="2975400"/>
            <a:ext cx="1737000" cy="2784960"/>
          </a:xfrm>
          <a:prstGeom prst="rect">
            <a:avLst/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7" name="CustomShape 12"/>
          <p:cNvSpPr/>
          <p:nvPr/>
        </p:nvSpPr>
        <p:spPr>
          <a:xfrm>
            <a:off x="1097280" y="2655360"/>
            <a:ext cx="17370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78%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8" name="CustomShape 13"/>
          <p:cNvSpPr/>
          <p:nvPr/>
        </p:nvSpPr>
        <p:spPr>
          <a:xfrm>
            <a:off x="1097280" y="5806440"/>
            <a:ext cx="173700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5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種類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(atoms3)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9" name="CustomShape 14"/>
          <p:cNvSpPr/>
          <p:nvPr/>
        </p:nvSpPr>
        <p:spPr>
          <a:xfrm>
            <a:off x="3154680" y="3086280"/>
            <a:ext cx="1737000" cy="2674440"/>
          </a:xfrm>
          <a:prstGeom prst="rect">
            <a:avLst/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CustomShape 15"/>
          <p:cNvSpPr/>
          <p:nvPr/>
        </p:nvSpPr>
        <p:spPr>
          <a:xfrm>
            <a:off x="3154680" y="2766240"/>
            <a:ext cx="17370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75%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21" name="CustomShape 16"/>
          <p:cNvSpPr/>
          <p:nvPr/>
        </p:nvSpPr>
        <p:spPr>
          <a:xfrm>
            <a:off x="3154680" y="5806440"/>
            <a:ext cx="173700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5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種類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(m5stickc)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2" name="CustomShape 17"/>
          <p:cNvSpPr/>
          <p:nvPr/>
        </p:nvSpPr>
        <p:spPr>
          <a:xfrm>
            <a:off x="5212080" y="2194560"/>
            <a:ext cx="1737000" cy="3565800"/>
          </a:xfrm>
          <a:prstGeom prst="rect">
            <a:avLst/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CustomShape 18"/>
          <p:cNvSpPr/>
          <p:nvPr/>
        </p:nvSpPr>
        <p:spPr>
          <a:xfrm>
            <a:off x="5212080" y="2267640"/>
            <a:ext cx="17370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収まらない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4" name="CustomShape 19"/>
          <p:cNvSpPr/>
          <p:nvPr/>
        </p:nvSpPr>
        <p:spPr>
          <a:xfrm>
            <a:off x="5212080" y="5806440"/>
            <a:ext cx="173700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52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種類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に拡張したら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5" name="CustomShape 20"/>
          <p:cNvSpPr/>
          <p:nvPr/>
        </p:nvSpPr>
        <p:spPr>
          <a:xfrm>
            <a:off x="7269480" y="2194560"/>
            <a:ext cx="1737000" cy="3565800"/>
          </a:xfrm>
          <a:prstGeom prst="rect">
            <a:avLst/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6" name="CustomShape 21"/>
          <p:cNvSpPr/>
          <p:nvPr/>
        </p:nvSpPr>
        <p:spPr>
          <a:xfrm>
            <a:off x="7269480" y="2267640"/>
            <a:ext cx="17370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収まらない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7" name="CustomShape 22"/>
          <p:cNvSpPr/>
          <p:nvPr/>
        </p:nvSpPr>
        <p:spPr>
          <a:xfrm>
            <a:off x="7269480" y="5806440"/>
            <a:ext cx="173700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種類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現方式のまま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28" name="CustomShape 23"/>
          <p:cNvSpPr/>
          <p:nvPr/>
        </p:nvSpPr>
        <p:spPr>
          <a:xfrm>
            <a:off x="9326880" y="4619520"/>
            <a:ext cx="1737000" cy="1140840"/>
          </a:xfrm>
          <a:prstGeom prst="rect">
            <a:avLst/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CustomShape 24"/>
          <p:cNvSpPr/>
          <p:nvPr/>
        </p:nvSpPr>
        <p:spPr>
          <a:xfrm>
            <a:off x="9326880" y="4299480"/>
            <a:ext cx="17370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32%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0" name="CustomShape 25"/>
          <p:cNvSpPr/>
          <p:nvPr/>
        </p:nvSpPr>
        <p:spPr>
          <a:xfrm>
            <a:off x="9326880" y="5806440"/>
            <a:ext cx="173700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種類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データ駆動方式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31" name="CustomShape 26"/>
          <p:cNvSpPr/>
          <p:nvPr/>
        </p:nvSpPr>
        <p:spPr>
          <a:xfrm>
            <a:off x="548640" y="1371600"/>
            <a:ext cx="11063880" cy="56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現方式はロボット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体につき約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〜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200KB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を消費し線形に増える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-- 52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種類で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Flash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を使い切る。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データ駆動方式は端末が保持するのは選んだ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体分のブロブのみで、台数に依らずほぼ一定。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USER EXPERIENCE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サーボ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ID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自動検出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x 3D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モデル選択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457200" y="1417320"/>
            <a:ext cx="210276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① </a:t>
            </a: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RCB-4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に配線されている</a:t>
            </a:r>
            <a:br/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サーボ</a:t>
            </a: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ID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を読み取る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5" name="CustomShape 4"/>
          <p:cNvSpPr/>
          <p:nvPr/>
        </p:nvSpPr>
        <p:spPr>
          <a:xfrm>
            <a:off x="2697480" y="1417320"/>
            <a:ext cx="2102760" cy="7768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② 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既存のスコアリングで</a:t>
            </a:r>
            <a:br/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候補ロボットを絞り込む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6" name="CustomShape 5"/>
          <p:cNvSpPr/>
          <p:nvPr/>
        </p:nvSpPr>
        <p:spPr>
          <a:xfrm>
            <a:off x="4937760" y="1417320"/>
            <a:ext cx="2102760" cy="7768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③ 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スマホのブラウザで</a:t>
            </a:r>
            <a:br/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候補の</a:t>
            </a: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3D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モデルを表示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7" name="CustomShape 6"/>
          <p:cNvSpPr/>
          <p:nvPr/>
        </p:nvSpPr>
        <p:spPr>
          <a:xfrm>
            <a:off x="7178040" y="1417320"/>
            <a:ext cx="2102760" cy="7768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④ 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見た目を見て</a:t>
            </a:r>
            <a:br/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タップして選ぶ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8" name="CustomShape 7"/>
          <p:cNvSpPr/>
          <p:nvPr/>
        </p:nvSpPr>
        <p:spPr>
          <a:xfrm>
            <a:off x="9418320" y="1417320"/>
            <a:ext cx="2102760" cy="7768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Meiryo"/>
                <a:ea typeface="Meiryo"/>
              </a:rPr>
              <a:t>⑤ </a:t>
            </a: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ロボット記述ブロブが</a:t>
            </a:r>
            <a:br/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ダウンロード・保存される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39" name="CustomShape 8"/>
          <p:cNvSpPr/>
          <p:nvPr/>
        </p:nvSpPr>
        <p:spPr>
          <a:xfrm>
            <a:off x="800280" y="2286000"/>
            <a:ext cx="1416960" cy="251424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CustomShape 9"/>
          <p:cNvSpPr/>
          <p:nvPr/>
        </p:nvSpPr>
        <p:spPr>
          <a:xfrm>
            <a:off x="864000" y="2350080"/>
            <a:ext cx="1288800" cy="229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1" name="CustomShape 10"/>
          <p:cNvSpPr/>
          <p:nvPr/>
        </p:nvSpPr>
        <p:spPr>
          <a:xfrm>
            <a:off x="864000" y="2350080"/>
            <a:ext cx="1288800" cy="2008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eiryo"/>
                <a:ea typeface="Meiryo"/>
              </a:rPr>
              <a:t>kxr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42" name="CustomShape 11"/>
          <p:cNvSpPr/>
          <p:nvPr/>
        </p:nvSpPr>
        <p:spPr>
          <a:xfrm>
            <a:off x="973800" y="3173040"/>
            <a:ext cx="1069560" cy="3654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000" spc="-1" strike="noStrike">
                <a:solidFill>
                  <a:srgbClr val="ffffff"/>
                </a:solidFill>
                <a:latin typeface="Meiryo"/>
                <a:ea typeface="Meiryo"/>
              </a:rPr>
              <a:t>候補を探す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43" name="CustomShape 12"/>
          <p:cNvSpPr/>
          <p:nvPr/>
        </p:nvSpPr>
        <p:spPr>
          <a:xfrm>
            <a:off x="1769400" y="3355920"/>
            <a:ext cx="219240" cy="219240"/>
          </a:xfrm>
          <a:prstGeom prst="ellipse">
            <a:avLst/>
          </a:prstGeom>
          <a:noFill/>
          <a:ln w="25560">
            <a:solidFill>
              <a:srgbClr val="ff8a0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CustomShape 13"/>
          <p:cNvSpPr/>
          <p:nvPr/>
        </p:nvSpPr>
        <p:spPr>
          <a:xfrm>
            <a:off x="1848240" y="3434760"/>
            <a:ext cx="61200" cy="612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5" name="CustomShape 14"/>
          <p:cNvSpPr/>
          <p:nvPr/>
        </p:nvSpPr>
        <p:spPr>
          <a:xfrm>
            <a:off x="864000" y="3721680"/>
            <a:ext cx="128880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50" spc="-1" strike="noStrike">
                <a:solidFill>
                  <a:srgbClr val="6b7280"/>
                </a:solidFill>
                <a:latin typeface="Meiryo"/>
                <a:ea typeface="Meiryo"/>
              </a:rPr>
              <a:t>タップして開始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3040560" y="2286000"/>
            <a:ext cx="1416960" cy="251424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7" name="CustomShape 16"/>
          <p:cNvSpPr/>
          <p:nvPr/>
        </p:nvSpPr>
        <p:spPr>
          <a:xfrm>
            <a:off x="3104280" y="2350080"/>
            <a:ext cx="1288800" cy="229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CustomShape 17"/>
          <p:cNvSpPr/>
          <p:nvPr/>
        </p:nvSpPr>
        <p:spPr>
          <a:xfrm>
            <a:off x="3104280" y="2350080"/>
            <a:ext cx="1288800" cy="2008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800" spc="-1" strike="noStrike">
                <a:solidFill>
                  <a:srgbClr val="ffffff"/>
                </a:solidFill>
                <a:latin typeface="Meiryo"/>
                <a:ea typeface="Meiryo"/>
              </a:rPr>
              <a:t>候補ロボット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>
            <a:off x="3177720" y="2642760"/>
            <a:ext cx="1142640" cy="3286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eiryo"/>
                <a:ea typeface="Meiryo"/>
              </a:rPr>
              <a:t>kxrl4t  diff:0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>
            <a:off x="3177720" y="3044880"/>
            <a:ext cx="1142640" cy="32868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222222"/>
                </a:solidFill>
                <a:latin typeface="Meiryo"/>
                <a:ea typeface="Meiryo"/>
              </a:rPr>
              <a:t>kxrl4d  diff:3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3177720" y="3447360"/>
            <a:ext cx="1142640" cy="32868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222222"/>
                </a:solidFill>
                <a:latin typeface="Meiryo"/>
                <a:ea typeface="Meiryo"/>
              </a:rPr>
              <a:t>kxra6g  diff:5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4174200" y="2843640"/>
            <a:ext cx="200880" cy="200880"/>
          </a:xfrm>
          <a:prstGeom prst="ellipse">
            <a:avLst/>
          </a:prstGeom>
          <a:noFill/>
          <a:ln w="25560">
            <a:solidFill>
              <a:srgbClr val="ff8a0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3" name="CustomShape 22"/>
          <p:cNvSpPr/>
          <p:nvPr/>
        </p:nvSpPr>
        <p:spPr>
          <a:xfrm>
            <a:off x="4246560" y="2916360"/>
            <a:ext cx="55800" cy="558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CustomShape 23"/>
          <p:cNvSpPr/>
          <p:nvPr/>
        </p:nvSpPr>
        <p:spPr>
          <a:xfrm>
            <a:off x="5280840" y="2286000"/>
            <a:ext cx="1416960" cy="251424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5" name="CustomShape 24"/>
          <p:cNvSpPr/>
          <p:nvPr/>
        </p:nvSpPr>
        <p:spPr>
          <a:xfrm>
            <a:off x="5344560" y="2350080"/>
            <a:ext cx="1288800" cy="229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CustomShape 25"/>
          <p:cNvSpPr/>
          <p:nvPr/>
        </p:nvSpPr>
        <p:spPr>
          <a:xfrm>
            <a:off x="5344560" y="2350080"/>
            <a:ext cx="1288800" cy="2008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eiryo"/>
                <a:ea typeface="Meiryo"/>
              </a:rPr>
              <a:t>3D</a:t>
            </a:r>
            <a:r>
              <a:rPr b="1" lang="ja-JP" sz="800" spc="-1" strike="noStrike">
                <a:solidFill>
                  <a:srgbClr val="ffffff"/>
                </a:solidFill>
                <a:latin typeface="Meiryo"/>
                <a:ea typeface="Meiryo"/>
              </a:rPr>
              <a:t>ビューア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57" name="CustomShape 26"/>
          <p:cNvSpPr/>
          <p:nvPr/>
        </p:nvSpPr>
        <p:spPr>
          <a:xfrm>
            <a:off x="5399640" y="2624400"/>
            <a:ext cx="1179360" cy="155412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CustomShape 27"/>
          <p:cNvSpPr/>
          <p:nvPr/>
        </p:nvSpPr>
        <p:spPr>
          <a:xfrm>
            <a:off x="5799240" y="2997360"/>
            <a:ext cx="380160" cy="380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9" name="CustomShape 28"/>
          <p:cNvSpPr/>
          <p:nvPr/>
        </p:nvSpPr>
        <p:spPr>
          <a:xfrm>
            <a:off x="5787360" y="3235320"/>
            <a:ext cx="403920" cy="47520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0" name="CustomShape 29"/>
          <p:cNvSpPr/>
          <p:nvPr/>
        </p:nvSpPr>
        <p:spPr>
          <a:xfrm>
            <a:off x="5344560" y="4251960"/>
            <a:ext cx="128880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50" spc="-1" strike="noStrike">
                <a:solidFill>
                  <a:srgbClr val="6b7280"/>
                </a:solidFill>
                <a:latin typeface="Meiryo"/>
                <a:ea typeface="Meiryo"/>
              </a:rPr>
              <a:t>指でドラッグして回転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61" name="CustomShape 30"/>
          <p:cNvSpPr/>
          <p:nvPr/>
        </p:nvSpPr>
        <p:spPr>
          <a:xfrm>
            <a:off x="7521120" y="2286000"/>
            <a:ext cx="1416960" cy="251424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CustomShape 31"/>
          <p:cNvSpPr/>
          <p:nvPr/>
        </p:nvSpPr>
        <p:spPr>
          <a:xfrm>
            <a:off x="7584840" y="2350080"/>
            <a:ext cx="1288800" cy="229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CustomShape 32"/>
          <p:cNvSpPr/>
          <p:nvPr/>
        </p:nvSpPr>
        <p:spPr>
          <a:xfrm>
            <a:off x="7584840" y="2350080"/>
            <a:ext cx="1288800" cy="2008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Meiryo"/>
                <a:ea typeface="Meiryo"/>
              </a:rPr>
              <a:t>3D</a:t>
            </a:r>
            <a:r>
              <a:rPr b="1" lang="ja-JP" sz="800" spc="-1" strike="noStrike">
                <a:solidFill>
                  <a:srgbClr val="ffffff"/>
                </a:solidFill>
                <a:latin typeface="Meiryo"/>
                <a:ea typeface="Meiryo"/>
              </a:rPr>
              <a:t>ビューア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7639920" y="2624400"/>
            <a:ext cx="1179360" cy="109692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5" name="CustomShape 34"/>
          <p:cNvSpPr/>
          <p:nvPr/>
        </p:nvSpPr>
        <p:spPr>
          <a:xfrm>
            <a:off x="8090640" y="2877480"/>
            <a:ext cx="277560" cy="277560"/>
          </a:xfrm>
          <a:prstGeom prst="ellipse">
            <a:avLst/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6" name="CustomShape 35"/>
          <p:cNvSpPr/>
          <p:nvPr/>
        </p:nvSpPr>
        <p:spPr>
          <a:xfrm>
            <a:off x="8082000" y="3051360"/>
            <a:ext cx="294840" cy="34704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CustomShape 36"/>
          <p:cNvSpPr/>
          <p:nvPr/>
        </p:nvSpPr>
        <p:spPr>
          <a:xfrm>
            <a:off x="7676280" y="3858840"/>
            <a:ext cx="1105920" cy="383760"/>
          </a:xfrm>
          <a:prstGeom prst="roundRect">
            <a:avLst>
              <a:gd name="adj" fmla="val 16667"/>
            </a:avLst>
          </a:prstGeom>
          <a:solidFill>
            <a:srgbClr val="ff8a0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950" spc="-1" strike="noStrike">
                <a:solidFill>
                  <a:srgbClr val="ffffff"/>
                </a:solidFill>
                <a:latin typeface="Meiryo"/>
                <a:ea typeface="Meiryo"/>
              </a:rPr>
              <a:t>この子に決定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>
            <a:off x="8508600" y="4041720"/>
            <a:ext cx="219240" cy="219240"/>
          </a:xfrm>
          <a:prstGeom prst="ellipse">
            <a:avLst/>
          </a:prstGeom>
          <a:noFill/>
          <a:ln w="25560">
            <a:solidFill>
              <a:srgbClr val="ff8a0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9" name="CustomShape 38"/>
          <p:cNvSpPr/>
          <p:nvPr/>
        </p:nvSpPr>
        <p:spPr>
          <a:xfrm>
            <a:off x="8587440" y="4120560"/>
            <a:ext cx="61200" cy="61200"/>
          </a:xfrm>
          <a:prstGeom prst="ellipse">
            <a:avLst/>
          </a:prstGeom>
          <a:solidFill>
            <a:srgbClr val="ff8a0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0" name="CustomShape 39"/>
          <p:cNvSpPr/>
          <p:nvPr/>
        </p:nvSpPr>
        <p:spPr>
          <a:xfrm>
            <a:off x="9761400" y="2286000"/>
            <a:ext cx="1416960" cy="251424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CustomShape 40"/>
          <p:cNvSpPr/>
          <p:nvPr/>
        </p:nvSpPr>
        <p:spPr>
          <a:xfrm>
            <a:off x="9825120" y="2350080"/>
            <a:ext cx="1288800" cy="229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2" name="CustomShape 41"/>
          <p:cNvSpPr/>
          <p:nvPr/>
        </p:nvSpPr>
        <p:spPr>
          <a:xfrm>
            <a:off x="9825120" y="2350080"/>
            <a:ext cx="1288800" cy="2008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800" spc="-1" strike="noStrike">
                <a:solidFill>
                  <a:srgbClr val="ffffff"/>
                </a:solidFill>
                <a:latin typeface="Meiryo"/>
                <a:ea typeface="Meiryo"/>
              </a:rPr>
              <a:t>保存中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473" name="CustomShape 42"/>
          <p:cNvSpPr/>
          <p:nvPr/>
        </p:nvSpPr>
        <p:spPr>
          <a:xfrm>
            <a:off x="9953280" y="3127320"/>
            <a:ext cx="1032840" cy="200880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4" name="CustomShape 43"/>
          <p:cNvSpPr/>
          <p:nvPr/>
        </p:nvSpPr>
        <p:spPr>
          <a:xfrm>
            <a:off x="9953280" y="3127320"/>
            <a:ext cx="722880" cy="20088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CustomShape 44"/>
          <p:cNvSpPr/>
          <p:nvPr/>
        </p:nvSpPr>
        <p:spPr>
          <a:xfrm>
            <a:off x="9825120" y="3401640"/>
            <a:ext cx="128880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ダウンロード中…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76" name="CustomShape 45"/>
          <p:cNvSpPr/>
          <p:nvPr/>
        </p:nvSpPr>
        <p:spPr>
          <a:xfrm>
            <a:off x="10323720" y="3904560"/>
            <a:ext cx="292320" cy="292320"/>
          </a:xfrm>
          <a:prstGeom prst="ellipse">
            <a:avLst/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✓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7" name="CustomShape 46"/>
          <p:cNvSpPr/>
          <p:nvPr/>
        </p:nvSpPr>
        <p:spPr>
          <a:xfrm>
            <a:off x="548640" y="5074920"/>
            <a:ext cx="11063880" cy="64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既に実機で動いている部分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サーボ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の対称差スコアで最良候補を選ぶロジック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本体液晶で確認可能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これから作る部分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候補の複数提示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1)/ 3D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ビューア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2)/ 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選択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UI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の統合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3)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SERVO-ID DETECTION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9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サーボ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ID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ベクトルからのロボット認識方法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0" name="CustomShape 3"/>
          <p:cNvSpPr/>
          <p:nvPr/>
        </p:nvSpPr>
        <p:spPr>
          <a:xfrm>
            <a:off x="548640" y="1554480"/>
            <a:ext cx="6034680" cy="80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①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RCB-4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の全サーボスロットの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MotorPosition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を読み取る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(readServoPulses()) --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値が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でないスロット番号の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集合を「配線されているサーボ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」とする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(wired[])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1" name="CustomShape 4"/>
          <p:cNvSpPr/>
          <p:nvPr/>
        </p:nvSpPr>
        <p:spPr>
          <a:xfrm>
            <a:off x="548640" y="2697480"/>
            <a:ext cx="6034680" cy="56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②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各ロボット定義は「そのロボットで使われるはずの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サーボ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集合」を持つ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(policy::servoIdsOfRobot())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2" name="CustomShape 5"/>
          <p:cNvSpPr/>
          <p:nvPr/>
        </p:nvSpPr>
        <p:spPr>
          <a:xfrm>
            <a:off x="548640" y="3840480"/>
            <a:ext cx="6034680" cy="1040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③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wired[]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と各ロボットの期待集合の対称差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どちらか一方にしかない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の個数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diff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として、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全ロボットに対して同時に計算する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(policy::scoreRobotsAgainstWired())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3" name="CustomShape 6"/>
          <p:cNvSpPr/>
          <p:nvPr/>
        </p:nvSpPr>
        <p:spPr>
          <a:xfrm>
            <a:off x="548640" y="4983480"/>
            <a:ext cx="6034680" cy="80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④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diff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が小さい順に並べ替える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diff = 0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は完全一致、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種類に増えても比較ロジック自体は変わらず、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比較対象が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上の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manifest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件になるだけ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4" name="CustomShape 7"/>
          <p:cNvSpPr/>
          <p:nvPr/>
        </p:nvSpPr>
        <p:spPr>
          <a:xfrm>
            <a:off x="6949440" y="1554480"/>
            <a:ext cx="46630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400" spc="-1" strike="noStrike">
                <a:solidFill>
                  <a:srgbClr val="1f2a44"/>
                </a:solidFill>
                <a:latin typeface="Meiryo"/>
                <a:ea typeface="Meiryo"/>
              </a:rPr>
              <a:t>例</a:t>
            </a:r>
            <a:r>
              <a:rPr b="1" lang="en-US" sz="14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1400" spc="-1" strike="noStrike">
                <a:solidFill>
                  <a:srgbClr val="1f2a44"/>
                </a:solidFill>
                <a:latin typeface="Meiryo"/>
                <a:ea typeface="Meiryo"/>
              </a:rPr>
              <a:t>配線サーボ</a:t>
            </a:r>
            <a:r>
              <a:rPr b="1" lang="en-US" sz="1400" spc="-1" strike="noStrike">
                <a:solidFill>
                  <a:srgbClr val="1f2a44"/>
                </a:solidFill>
                <a:latin typeface="Meiryo"/>
                <a:ea typeface="Meiryo"/>
              </a:rPr>
              <a:t>ID = {1,2,3,5,8}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5" name="CustomShape 8"/>
          <p:cNvSpPr/>
          <p:nvPr/>
        </p:nvSpPr>
        <p:spPr>
          <a:xfrm>
            <a:off x="6949440" y="2011680"/>
            <a:ext cx="4663080" cy="63972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ロボット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A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期待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ID = {1,2,3,5,8}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diff = 0  →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最有力候補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6" name="CustomShape 9"/>
          <p:cNvSpPr/>
          <p:nvPr/>
        </p:nvSpPr>
        <p:spPr>
          <a:xfrm>
            <a:off x="6949440" y="2788920"/>
            <a:ext cx="4663080" cy="6397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ロボット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B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期待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ID = {1,2,3,4,7}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diff = 4  →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候補から外れる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7" name="CustomShape 10"/>
          <p:cNvSpPr/>
          <p:nvPr/>
        </p:nvSpPr>
        <p:spPr>
          <a:xfrm>
            <a:off x="6949440" y="3566160"/>
            <a:ext cx="4663080" cy="639720"/>
          </a:xfrm>
          <a:prstGeom prst="roundRect">
            <a:avLst>
              <a:gd name="adj" fmla="val 16667"/>
            </a:avLst>
          </a:prstGeom>
          <a:solidFill>
            <a:srgbClr val="e0a5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ロボット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C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期待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ID = {1,2,3,5,8,9}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diff = 1  →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次点候補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(9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番だけ未配線、と分かる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8" name="CustomShape 11"/>
          <p:cNvSpPr/>
          <p:nvPr/>
        </p:nvSpPr>
        <p:spPr>
          <a:xfrm>
            <a:off x="6949440" y="4480560"/>
            <a:ext cx="4663080" cy="12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実機での確認方法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ROBOT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モード画面に 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diff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と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一覧が表示される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(RobotSelectMode::detectFromHardware())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・フェーズ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で 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/info JSON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にも 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wiredIds / candidates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として公開済み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全ロボットのスコア付きリスト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9" name="CustomShape 12"/>
          <p:cNvSpPr/>
          <p:nvPr/>
        </p:nvSpPr>
        <p:spPr>
          <a:xfrm>
            <a:off x="548640" y="6126480"/>
            <a:ext cx="1106388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この方法は配線トポロジのみを見るため、同じサーボ数・同じ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ID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配置のロボットは区別できない 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その場合は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3D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モデルを見て人が最終判断する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フェーズ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2/3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UX)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ROADMAP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1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段階的ロードマップ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推奨順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92" name="CustomShape 3"/>
          <p:cNvSpPr/>
          <p:nvPr/>
        </p:nvSpPr>
        <p:spPr>
          <a:xfrm>
            <a:off x="548640" y="173736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3" name="CustomShape 4"/>
          <p:cNvSpPr/>
          <p:nvPr/>
        </p:nvSpPr>
        <p:spPr>
          <a:xfrm>
            <a:off x="2286000" y="1783080"/>
            <a:ext cx="5760360" cy="3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サーボ</a:t>
            </a:r>
            <a:r>
              <a:rPr b="1" lang="en-US" sz="1700" spc="-1" strike="noStrike">
                <a:solidFill>
                  <a:srgbClr val="222222"/>
                </a:solidFill>
                <a:latin typeface="Meiryo"/>
                <a:ea typeface="Meiryo"/>
              </a:rPr>
              <a:t>ID</a:t>
            </a: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候補検出をスマホに公開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94" name="CustomShape 5"/>
          <p:cNvSpPr/>
          <p:nvPr/>
        </p:nvSpPr>
        <p:spPr>
          <a:xfrm>
            <a:off x="8138160" y="1847160"/>
            <a:ext cx="3291480" cy="32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既存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5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種・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firmware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小変更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5" name="CustomShape 6"/>
          <p:cNvSpPr/>
          <p:nvPr/>
        </p:nvSpPr>
        <p:spPr>
          <a:xfrm>
            <a:off x="548640" y="269748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6" name="CustomShape 7"/>
          <p:cNvSpPr/>
          <p:nvPr/>
        </p:nvSpPr>
        <p:spPr>
          <a:xfrm>
            <a:off x="2286000" y="2743200"/>
            <a:ext cx="5760360" cy="3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22222"/>
                </a:solidFill>
                <a:latin typeface="Meiryo"/>
                <a:ea typeface="Meiryo"/>
              </a:rPr>
              <a:t>3D</a:t>
            </a: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ビューア用の静的ページを作る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97" name="CustomShape 8"/>
          <p:cNvSpPr/>
          <p:nvPr/>
        </p:nvSpPr>
        <p:spPr>
          <a:xfrm>
            <a:off x="8138160" y="2807280"/>
            <a:ext cx="3291480" cy="32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firmware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変更なし・独立成果物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8" name="CustomShape 9"/>
          <p:cNvSpPr/>
          <p:nvPr/>
        </p:nvSpPr>
        <p:spPr>
          <a:xfrm>
            <a:off x="548640" y="365760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9" name="CustomShape 10"/>
          <p:cNvSpPr/>
          <p:nvPr/>
        </p:nvSpPr>
        <p:spPr>
          <a:xfrm>
            <a:off x="2286000" y="3703320"/>
            <a:ext cx="5760360" cy="3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候補リスト </a:t>
            </a:r>
            <a:r>
              <a:rPr b="1" lang="en-US" sz="1700" spc="-1" strike="noStrike">
                <a:solidFill>
                  <a:srgbClr val="222222"/>
                </a:solidFill>
                <a:latin typeface="Meiryo"/>
                <a:ea typeface="Meiryo"/>
              </a:rPr>
              <a:t>+ 3D</a:t>
            </a: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ビューアを統合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00" name="CustomShape 11"/>
          <p:cNvSpPr/>
          <p:nvPr/>
        </p:nvSpPr>
        <p:spPr>
          <a:xfrm>
            <a:off x="8138160" y="3767400"/>
            <a:ext cx="3291480" cy="32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既存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5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種で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UX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ループを完成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1" name="CustomShape 12"/>
          <p:cNvSpPr/>
          <p:nvPr/>
        </p:nvSpPr>
        <p:spPr>
          <a:xfrm>
            <a:off x="548640" y="461772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02" name="CustomShape 13"/>
          <p:cNvSpPr/>
          <p:nvPr/>
        </p:nvSpPr>
        <p:spPr>
          <a:xfrm>
            <a:off x="2286000" y="4663440"/>
            <a:ext cx="5760360" cy="3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ロボット記述をデータ駆動化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03" name="CustomShape 14"/>
          <p:cNvSpPr/>
          <p:nvPr/>
        </p:nvSpPr>
        <p:spPr>
          <a:xfrm>
            <a:off x="8138160" y="4727520"/>
            <a:ext cx="3291480" cy="32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アーキテクチャ変更・本命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4" name="CustomShape 15"/>
          <p:cNvSpPr/>
          <p:nvPr/>
        </p:nvSpPr>
        <p:spPr>
          <a:xfrm>
            <a:off x="548640" y="5577840"/>
            <a:ext cx="1554120" cy="82260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05" name="CustomShape 16"/>
          <p:cNvSpPr/>
          <p:nvPr/>
        </p:nvSpPr>
        <p:spPr>
          <a:xfrm>
            <a:off x="2286000" y="5623560"/>
            <a:ext cx="5760360" cy="349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700" spc="-1" strike="noStrike">
                <a:solidFill>
                  <a:srgbClr val="222222"/>
                </a:solidFill>
                <a:latin typeface="Meiryo"/>
                <a:ea typeface="Meiryo"/>
              </a:rPr>
              <a:t>候補選択→ダウンロード→即実行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06" name="CustomShape 17"/>
          <p:cNvSpPr/>
          <p:nvPr/>
        </p:nvSpPr>
        <p:spPr>
          <a:xfrm>
            <a:off x="8138160" y="5687640"/>
            <a:ext cx="3291480" cy="32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500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種類のシステムが完成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07" name="CustomShape 18"/>
          <p:cNvSpPr/>
          <p:nvPr/>
        </p:nvSpPr>
        <p:spPr>
          <a:xfrm>
            <a:off x="548640" y="644652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各フェーズごとに実機で動作確認してから次に進む。フェーズ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は着手前に改めて詳細設計を相談する。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PHASE 1 -- IMPLEMENTED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9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フェーズ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1: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サーボ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ID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候補検出を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/info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に公開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0" name="CustomShape 3"/>
          <p:cNvSpPr/>
          <p:nvPr/>
        </p:nvSpPr>
        <p:spPr>
          <a:xfrm>
            <a:off x="914400" y="237744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kxr5s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firmware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1" name="CustomShape 4"/>
          <p:cNvSpPr/>
          <p:nvPr/>
        </p:nvSpPr>
        <p:spPr>
          <a:xfrm>
            <a:off x="914400" y="393192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RCB-4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サーボ配線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2" name="Line 5"/>
          <p:cNvSpPr/>
          <p:nvPr/>
        </p:nvSpPr>
        <p:spPr>
          <a:xfrm flipV="1">
            <a:off x="2103120" y="3383280"/>
            <a:ext cx="0" cy="548640"/>
          </a:xfrm>
          <a:prstGeom prst="line">
            <a:avLst/>
          </a:prstGeom>
          <a:ln w="31680">
            <a:solidFill>
              <a:srgbClr val="2e6fc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3" name="CustomShape 6"/>
          <p:cNvSpPr/>
          <p:nvPr/>
        </p:nvSpPr>
        <p:spPr>
          <a:xfrm>
            <a:off x="2240280" y="3520440"/>
            <a:ext cx="201132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e6fc7"/>
                </a:solidFill>
                <a:latin typeface="Meiryo"/>
                <a:ea typeface="Meiryo"/>
              </a:rPr>
              <a:t>readServoPulses()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4" name="CustomShape 7"/>
          <p:cNvSpPr/>
          <p:nvPr/>
        </p:nvSpPr>
        <p:spPr>
          <a:xfrm>
            <a:off x="3931920" y="237744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policy::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scoreRobots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AgainstWired()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5" name="Line 8"/>
          <p:cNvSpPr/>
          <p:nvPr/>
        </p:nvSpPr>
        <p:spPr>
          <a:xfrm>
            <a:off x="3291840" y="2880360"/>
            <a:ext cx="640080" cy="0"/>
          </a:xfrm>
          <a:prstGeom prst="line">
            <a:avLst/>
          </a:prstGeom>
          <a:ln w="31680">
            <a:solidFill>
              <a:srgbClr val="2e6fc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6" name="CustomShape 9"/>
          <p:cNvSpPr/>
          <p:nvPr/>
        </p:nvSpPr>
        <p:spPr>
          <a:xfrm>
            <a:off x="6949440" y="2377440"/>
            <a:ext cx="2194200" cy="10054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net::buildInfoJson()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/info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エンドポイント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7" name="Line 10"/>
          <p:cNvSpPr/>
          <p:nvPr/>
        </p:nvSpPr>
        <p:spPr>
          <a:xfrm>
            <a:off x="6309360" y="2880360"/>
            <a:ext cx="640080" cy="0"/>
          </a:xfrm>
          <a:prstGeom prst="line">
            <a:avLst/>
          </a:prstGeom>
          <a:ln w="31680">
            <a:solidFill>
              <a:srgbClr val="2e6fc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8" name="CustomShape 11"/>
          <p:cNvSpPr/>
          <p:nvPr/>
        </p:nvSpPr>
        <p:spPr>
          <a:xfrm>
            <a:off x="9692640" y="2377440"/>
            <a:ext cx="1919880" cy="100548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スマホ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ブラウザ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9" name="Line 12"/>
          <p:cNvSpPr/>
          <p:nvPr/>
        </p:nvSpPr>
        <p:spPr>
          <a:xfrm>
            <a:off x="9144000" y="2880360"/>
            <a:ext cx="548640" cy="0"/>
          </a:xfrm>
          <a:prstGeom prst="line">
            <a:avLst/>
          </a:prstGeom>
          <a:ln w="31680">
            <a:solidFill>
              <a:srgbClr val="2e6fc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0" name="CustomShape 13"/>
          <p:cNvSpPr/>
          <p:nvPr/>
        </p:nvSpPr>
        <p:spPr>
          <a:xfrm>
            <a:off x="9098280" y="2011680"/>
            <a:ext cx="14626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2e6fc7"/>
                </a:solidFill>
                <a:latin typeface="Meiryo"/>
                <a:ea typeface="Meiryo"/>
              </a:rPr>
              <a:t>GET /info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21" name="CustomShape 14"/>
          <p:cNvSpPr/>
          <p:nvPr/>
        </p:nvSpPr>
        <p:spPr>
          <a:xfrm>
            <a:off x="548640" y="5029200"/>
            <a:ext cx="59432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追加された </a:t>
            </a:r>
            <a:r>
              <a:rPr b="1" lang="en-US" sz="1300" spc="-1" strike="noStrike">
                <a:solidFill>
                  <a:srgbClr val="1f2a44"/>
                </a:solidFill>
                <a:latin typeface="Meiryo"/>
                <a:ea typeface="Meiryo"/>
              </a:rPr>
              <a:t>/info JSON </a:t>
            </a:r>
            <a:r>
              <a:rPr b="1" lang="ja-JP" sz="1300" spc="-1" strike="noStrike">
                <a:solidFill>
                  <a:srgbClr val="1f2a44"/>
                </a:solidFill>
                <a:latin typeface="Meiryo"/>
                <a:ea typeface="Meiryo"/>
              </a:rPr>
              <a:t>のフィールド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2" name="CustomShape 15"/>
          <p:cNvSpPr/>
          <p:nvPr/>
        </p:nvSpPr>
        <p:spPr>
          <a:xfrm>
            <a:off x="548640" y="5440680"/>
            <a:ext cx="5943240" cy="1051200"/>
          </a:xfrm>
          <a:prstGeom prst="rect">
            <a:avLst/>
          </a:prstGeom>
          <a:solidFill>
            <a:srgbClr val="1a1d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"wiredIds":[1,2,3,5,8,...],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"candidates":[{"name":"kxrl4t","diff":0},</a:t>
            </a:r>
            <a:br/>
            <a:r>
              <a:rPr b="0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              {"name":"kxrl4d","diff":3}, ...]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3" name="CustomShape 16"/>
          <p:cNvSpPr/>
          <p:nvPr/>
        </p:nvSpPr>
        <p:spPr>
          <a:xfrm>
            <a:off x="6858000" y="5029200"/>
            <a:ext cx="4754520" cy="191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変更範囲は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firmware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のみ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GitHub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上のデータは増えていない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既存の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downloadable_policies/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をそのまま使用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状態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: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コード実装・ビルド検証済み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(atoms3 / m5stickc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両方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実機への書き込みと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git commit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はこれから。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PHASE 2 -- IN PROGRESS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25" name="CustomShape 2"/>
          <p:cNvSpPr/>
          <p:nvPr/>
        </p:nvSpPr>
        <p:spPr>
          <a:xfrm>
            <a:off x="548640" y="685800"/>
            <a:ext cx="105152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フェーズ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2: URDF+3D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メッシュの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GitHub Pages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ビューア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26" name="CustomShape 3"/>
          <p:cNvSpPr/>
          <p:nvPr/>
        </p:nvSpPr>
        <p:spPr>
          <a:xfrm>
            <a:off x="45720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rcb4robotconfig.l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+ URDF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生成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既存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7" name="Line 4"/>
          <p:cNvSpPr/>
          <p:nvPr/>
        </p:nvSpPr>
        <p:spPr>
          <a:xfrm>
            <a:off x="2240280" y="2423160"/>
            <a:ext cx="10944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8" name="CustomShape 5"/>
          <p:cNvSpPr/>
          <p:nvPr/>
        </p:nvSpPr>
        <p:spPr>
          <a:xfrm>
            <a:off x="235008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urdfs/&lt;robot&gt;/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urdf + meshes(.dae)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ローカル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, 198MB)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9" name="Line 6"/>
          <p:cNvSpPr/>
          <p:nvPr/>
        </p:nvSpPr>
        <p:spPr>
          <a:xfrm>
            <a:off x="4132800" y="2423160"/>
            <a:ext cx="109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0" name="CustomShape 7"/>
          <p:cNvSpPr/>
          <p:nvPr/>
        </p:nvSpPr>
        <p:spPr>
          <a:xfrm>
            <a:off x="424296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変換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(NEW)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dae→glb→Draco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圧縮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1" name="Line 8"/>
          <p:cNvSpPr/>
          <p:nvPr/>
        </p:nvSpPr>
        <p:spPr>
          <a:xfrm>
            <a:off x="6025680" y="2423160"/>
            <a:ext cx="109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2" name="CustomShape 9"/>
          <p:cNvSpPr/>
          <p:nvPr/>
        </p:nvSpPr>
        <p:spPr>
          <a:xfrm>
            <a:off x="613548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GitHub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docs/urdf_viewer/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models/&lt;robot&gt;/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3" name="Line 10"/>
          <p:cNvSpPr/>
          <p:nvPr/>
        </p:nvSpPr>
        <p:spPr>
          <a:xfrm>
            <a:off x="7918560" y="2423160"/>
            <a:ext cx="109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4" name="CustomShape 11"/>
          <p:cNvSpPr/>
          <p:nvPr/>
        </p:nvSpPr>
        <p:spPr>
          <a:xfrm>
            <a:off x="802836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GitHub Pages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静的サイト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5" name="Line 12"/>
          <p:cNvSpPr/>
          <p:nvPr/>
        </p:nvSpPr>
        <p:spPr>
          <a:xfrm>
            <a:off x="9811440" y="2423160"/>
            <a:ext cx="10980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36" name="CustomShape 13"/>
          <p:cNvSpPr/>
          <p:nvPr/>
        </p:nvSpPr>
        <p:spPr>
          <a:xfrm>
            <a:off x="9921240" y="1828800"/>
            <a:ext cx="1782720" cy="118836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ブラウザ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three.js + URDFLoader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+ DRACOLoader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7" name="CustomShape 14"/>
          <p:cNvSpPr/>
          <p:nvPr/>
        </p:nvSpPr>
        <p:spPr>
          <a:xfrm>
            <a:off x="548640" y="3383280"/>
            <a:ext cx="11063880" cy="5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firmware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とも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RCB-4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とも無関係の、完全に独立したデータ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ビューア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ロードマップのフェーズ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2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どおり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package://&lt;robot&gt;/meshes/xxx.dae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参照はそのまま活かし、コピーした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だけ拡張子を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.glb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に一括置換。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8" name="CustomShape 15"/>
          <p:cNvSpPr/>
          <p:nvPr/>
        </p:nvSpPr>
        <p:spPr>
          <a:xfrm>
            <a:off x="548640" y="4343400"/>
            <a:ext cx="5303160" cy="45684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使用ライブラリ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すべて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jsdelivr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経由の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ES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モジュール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9" name="CustomShape 16"/>
          <p:cNvSpPr/>
          <p:nvPr/>
        </p:nvSpPr>
        <p:spPr>
          <a:xfrm>
            <a:off x="548640" y="4846320"/>
            <a:ext cx="5303160" cy="80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three.js 0.160.0(WebGL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描画・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OrbitControls)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urdf-loader 0.13.1(URDF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kinematic tree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解析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GLTFLoader + DRACOLoader(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圧縮メッシュの復元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0" name="CustomShape 17"/>
          <p:cNvSpPr/>
          <p:nvPr/>
        </p:nvSpPr>
        <p:spPr>
          <a:xfrm>
            <a:off x="6126480" y="4343400"/>
            <a:ext cx="5303160" cy="45684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設計上の判断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: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なぜ 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Artifact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ではないか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1" name="CustomShape 18"/>
          <p:cNvSpPr/>
          <p:nvPr/>
        </p:nvSpPr>
        <p:spPr>
          <a:xfrm>
            <a:off x="6126480" y="4846320"/>
            <a:ext cx="5303160" cy="103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claude.ai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Artifact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サンドボックスは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CSP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で外部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fetch(XHR)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遮断するため、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生データの取得ができない。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urdfeus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同様、ページ自身を</a:t>
            </a:r>
            <a:r>
              <a:rPr b="0" lang="en-US" sz="1200" spc="-1" strike="noStrike">
                <a:solidFill>
                  <a:srgbClr val="222222"/>
                </a:solidFill>
                <a:latin typeface="Meiryo"/>
                <a:ea typeface="Meiryo"/>
              </a:rPr>
              <a:t>GitHub Pages</a:t>
            </a: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という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200" spc="-1" strike="noStrike">
                <a:solidFill>
                  <a:srgbClr val="222222"/>
                </a:solidFill>
                <a:latin typeface="Meiryo"/>
                <a:ea typeface="Meiryo"/>
              </a:rPr>
              <a:t>普通の静的サイトとして公開する方式を採用。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2" name="CustomShape 19"/>
          <p:cNvSpPr/>
          <p:nvPr/>
        </p:nvSpPr>
        <p:spPr>
          <a:xfrm>
            <a:off x="548640" y="6263640"/>
            <a:ext cx="110638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状態</a:t>
            </a:r>
            <a:r>
              <a:rPr b="1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: 52</a:t>
            </a:r>
            <a:r>
              <a:rPr b="1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体すべて変換・</a:t>
            </a:r>
            <a:r>
              <a:rPr b="1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push</a:t>
            </a:r>
            <a:r>
              <a:rPr b="1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・</a:t>
            </a:r>
            <a:r>
              <a:rPr b="1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GitHub Pages</a:t>
            </a:r>
            <a:r>
              <a:rPr b="1" lang="ja-JP" sz="1200" spc="-1" strike="noStrike">
                <a:solidFill>
                  <a:srgbClr val="b03030"/>
                </a:solidFill>
                <a:latin typeface="Meiryo"/>
                <a:ea typeface="Meiryo"/>
              </a:rPr>
              <a:t>公開・ヘッドレスブラウザでの読み込み確認まで完了。公開</a:t>
            </a:r>
            <a:r>
              <a:rPr b="1" lang="en-US" sz="1200" spc="-1" strike="noStrike">
                <a:solidFill>
                  <a:srgbClr val="b03030"/>
                </a:solidFill>
                <a:latin typeface="Meiryo"/>
                <a:ea typeface="Meiryo"/>
              </a:rPr>
              <a:t>URL: inabajsk.github.io/kxreus/urdf_viewer/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GITHUB DATA LAYOUT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4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GitHub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に置くデータの全体像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(kxreus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リポジトリ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5" name="CustomShape 3"/>
          <p:cNvSpPr/>
          <p:nvPr/>
        </p:nvSpPr>
        <p:spPr>
          <a:xfrm>
            <a:off x="548640" y="1508760"/>
            <a:ext cx="26514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パス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6" name="CustomShape 4"/>
          <p:cNvSpPr/>
          <p:nvPr/>
        </p:nvSpPr>
        <p:spPr>
          <a:xfrm>
            <a:off x="3200400" y="1508760"/>
            <a:ext cx="320004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内容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7" name="CustomShape 5"/>
          <p:cNvSpPr/>
          <p:nvPr/>
        </p:nvSpPr>
        <p:spPr>
          <a:xfrm>
            <a:off x="6400800" y="1508760"/>
            <a:ext cx="283428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用途 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/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8" name="CustomShape 6"/>
          <p:cNvSpPr/>
          <p:nvPr/>
        </p:nvSpPr>
        <p:spPr>
          <a:xfrm>
            <a:off x="9235440" y="1508760"/>
            <a:ext cx="228564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誰が取得するか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9" name="CustomShape 7"/>
          <p:cNvSpPr/>
          <p:nvPr/>
        </p:nvSpPr>
        <p:spPr>
          <a:xfrm>
            <a:off x="548640" y="205740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m5stack/*/</a:t>
            </a:r>
            <a:br/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downloadable_policies/</a:t>
            </a:r>
            <a:br/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&lt;robot&gt;/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0" name="CustomShape 8"/>
          <p:cNvSpPr/>
          <p:nvPr/>
        </p:nvSpPr>
        <p:spPr>
          <a:xfrm>
            <a:off x="3246120" y="2103120"/>
            <a:ext cx="31086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学習済み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重み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(.bin)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+ manifest.json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1" name="CustomShape 9"/>
          <p:cNvSpPr/>
          <p:nvPr/>
        </p:nvSpPr>
        <p:spPr>
          <a:xfrm>
            <a:off x="6446520" y="2103120"/>
            <a:ext cx="27428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で候補提示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4-5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で切替実行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2" name="CustomShape 10"/>
          <p:cNvSpPr/>
          <p:nvPr/>
        </p:nvSpPr>
        <p:spPr>
          <a:xfrm>
            <a:off x="9281160" y="2103120"/>
            <a:ext cx="21942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スマホが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POST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転送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(firmware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は直接触れない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3" name="CustomShape 11"/>
          <p:cNvSpPr/>
          <p:nvPr/>
        </p:nvSpPr>
        <p:spPr>
          <a:xfrm>
            <a:off x="548640" y="338328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docs/urdf_viewer/</a:t>
            </a:r>
            <a:br/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models/&lt;robot&gt;/</a:t>
            </a:r>
            <a:br/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{urdf/*.urdf, meshes/*.glb}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4" name="CustomShape 12"/>
          <p:cNvSpPr/>
          <p:nvPr/>
        </p:nvSpPr>
        <p:spPr>
          <a:xfrm>
            <a:off x="3246120" y="3429000"/>
            <a:ext cx="31086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URDF + Draco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圧縮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3D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メッシュ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(NEW)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5" name="CustomShape 13"/>
          <p:cNvSpPr/>
          <p:nvPr/>
        </p:nvSpPr>
        <p:spPr>
          <a:xfrm>
            <a:off x="6446520" y="3429000"/>
            <a:ext cx="274284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2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3D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ビューア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表示専用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6" name="CustomShape 14"/>
          <p:cNvSpPr/>
          <p:nvPr/>
        </p:nvSpPr>
        <p:spPr>
          <a:xfrm>
            <a:off x="9281160" y="3429000"/>
            <a:ext cx="2194200" cy="66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ブラウザが直接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fetch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(GitHub Pages, 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同一オリジン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7" name="CustomShape 15"/>
          <p:cNvSpPr/>
          <p:nvPr/>
        </p:nvSpPr>
        <p:spPr>
          <a:xfrm>
            <a:off x="548640" y="470916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000" spc="-1" strike="noStrike">
                <a:solidFill>
                  <a:srgbClr val="ffffff"/>
                </a:solidFill>
                <a:latin typeface="Meiryo"/>
                <a:ea typeface="Meiryo"/>
              </a:rPr>
              <a:t>将来</a:t>
            </a:r>
            <a:r>
              <a:rPr b="1" lang="en-US" sz="10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r>
              <a:rPr b="1" lang="ja-JP" sz="1000" spc="-1" strike="noStrike">
                <a:solidFill>
                  <a:srgbClr val="ffffff"/>
                </a:solidFill>
                <a:latin typeface="Meiryo"/>
                <a:ea typeface="Meiryo"/>
              </a:rPr>
              <a:t>ロボット記述</a:t>
            </a:r>
            <a:br/>
            <a:r>
              <a:rPr b="1" lang="ja-JP" sz="1000" spc="-1" strike="noStrike">
                <a:solidFill>
                  <a:srgbClr val="ffffff"/>
                </a:solidFill>
                <a:latin typeface="Meiryo"/>
                <a:ea typeface="Meiryo"/>
              </a:rPr>
              <a:t>ブロブ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8" name="CustomShape 16"/>
          <p:cNvSpPr/>
          <p:nvPr/>
        </p:nvSpPr>
        <p:spPr>
          <a:xfrm>
            <a:off x="3246120" y="4754880"/>
            <a:ext cx="31086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形状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サーボマップ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ホーム位置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モーション統合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9" name="CustomShape 17"/>
          <p:cNvSpPr/>
          <p:nvPr/>
        </p:nvSpPr>
        <p:spPr>
          <a:xfrm>
            <a:off x="6446520" y="4754880"/>
            <a:ext cx="2742840" cy="28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4-5(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未実装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0" name="CustomShape 18"/>
          <p:cNvSpPr/>
          <p:nvPr/>
        </p:nvSpPr>
        <p:spPr>
          <a:xfrm>
            <a:off x="9281160" y="4754880"/>
            <a:ext cx="2194200" cy="474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スマホが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POST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転送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(NN</a:t>
            </a:r>
            <a:r>
              <a:rPr b="0" lang="ja-JP" sz="1100" spc="-1" strike="noStrike">
                <a:solidFill>
                  <a:srgbClr val="222222"/>
                </a:solidFill>
                <a:latin typeface="Meiryo"/>
                <a:ea typeface="Meiryo"/>
              </a:rPr>
              <a:t>重み配信と同じ方式</a:t>
            </a:r>
            <a:r>
              <a:rPr b="0" lang="en-US" sz="11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1" name="CustomShape 19"/>
          <p:cNvSpPr/>
          <p:nvPr/>
        </p:nvSpPr>
        <p:spPr>
          <a:xfrm>
            <a:off x="548640" y="5852160"/>
            <a:ext cx="11063880" cy="5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重要な違い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: docs/urdf_viewer/ 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の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3D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モデルデータは表示専用で、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firmware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の実行やロボットの動作には一切関与しない。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downloadable_policies/ 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と将来のロボット記述ブロブは逆に、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firmware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の動作そのものを左右する実データ。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COMPRESSION PIPELINE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63" name="CustomShape 2"/>
          <p:cNvSpPr/>
          <p:nvPr/>
        </p:nvSpPr>
        <p:spPr>
          <a:xfrm>
            <a:off x="548640" y="685800"/>
            <a:ext cx="105152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メッシュ圧縮パイプライン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COLLADA(.dae) → Draco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圧縮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glTF(.glb)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548640" y="1691640"/>
            <a:ext cx="2605680" cy="6397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①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生成元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.dae (COLLADA)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5" name="CustomShape 4"/>
          <p:cNvSpPr/>
          <p:nvPr/>
        </p:nvSpPr>
        <p:spPr>
          <a:xfrm>
            <a:off x="548640" y="2423160"/>
            <a:ext cx="26056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CAD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由来のメッシュそのまま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頂点・法線・色を平文で記述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66" name="Line 5"/>
          <p:cNvSpPr/>
          <p:nvPr/>
        </p:nvSpPr>
        <p:spPr>
          <a:xfrm>
            <a:off x="3154680" y="2011680"/>
            <a:ext cx="228600" cy="0"/>
          </a:xfrm>
          <a:prstGeom prst="line">
            <a:avLst/>
          </a:prstGeom>
          <a:ln w="31680"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67" name="CustomShape 6"/>
          <p:cNvSpPr/>
          <p:nvPr/>
        </p:nvSpPr>
        <p:spPr>
          <a:xfrm>
            <a:off x="3383280" y="1691640"/>
            <a:ext cx="2605680" cy="63972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②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glTF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化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trimesh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で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.glb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変換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8" name="CustomShape 7"/>
          <p:cNvSpPr/>
          <p:nvPr/>
        </p:nvSpPr>
        <p:spPr>
          <a:xfrm>
            <a:off x="3383280" y="2423160"/>
            <a:ext cx="2605680" cy="61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trimesh.load(dae) →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scene.export(glb)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非圧縮バイナリ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glTF)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69" name="Line 8"/>
          <p:cNvSpPr/>
          <p:nvPr/>
        </p:nvSpPr>
        <p:spPr>
          <a:xfrm>
            <a:off x="5989320" y="2011680"/>
            <a:ext cx="228600" cy="0"/>
          </a:xfrm>
          <a:prstGeom prst="line">
            <a:avLst/>
          </a:prstGeom>
          <a:ln w="31680"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0" name="CustomShape 9"/>
          <p:cNvSpPr/>
          <p:nvPr/>
        </p:nvSpPr>
        <p:spPr>
          <a:xfrm>
            <a:off x="6217920" y="1691640"/>
            <a:ext cx="2605680" cy="63972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③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Draco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圧縮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gltf-pipeline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1" name="CustomShape 10"/>
          <p:cNvSpPr/>
          <p:nvPr/>
        </p:nvSpPr>
        <p:spPr>
          <a:xfrm>
            <a:off x="6217920" y="2423160"/>
            <a:ext cx="2605680" cy="61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--draco.compressMeshes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compressionLevel=10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quantizePositionBits=11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72" name="Line 11"/>
          <p:cNvSpPr/>
          <p:nvPr/>
        </p:nvSpPr>
        <p:spPr>
          <a:xfrm>
            <a:off x="8823960" y="2011680"/>
            <a:ext cx="228600" cy="0"/>
          </a:xfrm>
          <a:prstGeom prst="line">
            <a:avLst/>
          </a:prstGeom>
          <a:ln w="31680"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73" name="CustomShape 12"/>
          <p:cNvSpPr/>
          <p:nvPr/>
        </p:nvSpPr>
        <p:spPr>
          <a:xfrm>
            <a:off x="9052560" y="1691640"/>
            <a:ext cx="2605680" cy="63972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④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完成</a:t>
            </a:r>
            <a:br/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.glb (Draco)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4" name="CustomShape 13"/>
          <p:cNvSpPr/>
          <p:nvPr/>
        </p:nvSpPr>
        <p:spPr>
          <a:xfrm>
            <a:off x="9052560" y="2423160"/>
            <a:ext cx="2605680" cy="61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に置く最終形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(URDF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mesh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参照も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.glb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へ一括置換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75" name="CustomShape 14"/>
          <p:cNvSpPr/>
          <p:nvPr/>
        </p:nvSpPr>
        <p:spPr>
          <a:xfrm>
            <a:off x="548640" y="3291840"/>
            <a:ext cx="5303160" cy="34704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glTF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とは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(GL Transmission Format)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6" name="CustomShape 15"/>
          <p:cNvSpPr/>
          <p:nvPr/>
        </p:nvSpPr>
        <p:spPr>
          <a:xfrm>
            <a:off x="548640" y="3657600"/>
            <a:ext cx="530316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Khronos Group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策定の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3D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モデルの標準規格。ジオメトリ・マテリアル・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アニメーションを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1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ファイルにまとめる、いわば「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3D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版の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JPEG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」。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7" name="CustomShape 16"/>
          <p:cNvSpPr/>
          <p:nvPr/>
        </p:nvSpPr>
        <p:spPr>
          <a:xfrm>
            <a:off x="6126480" y="3291840"/>
            <a:ext cx="5303160" cy="34704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Draco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とは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(Google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製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8" name="CustomShape 17"/>
          <p:cNvSpPr/>
          <p:nvPr/>
        </p:nvSpPr>
        <p:spPr>
          <a:xfrm>
            <a:off x="6126480" y="3657600"/>
            <a:ext cx="530316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頂点座標・法線を量子化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エントロピー符号化するオープンソースの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メッシュ圧縮ライブラリ。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glTF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の拡張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(.glb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内に埋め込む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として使う。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79" name="CustomShape 18"/>
          <p:cNvSpPr/>
          <p:nvPr/>
        </p:nvSpPr>
        <p:spPr>
          <a:xfrm>
            <a:off x="548640" y="4251960"/>
            <a:ext cx="110638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1400" spc="-1" strike="noStrike">
                <a:solidFill>
                  <a:srgbClr val="1f2a44"/>
                </a:solidFill>
                <a:latin typeface="Meiryo"/>
                <a:ea typeface="Meiryo"/>
              </a:rPr>
              <a:t>実測例</a:t>
            </a:r>
            <a:r>
              <a:rPr b="1" lang="en-US" sz="1400" spc="-1" strike="noStrike">
                <a:solidFill>
                  <a:srgbClr val="1f2a44"/>
                </a:solidFill>
                <a:latin typeface="Meiryo"/>
                <a:ea typeface="Meiryo"/>
              </a:rPr>
              <a:t>(1</a:t>
            </a:r>
            <a:r>
              <a:rPr b="1" lang="ja-JP" sz="1400" spc="-1" strike="noStrike">
                <a:solidFill>
                  <a:srgbClr val="1f2a44"/>
                </a:solidFill>
                <a:latin typeface="Meiryo"/>
                <a:ea typeface="Meiryo"/>
              </a:rPr>
              <a:t>メッシュ</a:t>
            </a:r>
            <a:r>
              <a:rPr b="1" lang="en-US" sz="1400" spc="-1" strike="noStrike">
                <a:solidFill>
                  <a:srgbClr val="1f2a44"/>
                </a:solidFill>
                <a:latin typeface="Meiryo"/>
                <a:ea typeface="Meiryo"/>
              </a:rPr>
              <a:t>): head-neck-p_mesh.dae(kxrl4t)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0" name="CustomShape 19"/>
          <p:cNvSpPr/>
          <p:nvPr/>
        </p:nvSpPr>
        <p:spPr>
          <a:xfrm>
            <a:off x="548640" y="4663440"/>
            <a:ext cx="3200040" cy="73116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60,027 bytes</a:t>
            </a:r>
            <a:br/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.dae (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元データ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1" name="CustomShape 20"/>
          <p:cNvSpPr/>
          <p:nvPr/>
        </p:nvSpPr>
        <p:spPr>
          <a:xfrm>
            <a:off x="3931920" y="4663440"/>
            <a:ext cx="3200040" cy="73116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14,400 bytes  (-76%)</a:t>
            </a:r>
            <a:br/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.glb 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非圧縮</a:t>
            </a: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glTF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化のみ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2" name="CustomShape 21"/>
          <p:cNvSpPr/>
          <p:nvPr/>
        </p:nvSpPr>
        <p:spPr>
          <a:xfrm>
            <a:off x="7315200" y="4663440"/>
            <a:ext cx="3200040" cy="7311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3,736 bytes  (-93.8%)</a:t>
            </a:r>
            <a:br/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.glb Draco</a:t>
            </a:r>
            <a:r>
              <a:rPr b="1" lang="ja-JP" sz="1500" spc="-1" strike="noStrike">
                <a:solidFill>
                  <a:srgbClr val="ffffff"/>
                </a:solidFill>
                <a:latin typeface="Meiryo"/>
                <a:ea typeface="Meiryo"/>
              </a:rPr>
              <a:t>圧縮後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3" name="CustomShape 22"/>
          <p:cNvSpPr/>
          <p:nvPr/>
        </p:nvSpPr>
        <p:spPr>
          <a:xfrm>
            <a:off x="548640" y="5623560"/>
            <a:ext cx="11063880" cy="58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本体のテキスト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関節構造・可動域など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は変更しない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変更するのはメッシュ参照の拡張子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(.dae→.glb)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だけ。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ロボット生成パイプライン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(rcb4robotconfig.l → URDF/MuJoCo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変換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自体には一切手を加えていない。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52 ROBOTS -- PREVIEW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85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52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体のロボット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レンダリング画像の抜粋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86" name="CustomShape 3"/>
          <p:cNvSpPr/>
          <p:nvPr/>
        </p:nvSpPr>
        <p:spPr>
          <a:xfrm>
            <a:off x="685800" y="132588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87" name="Picture 4" descr="kxrl4t.png"/>
          <p:cNvPicPr/>
          <p:nvPr/>
        </p:nvPicPr>
        <p:blipFill>
          <a:blip r:embed="rId1"/>
          <a:stretch/>
        </p:blipFill>
        <p:spPr>
          <a:xfrm>
            <a:off x="777240" y="1338840"/>
            <a:ext cx="1508400" cy="1253520"/>
          </a:xfrm>
          <a:prstGeom prst="rect">
            <a:avLst/>
          </a:prstGeom>
          <a:ln>
            <a:noFill/>
          </a:ln>
        </p:spPr>
      </p:pic>
      <p:sp>
        <p:nvSpPr>
          <p:cNvPr id="588" name="CustomShape 4"/>
          <p:cNvSpPr/>
          <p:nvPr/>
        </p:nvSpPr>
        <p:spPr>
          <a:xfrm>
            <a:off x="685800" y="262440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kxrl4t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89" name="CustomShape 5"/>
          <p:cNvSpPr/>
          <p:nvPr/>
        </p:nvSpPr>
        <p:spPr>
          <a:xfrm>
            <a:off x="2578680" y="132588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90" name="Picture 7" descr="kxrl4d.png"/>
          <p:cNvPicPr/>
          <p:nvPr/>
        </p:nvPicPr>
        <p:blipFill>
          <a:blip r:embed="rId2"/>
          <a:stretch/>
        </p:blipFill>
        <p:spPr>
          <a:xfrm>
            <a:off x="3086640" y="1417320"/>
            <a:ext cx="675000" cy="1096920"/>
          </a:xfrm>
          <a:prstGeom prst="rect">
            <a:avLst/>
          </a:prstGeom>
          <a:ln>
            <a:noFill/>
          </a:ln>
        </p:spPr>
      </p:pic>
      <p:sp>
        <p:nvSpPr>
          <p:cNvPr id="591" name="CustomShape 6"/>
          <p:cNvSpPr/>
          <p:nvPr/>
        </p:nvSpPr>
        <p:spPr>
          <a:xfrm>
            <a:off x="2578680" y="262440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kxrl4d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2" name="CustomShape 7"/>
          <p:cNvSpPr/>
          <p:nvPr/>
        </p:nvSpPr>
        <p:spPr>
          <a:xfrm>
            <a:off x="4471560" y="132588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93" name="Picture 10" descr="kxrl6.png"/>
          <p:cNvPicPr/>
          <p:nvPr/>
        </p:nvPicPr>
        <p:blipFill>
          <a:blip r:embed="rId3"/>
          <a:stretch/>
        </p:blipFill>
        <p:spPr>
          <a:xfrm>
            <a:off x="4563000" y="1524960"/>
            <a:ext cx="1508400" cy="882000"/>
          </a:xfrm>
          <a:prstGeom prst="rect">
            <a:avLst/>
          </a:prstGeom>
          <a:ln>
            <a:noFill/>
          </a:ln>
        </p:spPr>
      </p:pic>
      <p:sp>
        <p:nvSpPr>
          <p:cNvPr id="594" name="CustomShape 8"/>
          <p:cNvSpPr/>
          <p:nvPr/>
        </p:nvSpPr>
        <p:spPr>
          <a:xfrm>
            <a:off x="4471560" y="262440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kxrl6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5" name="CustomShape 9"/>
          <p:cNvSpPr/>
          <p:nvPr/>
        </p:nvSpPr>
        <p:spPr>
          <a:xfrm>
            <a:off x="6364080" y="132588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96" name="Picture 13" descr="kxrl2g.png"/>
          <p:cNvPicPr/>
          <p:nvPr/>
        </p:nvPicPr>
        <p:blipFill>
          <a:blip r:embed="rId4"/>
          <a:stretch/>
        </p:blipFill>
        <p:spPr>
          <a:xfrm>
            <a:off x="6917400" y="1417320"/>
            <a:ext cx="584640" cy="1096920"/>
          </a:xfrm>
          <a:prstGeom prst="rect">
            <a:avLst/>
          </a:prstGeom>
          <a:ln>
            <a:noFill/>
          </a:ln>
        </p:spPr>
      </p:pic>
      <p:sp>
        <p:nvSpPr>
          <p:cNvPr id="597" name="CustomShape 10"/>
          <p:cNvSpPr/>
          <p:nvPr/>
        </p:nvSpPr>
        <p:spPr>
          <a:xfrm>
            <a:off x="6364080" y="262440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kxrl2g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8" name="CustomShape 11"/>
          <p:cNvSpPr/>
          <p:nvPr/>
        </p:nvSpPr>
        <p:spPr>
          <a:xfrm>
            <a:off x="685800" y="297180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99" name="Picture 16" descr="kxrkamakiri.png"/>
          <p:cNvPicPr/>
          <p:nvPr/>
        </p:nvPicPr>
        <p:blipFill>
          <a:blip r:embed="rId5"/>
          <a:stretch/>
        </p:blipFill>
        <p:spPr>
          <a:xfrm>
            <a:off x="1090440" y="3063240"/>
            <a:ext cx="882000" cy="1096920"/>
          </a:xfrm>
          <a:prstGeom prst="rect">
            <a:avLst/>
          </a:prstGeom>
          <a:ln>
            <a:noFill/>
          </a:ln>
        </p:spPr>
      </p:pic>
      <p:sp>
        <p:nvSpPr>
          <p:cNvPr id="600" name="CustomShape 12"/>
          <p:cNvSpPr/>
          <p:nvPr/>
        </p:nvSpPr>
        <p:spPr>
          <a:xfrm>
            <a:off x="685800" y="427032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kxrkamakiri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1" name="CustomShape 13"/>
          <p:cNvSpPr/>
          <p:nvPr/>
        </p:nvSpPr>
        <p:spPr>
          <a:xfrm>
            <a:off x="2578680" y="297180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02" name="Picture 19" descr="kxrdw4a6h2m.png"/>
          <p:cNvPicPr/>
          <p:nvPr/>
        </p:nvPicPr>
        <p:blipFill>
          <a:blip r:embed="rId6"/>
          <a:stretch/>
        </p:blipFill>
        <p:spPr>
          <a:xfrm>
            <a:off x="3046320" y="3063240"/>
            <a:ext cx="756000" cy="1096920"/>
          </a:xfrm>
          <a:prstGeom prst="rect">
            <a:avLst/>
          </a:prstGeom>
          <a:ln>
            <a:noFill/>
          </a:ln>
        </p:spPr>
      </p:pic>
      <p:sp>
        <p:nvSpPr>
          <p:cNvPr id="603" name="CustomShape 14"/>
          <p:cNvSpPr/>
          <p:nvPr/>
        </p:nvSpPr>
        <p:spPr>
          <a:xfrm>
            <a:off x="2578680" y="427032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kxrdw4a6h2m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4471560" y="297180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05" name="Picture 22" descr="kxrl2w2l6a6h2.png"/>
          <p:cNvPicPr/>
          <p:nvPr/>
        </p:nvPicPr>
        <p:blipFill>
          <a:blip r:embed="rId7"/>
          <a:stretch/>
        </p:blipFill>
        <p:spPr>
          <a:xfrm>
            <a:off x="4952160" y="3063240"/>
            <a:ext cx="729720" cy="1096920"/>
          </a:xfrm>
          <a:prstGeom prst="rect">
            <a:avLst/>
          </a:prstGeom>
          <a:ln>
            <a:noFill/>
          </a:ln>
        </p:spPr>
      </p:pic>
      <p:sp>
        <p:nvSpPr>
          <p:cNvPr id="606" name="CustomShape 16"/>
          <p:cNvSpPr/>
          <p:nvPr/>
        </p:nvSpPr>
        <p:spPr>
          <a:xfrm>
            <a:off x="4471560" y="427032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kxrl2w2l6a6h2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07" name="CustomShape 17"/>
          <p:cNvSpPr/>
          <p:nvPr/>
        </p:nvSpPr>
        <p:spPr>
          <a:xfrm>
            <a:off x="6364080" y="297180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08" name="Picture 25" descr="kxrmw4a7h2g.png"/>
          <p:cNvPicPr/>
          <p:nvPr/>
        </p:nvPicPr>
        <p:blipFill>
          <a:blip r:embed="rId8"/>
          <a:stretch/>
        </p:blipFill>
        <p:spPr>
          <a:xfrm>
            <a:off x="6758640" y="3063240"/>
            <a:ext cx="902160" cy="1096920"/>
          </a:xfrm>
          <a:prstGeom prst="rect">
            <a:avLst/>
          </a:prstGeom>
          <a:ln>
            <a:noFill/>
          </a:ln>
        </p:spPr>
      </p:pic>
      <p:sp>
        <p:nvSpPr>
          <p:cNvPr id="609" name="CustomShape 18"/>
          <p:cNvSpPr/>
          <p:nvPr/>
        </p:nvSpPr>
        <p:spPr>
          <a:xfrm>
            <a:off x="6364080" y="427032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kxrmw4a7h2g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0" name="CustomShape 19"/>
          <p:cNvSpPr/>
          <p:nvPr/>
        </p:nvSpPr>
        <p:spPr>
          <a:xfrm>
            <a:off x="685800" y="461772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11" name="Picture 28" descr="kxrl4b1.png"/>
          <p:cNvPicPr/>
          <p:nvPr/>
        </p:nvPicPr>
        <p:blipFill>
          <a:blip r:embed="rId9"/>
          <a:stretch/>
        </p:blipFill>
        <p:spPr>
          <a:xfrm>
            <a:off x="1051560" y="4709160"/>
            <a:ext cx="959400" cy="1096920"/>
          </a:xfrm>
          <a:prstGeom prst="rect">
            <a:avLst/>
          </a:prstGeom>
          <a:ln>
            <a:noFill/>
          </a:ln>
        </p:spPr>
      </p:pic>
      <p:sp>
        <p:nvSpPr>
          <p:cNvPr id="612" name="CustomShape 20"/>
          <p:cNvSpPr/>
          <p:nvPr/>
        </p:nvSpPr>
        <p:spPr>
          <a:xfrm>
            <a:off x="685800" y="591624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kxrl4b1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3" name="CustomShape 21"/>
          <p:cNvSpPr/>
          <p:nvPr/>
        </p:nvSpPr>
        <p:spPr>
          <a:xfrm>
            <a:off x="2578680" y="461772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14" name="Picture 31" descr="kxrl2makabe.png"/>
          <p:cNvPicPr/>
          <p:nvPr/>
        </p:nvPicPr>
        <p:blipFill>
          <a:blip r:embed="rId10"/>
          <a:stretch/>
        </p:blipFill>
        <p:spPr>
          <a:xfrm>
            <a:off x="3086280" y="4709160"/>
            <a:ext cx="676080" cy="1096920"/>
          </a:xfrm>
          <a:prstGeom prst="rect">
            <a:avLst/>
          </a:prstGeom>
          <a:ln>
            <a:noFill/>
          </a:ln>
        </p:spPr>
      </p:pic>
      <p:sp>
        <p:nvSpPr>
          <p:cNvPr id="615" name="CustomShape 22"/>
          <p:cNvSpPr/>
          <p:nvPr/>
        </p:nvSpPr>
        <p:spPr>
          <a:xfrm>
            <a:off x="2578680" y="591624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kxrl2makabe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6" name="CustomShape 23"/>
          <p:cNvSpPr/>
          <p:nvPr/>
        </p:nvSpPr>
        <p:spPr>
          <a:xfrm>
            <a:off x="4471560" y="461772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17" name="Picture 34" descr="kxrow4a6h2m.png"/>
          <p:cNvPicPr/>
          <p:nvPr/>
        </p:nvPicPr>
        <p:blipFill>
          <a:blip r:embed="rId11"/>
          <a:stretch/>
        </p:blipFill>
        <p:spPr>
          <a:xfrm>
            <a:off x="4913280" y="4709160"/>
            <a:ext cx="807480" cy="1096920"/>
          </a:xfrm>
          <a:prstGeom prst="rect">
            <a:avLst/>
          </a:prstGeom>
          <a:ln>
            <a:noFill/>
          </a:ln>
        </p:spPr>
      </p:pic>
      <p:sp>
        <p:nvSpPr>
          <p:cNvPr id="618" name="CustomShape 24"/>
          <p:cNvSpPr/>
          <p:nvPr/>
        </p:nvSpPr>
        <p:spPr>
          <a:xfrm>
            <a:off x="4471560" y="591624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kxrow4a6h2m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9" name="CustomShape 25"/>
          <p:cNvSpPr/>
          <p:nvPr/>
        </p:nvSpPr>
        <p:spPr>
          <a:xfrm>
            <a:off x="6364080" y="4617720"/>
            <a:ext cx="1691280" cy="127980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20" name="Picture 37" descr="kxrl2l6a7h2.png"/>
          <p:cNvPicPr/>
          <p:nvPr/>
        </p:nvPicPr>
        <p:blipFill>
          <a:blip r:embed="rId12"/>
          <a:stretch/>
        </p:blipFill>
        <p:spPr>
          <a:xfrm>
            <a:off x="6824160" y="4709160"/>
            <a:ext cx="771480" cy="1096920"/>
          </a:xfrm>
          <a:prstGeom prst="rect">
            <a:avLst/>
          </a:prstGeom>
          <a:ln>
            <a:noFill/>
          </a:ln>
        </p:spPr>
      </p:pic>
      <p:sp>
        <p:nvSpPr>
          <p:cNvPr id="621" name="CustomShape 26"/>
          <p:cNvSpPr/>
          <p:nvPr/>
        </p:nvSpPr>
        <p:spPr>
          <a:xfrm>
            <a:off x="6364080" y="5916240"/>
            <a:ext cx="16912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kxrl2l6a7h2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22" name="CustomShape 27"/>
          <p:cNvSpPr/>
          <p:nvPr/>
        </p:nvSpPr>
        <p:spPr>
          <a:xfrm>
            <a:off x="548640" y="6492240"/>
            <a:ext cx="1106388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上記は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52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体中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12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体の抜粋。全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52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体はフェーズ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のブラウザ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3D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ビューアで回転・拡大しながら確認できる。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CustomShape 1"/>
          <p:cNvSpPr/>
          <p:nvPr/>
        </p:nvSpPr>
        <p:spPr>
          <a:xfrm>
            <a:off x="548640" y="320040"/>
            <a:ext cx="73148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e6fc7"/>
                </a:solidFill>
                <a:latin typeface="Meiryo"/>
                <a:ea typeface="Meiryo"/>
              </a:rPr>
              <a:t>SIZE COMPARISON -- MEASURED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2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圧縮前後のサイズ比較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5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体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/ 52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体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/ 500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体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概算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25" name="CustomShape 3"/>
          <p:cNvSpPr/>
          <p:nvPr/>
        </p:nvSpPr>
        <p:spPr>
          <a:xfrm>
            <a:off x="548640" y="150876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6" name="CustomShape 4"/>
          <p:cNvSpPr/>
          <p:nvPr/>
        </p:nvSpPr>
        <p:spPr>
          <a:xfrm>
            <a:off x="3291840" y="150876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5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体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フェーズ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相当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7" name="CustomShape 5"/>
          <p:cNvSpPr/>
          <p:nvPr/>
        </p:nvSpPr>
        <p:spPr>
          <a:xfrm>
            <a:off x="6035040" y="150876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52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体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(urdfs/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全体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,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実測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8" name="CustomShape 6"/>
          <p:cNvSpPr/>
          <p:nvPr/>
        </p:nvSpPr>
        <p:spPr>
          <a:xfrm>
            <a:off x="8778240" y="1508760"/>
            <a:ext cx="2742840" cy="6397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体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概算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, 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平均値から外挿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9" name="CustomShape 7"/>
          <p:cNvSpPr/>
          <p:nvPr/>
        </p:nvSpPr>
        <p:spPr>
          <a:xfrm>
            <a:off x="548640" y="2286000"/>
            <a:ext cx="2742840" cy="868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元データ合計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(.dae, COLLADA)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0" name="CustomShape 8"/>
          <p:cNvSpPr/>
          <p:nvPr/>
        </p:nvSpPr>
        <p:spPr>
          <a:xfrm>
            <a:off x="3383280" y="256068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14.3 MB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1" name="CustomShape 9"/>
          <p:cNvSpPr/>
          <p:nvPr/>
        </p:nvSpPr>
        <p:spPr>
          <a:xfrm>
            <a:off x="6126480" y="2446560"/>
            <a:ext cx="25599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200.3 MB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実測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: 190.99MB)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2" name="CustomShape 10"/>
          <p:cNvSpPr/>
          <p:nvPr/>
        </p:nvSpPr>
        <p:spPr>
          <a:xfrm>
            <a:off x="8869680" y="2446560"/>
            <a:ext cx="25599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約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1,926 MB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概算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3" name="CustomShape 11"/>
          <p:cNvSpPr/>
          <p:nvPr/>
        </p:nvSpPr>
        <p:spPr>
          <a:xfrm>
            <a:off x="548640" y="3246120"/>
            <a:ext cx="2742840" cy="868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圧縮後合計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(.glb, Draco)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4" name="CustomShape 12"/>
          <p:cNvSpPr/>
          <p:nvPr/>
        </p:nvSpPr>
        <p:spPr>
          <a:xfrm>
            <a:off x="3383280" y="352080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0.72 MB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5" name="CustomShape 13"/>
          <p:cNvSpPr/>
          <p:nvPr/>
        </p:nvSpPr>
        <p:spPr>
          <a:xfrm>
            <a:off x="6126480" y="3406680"/>
            <a:ext cx="25599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10.1 MB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実測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: 9.63MB)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6" name="CustomShape 14"/>
          <p:cNvSpPr/>
          <p:nvPr/>
        </p:nvSpPr>
        <p:spPr>
          <a:xfrm>
            <a:off x="8869680" y="3406680"/>
            <a:ext cx="25599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約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97 MB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概算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7" name="CustomShape 15"/>
          <p:cNvSpPr/>
          <p:nvPr/>
        </p:nvSpPr>
        <p:spPr>
          <a:xfrm>
            <a:off x="548640" y="4206240"/>
            <a:ext cx="2742840" cy="868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削減率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8" name="CustomShape 16"/>
          <p:cNvSpPr/>
          <p:nvPr/>
        </p:nvSpPr>
        <p:spPr>
          <a:xfrm>
            <a:off x="3383280" y="448092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95.0%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9" name="CustomShape 17"/>
          <p:cNvSpPr/>
          <p:nvPr/>
        </p:nvSpPr>
        <p:spPr>
          <a:xfrm>
            <a:off x="6126480" y="448092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95.0%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0" name="CustomShape 18"/>
          <p:cNvSpPr/>
          <p:nvPr/>
        </p:nvSpPr>
        <p:spPr>
          <a:xfrm>
            <a:off x="8869680" y="448092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約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95%(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同程度と推定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1" name="CustomShape 19"/>
          <p:cNvSpPr/>
          <p:nvPr/>
        </p:nvSpPr>
        <p:spPr>
          <a:xfrm>
            <a:off x="548640" y="5166360"/>
            <a:ext cx="2742840" cy="868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体あたり平均</a:t>
            </a:r>
            <a:br/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圧縮後</a:t>
            </a: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2" name="CustomShape 20"/>
          <p:cNvSpPr/>
          <p:nvPr/>
        </p:nvSpPr>
        <p:spPr>
          <a:xfrm>
            <a:off x="3383280" y="544104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144 KB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3" name="CustomShape 21"/>
          <p:cNvSpPr/>
          <p:nvPr/>
        </p:nvSpPr>
        <p:spPr>
          <a:xfrm>
            <a:off x="6126480" y="544104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194 KB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4" name="CustomShape 22"/>
          <p:cNvSpPr/>
          <p:nvPr/>
        </p:nvSpPr>
        <p:spPr>
          <a:xfrm>
            <a:off x="8869680" y="5441040"/>
            <a:ext cx="2559960" cy="31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194 KB(</a:t>
            </a:r>
            <a:r>
              <a:rPr b="1" lang="ja-JP" sz="1500" spc="-1" strike="noStrike">
                <a:solidFill>
                  <a:srgbClr val="1f2a44"/>
                </a:solidFill>
                <a:latin typeface="Meiryo"/>
                <a:ea typeface="Meiryo"/>
              </a:rPr>
              <a:t>同じ</a:t>
            </a:r>
            <a:r>
              <a:rPr b="1" lang="en-US" sz="15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45" name="CustomShape 23"/>
          <p:cNvSpPr/>
          <p:nvPr/>
        </p:nvSpPr>
        <p:spPr>
          <a:xfrm>
            <a:off x="548640" y="5989320"/>
            <a:ext cx="11063880" cy="685440"/>
          </a:xfrm>
          <a:prstGeom prst="roundRect">
            <a:avLst>
              <a:gd name="adj" fmla="val 16667"/>
            </a:avLst>
          </a:prstGeom>
          <a:solidFill>
            <a:srgbClr val="163a2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重要な点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: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リポジトリの合計サイズは体数に比例して増えるが、スマホが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回の閲覧で実際にダウンロードする量は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「選んだ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体分」だけ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平均約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190KB)--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カタログが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体になってもブラウザ側の負荷は変わらない。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47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GitHub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以外のクラウド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フィジカル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AI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向けデータハブ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48" name="CustomShape 3"/>
          <p:cNvSpPr/>
          <p:nvPr/>
        </p:nvSpPr>
        <p:spPr>
          <a:xfrm>
            <a:off x="54864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LeRobotDataset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(Hugging Face Hub)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49" name="CustomShape 4"/>
          <p:cNvSpPr/>
          <p:nvPr/>
        </p:nvSpPr>
        <p:spPr>
          <a:xfrm>
            <a:off x="548640" y="2651760"/>
            <a:ext cx="3520080" cy="142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parquet(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状態・行動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)+ mp4(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カメラ映像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)+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メタデータの標準形式。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ALOHA/SO-100/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Reachy 2 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等、多数の実機データセットが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Hub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上で公開・共有されている。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50" name="CustomShape 5"/>
          <p:cNvSpPr/>
          <p:nvPr/>
        </p:nvSpPr>
        <p:spPr>
          <a:xfrm>
            <a:off x="429768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NVIDIA Isaac Sim /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Isaac Lab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1" name="CustomShape 6"/>
          <p:cNvSpPr/>
          <p:nvPr/>
        </p:nvSpPr>
        <p:spPr>
          <a:xfrm>
            <a:off x="4297680" y="2651760"/>
            <a:ext cx="3520080" cy="142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ロボットを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USD(Universal Scene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Description)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資産として記述。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GPU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並列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シミュレーションで大量の合成デモを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生成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(GR00T N1: 78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万本を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11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時間で生成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52" name="CustomShape 7"/>
          <p:cNvSpPr/>
          <p:nvPr/>
        </p:nvSpPr>
        <p:spPr>
          <a:xfrm>
            <a:off x="804672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NVIDIA Isaac GR00T</a:t>
            </a:r>
            <a:br/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(N1 / N1.7)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3" name="CustomShape 8"/>
          <p:cNvSpPr/>
          <p:nvPr/>
        </p:nvSpPr>
        <p:spPr>
          <a:xfrm>
            <a:off x="8046720" y="2651760"/>
            <a:ext cx="3520080" cy="115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オープンなヒューマノイド基盤モデル。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訓練データ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実機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合成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動画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, 15TB/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32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万軌道超 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+ USD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資産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1000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種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Hugging Face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上で公開。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54" name="CustomShape 9"/>
          <p:cNvSpPr/>
          <p:nvPr/>
        </p:nvSpPr>
        <p:spPr>
          <a:xfrm>
            <a:off x="548640" y="4480560"/>
            <a:ext cx="11063880" cy="155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の現状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: URDF/MuJoCo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・独自のモーションテーブル・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重みはいずれも自前形式で、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GitHub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上の 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downloadable_policies/ 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や 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docs/urdf_viewer/ 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も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専用のレイアウト。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これらの標準フォーマットに合わせることができれば、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側のデータを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Hugging Face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等の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既存エコシステム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可視化・学習ツール・他の実機データセット</a:t>
            </a:r>
            <a:r>
              <a:rPr b="0" lang="en-US" sz="14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400" spc="-1" strike="noStrike">
                <a:solidFill>
                  <a:srgbClr val="222222"/>
                </a:solidFill>
                <a:latin typeface="Meiryo"/>
                <a:ea typeface="Meiryo"/>
              </a:rPr>
              <a:t>にそのまま接続できる可能性がある。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6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kxr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への応用アイデア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(l2g / a6g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などの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2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脚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2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腕型へ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57" name="CustomShape 3"/>
          <p:cNvSpPr/>
          <p:nvPr/>
        </p:nvSpPr>
        <p:spPr>
          <a:xfrm>
            <a:off x="54864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①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データ形式を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LeRobot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互換に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8" name="CustomShape 4"/>
          <p:cNvSpPr/>
          <p:nvPr/>
        </p:nvSpPr>
        <p:spPr>
          <a:xfrm>
            <a:off x="548640" y="2651760"/>
            <a:ext cx="3520080" cy="196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の動作ログ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サーボ角度・カメラ映像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LeRobotDataset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形式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(parquet+mp4)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で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エクスポート 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-- Hugging Face Hub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で公開・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他の研究者のツールでもそのまま読める形にする。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59" name="CustomShape 5"/>
          <p:cNvSpPr/>
          <p:nvPr/>
        </p:nvSpPr>
        <p:spPr>
          <a:xfrm>
            <a:off x="429768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②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URDF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を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Isaac Sim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資産として活用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0" name="CustomShape 6"/>
          <p:cNvSpPr/>
          <p:nvPr/>
        </p:nvSpPr>
        <p:spPr>
          <a:xfrm>
            <a:off x="4297680" y="2651760"/>
            <a:ext cx="3520080" cy="142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2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で作った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52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体分の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USD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へ変換すれば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Isaac Sim/Lab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上で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大量の合成デモ生成・強化学習が可能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(3D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ビューアと同じ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資産を再利用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61" name="CustomShape 7"/>
          <p:cNvSpPr/>
          <p:nvPr/>
        </p:nvSpPr>
        <p:spPr>
          <a:xfrm>
            <a:off x="8046720" y="1600200"/>
            <a:ext cx="3520080" cy="82260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③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手元の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GPU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サーバで学習・蒸留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62" name="CustomShape 8"/>
          <p:cNvSpPr/>
          <p:nvPr/>
        </p:nvSpPr>
        <p:spPr>
          <a:xfrm>
            <a:off x="8046720" y="2651760"/>
            <a:ext cx="3520080" cy="115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hatori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pro1(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手元の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GPU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ワーク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ステーション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で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Isaac Sim/GR00T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系の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学習を回し、その方策を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l2g/a6g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サーボ構成へ軽量化して載せる。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663" name="CustomShape 9"/>
          <p:cNvSpPr/>
          <p:nvPr/>
        </p:nvSpPr>
        <p:spPr>
          <a:xfrm>
            <a:off x="548640" y="4754880"/>
            <a:ext cx="11063880" cy="86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hatori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pro1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はロボットではなく、手元の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GPU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ワークステーション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(GPU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サーバ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1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2)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Isaac Sim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上での合成デモ生成や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GR00T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系モデルの学習・蒸留はこの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台で行い、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その結果得られた軽量な方策だけを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kxr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の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腕構成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(l2g/a6g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等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に載せる、という分担になる。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65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参考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学習に使う手元の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GPU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サーバ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vs kxr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本体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6" name="CustomShape 3"/>
          <p:cNvSpPr/>
          <p:nvPr/>
        </p:nvSpPr>
        <p:spPr>
          <a:xfrm>
            <a:off x="548640" y="1508760"/>
            <a:ext cx="2651400" cy="5482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50" spc="-1" strike="noStrike">
                <a:solidFill>
                  <a:srgbClr val="ffffff"/>
                </a:solidFill>
                <a:latin typeface="Meiryo"/>
                <a:ea typeface="Meiryo"/>
              </a:rPr>
              <a:t>項目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67" name="CustomShape 4"/>
          <p:cNvSpPr/>
          <p:nvPr/>
        </p:nvSpPr>
        <p:spPr>
          <a:xfrm>
            <a:off x="3200400" y="1508760"/>
            <a:ext cx="3291480" cy="5482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Meiryo"/>
                <a:ea typeface="Meiryo"/>
              </a:rPr>
              <a:t>GPU</a:t>
            </a:r>
            <a:r>
              <a:rPr b="1" lang="ja-JP" sz="1150" spc="-1" strike="noStrike">
                <a:solidFill>
                  <a:srgbClr val="ffffff"/>
                </a:solidFill>
                <a:latin typeface="Meiryo"/>
                <a:ea typeface="Meiryo"/>
              </a:rPr>
              <a:t>サーバ</a:t>
            </a:r>
            <a:r>
              <a:rPr b="1" lang="en-US" sz="1150" spc="-1" strike="noStrike">
                <a:solidFill>
                  <a:srgbClr val="ffffff"/>
                </a:solidFill>
                <a:latin typeface="Meiryo"/>
                <a:ea typeface="Meiryo"/>
              </a:rPr>
              <a:t>1(hatori)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68" name="CustomShape 5"/>
          <p:cNvSpPr/>
          <p:nvPr/>
        </p:nvSpPr>
        <p:spPr>
          <a:xfrm>
            <a:off x="6492240" y="1508760"/>
            <a:ext cx="2834280" cy="5482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Meiryo"/>
                <a:ea typeface="Meiryo"/>
              </a:rPr>
              <a:t>GPU</a:t>
            </a:r>
            <a:r>
              <a:rPr b="1" lang="ja-JP" sz="1150" spc="-1" strike="noStrike">
                <a:solidFill>
                  <a:srgbClr val="ffffff"/>
                </a:solidFill>
                <a:latin typeface="Meiryo"/>
                <a:ea typeface="Meiryo"/>
              </a:rPr>
              <a:t>サーバ</a:t>
            </a:r>
            <a:r>
              <a:rPr b="1" lang="en-US" sz="1150" spc="-1" strike="noStrike">
                <a:solidFill>
                  <a:srgbClr val="ffffff"/>
                </a:solidFill>
                <a:latin typeface="Meiryo"/>
                <a:ea typeface="Meiryo"/>
              </a:rPr>
              <a:t>2(pro1)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69" name="CustomShape 6"/>
          <p:cNvSpPr/>
          <p:nvPr/>
        </p:nvSpPr>
        <p:spPr>
          <a:xfrm>
            <a:off x="9326880" y="1508760"/>
            <a:ext cx="2468520" cy="54828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Meiryo"/>
                <a:ea typeface="Meiryo"/>
              </a:rPr>
              <a:t>kxr(AtomS3 / M5StickC)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70" name="CustomShape 7"/>
          <p:cNvSpPr/>
          <p:nvPr/>
        </p:nvSpPr>
        <p:spPr>
          <a:xfrm>
            <a:off x="548640" y="2103120"/>
            <a:ext cx="265140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CPU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1" name="CustomShape 8"/>
          <p:cNvSpPr/>
          <p:nvPr/>
        </p:nvSpPr>
        <p:spPr>
          <a:xfrm>
            <a:off x="3273480" y="2139840"/>
            <a:ext cx="31453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Intel Core Ultra 7 265KF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20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コア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/20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スレッド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,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最大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5.0GHz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2" name="CustomShape 9"/>
          <p:cNvSpPr/>
          <p:nvPr/>
        </p:nvSpPr>
        <p:spPr>
          <a:xfrm>
            <a:off x="6565320" y="2139840"/>
            <a:ext cx="26881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Intel Xeon w7-3545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24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コア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/48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スレッド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,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最大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4.8GHz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3" name="CustomShape 10"/>
          <p:cNvSpPr/>
          <p:nvPr/>
        </p:nvSpPr>
        <p:spPr>
          <a:xfrm>
            <a:off x="9399960" y="2139840"/>
            <a:ext cx="232236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ESP32-S3 / ESP32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240MHz(Xtensa)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4" name="CustomShape 11"/>
          <p:cNvSpPr/>
          <p:nvPr/>
        </p:nvSpPr>
        <p:spPr>
          <a:xfrm>
            <a:off x="548640" y="2816280"/>
            <a:ext cx="265140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RAM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5" name="CustomShape 12"/>
          <p:cNvSpPr/>
          <p:nvPr/>
        </p:nvSpPr>
        <p:spPr>
          <a:xfrm>
            <a:off x="3273480" y="2853000"/>
            <a:ext cx="314532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62GiB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6" name="CustomShape 13"/>
          <p:cNvSpPr/>
          <p:nvPr/>
        </p:nvSpPr>
        <p:spPr>
          <a:xfrm>
            <a:off x="6565320" y="2853000"/>
            <a:ext cx="268812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62GiB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7" name="CustomShape 14"/>
          <p:cNvSpPr/>
          <p:nvPr/>
        </p:nvSpPr>
        <p:spPr>
          <a:xfrm>
            <a:off x="9399960" y="2853000"/>
            <a:ext cx="232236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512KB / 520KB(SRAM)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8" name="CustomShape 15"/>
          <p:cNvSpPr/>
          <p:nvPr/>
        </p:nvSpPr>
        <p:spPr>
          <a:xfrm>
            <a:off x="548640" y="3529440"/>
            <a:ext cx="265140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GPU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9" name="CustomShape 16"/>
          <p:cNvSpPr/>
          <p:nvPr/>
        </p:nvSpPr>
        <p:spPr>
          <a:xfrm>
            <a:off x="3273480" y="3566160"/>
            <a:ext cx="31453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NVIDIA GeForce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RTX 4080 SUPER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0" name="CustomShape 17"/>
          <p:cNvSpPr/>
          <p:nvPr/>
        </p:nvSpPr>
        <p:spPr>
          <a:xfrm>
            <a:off x="6565320" y="3566160"/>
            <a:ext cx="26881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NVIDIA RTX PRO 6000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Blackwell Max-Q(Workstation)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1" name="CustomShape 18"/>
          <p:cNvSpPr/>
          <p:nvPr/>
        </p:nvSpPr>
        <p:spPr>
          <a:xfrm>
            <a:off x="9399960" y="3566160"/>
            <a:ext cx="232236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2" name="CustomShape 19"/>
          <p:cNvSpPr/>
          <p:nvPr/>
        </p:nvSpPr>
        <p:spPr>
          <a:xfrm>
            <a:off x="548640" y="4242960"/>
            <a:ext cx="265140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VRAM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3" name="CustomShape 20"/>
          <p:cNvSpPr/>
          <p:nvPr/>
        </p:nvSpPr>
        <p:spPr>
          <a:xfrm>
            <a:off x="3273480" y="4279320"/>
            <a:ext cx="314532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16GB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4" name="CustomShape 21"/>
          <p:cNvSpPr/>
          <p:nvPr/>
        </p:nvSpPr>
        <p:spPr>
          <a:xfrm>
            <a:off x="6565320" y="4279320"/>
            <a:ext cx="268812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約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96GB(97,887MiB)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5" name="CustomShape 22"/>
          <p:cNvSpPr/>
          <p:nvPr/>
        </p:nvSpPr>
        <p:spPr>
          <a:xfrm>
            <a:off x="9399960" y="4279320"/>
            <a:ext cx="232236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(GPU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非搭載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6" name="CustomShape 23"/>
          <p:cNvSpPr/>
          <p:nvPr/>
        </p:nvSpPr>
        <p:spPr>
          <a:xfrm>
            <a:off x="548640" y="4956120"/>
            <a:ext cx="265140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補助記憶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7" name="CustomShape 24"/>
          <p:cNvSpPr/>
          <p:nvPr/>
        </p:nvSpPr>
        <p:spPr>
          <a:xfrm>
            <a:off x="3273480" y="4992480"/>
            <a:ext cx="31453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NVMe 3.6TB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空き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2.7TB)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8" name="CustomShape 25"/>
          <p:cNvSpPr/>
          <p:nvPr/>
        </p:nvSpPr>
        <p:spPr>
          <a:xfrm>
            <a:off x="6565320" y="4992480"/>
            <a:ext cx="2688120" cy="42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NVMe 916GB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空き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152GB)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89" name="CustomShape 26"/>
          <p:cNvSpPr/>
          <p:nvPr/>
        </p:nvSpPr>
        <p:spPr>
          <a:xfrm>
            <a:off x="9399960" y="4992480"/>
            <a:ext cx="2322360" cy="25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なし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90" name="CustomShape 27"/>
          <p:cNvSpPr/>
          <p:nvPr/>
        </p:nvSpPr>
        <p:spPr>
          <a:xfrm>
            <a:off x="548640" y="6355080"/>
            <a:ext cx="11063880" cy="441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kxr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側のマイコンには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GPU/VRAM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が存在しない 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-- GR00T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級の学習・推論は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GPU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サーバ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1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・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2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側で行い、「そこで得た軽量な方策だけを</a:t>
            </a:r>
            <a:r>
              <a:rPr b="1" lang="en-US" sz="1150" spc="-1" strike="noStrike">
                <a:solidFill>
                  <a:srgbClr val="b03030"/>
                </a:solidFill>
                <a:latin typeface="Meiryo"/>
                <a:ea typeface="Meiryo"/>
              </a:rPr>
              <a:t>kxr</a:t>
            </a:r>
            <a:r>
              <a:rPr b="1" lang="ja-JP" sz="1150" spc="-1" strike="noStrike">
                <a:solidFill>
                  <a:srgbClr val="b03030"/>
                </a:solidFill>
                <a:latin typeface="Meiryo"/>
                <a:ea typeface="Meiryo"/>
              </a:rPr>
              <a:t>に載せる」という役割分担になる。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92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発展形としてのロードマップ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構想レベル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3" name="CustomShape 3"/>
          <p:cNvSpPr/>
          <p:nvPr/>
        </p:nvSpPr>
        <p:spPr>
          <a:xfrm>
            <a:off x="548640" y="1737360"/>
            <a:ext cx="1371240" cy="914040"/>
          </a:xfrm>
          <a:prstGeom prst="roundRect">
            <a:avLst>
              <a:gd name="adj" fmla="val 16667"/>
            </a:avLst>
          </a:prstGeom>
          <a:solidFill>
            <a:srgbClr val="6b3fa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Step 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94" name="CustomShape 4"/>
          <p:cNvSpPr/>
          <p:nvPr/>
        </p:nvSpPr>
        <p:spPr>
          <a:xfrm>
            <a:off x="2103120" y="1783080"/>
            <a:ext cx="4388760" cy="63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の動作データを</a:t>
            </a: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LeRobot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形式で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エクスポートするツールを作る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95" name="CustomShape 5"/>
          <p:cNvSpPr/>
          <p:nvPr/>
        </p:nvSpPr>
        <p:spPr>
          <a:xfrm>
            <a:off x="6675120" y="1828800"/>
            <a:ext cx="493740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既存のモーションテーブル・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NN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ログの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変換スクリプトが中心。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firmware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変更なし。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6" name="CustomShape 6"/>
          <p:cNvSpPr/>
          <p:nvPr/>
        </p:nvSpPr>
        <p:spPr>
          <a:xfrm>
            <a:off x="548640" y="2834640"/>
            <a:ext cx="1371240" cy="914040"/>
          </a:xfrm>
          <a:prstGeom prst="roundRect">
            <a:avLst>
              <a:gd name="adj" fmla="val 16667"/>
            </a:avLst>
          </a:prstGeom>
          <a:solidFill>
            <a:srgbClr val="6b3fa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Step 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97" name="CustomShape 7"/>
          <p:cNvSpPr/>
          <p:nvPr/>
        </p:nvSpPr>
        <p:spPr>
          <a:xfrm>
            <a:off x="2103120" y="2880360"/>
            <a:ext cx="4388760" cy="63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既存</a:t>
            </a: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USD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へ変換し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Isaac Sim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で検証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98" name="CustomShape 8"/>
          <p:cNvSpPr/>
          <p:nvPr/>
        </p:nvSpPr>
        <p:spPr>
          <a:xfrm>
            <a:off x="6675120" y="2926080"/>
            <a:ext cx="493740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フェーズ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の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52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体分の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URDF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資産を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そのまま流用できる見込み。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9" name="CustomShape 9"/>
          <p:cNvSpPr/>
          <p:nvPr/>
        </p:nvSpPr>
        <p:spPr>
          <a:xfrm>
            <a:off x="548640" y="3931920"/>
            <a:ext cx="1371240" cy="914040"/>
          </a:xfrm>
          <a:prstGeom prst="roundRect">
            <a:avLst>
              <a:gd name="adj" fmla="val 16667"/>
            </a:avLst>
          </a:prstGeom>
          <a:solidFill>
            <a:srgbClr val="6b3fa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Meiryo"/>
                <a:ea typeface="Meiryo"/>
              </a:rPr>
              <a:t>Step 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00" name="CustomShape 10"/>
          <p:cNvSpPr/>
          <p:nvPr/>
        </p:nvSpPr>
        <p:spPr>
          <a:xfrm>
            <a:off x="2103120" y="3977640"/>
            <a:ext cx="4388760" cy="63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GPU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サーバ</a:t>
            </a: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(hatori/pro1)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で学習した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方策を</a:t>
            </a:r>
            <a:r>
              <a:rPr b="1" lang="en-US" sz="1500" spc="-1" strike="noStrike">
                <a:solidFill>
                  <a:srgbClr val="222222"/>
                </a:solidFill>
                <a:latin typeface="Meiryo"/>
                <a:ea typeface="Meiryo"/>
              </a:rPr>
              <a:t>l2g/a6g</a:t>
            </a:r>
            <a:r>
              <a:rPr b="1" lang="ja-JP" sz="1500" spc="-1" strike="noStrike">
                <a:solidFill>
                  <a:srgbClr val="222222"/>
                </a:solidFill>
                <a:latin typeface="Meiryo"/>
                <a:ea typeface="Meiryo"/>
              </a:rPr>
              <a:t>へ載せて実験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01" name="CustomShape 11"/>
          <p:cNvSpPr/>
          <p:nvPr/>
        </p:nvSpPr>
        <p:spPr>
          <a:xfrm>
            <a:off x="6675120" y="4023360"/>
            <a:ext cx="4937400" cy="5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手元の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GPU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サーバで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Isaac Sim/GR00T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系の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2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学習・蒸留を行い、軽量化して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kxr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へ移植。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2" name="CustomShape 12"/>
          <p:cNvSpPr/>
          <p:nvPr/>
        </p:nvSpPr>
        <p:spPr>
          <a:xfrm>
            <a:off x="548640" y="5486400"/>
            <a:ext cx="11063880" cy="60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これはフェーズ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1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〜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5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のロードマップ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(500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種類化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)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とは別トラックの、より長期的な発展方向の構想。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500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種類化の基盤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(URDF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資産・データ配信の仕組み</a:t>
            </a:r>
            <a:r>
              <a:rPr b="1" lang="en-US" sz="1300" spc="-1" strike="noStrike">
                <a:solidFill>
                  <a:srgbClr val="b03030"/>
                </a:solidFill>
                <a:latin typeface="Meiryo"/>
                <a:ea typeface="Meiryo"/>
              </a:rPr>
              <a:t>)</a:t>
            </a:r>
            <a:r>
              <a:rPr b="1" lang="ja-JP" sz="1300" spc="-1" strike="noStrike">
                <a:solidFill>
                  <a:srgbClr val="b03030"/>
                </a:solidFill>
                <a:latin typeface="Meiryo"/>
                <a:ea typeface="Meiryo"/>
              </a:rPr>
              <a:t>が整えば、そのまま流用できる部分が多い。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04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多様な実機を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1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台のスマホから統合的に使う構成法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05" name="CustomShape 3"/>
          <p:cNvSpPr/>
          <p:nvPr/>
        </p:nvSpPr>
        <p:spPr>
          <a:xfrm>
            <a:off x="548640" y="1417320"/>
            <a:ext cx="11063880" cy="60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25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リモートブレインの核心は「脳は共通、身体は交換可能」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これをロボット形態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(kxr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のような小型に限らず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25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等身大ヒューマノイド・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4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脚・セミヒューマノイド等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をまたいで拡張すると、下図のような構成になる。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06" name="CustomShape 4"/>
          <p:cNvSpPr/>
          <p:nvPr/>
        </p:nvSpPr>
        <p:spPr>
          <a:xfrm>
            <a:off x="4206240" y="2286000"/>
            <a:ext cx="3748680" cy="82260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スマホ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統合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UI)</a:t>
            </a:r>
            <a:br/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候補検出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-- 3D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モデル選択 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-- 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操作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07" name="Line 5"/>
          <p:cNvSpPr/>
          <p:nvPr/>
        </p:nvSpPr>
        <p:spPr>
          <a:xfrm>
            <a:off x="6080760" y="3108960"/>
            <a:ext cx="0" cy="4114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8" name="Line 6"/>
          <p:cNvSpPr/>
          <p:nvPr/>
        </p:nvSpPr>
        <p:spPr>
          <a:xfrm>
            <a:off x="1851480" y="3520440"/>
            <a:ext cx="8366760" cy="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9" name="Line 7"/>
          <p:cNvSpPr/>
          <p:nvPr/>
        </p:nvSpPr>
        <p:spPr>
          <a:xfrm>
            <a:off x="1851480" y="3520440"/>
            <a:ext cx="0" cy="4114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0" name="Line 8"/>
          <p:cNvSpPr/>
          <p:nvPr/>
        </p:nvSpPr>
        <p:spPr>
          <a:xfrm>
            <a:off x="4640400" y="3520440"/>
            <a:ext cx="0" cy="4114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1" name="Line 9"/>
          <p:cNvSpPr/>
          <p:nvPr/>
        </p:nvSpPr>
        <p:spPr>
          <a:xfrm>
            <a:off x="7429320" y="3520440"/>
            <a:ext cx="0" cy="4114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2" name="Line 10"/>
          <p:cNvSpPr/>
          <p:nvPr/>
        </p:nvSpPr>
        <p:spPr>
          <a:xfrm>
            <a:off x="10218240" y="3520440"/>
            <a:ext cx="0" cy="411480"/>
          </a:xfrm>
          <a:prstGeom prst="line">
            <a:avLst/>
          </a:prstGeom>
          <a:ln>
            <a:solidFill>
              <a:srgbClr val="6b728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3" name="CustomShape 11"/>
          <p:cNvSpPr/>
          <p:nvPr/>
        </p:nvSpPr>
        <p:spPr>
          <a:xfrm>
            <a:off x="548640" y="3931920"/>
            <a:ext cx="2605680" cy="4568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等身大ヒューマノイド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14" name="CustomShape 12"/>
          <p:cNvSpPr/>
          <p:nvPr/>
        </p:nvSpPr>
        <p:spPr>
          <a:xfrm>
            <a:off x="54864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15" name="Picture 13" descr="rhp9.png"/>
          <p:cNvPicPr/>
          <p:nvPr/>
        </p:nvPicPr>
        <p:blipFill>
          <a:blip r:embed="rId1"/>
          <a:stretch/>
        </p:blipFill>
        <p:spPr>
          <a:xfrm>
            <a:off x="987120" y="4471560"/>
            <a:ext cx="379800" cy="1161000"/>
          </a:xfrm>
          <a:prstGeom prst="rect">
            <a:avLst/>
          </a:prstGeom>
          <a:ln>
            <a:noFill/>
          </a:ln>
        </p:spPr>
      </p:pic>
      <p:sp>
        <p:nvSpPr>
          <p:cNvPr id="716" name="CustomShape 13"/>
          <p:cNvSpPr/>
          <p:nvPr/>
        </p:nvSpPr>
        <p:spPr>
          <a:xfrm>
            <a:off x="54864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RHP9(</a:t>
            </a: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川崎重工</a:t>
            </a: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17" name="CustomShape 14"/>
          <p:cNvSpPr/>
          <p:nvPr/>
        </p:nvSpPr>
        <p:spPr>
          <a:xfrm>
            <a:off x="189756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18" name="Picture 16" descr="k1.png"/>
          <p:cNvPicPr/>
          <p:nvPr/>
        </p:nvPicPr>
        <p:blipFill>
          <a:blip r:embed="rId2"/>
          <a:stretch/>
        </p:blipFill>
        <p:spPr>
          <a:xfrm>
            <a:off x="2071440" y="4471560"/>
            <a:ext cx="908640" cy="1161000"/>
          </a:xfrm>
          <a:prstGeom prst="rect">
            <a:avLst/>
          </a:prstGeom>
          <a:ln>
            <a:noFill/>
          </a:ln>
        </p:spPr>
      </p:pic>
      <p:sp>
        <p:nvSpPr>
          <p:cNvPr id="719" name="CustomShape 15"/>
          <p:cNvSpPr/>
          <p:nvPr/>
        </p:nvSpPr>
        <p:spPr>
          <a:xfrm>
            <a:off x="189756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Booster K1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20" name="CustomShape 16"/>
          <p:cNvSpPr/>
          <p:nvPr/>
        </p:nvSpPr>
        <p:spPr>
          <a:xfrm>
            <a:off x="3337560" y="3931920"/>
            <a:ext cx="2605680" cy="4568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4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脚ロボット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21" name="CustomShape 17"/>
          <p:cNvSpPr/>
          <p:nvPr/>
        </p:nvSpPr>
        <p:spPr>
          <a:xfrm>
            <a:off x="333756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22" name="Picture 20" descr="corleo.png"/>
          <p:cNvPicPr/>
          <p:nvPr/>
        </p:nvPicPr>
        <p:blipFill>
          <a:blip r:embed="rId3"/>
          <a:stretch/>
        </p:blipFill>
        <p:spPr>
          <a:xfrm>
            <a:off x="3421800" y="4471560"/>
            <a:ext cx="1088280" cy="1161000"/>
          </a:xfrm>
          <a:prstGeom prst="rect">
            <a:avLst/>
          </a:prstGeom>
          <a:ln>
            <a:noFill/>
          </a:ln>
        </p:spPr>
      </p:pic>
      <p:sp>
        <p:nvSpPr>
          <p:cNvPr id="723" name="CustomShape 18"/>
          <p:cNvSpPr/>
          <p:nvPr/>
        </p:nvSpPr>
        <p:spPr>
          <a:xfrm>
            <a:off x="333756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Corleo(</a:t>
            </a: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川崎重工</a:t>
            </a: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24" name="CustomShape 19"/>
          <p:cNvSpPr/>
          <p:nvPr/>
        </p:nvSpPr>
        <p:spPr>
          <a:xfrm>
            <a:off x="468648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25" name="Picture 23" descr="mevius.png"/>
          <p:cNvPicPr/>
          <p:nvPr/>
        </p:nvPicPr>
        <p:blipFill>
          <a:blip r:embed="rId4"/>
          <a:stretch/>
        </p:blipFill>
        <p:spPr>
          <a:xfrm>
            <a:off x="4722840" y="4529160"/>
            <a:ext cx="1183680" cy="1045440"/>
          </a:xfrm>
          <a:prstGeom prst="rect">
            <a:avLst/>
          </a:prstGeom>
          <a:ln>
            <a:noFill/>
          </a:ln>
        </p:spPr>
      </p:pic>
      <p:sp>
        <p:nvSpPr>
          <p:cNvPr id="726" name="CustomShape 20"/>
          <p:cNvSpPr/>
          <p:nvPr/>
        </p:nvSpPr>
        <p:spPr>
          <a:xfrm>
            <a:off x="468648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Mevius(</a:t>
            </a: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川崎重工</a:t>
            </a: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27" name="CustomShape 21"/>
          <p:cNvSpPr/>
          <p:nvPr/>
        </p:nvSpPr>
        <p:spPr>
          <a:xfrm>
            <a:off x="6126480" y="3931920"/>
            <a:ext cx="2605680" cy="45684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セミヒューマノイド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28" name="CustomShape 22"/>
          <p:cNvSpPr/>
          <p:nvPr/>
        </p:nvSpPr>
        <p:spPr>
          <a:xfrm>
            <a:off x="612648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29" name="Picture 27" descr="nyokkey.png"/>
          <p:cNvPicPr/>
          <p:nvPr/>
        </p:nvPicPr>
        <p:blipFill>
          <a:blip r:embed="rId5"/>
          <a:stretch/>
        </p:blipFill>
        <p:spPr>
          <a:xfrm>
            <a:off x="6467040" y="4471560"/>
            <a:ext cx="576000" cy="1161000"/>
          </a:xfrm>
          <a:prstGeom prst="rect">
            <a:avLst/>
          </a:prstGeom>
          <a:ln>
            <a:noFill/>
          </a:ln>
        </p:spPr>
      </p:pic>
      <p:sp>
        <p:nvSpPr>
          <p:cNvPr id="730" name="CustomShape 23"/>
          <p:cNvSpPr/>
          <p:nvPr/>
        </p:nvSpPr>
        <p:spPr>
          <a:xfrm>
            <a:off x="612648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Nyokkey(</a:t>
            </a: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川崎重工</a:t>
            </a: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31" name="CustomShape 24"/>
          <p:cNvSpPr/>
          <p:nvPr/>
        </p:nvSpPr>
        <p:spPr>
          <a:xfrm>
            <a:off x="747540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32" name="Picture 30" descr="pr2.png"/>
          <p:cNvPicPr/>
          <p:nvPr/>
        </p:nvPicPr>
        <p:blipFill>
          <a:blip r:embed="rId6"/>
          <a:stretch/>
        </p:blipFill>
        <p:spPr>
          <a:xfrm>
            <a:off x="7552800" y="4471560"/>
            <a:ext cx="1101600" cy="1161000"/>
          </a:xfrm>
          <a:prstGeom prst="rect">
            <a:avLst/>
          </a:prstGeom>
          <a:ln>
            <a:noFill/>
          </a:ln>
        </p:spPr>
      </p:pic>
      <p:sp>
        <p:nvSpPr>
          <p:cNvPr id="733" name="CustomShape 25"/>
          <p:cNvSpPr/>
          <p:nvPr/>
        </p:nvSpPr>
        <p:spPr>
          <a:xfrm>
            <a:off x="7475400" y="5696640"/>
            <a:ext cx="1257120" cy="3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PR2(Willow Garage)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34" name="CustomShape 26"/>
          <p:cNvSpPr/>
          <p:nvPr/>
        </p:nvSpPr>
        <p:spPr>
          <a:xfrm>
            <a:off x="8915400" y="3931920"/>
            <a:ext cx="260568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kxr / KHR(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小型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35" name="CustomShape 27"/>
          <p:cNvSpPr/>
          <p:nvPr/>
        </p:nvSpPr>
        <p:spPr>
          <a:xfrm>
            <a:off x="891540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36" name="Picture 34" descr="kxrl2g.png"/>
          <p:cNvPicPr/>
          <p:nvPr/>
        </p:nvPicPr>
        <p:blipFill>
          <a:blip r:embed="rId7"/>
          <a:stretch/>
        </p:blipFill>
        <p:spPr>
          <a:xfrm>
            <a:off x="9234360" y="4471560"/>
            <a:ext cx="618840" cy="1161000"/>
          </a:xfrm>
          <a:prstGeom prst="rect">
            <a:avLst/>
          </a:prstGeom>
          <a:ln>
            <a:noFill/>
          </a:ln>
        </p:spPr>
      </p:pic>
      <p:sp>
        <p:nvSpPr>
          <p:cNvPr id="737" name="CustomShape 28"/>
          <p:cNvSpPr/>
          <p:nvPr/>
        </p:nvSpPr>
        <p:spPr>
          <a:xfrm>
            <a:off x="891540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kxrl2g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38" name="CustomShape 29"/>
          <p:cNvSpPr/>
          <p:nvPr/>
        </p:nvSpPr>
        <p:spPr>
          <a:xfrm>
            <a:off x="10264320" y="4434840"/>
            <a:ext cx="1257120" cy="123408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39" name="Picture 37" descr="khr20.png"/>
          <p:cNvPicPr/>
          <p:nvPr/>
        </p:nvPicPr>
        <p:blipFill>
          <a:blip r:embed="rId8"/>
          <a:stretch/>
        </p:blipFill>
        <p:spPr>
          <a:xfrm>
            <a:off x="10608840" y="4471560"/>
            <a:ext cx="567720" cy="1161000"/>
          </a:xfrm>
          <a:prstGeom prst="rect">
            <a:avLst/>
          </a:prstGeom>
          <a:ln>
            <a:noFill/>
          </a:ln>
        </p:spPr>
      </p:pic>
      <p:sp>
        <p:nvSpPr>
          <p:cNvPr id="740" name="CustomShape 30"/>
          <p:cNvSpPr/>
          <p:nvPr/>
        </p:nvSpPr>
        <p:spPr>
          <a:xfrm>
            <a:off x="10264320" y="5696640"/>
            <a:ext cx="1257120" cy="21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khr20(</a:t>
            </a:r>
            <a:r>
              <a:rPr b="0" lang="ja-JP" sz="850" spc="-1" strike="noStrike">
                <a:solidFill>
                  <a:srgbClr val="222222"/>
                </a:solidFill>
                <a:latin typeface="Meiryo"/>
                <a:ea typeface="Meiryo"/>
              </a:rPr>
              <a:t>近藤科学</a:t>
            </a:r>
            <a:r>
              <a:rPr b="0" lang="en-US" sz="8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741" name="CustomShape 31"/>
          <p:cNvSpPr/>
          <p:nvPr/>
        </p:nvSpPr>
        <p:spPr>
          <a:xfrm>
            <a:off x="548640" y="6172200"/>
            <a:ext cx="11063880" cy="44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各実機はローカル制御を持つだけで、「脳」側は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URDF/LeRobot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互換の記述形式に統一する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(RHP9/Corleo/Mevius/Nyokkey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は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川崎重工、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K1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は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Booster Robotics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、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PR2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は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Willow Garage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、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khr20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は近藤科学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KHR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シリーズの実在ロボット 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いずれも実モデルデータからレンダリング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。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3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同じ形は、すでに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kxr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ファミリーにもある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44" name="CustomShape 3"/>
          <p:cNvSpPr/>
          <p:nvPr/>
        </p:nvSpPr>
        <p:spPr>
          <a:xfrm>
            <a:off x="54864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45" name="Picture 4" descr="corleo.png"/>
          <p:cNvPicPr/>
          <p:nvPr/>
        </p:nvPicPr>
        <p:blipFill>
          <a:blip r:embed="rId1"/>
          <a:stretch/>
        </p:blipFill>
        <p:spPr>
          <a:xfrm>
            <a:off x="585360" y="1834200"/>
            <a:ext cx="1618200" cy="1726200"/>
          </a:xfrm>
          <a:prstGeom prst="rect">
            <a:avLst/>
          </a:prstGeom>
          <a:ln>
            <a:noFill/>
          </a:ln>
        </p:spPr>
      </p:pic>
      <p:sp>
        <p:nvSpPr>
          <p:cNvPr id="746" name="CustomShape 4"/>
          <p:cNvSpPr/>
          <p:nvPr/>
        </p:nvSpPr>
        <p:spPr>
          <a:xfrm>
            <a:off x="548640" y="3886200"/>
            <a:ext cx="169128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Corleo(</a:t>
            </a: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川崎重工</a:t>
            </a: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4</a:t>
            </a: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脚・水素駆動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47" name="CustomShape 5"/>
          <p:cNvSpPr/>
          <p:nvPr/>
        </p:nvSpPr>
        <p:spPr>
          <a:xfrm>
            <a:off x="237744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48" name="Picture 7" descr="kxrl4t.png"/>
          <p:cNvPicPr/>
          <p:nvPr/>
        </p:nvPicPr>
        <p:blipFill>
          <a:blip r:embed="rId2"/>
          <a:stretch/>
        </p:blipFill>
        <p:spPr>
          <a:xfrm>
            <a:off x="2414160" y="2025000"/>
            <a:ext cx="1618200" cy="1344960"/>
          </a:xfrm>
          <a:prstGeom prst="rect">
            <a:avLst/>
          </a:prstGeom>
          <a:ln>
            <a:noFill/>
          </a:ln>
        </p:spPr>
      </p:pic>
      <p:sp>
        <p:nvSpPr>
          <p:cNvPr id="749" name="CustomShape 6"/>
          <p:cNvSpPr/>
          <p:nvPr/>
        </p:nvSpPr>
        <p:spPr>
          <a:xfrm>
            <a:off x="2377440" y="3886200"/>
            <a:ext cx="169128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kxrl4t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4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脚・ホビーサーボ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50" name="CustomShape 7"/>
          <p:cNvSpPr/>
          <p:nvPr/>
        </p:nvSpPr>
        <p:spPr>
          <a:xfrm>
            <a:off x="2240280" y="2514600"/>
            <a:ext cx="136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6b7280"/>
                </a:solidFill>
                <a:latin typeface="Meiryo"/>
                <a:ea typeface="Meiryo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1" name="CustomShape 8"/>
          <p:cNvSpPr/>
          <p:nvPr/>
        </p:nvSpPr>
        <p:spPr>
          <a:xfrm>
            <a:off x="438912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52" name="Picture 11" descr="nyokkey.png"/>
          <p:cNvPicPr/>
          <p:nvPr/>
        </p:nvPicPr>
        <p:blipFill>
          <a:blip r:embed="rId3"/>
          <a:stretch/>
        </p:blipFill>
        <p:spPr>
          <a:xfrm>
            <a:off x="4685760" y="1591200"/>
            <a:ext cx="1098360" cy="2212560"/>
          </a:xfrm>
          <a:prstGeom prst="rect">
            <a:avLst/>
          </a:prstGeom>
          <a:ln>
            <a:noFill/>
          </a:ln>
        </p:spPr>
      </p:pic>
      <p:sp>
        <p:nvSpPr>
          <p:cNvPr id="753" name="CustomShape 9"/>
          <p:cNvSpPr/>
          <p:nvPr/>
        </p:nvSpPr>
        <p:spPr>
          <a:xfrm>
            <a:off x="4389120" y="3886200"/>
            <a:ext cx="169128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Nyokkey(</a:t>
            </a: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川崎重工</a:t>
            </a: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移動台車</a:t>
            </a: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+</a:t>
            </a: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双腕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54" name="CustomShape 10"/>
          <p:cNvSpPr/>
          <p:nvPr/>
        </p:nvSpPr>
        <p:spPr>
          <a:xfrm>
            <a:off x="621792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55" name="Picture 14" descr="kxrmw4a7h2g.png"/>
          <p:cNvPicPr/>
          <p:nvPr/>
        </p:nvPicPr>
        <p:blipFill>
          <a:blip r:embed="rId4"/>
          <a:stretch/>
        </p:blipFill>
        <p:spPr>
          <a:xfrm>
            <a:off x="6254640" y="1713600"/>
            <a:ext cx="1618200" cy="1967400"/>
          </a:xfrm>
          <a:prstGeom prst="rect">
            <a:avLst/>
          </a:prstGeom>
          <a:ln>
            <a:noFill/>
          </a:ln>
        </p:spPr>
      </p:pic>
      <p:sp>
        <p:nvSpPr>
          <p:cNvPr id="756" name="CustomShape 11"/>
          <p:cNvSpPr/>
          <p:nvPr/>
        </p:nvSpPr>
        <p:spPr>
          <a:xfrm>
            <a:off x="6217920" y="3886200"/>
            <a:ext cx="1691280" cy="5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kxrmw4a7h2g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車輪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腕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頭のセミヒューマノイド型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57" name="CustomShape 12"/>
          <p:cNvSpPr/>
          <p:nvPr/>
        </p:nvSpPr>
        <p:spPr>
          <a:xfrm>
            <a:off x="6080760" y="2514600"/>
            <a:ext cx="136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6b7280"/>
                </a:solidFill>
                <a:latin typeface="Meiryo"/>
                <a:ea typeface="Meiryo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8" name="CustomShape 13"/>
          <p:cNvSpPr/>
          <p:nvPr/>
        </p:nvSpPr>
        <p:spPr>
          <a:xfrm>
            <a:off x="822960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59" name="Picture 18" descr="rhp5e.png"/>
          <p:cNvPicPr/>
          <p:nvPr/>
        </p:nvPicPr>
        <p:blipFill>
          <a:blip r:embed="rId5"/>
          <a:stretch/>
        </p:blipFill>
        <p:spPr>
          <a:xfrm>
            <a:off x="8692200" y="1591200"/>
            <a:ext cx="765720" cy="2212560"/>
          </a:xfrm>
          <a:prstGeom prst="rect">
            <a:avLst/>
          </a:prstGeom>
          <a:ln>
            <a:noFill/>
          </a:ln>
        </p:spPr>
      </p:pic>
      <p:sp>
        <p:nvSpPr>
          <p:cNvPr id="760" name="CustomShape 14"/>
          <p:cNvSpPr/>
          <p:nvPr/>
        </p:nvSpPr>
        <p:spPr>
          <a:xfrm>
            <a:off x="8229600" y="3886200"/>
            <a:ext cx="1691280" cy="5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Kaleido(RHP5E, </a:t>
            </a: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川崎重工</a:t>
            </a:r>
            <a:r>
              <a:rPr b="1" lang="en-US" sz="1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1" lang="ja-JP" sz="1000" spc="-1" strike="noStrike">
                <a:solidFill>
                  <a:srgbClr val="1f2a44"/>
                </a:solidFill>
                <a:latin typeface="Meiryo"/>
                <a:ea typeface="Meiryo"/>
              </a:rPr>
              <a:t>等身大ヒューマノイド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1" name="CustomShape 15"/>
          <p:cNvSpPr/>
          <p:nvPr/>
        </p:nvSpPr>
        <p:spPr>
          <a:xfrm>
            <a:off x="10058400" y="1554480"/>
            <a:ext cx="1691280" cy="2285640"/>
          </a:xfrm>
          <a:prstGeom prst="rect">
            <a:avLst/>
          </a:prstGeom>
          <a:solidFill>
            <a:srgbClr val="f2f4f8"/>
          </a:solidFill>
          <a:ln w="12600">
            <a:solidFill>
              <a:srgbClr val="6b728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62" name="Picture 21" descr="khr20.png"/>
          <p:cNvPicPr/>
          <p:nvPr/>
        </p:nvPicPr>
        <p:blipFill>
          <a:blip r:embed="rId6"/>
          <a:stretch/>
        </p:blipFill>
        <p:spPr>
          <a:xfrm>
            <a:off x="10362960" y="1591200"/>
            <a:ext cx="1082160" cy="2212560"/>
          </a:xfrm>
          <a:prstGeom prst="rect">
            <a:avLst/>
          </a:prstGeom>
          <a:ln>
            <a:noFill/>
          </a:ln>
        </p:spPr>
      </p:pic>
      <p:sp>
        <p:nvSpPr>
          <p:cNvPr id="763" name="CustomShape 16"/>
          <p:cNvSpPr/>
          <p:nvPr/>
        </p:nvSpPr>
        <p:spPr>
          <a:xfrm>
            <a:off x="10058400" y="3886200"/>
            <a:ext cx="169128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10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khr20(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近藤科学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KHR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系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  <a:p>
            <a:pPr algn="ctr">
              <a:lnSpc>
                <a:spcPct val="110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小型ヒューマノイド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64" name="CustomShape 17"/>
          <p:cNvSpPr/>
          <p:nvPr/>
        </p:nvSpPr>
        <p:spPr>
          <a:xfrm>
            <a:off x="9921240" y="2514600"/>
            <a:ext cx="136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6b7280"/>
                </a:solidFill>
                <a:latin typeface="Meiryo"/>
                <a:ea typeface="Meiryo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65" name="CustomShape 18"/>
          <p:cNvSpPr/>
          <p:nvPr/>
        </p:nvSpPr>
        <p:spPr>
          <a:xfrm>
            <a:off x="548640" y="5532120"/>
            <a:ext cx="11063880" cy="86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実在の産業用・サービス用ロボットと同じ大まかな体型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(4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脚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/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移動台車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腕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/2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脚ヒューマノイド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は、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ファミリー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(rcb4robotconfig.l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の組み合わせ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の中に既にホビースケールで存在する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「脳は共通、身体は交換可能」という設計思想が、スケールを超えて同じ形の身体にも適用できることを示す一例。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67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小型から等身大になると何が変わるか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68" name="CustomShape 3"/>
          <p:cNvSpPr/>
          <p:nvPr/>
        </p:nvSpPr>
        <p:spPr>
          <a:xfrm>
            <a:off x="548640" y="1463040"/>
            <a:ext cx="274284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項目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69" name="CustomShape 4"/>
          <p:cNvSpPr/>
          <p:nvPr/>
        </p:nvSpPr>
        <p:spPr>
          <a:xfrm>
            <a:off x="3291840" y="1463040"/>
            <a:ext cx="411444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小型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(kxr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等</a:t>
            </a: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0" name="CustomShape 5"/>
          <p:cNvSpPr/>
          <p:nvPr/>
        </p:nvSpPr>
        <p:spPr>
          <a:xfrm>
            <a:off x="7406640" y="1463040"/>
            <a:ext cx="3840120" cy="50256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等身大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71" name="CustomShape 6"/>
          <p:cNvSpPr/>
          <p:nvPr/>
        </p:nvSpPr>
        <p:spPr>
          <a:xfrm>
            <a:off x="548640" y="205740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アクチュエータ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2" name="CustomShape 7"/>
          <p:cNvSpPr/>
          <p:nvPr/>
        </p:nvSpPr>
        <p:spPr>
          <a:xfrm>
            <a:off x="3364920" y="2094120"/>
            <a:ext cx="396828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ホビーサーボ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数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kgf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cm)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73" name="CustomShape 8"/>
          <p:cNvSpPr/>
          <p:nvPr/>
        </p:nvSpPr>
        <p:spPr>
          <a:xfrm>
            <a:off x="7479720" y="209412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ハーモニックドライブ等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高出力モータ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数十〜百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Nm)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74" name="CustomShape 9"/>
          <p:cNvSpPr/>
          <p:nvPr/>
        </p:nvSpPr>
        <p:spPr>
          <a:xfrm>
            <a:off x="548640" y="278892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オンボード計算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5" name="CustomShape 10"/>
          <p:cNvSpPr/>
          <p:nvPr/>
        </p:nvSpPr>
        <p:spPr>
          <a:xfrm>
            <a:off x="3364920" y="2825640"/>
            <a:ext cx="396828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ESP32(GPU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非搭載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76" name="CustomShape 11"/>
          <p:cNvSpPr/>
          <p:nvPr/>
        </p:nvSpPr>
        <p:spPr>
          <a:xfrm>
            <a:off x="7479720" y="282564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Jetson/x86 + GPU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オンボードで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推論可能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77" name="CustomShape 12"/>
          <p:cNvSpPr/>
          <p:nvPr/>
        </p:nvSpPr>
        <p:spPr>
          <a:xfrm>
            <a:off x="548640" y="352044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電源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8" name="CustomShape 13"/>
          <p:cNvSpPr/>
          <p:nvPr/>
        </p:nvSpPr>
        <p:spPr>
          <a:xfrm>
            <a:off x="3364920" y="3557160"/>
            <a:ext cx="396828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単三電池・小型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LiPo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79" name="CustomShape 14"/>
          <p:cNvSpPr/>
          <p:nvPr/>
        </p:nvSpPr>
        <p:spPr>
          <a:xfrm>
            <a:off x="7479720" y="355716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大容量バッテリーパック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+ 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電源管理系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0" name="CustomShape 15"/>
          <p:cNvSpPr/>
          <p:nvPr/>
        </p:nvSpPr>
        <p:spPr>
          <a:xfrm>
            <a:off x="548640" y="425196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安全性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1" name="CustomShape 16"/>
          <p:cNvSpPr/>
          <p:nvPr/>
        </p:nvSpPr>
        <p:spPr>
          <a:xfrm>
            <a:off x="3364920" y="4288680"/>
            <a:ext cx="396828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軽量で転倒しても比較的安全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2" name="CustomShape 17"/>
          <p:cNvSpPr/>
          <p:nvPr/>
        </p:nvSpPr>
        <p:spPr>
          <a:xfrm>
            <a:off x="7479720" y="428868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質量・出力が大きく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実質的な人身安全対策が必須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3" name="CustomShape 18"/>
          <p:cNvSpPr/>
          <p:nvPr/>
        </p:nvSpPr>
        <p:spPr>
          <a:xfrm>
            <a:off x="548640" y="498348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Meiryo"/>
                <a:ea typeface="Meiryo"/>
              </a:rPr>
              <a:t>Sim2Real</a:t>
            </a: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ギャップ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4" name="CustomShape 19"/>
          <p:cNvSpPr/>
          <p:nvPr/>
        </p:nvSpPr>
        <p:spPr>
          <a:xfrm>
            <a:off x="3364920" y="5020200"/>
            <a:ext cx="396828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比較的小さい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軽量・低慣性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5" name="CustomShape 20"/>
          <p:cNvSpPr/>
          <p:nvPr/>
        </p:nvSpPr>
        <p:spPr>
          <a:xfrm>
            <a:off x="7479720" y="502020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大きい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接触力学・バックラッシュ・発熱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6" name="CustomShape 21"/>
          <p:cNvSpPr/>
          <p:nvPr/>
        </p:nvSpPr>
        <p:spPr>
          <a:xfrm>
            <a:off x="548640" y="5715000"/>
            <a:ext cx="2742840" cy="65808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00" spc="-1" strike="noStrike">
                <a:solidFill>
                  <a:srgbClr val="ffffff"/>
                </a:solidFill>
                <a:latin typeface="Meiryo"/>
                <a:ea typeface="Meiryo"/>
              </a:rPr>
              <a:t>制御ループ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7" name="CustomShape 22"/>
          <p:cNvSpPr/>
          <p:nvPr/>
        </p:nvSpPr>
        <p:spPr>
          <a:xfrm>
            <a:off x="3364920" y="5751720"/>
            <a:ext cx="3968280" cy="2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RCB-4: 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数十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Hz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程度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8" name="CustomShape 23"/>
          <p:cNvSpPr/>
          <p:nvPr/>
        </p:nvSpPr>
        <p:spPr>
          <a:xfrm>
            <a:off x="7479720" y="5751720"/>
            <a:ext cx="3693960" cy="4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高トルク制御は</a:t>
            </a:r>
            <a:r>
              <a:rPr b="0" lang="en-US" sz="1150" spc="-1" strike="noStrike">
                <a:solidFill>
                  <a:srgbClr val="222222"/>
                </a:solidFill>
                <a:latin typeface="Meiryo"/>
                <a:ea typeface="Meiryo"/>
              </a:rPr>
              <a:t>1kHz</a:t>
            </a: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級の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150" spc="-1" strike="noStrike">
                <a:solidFill>
                  <a:srgbClr val="222222"/>
                </a:solidFill>
                <a:latin typeface="Meiryo"/>
                <a:ea typeface="Meiryo"/>
              </a:rPr>
              <a:t>リアルタイム制御が必要な場合も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89" name="CustomShape 24"/>
          <p:cNvSpPr/>
          <p:nvPr/>
        </p:nvSpPr>
        <p:spPr>
          <a:xfrm>
            <a:off x="548640" y="6400800"/>
            <a:ext cx="11063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変わるのは規模とリスクの大きさ </a:t>
            </a:r>
            <a:r>
              <a:rPr b="0" lang="en-US" sz="12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0" lang="ja-JP" sz="1200" spc="-1" strike="noStrike">
                <a:solidFill>
                  <a:srgbClr val="6b7280"/>
                </a:solidFill>
                <a:latin typeface="Meiryo"/>
                <a:ea typeface="Meiryo"/>
              </a:rPr>
              <a:t>「脳を外に置き、身体を軽量化する」という設計思想自体は共通。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91" name="CustomShape 2"/>
          <p:cNvSpPr/>
          <p:nvPr/>
        </p:nvSpPr>
        <p:spPr>
          <a:xfrm>
            <a:off x="548640" y="685800"/>
            <a:ext cx="105152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Sim2Real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の見通し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: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小型で今できること・等身大での実現法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92" name="CustomShape 3"/>
          <p:cNvSpPr/>
          <p:nvPr/>
        </p:nvSpPr>
        <p:spPr>
          <a:xfrm>
            <a:off x="548640" y="1554480"/>
            <a:ext cx="5303160" cy="50256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小型</a:t>
            </a:r>
            <a:r>
              <a:rPr b="1" lang="en-US" sz="1400" spc="-1" strike="noStrike">
                <a:solidFill>
                  <a:srgbClr val="ffffff"/>
                </a:solidFill>
                <a:latin typeface="Meiryo"/>
                <a:ea typeface="Meiryo"/>
              </a:rPr>
              <a:t>(kxr)</a:t>
            </a: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で既に実施していること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3" name="CustomShape 4"/>
          <p:cNvSpPr/>
          <p:nvPr/>
        </p:nvSpPr>
        <p:spPr>
          <a:xfrm>
            <a:off x="548640" y="2148840"/>
            <a:ext cx="5303160" cy="189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MuJoCo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上で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方策を学習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int16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量子化して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ESP32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上に直接実装し推論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(GPU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なしのマイコンでリアルタイム実行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・軽量なため、シミュレータと実機に多少の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ズレがあっても壊れにくく試行錯誤しやすい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・フェーズ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4-5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で目指す「ロボット記述ブロブ」も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この延長線上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4" name="CustomShape 5"/>
          <p:cNvSpPr/>
          <p:nvPr/>
        </p:nvSpPr>
        <p:spPr>
          <a:xfrm>
            <a:off x="6126480" y="1554480"/>
            <a:ext cx="5303160" cy="5025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等身大での実現の見通し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5" name="CustomShape 6"/>
          <p:cNvSpPr/>
          <p:nvPr/>
        </p:nvSpPr>
        <p:spPr>
          <a:xfrm>
            <a:off x="6126480" y="2148840"/>
            <a:ext cx="5303160" cy="189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をマイコン上で直接実行するのは困難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推論はロボット搭載の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Jetson/x86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側で行う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「リモートブレイン」に近い構成に回帰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・学習自体は手元の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GPU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サーバ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(hatori/pro1)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Isaac Lab/Genesis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等を使い大規模並列で実行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・実機アクチュエータの非線形応答を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Actuator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Network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で較正してから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sim2real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6" name="CustomShape 7"/>
          <p:cNvSpPr/>
          <p:nvPr/>
        </p:nvSpPr>
        <p:spPr>
          <a:xfrm>
            <a:off x="548640" y="5349240"/>
            <a:ext cx="11063880" cy="60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小型・等身大とも「シミュレータで学習し、実機固有のズレを何らかの方法で補正して転移する」という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基本パターンは同じ 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-- 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次のスライドで、その補正方法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(Sim2Real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手法</a:t>
            </a:r>
            <a:r>
              <a:rPr b="0" lang="en-US" sz="13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6b7280"/>
                </a:solidFill>
                <a:latin typeface="Meiryo"/>
                <a:ea typeface="Meiryo"/>
              </a:rPr>
              <a:t>を具体的に見ていく。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98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Sim2Real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手法サーベイ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99" name="CustomShape 3"/>
          <p:cNvSpPr/>
          <p:nvPr/>
        </p:nvSpPr>
        <p:spPr>
          <a:xfrm>
            <a:off x="548640" y="141732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手法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00" name="CustomShape 4"/>
          <p:cNvSpPr/>
          <p:nvPr/>
        </p:nvSpPr>
        <p:spPr>
          <a:xfrm>
            <a:off x="2743200" y="1417320"/>
            <a:ext cx="512028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内容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01" name="CustomShape 5"/>
          <p:cNvSpPr/>
          <p:nvPr/>
        </p:nvSpPr>
        <p:spPr>
          <a:xfrm>
            <a:off x="7863840" y="1417320"/>
            <a:ext cx="338292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出典・適用例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02" name="CustomShape 6"/>
          <p:cNvSpPr/>
          <p:nvPr/>
        </p:nvSpPr>
        <p:spPr>
          <a:xfrm>
            <a:off x="548640" y="192024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Domain</a:t>
            </a:r>
            <a:br/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Randomization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03" name="CustomShape 7"/>
          <p:cNvSpPr/>
          <p:nvPr/>
        </p:nvSpPr>
        <p:spPr>
          <a:xfrm>
            <a:off x="2797920" y="193860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シミュレータの見た目・物理パラメータ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質感・質量・摩擦等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訓練中に大きくランダム化し、実機とのズレをロバスト性で吸収する。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4" name="CustomShape 8"/>
          <p:cNvSpPr/>
          <p:nvPr/>
        </p:nvSpPr>
        <p:spPr>
          <a:xfrm>
            <a:off x="7918560" y="1938600"/>
            <a:ext cx="327312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Tobin+ 2017(IROS)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小型〜等身大共通の基本手法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05" name="CustomShape 9"/>
          <p:cNvSpPr/>
          <p:nvPr/>
        </p:nvSpPr>
        <p:spPr>
          <a:xfrm>
            <a:off x="548640" y="252360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OpenAI Dactyl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06" name="CustomShape 10"/>
          <p:cNvSpPr/>
          <p:nvPr/>
        </p:nvSpPr>
        <p:spPr>
          <a:xfrm>
            <a:off x="2797920" y="254196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自動ドメインランダム化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(ADR)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で難度を自動調整しながら学習し、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多指ハンドでルービックキューブ操作を実機のみで達成。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07" name="CustomShape 11"/>
          <p:cNvSpPr/>
          <p:nvPr/>
        </p:nvSpPr>
        <p:spPr>
          <a:xfrm>
            <a:off x="7918560" y="2541960"/>
            <a:ext cx="327312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OpenAI 2018-2019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小型</a:t>
            </a: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器用な手</a:t>
            </a: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08" name="CustomShape 12"/>
          <p:cNvSpPr/>
          <p:nvPr/>
        </p:nvSpPr>
        <p:spPr>
          <a:xfrm>
            <a:off x="548640" y="312732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Actuator Network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09" name="CustomShape 13"/>
          <p:cNvSpPr/>
          <p:nvPr/>
        </p:nvSpPr>
        <p:spPr>
          <a:xfrm>
            <a:off x="2797920" y="314568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実機アクチュエータの非線形な応答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コンプライアンス・減衰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NN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で学習し、シミュレータ内の理想モータモデルを置き換える。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0" name="CustomShape 14"/>
          <p:cNvSpPr/>
          <p:nvPr/>
        </p:nvSpPr>
        <p:spPr>
          <a:xfrm>
            <a:off x="7918560" y="3145680"/>
            <a:ext cx="327312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Hwangbo+ 2019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Science Robotics(ANYmal, 4</a:t>
            </a: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11" name="CustomShape 15"/>
          <p:cNvSpPr/>
          <p:nvPr/>
        </p:nvSpPr>
        <p:spPr>
          <a:xfrm>
            <a:off x="548640" y="373068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RMA</a:t>
            </a:r>
            <a:br/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(Rapid Motor Adaptation)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2" name="CustomShape 16"/>
          <p:cNvSpPr/>
          <p:nvPr/>
        </p:nvSpPr>
        <p:spPr>
          <a:xfrm>
            <a:off x="2797920" y="374904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特権情報付きでまず学習し、実機では姿勢の時系列履歴だけから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環境パラメータをオンライン推定するアダプタを追加する。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3" name="CustomShape 17"/>
          <p:cNvSpPr/>
          <p:nvPr/>
        </p:nvSpPr>
        <p:spPr>
          <a:xfrm>
            <a:off x="7918560" y="3749040"/>
            <a:ext cx="327312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Kumar+ 2021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4</a:t>
            </a: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脚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14" name="CustomShape 18"/>
          <p:cNvSpPr/>
          <p:nvPr/>
        </p:nvSpPr>
        <p:spPr>
          <a:xfrm>
            <a:off x="548640" y="433440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050" spc="-1" strike="noStrike">
                <a:solidFill>
                  <a:srgbClr val="ffffff"/>
                </a:solidFill>
                <a:latin typeface="Meiryo"/>
                <a:ea typeface="Meiryo"/>
              </a:rPr>
              <a:t>大規模並列</a:t>
            </a: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GPU</a:t>
            </a:r>
            <a:r>
              <a:rPr b="1" lang="ja-JP" sz="1050" spc="-1" strike="noStrike">
                <a:solidFill>
                  <a:srgbClr val="ffffff"/>
                </a:solidFill>
                <a:latin typeface="Meiryo"/>
                <a:ea typeface="Meiryo"/>
              </a:rPr>
              <a:t>学習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5" name="CustomShape 19"/>
          <p:cNvSpPr/>
          <p:nvPr/>
        </p:nvSpPr>
        <p:spPr>
          <a:xfrm>
            <a:off x="2797920" y="435240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数千体のロボットを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GPU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上で同時にシミュレートし、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歩行方策を数十分で獲得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(Isaac Gym/Lab)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6" name="CustomShape 20"/>
          <p:cNvSpPr/>
          <p:nvPr/>
        </p:nvSpPr>
        <p:spPr>
          <a:xfrm>
            <a:off x="7918560" y="4352400"/>
            <a:ext cx="327312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Rudin+ 2021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"Learning to walk in minutes"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17" name="CustomShape 21"/>
          <p:cNvSpPr/>
          <p:nvPr/>
        </p:nvSpPr>
        <p:spPr>
          <a:xfrm>
            <a:off x="548640" y="4937760"/>
            <a:ext cx="2194200" cy="5666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Meiryo"/>
                <a:ea typeface="Meiryo"/>
              </a:rPr>
              <a:t>ASAP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18" name="CustomShape 22"/>
          <p:cNvSpPr/>
          <p:nvPr/>
        </p:nvSpPr>
        <p:spPr>
          <a:xfrm>
            <a:off x="2797920" y="4956120"/>
            <a:ext cx="5010480" cy="41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シミュレータの物理パラメータ自体を実機データで事後補正し、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5000"/>
              </a:lnSpc>
            </a:pP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ヒューマノイドの俊敏な全身動作の</a:t>
            </a:r>
            <a:r>
              <a:rPr b="0" lang="en-US" sz="1000" spc="-1" strike="noStrike">
                <a:solidFill>
                  <a:srgbClr val="222222"/>
                </a:solidFill>
                <a:latin typeface="Meiryo"/>
                <a:ea typeface="Meiryo"/>
              </a:rPr>
              <a:t>sim2real</a:t>
            </a:r>
            <a:r>
              <a:rPr b="0" lang="ja-JP" sz="1000" spc="-1" strike="noStrike">
                <a:solidFill>
                  <a:srgbClr val="222222"/>
                </a:solidFill>
                <a:latin typeface="Meiryo"/>
                <a:ea typeface="Meiryo"/>
              </a:rPr>
              <a:t>ギャップを縮める。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19" name="CustomShape 23"/>
          <p:cNvSpPr/>
          <p:nvPr/>
        </p:nvSpPr>
        <p:spPr>
          <a:xfrm>
            <a:off x="7918560" y="4956120"/>
            <a:ext cx="3273120" cy="24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5000"/>
              </a:lnSpc>
            </a:pP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2025, </a:t>
            </a: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ヒューマノイド</a:t>
            </a: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950" spc="-1" strike="noStrike">
                <a:solidFill>
                  <a:srgbClr val="6b7280"/>
                </a:solidFill>
                <a:latin typeface="Meiryo"/>
                <a:ea typeface="Meiryo"/>
              </a:rPr>
              <a:t>等身大</a:t>
            </a:r>
            <a:r>
              <a:rPr b="0" lang="en-US" sz="95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820" name="CustomShape 24"/>
          <p:cNvSpPr/>
          <p:nvPr/>
        </p:nvSpPr>
        <p:spPr>
          <a:xfrm>
            <a:off x="548640" y="6355080"/>
            <a:ext cx="11063880" cy="47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土台として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Genesis(2024, RTX4090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上で実時間の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43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万倍・歩行方策を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26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秒で学習</a:t>
            </a: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のような超高速物理エンジンが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1100" spc="-1" strike="noStrike">
                <a:solidFill>
                  <a:srgbClr val="6b7280"/>
                </a:solidFill>
                <a:latin typeface="Meiryo"/>
                <a:ea typeface="Meiryo"/>
              </a:rPr>
              <a:t>sim2real</a:t>
            </a:r>
            <a:r>
              <a:rPr b="0" lang="ja-JP" sz="1100" spc="-1" strike="noStrike">
                <a:solidFill>
                  <a:srgbClr val="6b7280"/>
                </a:solidFill>
                <a:latin typeface="Meiryo"/>
                <a:ea typeface="Meiryo"/>
              </a:rPr>
              <a:t>の反復速度自体を大きく引き上げつつある。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22" name="CustomShape 2"/>
          <p:cNvSpPr/>
          <p:nvPr/>
        </p:nvSpPr>
        <p:spPr>
          <a:xfrm>
            <a:off x="548640" y="685800"/>
            <a:ext cx="105152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Real2Sim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が重要になる理由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(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モジュール構成 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x 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道具利用</a:t>
            </a: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)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23" name="CustomShape 3"/>
          <p:cNvSpPr/>
          <p:nvPr/>
        </p:nvSpPr>
        <p:spPr>
          <a:xfrm>
            <a:off x="548640" y="1600200"/>
            <a:ext cx="5303160" cy="50256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モジュールの組み合わせ爆発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4" name="CustomShape 4"/>
          <p:cNvSpPr/>
          <p:nvPr/>
        </p:nvSpPr>
        <p:spPr>
          <a:xfrm>
            <a:off x="548640" y="2194560"/>
            <a:ext cx="5303160" cy="199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のように脚・腕・頭部等のモジュールを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組み合わせると、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rcb4robotconfig.l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だけでも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種類規模の実機バリエーションが生まれる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(500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種類化構想そのもの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→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実機ごとに人手でシミュレータモデルを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作るのは非現実的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25" name="CustomShape 5"/>
          <p:cNvSpPr/>
          <p:nvPr/>
        </p:nvSpPr>
        <p:spPr>
          <a:xfrm>
            <a:off x="6126480" y="1600200"/>
            <a:ext cx="5303160" cy="50256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400" spc="-1" strike="noStrike">
                <a:solidFill>
                  <a:srgbClr val="ffffff"/>
                </a:solidFill>
                <a:latin typeface="Meiryo"/>
                <a:ea typeface="Meiryo"/>
              </a:rPr>
              <a:t>道具を使うと対象も増える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6" name="CustomShape 6"/>
          <p:cNvSpPr/>
          <p:nvPr/>
        </p:nvSpPr>
        <p:spPr>
          <a:xfrm>
            <a:off x="6126480" y="2194560"/>
            <a:ext cx="5303160" cy="199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ロボット本体だけでなく、掴む・使う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「道具」自体の形状・質量・摩擦も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シミュレータに反映する必要がある。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→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ロボット本体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周囲の物体の両方を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自動的にシミュレータへ取り込む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  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「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Real2Sim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」が不可欠になる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27" name="CustomShape 7"/>
          <p:cNvSpPr/>
          <p:nvPr/>
        </p:nvSpPr>
        <p:spPr>
          <a:xfrm>
            <a:off x="548640" y="4572000"/>
            <a:ext cx="11063880" cy="151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kxr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自身は「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rcb4robotconfig.l(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設計データ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から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URDF/MuJoCo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を直接生成する」という、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視覚的な逆推定を経ない別解を既に持っている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設計時点で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Real/Sim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が最初から一致している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一方、道具や環境、他社の既製ロボットのように設計データが手に入らない対象には、</a:t>
            </a:r>
            <a:endParaRPr b="0" lang="en-US" sz="135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実機・環境を「見て」シミュレータへ取り込む、次ページのような</a:t>
            </a:r>
            <a:r>
              <a:rPr b="0" lang="en-US" sz="1350" spc="-1" strike="noStrike">
                <a:solidFill>
                  <a:srgbClr val="222222"/>
                </a:solidFill>
                <a:latin typeface="Meiryo"/>
                <a:ea typeface="Meiryo"/>
              </a:rPr>
              <a:t>Real2Sim</a:t>
            </a:r>
            <a:r>
              <a:rPr b="0" lang="ja-JP" sz="1350" spc="-1" strike="noStrike">
                <a:solidFill>
                  <a:srgbClr val="222222"/>
                </a:solidFill>
                <a:latin typeface="Meiryo"/>
                <a:ea typeface="Meiryo"/>
              </a:rPr>
              <a:t>手法が必要になる。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29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1f2a44"/>
                </a:solidFill>
                <a:latin typeface="Meiryo"/>
                <a:ea typeface="Meiryo"/>
              </a:rPr>
              <a:t>Real2Sim</a:t>
            </a: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手法サーベイ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30" name="CustomShape 3"/>
          <p:cNvSpPr/>
          <p:nvPr/>
        </p:nvSpPr>
        <p:spPr>
          <a:xfrm>
            <a:off x="548640" y="141732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手法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31" name="CustomShape 4"/>
          <p:cNvSpPr/>
          <p:nvPr/>
        </p:nvSpPr>
        <p:spPr>
          <a:xfrm>
            <a:off x="2743200" y="1417320"/>
            <a:ext cx="512028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内容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32" name="CustomShape 5"/>
          <p:cNvSpPr/>
          <p:nvPr/>
        </p:nvSpPr>
        <p:spPr>
          <a:xfrm>
            <a:off x="7863840" y="1417320"/>
            <a:ext cx="338292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250" spc="-1" strike="noStrike">
                <a:solidFill>
                  <a:srgbClr val="ffffff"/>
                </a:solidFill>
                <a:latin typeface="Meiryo"/>
                <a:ea typeface="Meiryo"/>
              </a:rPr>
              <a:t>出典・適用例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33" name="CustomShape 6"/>
          <p:cNvSpPr/>
          <p:nvPr/>
        </p:nvSpPr>
        <p:spPr>
          <a:xfrm>
            <a:off x="548640" y="196596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フォトグラメトリ </a:t>
            </a: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/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NeRF / Gaussian</a:t>
            </a:r>
            <a:br/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Splatting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4" name="CustomShape 7"/>
          <p:cNvSpPr/>
          <p:nvPr/>
        </p:nvSpPr>
        <p:spPr>
          <a:xfrm>
            <a:off x="2797920" y="1993320"/>
            <a:ext cx="50104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スマホで撮影した映像から、数分で形状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+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コリジョン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メッシュ付きの 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digital twin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を自動生成する。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35" name="CustomShape 8"/>
          <p:cNvSpPr/>
          <p:nvPr/>
        </p:nvSpPr>
        <p:spPr>
          <a:xfrm>
            <a:off x="7918560" y="1993320"/>
            <a:ext cx="327312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PhysTwin/GaussTwin/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TwinAligner/GSWorld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等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(2023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〜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2026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多数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環境・物体・小型実機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6" name="CustomShape 9"/>
          <p:cNvSpPr/>
          <p:nvPr/>
        </p:nvSpPr>
        <p:spPr>
          <a:xfrm>
            <a:off x="548640" y="295344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RialTo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7" name="CustomShape 10"/>
          <p:cNvSpPr/>
          <p:nvPr/>
        </p:nvSpPr>
        <p:spPr>
          <a:xfrm>
            <a:off x="2797920" y="2980800"/>
            <a:ext cx="5010480" cy="61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NeRFStudio/ARCode/Polycam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等でスキャン→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GUI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で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関節付与→シミュレータへ→実機デモを「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inverse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distillation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」で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sim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に取り込み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RL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で磨き上げ→実機へ再展開。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38" name="CustomShape 11"/>
          <p:cNvSpPr/>
          <p:nvPr/>
        </p:nvSpPr>
        <p:spPr>
          <a:xfrm>
            <a:off x="7918560" y="2980800"/>
            <a:ext cx="327312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MIT CSAIL 2024(OSS)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食器並べ・棚整理等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7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タスク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39" name="CustomShape 12"/>
          <p:cNvSpPr/>
          <p:nvPr/>
        </p:nvSpPr>
        <p:spPr>
          <a:xfrm>
            <a:off x="548640" y="394092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システム同定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0" name="CustomShape 13"/>
          <p:cNvSpPr/>
          <p:nvPr/>
        </p:nvSpPr>
        <p:spPr>
          <a:xfrm>
            <a:off x="2797920" y="3968640"/>
            <a:ext cx="50104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ロボット自身の動作軌道とセンサ値から質量・重心・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慣性・摩擦を推定する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道具を持った際の追加質量にも応用可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。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41" name="CustomShape 14"/>
          <p:cNvSpPr/>
          <p:nvPr/>
        </p:nvSpPr>
        <p:spPr>
          <a:xfrm>
            <a:off x="7918560" y="3968640"/>
            <a:ext cx="327312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多数の先行研究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小型〜等身大共通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42" name="CustomShape 15"/>
          <p:cNvSpPr/>
          <p:nvPr/>
        </p:nvSpPr>
        <p:spPr>
          <a:xfrm>
            <a:off x="548640" y="492876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Meiryo"/>
                <a:ea typeface="Meiryo"/>
              </a:rPr>
              <a:t>kxr</a:t>
            </a:r>
            <a:r>
              <a:rPr b="1" lang="ja-JP" sz="1100" spc="-1" strike="noStrike">
                <a:solidFill>
                  <a:srgbClr val="ffffff"/>
                </a:solidFill>
                <a:latin typeface="Meiryo"/>
                <a:ea typeface="Meiryo"/>
              </a:rPr>
              <a:t>自身のアプローチ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43" name="CustomShape 16"/>
          <p:cNvSpPr/>
          <p:nvPr/>
        </p:nvSpPr>
        <p:spPr>
          <a:xfrm>
            <a:off x="2797920" y="4956120"/>
            <a:ext cx="5010480" cy="44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rcb4robotconfig.l(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設計データ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から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URDF/MuJoCo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を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直接生成 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-- 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視覚的な逆推定を経ず設計時点で</a:t>
            </a:r>
            <a:r>
              <a:rPr b="0" lang="en-US" sz="1050" spc="-1" strike="noStrike">
                <a:solidFill>
                  <a:srgbClr val="222222"/>
                </a:solidFill>
                <a:latin typeface="Meiryo"/>
                <a:ea typeface="Meiryo"/>
              </a:rPr>
              <a:t>Real/Sim</a:t>
            </a:r>
            <a:r>
              <a:rPr b="0" lang="ja-JP" sz="1050" spc="-1" strike="noStrike">
                <a:solidFill>
                  <a:srgbClr val="222222"/>
                </a:solidFill>
                <a:latin typeface="Meiryo"/>
                <a:ea typeface="Meiryo"/>
              </a:rPr>
              <a:t>が一致。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44" name="CustomShape 17"/>
          <p:cNvSpPr/>
          <p:nvPr/>
        </p:nvSpPr>
        <p:spPr>
          <a:xfrm>
            <a:off x="7918560" y="4956120"/>
            <a:ext cx="327312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0000"/>
              </a:lnSpc>
            </a:pP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本プロジェクト独自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10000"/>
              </a:lnSpc>
            </a:pP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(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フェーズ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2</a:t>
            </a:r>
            <a:r>
              <a:rPr b="0" lang="ja-JP" sz="1000" spc="-1" strike="noStrike">
                <a:solidFill>
                  <a:srgbClr val="6b7280"/>
                </a:solidFill>
                <a:latin typeface="Meiryo"/>
                <a:ea typeface="Meiryo"/>
              </a:rPr>
              <a:t>で実装済み</a:t>
            </a:r>
            <a:r>
              <a:rPr b="0" lang="en-US" sz="1000" spc="-1" strike="noStrike">
                <a:solidFill>
                  <a:srgbClr val="6b7280"/>
                </a:solidFill>
                <a:latin typeface="Meiryo"/>
                <a:ea typeface="Meiryo"/>
              </a:rPr>
              <a:t>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45" name="CustomShape 18"/>
          <p:cNvSpPr/>
          <p:nvPr/>
        </p:nvSpPr>
        <p:spPr>
          <a:xfrm>
            <a:off x="548640" y="5943600"/>
            <a:ext cx="11063880" cy="49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15000"/>
              </a:lnSpc>
            </a:pPr>
            <a:r>
              <a:rPr b="0" lang="ja-JP" sz="1150" spc="-1" strike="noStrike">
                <a:solidFill>
                  <a:srgbClr val="6b7280"/>
                </a:solidFill>
                <a:latin typeface="Meiryo"/>
                <a:ea typeface="Meiryo"/>
              </a:rPr>
              <a:t>小型ロボット・道具・等身大ロボットのいずれも、根っこは同じ「実物からシミュレート可能なモデルを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ja-JP" sz="1150" spc="-1" strike="noStrike">
                <a:solidFill>
                  <a:srgbClr val="6b7280"/>
                </a:solidFill>
                <a:latin typeface="Meiryo"/>
                <a:ea typeface="Meiryo"/>
              </a:rPr>
              <a:t>自動的に得る」という課題。</a:t>
            </a:r>
            <a:endParaRPr b="0" lang="en-US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CustomShape 1"/>
          <p:cNvSpPr/>
          <p:nvPr/>
        </p:nvSpPr>
        <p:spPr>
          <a:xfrm>
            <a:off x="548640" y="320040"/>
            <a:ext cx="82292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FUTURE DIRECTION (</a:t>
            </a:r>
            <a:r>
              <a:rPr b="1" lang="ja-JP" sz="1600" spc="-1" strike="noStrike">
                <a:solidFill>
                  <a:srgbClr val="6b3fa0"/>
                </a:solidFill>
                <a:latin typeface="Meiryo"/>
                <a:ea typeface="Meiryo"/>
              </a:rPr>
              <a:t>構想</a:t>
            </a:r>
            <a:r>
              <a:rPr b="1" lang="en-US" sz="1600" spc="-1" strike="noStrike">
                <a:solidFill>
                  <a:srgbClr val="6b3fa0"/>
                </a:solidFill>
                <a:latin typeface="Meiryo"/>
                <a:ea typeface="Meiryo"/>
              </a:rPr>
              <a:t>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47" name="CustomShape 2"/>
          <p:cNvSpPr/>
          <p:nvPr/>
        </p:nvSpPr>
        <p:spPr>
          <a:xfrm>
            <a:off x="548640" y="685800"/>
            <a:ext cx="10515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ja-JP" sz="3000" spc="-1" strike="noStrike">
                <a:solidFill>
                  <a:srgbClr val="1f2a44"/>
                </a:solidFill>
                <a:latin typeface="Meiryo"/>
                <a:ea typeface="Meiryo"/>
              </a:rPr>
              <a:t>利用可能な代表的ソフトウェア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48" name="CustomShape 3"/>
          <p:cNvSpPr/>
          <p:nvPr/>
        </p:nvSpPr>
        <p:spPr>
          <a:xfrm>
            <a:off x="548640" y="1600200"/>
            <a:ext cx="5394600" cy="456840"/>
          </a:xfrm>
          <a:prstGeom prst="roundRect">
            <a:avLst>
              <a:gd name="adj" fmla="val 16667"/>
            </a:avLst>
          </a:prstGeom>
          <a:solidFill>
            <a:srgbClr val="2e6f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シミュレータ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49" name="CustomShape 4"/>
          <p:cNvSpPr/>
          <p:nvPr/>
        </p:nvSpPr>
        <p:spPr>
          <a:xfrm>
            <a:off x="640080" y="214884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NVIDIA Isaac Sim / Isaac Lab(USD, GPU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並列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0" name="CustomShape 5"/>
          <p:cNvSpPr/>
          <p:nvPr/>
        </p:nvSpPr>
        <p:spPr>
          <a:xfrm>
            <a:off x="640080" y="253296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MuJoCo(kxr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で使用中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1" name="CustomShape 6"/>
          <p:cNvSpPr/>
          <p:nvPr/>
        </p:nvSpPr>
        <p:spPr>
          <a:xfrm>
            <a:off x="640080" y="291708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Genesis(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超高速物理エンジン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, OSS, 2024)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2" name="CustomShape 7"/>
          <p:cNvSpPr/>
          <p:nvPr/>
        </p:nvSpPr>
        <p:spPr>
          <a:xfrm>
            <a:off x="6217920" y="1600200"/>
            <a:ext cx="5394600" cy="456840"/>
          </a:xfrm>
          <a:prstGeom prst="roundRect">
            <a:avLst>
              <a:gd name="adj" fmla="val 16667"/>
            </a:avLst>
          </a:prstGeom>
          <a:solidFill>
            <a:srgbClr val="2ea05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Real2Sim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スキャン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3" name="CustomShape 8"/>
          <p:cNvSpPr/>
          <p:nvPr/>
        </p:nvSpPr>
        <p:spPr>
          <a:xfrm>
            <a:off x="6309360" y="214884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NeRFStudio(OSS)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4" name="CustomShape 9"/>
          <p:cNvSpPr/>
          <p:nvPr/>
        </p:nvSpPr>
        <p:spPr>
          <a:xfrm>
            <a:off x="6309360" y="253296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Polycam(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スマホアプリ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5" name="CustomShape 10"/>
          <p:cNvSpPr/>
          <p:nvPr/>
        </p:nvSpPr>
        <p:spPr>
          <a:xfrm>
            <a:off x="6309360" y="291708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ARCode(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スマホアプリ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6" name="CustomShape 11"/>
          <p:cNvSpPr/>
          <p:nvPr/>
        </p:nvSpPr>
        <p:spPr>
          <a:xfrm>
            <a:off x="548640" y="3657600"/>
            <a:ext cx="5394600" cy="456840"/>
          </a:xfrm>
          <a:prstGeom prst="roundRect">
            <a:avLst>
              <a:gd name="adj" fmla="val 16667"/>
            </a:avLst>
          </a:prstGeom>
          <a:solidFill>
            <a:srgbClr val="b0303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Meiryo"/>
                <a:ea typeface="Meiryo"/>
              </a:rPr>
              <a:t>Real2Sim</a:t>
            </a: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パイプライン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7" name="CustomShape 12"/>
          <p:cNvSpPr/>
          <p:nvPr/>
        </p:nvSpPr>
        <p:spPr>
          <a:xfrm>
            <a:off x="640080" y="420624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RialTo / RialToGUI(MIT CSAIL, OSS, GitHub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公開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8" name="CustomShape 13"/>
          <p:cNvSpPr/>
          <p:nvPr/>
        </p:nvSpPr>
        <p:spPr>
          <a:xfrm>
            <a:off x="6217920" y="3657600"/>
            <a:ext cx="5394600" cy="4568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ja-JP" sz="1300" spc="-1" strike="noStrike">
                <a:solidFill>
                  <a:srgbClr val="ffffff"/>
                </a:solidFill>
                <a:latin typeface="Meiryo"/>
                <a:ea typeface="Meiryo"/>
              </a:rPr>
              <a:t>学習データ・モデル形式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9" name="CustomShape 14"/>
          <p:cNvSpPr/>
          <p:nvPr/>
        </p:nvSpPr>
        <p:spPr>
          <a:xfrm>
            <a:off x="6309360" y="420624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LeRobot(Hugging Face)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60" name="CustomShape 15"/>
          <p:cNvSpPr/>
          <p:nvPr/>
        </p:nvSpPr>
        <p:spPr>
          <a:xfrm>
            <a:off x="6309360" y="4590360"/>
            <a:ext cx="52117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・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NVIDIA Isaac GR00T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61" name="CustomShape 16"/>
          <p:cNvSpPr/>
          <p:nvPr/>
        </p:nvSpPr>
        <p:spPr>
          <a:xfrm>
            <a:off x="548640" y="5852160"/>
            <a:ext cx="11063880" cy="60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いずれもオープンソースまたは無償利用可能なツールが中心 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-- kxr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URDF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資産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(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フェーズ</a:t>
            </a: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2)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は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0" lang="en-US" sz="1300" spc="-1" strike="noStrike">
                <a:solidFill>
                  <a:srgbClr val="222222"/>
                </a:solidFill>
                <a:latin typeface="Meiryo"/>
                <a:ea typeface="Meiryo"/>
              </a:rPr>
              <a:t>Isaac Sim/Genesis/RialTo</a:t>
            </a:r>
            <a:r>
              <a:rPr b="0" lang="ja-JP" sz="1300" spc="-1" strike="noStrike">
                <a:solidFill>
                  <a:srgbClr val="222222"/>
                </a:solidFill>
                <a:latin typeface="Meiryo"/>
                <a:ea typeface="Meiryo"/>
              </a:rPr>
              <a:t>のいずれにもそのまま持ち込める形式になっている。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CustomShape 1"/>
          <p:cNvSpPr/>
          <p:nvPr/>
        </p:nvSpPr>
        <p:spPr>
          <a:xfrm>
            <a:off x="914400" y="2560320"/>
            <a:ext cx="10332360" cy="127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3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Meiryo"/>
                <a:ea typeface="Meiryo"/>
              </a:rPr>
              <a:t>5</a:t>
            </a:r>
            <a:r>
              <a:rPr b="1" lang="ja-JP" sz="3000" spc="-1" strike="noStrike">
                <a:solidFill>
                  <a:srgbClr val="ffffff"/>
                </a:solidFill>
                <a:latin typeface="Meiryo"/>
                <a:ea typeface="Meiryo"/>
              </a:rPr>
              <a:t>種類で確立した仕組みを、</a:t>
            </a:r>
            <a:endParaRPr b="0" lang="en-US" sz="3000" spc="-1" strike="noStrike">
              <a:latin typeface="Arial"/>
            </a:endParaRPr>
          </a:p>
          <a:p>
            <a:pPr>
              <a:lnSpc>
                <a:spcPct val="130000"/>
              </a:lnSpc>
            </a:pPr>
            <a:r>
              <a:rPr b="1" lang="ja-JP" sz="3000" spc="-1" strike="noStrike">
                <a:solidFill>
                  <a:srgbClr val="ffffff"/>
                </a:solidFill>
                <a:latin typeface="Meiryo"/>
                <a:ea typeface="Meiryo"/>
              </a:rPr>
              <a:t>そのまま</a:t>
            </a:r>
            <a:r>
              <a:rPr b="1" lang="en-US" sz="3000" spc="-1" strike="noStrike">
                <a:solidFill>
                  <a:srgbClr val="ffffff"/>
                </a:solidFill>
                <a:latin typeface="Meiryo"/>
                <a:ea typeface="Meiryo"/>
              </a:rPr>
              <a:t>500</a:t>
            </a:r>
            <a:r>
              <a:rPr b="1" lang="ja-JP" sz="3000" spc="-1" strike="noStrike">
                <a:solidFill>
                  <a:srgbClr val="ffffff"/>
                </a:solidFill>
                <a:latin typeface="Meiryo"/>
                <a:ea typeface="Meiryo"/>
              </a:rPr>
              <a:t>種類に一般化する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63" name="CustomShape 2"/>
          <p:cNvSpPr/>
          <p:nvPr/>
        </p:nvSpPr>
        <p:spPr>
          <a:xfrm>
            <a:off x="914400" y="4206240"/>
            <a:ext cx="10332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次のステップ</a:t>
            </a:r>
            <a:r>
              <a:rPr b="0" lang="en-US" sz="1800" spc="-1" strike="noStrike">
                <a:solidFill>
                  <a:srgbClr val="c9d6ea"/>
                </a:solidFill>
                <a:latin typeface="Meiryo"/>
                <a:ea typeface="Meiryo"/>
              </a:rPr>
              <a:t>: </a:t>
            </a: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フェーズ</a:t>
            </a:r>
            <a:r>
              <a:rPr b="0" lang="en-US" sz="1800" spc="-1" strike="noStrike">
                <a:solidFill>
                  <a:srgbClr val="c9d6ea"/>
                </a:solidFill>
                <a:latin typeface="Meiryo"/>
                <a:ea typeface="Meiryo"/>
              </a:rPr>
              <a:t>1(</a:t>
            </a: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サーボ</a:t>
            </a:r>
            <a:r>
              <a:rPr b="0" lang="en-US" sz="1800" spc="-1" strike="noStrike">
                <a:solidFill>
                  <a:srgbClr val="c9d6ea"/>
                </a:solidFill>
                <a:latin typeface="Meiryo"/>
                <a:ea typeface="Meiryo"/>
              </a:rPr>
              <a:t>ID</a:t>
            </a: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候補検出の</a:t>
            </a:r>
            <a:r>
              <a:rPr b="0" lang="en-US" sz="1800" spc="-1" strike="noStrike">
                <a:solidFill>
                  <a:srgbClr val="c9d6ea"/>
                </a:solidFill>
                <a:latin typeface="Meiryo"/>
                <a:ea typeface="Meiryo"/>
              </a:rPr>
              <a:t>JSON</a:t>
            </a: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公開</a:t>
            </a:r>
            <a:r>
              <a:rPr b="0" lang="en-US" sz="1800" spc="-1" strike="noStrike">
                <a:solidFill>
                  <a:srgbClr val="c9d6ea"/>
                </a:solidFill>
                <a:latin typeface="Meiryo"/>
                <a:ea typeface="Meiryo"/>
              </a:rPr>
              <a:t>)</a:t>
            </a:r>
            <a:r>
              <a:rPr b="0" lang="ja-JP" sz="1800" spc="-1" strike="noStrike">
                <a:solidFill>
                  <a:srgbClr val="c9d6ea"/>
                </a:solidFill>
                <a:latin typeface="Meiryo"/>
                <a:ea typeface="Meiryo"/>
              </a:rPr>
              <a:t>から着手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eiryo"/>
        <a:cs typeface="Meiryo"/>
      </a:majorFont>
      <a:minorFont>
        <a:latin typeface="Arial"/>
        <a:ea typeface="Meiryo"/>
        <a:cs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2026-09-26T08:18:35Z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