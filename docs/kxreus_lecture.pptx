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エントリ数</c:v>
                </c:pt>
              </c:strCache>
            </c:strRef>
          </c:tx>
          <c:dPt>
            <c:idx val="0"/>
            <c:spPr>
              <a:solidFill>
                <a:srgbClr val="EE7B1E"/>
              </a:solidFill>
            </c:spPr>
          </c:dPt>
          <c:dPt>
            <c:idx val="1"/>
            <c:spPr>
              <a:solidFill>
                <a:srgbClr val="EE7B1E"/>
              </a:solidFill>
            </c:spPr>
          </c:dPt>
          <c:dPt>
            <c:idx val="2"/>
            <c:spPr>
              <a:solidFill>
                <a:srgbClr val="EE7B1E"/>
              </a:solidFill>
            </c:spPr>
          </c:dPt>
          <c:dPt>
            <c:idx val="3"/>
            <c:spPr>
              <a:solidFill>
                <a:srgbClr val="1F7A8C"/>
              </a:solidFill>
            </c:spPr>
          </c:dPt>
          <c:dPt>
            <c:idx val="4"/>
            <c:spPr>
              <a:solidFill>
                <a:srgbClr val="1F7A8C"/>
              </a:solidFill>
            </c:spPr>
          </c:dPt>
          <c:dPt>
            <c:idx val="5"/>
            <c:spPr>
              <a:solidFill>
                <a:srgbClr val="1F7A8C"/>
              </a:solidFill>
            </c:spPr>
          </c:dPt>
          <c:cat>
            <c:strRef>
              <c:f>Sheet1!$A$2:$A$7</c:f>
              <c:strCache>
                <c:ptCount val="6"/>
                <c:pt idx="0">
                  <c:v>2脚型 :l2</c:v>
                </c:pt>
                <c:pt idx="1">
                  <c:v>4肢・車輪型 :l4</c:v>
                </c:pt>
                <c:pt idx="2">
                  <c:v>6肢型 :l6</c:v>
                </c:pt>
                <c:pt idx="3">
                  <c:v>着脱モジュール組合せ</c:v>
                </c:pt>
                <c:pt idx="4">
                  <c:v>モジュール部品</c:v>
                </c:pt>
                <c:pt idx="5">
                  <c:v>KHR・その他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223</c:v>
                </c:pt>
                <c:pt idx="1">
                  <c:v>107</c:v>
                </c:pt>
                <c:pt idx="2">
                  <c:v>19</c:v>
                </c:pt>
                <c:pt idx="3">
                  <c:v>45</c:v>
                </c:pt>
                <c:pt idx="4">
                  <c:v>82</c:v>
                </c:pt>
                <c:pt idx="5">
                  <c:v>123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 b="1">
                  <a:solidFill>
                    <a:srgbClr val="1E293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300">
                <a:solidFill>
                  <a:srgbClr val="1E293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6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kxreus は、近藤科学の KXR（サーボ＋フレームのモジュール型ロボットキット）を対象に、部品の3D形状からロボット全身モデルを自動生成し、同じ Euslisp のAPIでシミュレーションと実機の両方を動かすためのシステムです。右の6体はすべて rcb4robotconfig.l の設定1エントリから自動生成・自動レンダリングしたものです。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前半(1〜5)が講演、後半(6)が演習の手順です。演習では、コードを書かずに設定だけで新しいロボットを作るところから、新しい部品を定義するところまで3段階で説明します。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ポイントは「ロボットをプログラムではなくデータとして記述する」こと。設定エントリには部品の選び方(model-param)と、実機のサーボIDと関節名の対応だけが書かれています。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上段が設計、中段が実機、下段が外部への展開です。上段で作った robot-model がすべての起点になり、実機にもシミュレータにも同じ関節名で渡ります。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数字は rcb4robotconfig.l を実際に読み込んで数えた値です（2026年9月時点）。52体は docs/urdf_viewer に Draco 圧縮メッシュ付きで公開しています。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演習で新しいロボットを作るときは、どの層を触るかで難易度が変わります。設定(層5)だけで済むならコード追加は不要、新しい部品が必要なら層1〜4に手を入れます。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libs は libftdi などのUSBまわりと udev ルールの準備、make は Linux64/ 以下へのコンパイル、make gen は代表的なロボットを models/ に生成します。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:model nil を付けると、models/ のキャッシュを使わずに設定からその場で部品を組み立てます。新しいロボットを試すときはこちらを使います。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rcb4robotconfig.l を irteusgl で読み込み、*kxr-body-config-alist* を :type と :robotset で数えた結果です。オレンジが全身ロボット、青緑がモジュール関係とその他です。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最も数が多いのが2脚型です。脚の自由度で歩き方が、腕の自由度で操作できることが決まります。数字はモデルの関節数(グリッパの従動指も含む)。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4肢型は腕(arm)と脚(leg)の区別がゆるく、同じ肢で歩いたり物を触ったりできるのが特徴です。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車輪は関節軸 :w(連続回転)として扱われ、semi2024.l の mw-/ow-/dw- 系の関数で速度指令を出します。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マグネットで着脱できるモジュールを、取り付け場所(:neck :larm :rarm :lleg :rleg :mbase)ごとに列挙するだけでロボットになります。演習の「レベルB」で使う方法です。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kxreus の関節命名規則が全ロボットで共通なので、学習側は URDF を読むだけで脚の関節チェーンを復元できます。これが「モジュール型だから多種類作れる」ことを学習基盤の強みにしている部分です。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 kxrmyl4 は資料作成時に実際に *kxr-body-config-alist* に追加して生成・レンダリングしたものです。関節名は生成したモデルの joint-list から取っています。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kxrmyset も資料作成時に実際に生成したモデルです。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コード例は構造を示すための簡略版です。実際の関数の引数(:push-joint の limb, 名前, 軸, 最小, 最大, :child-link など)は kxrmodels.l の既存の :setup-head の各 case を手本にしてください。既存の似た部品の関数をコピーして変えるのが最も確実です。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4.png"/><Relationship Id="rId5" Type="http://schemas.openxmlformats.org/officeDocument/2006/relationships/image" Target="../media/image2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5" Type="http://schemas.openxmlformats.org/officeDocument/2006/relationships/image" Target="../media/image20.png"/><Relationship Id="rId6" Type="http://schemas.openxmlformats.org/officeDocument/2006/relationships/image" Target="../media/image6.png"/><Relationship Id="rId7" Type="http://schemas.openxmlformats.org/officeDocument/2006/relationships/image" Target="../media/image24.png"/><Relationship Id="rId8" Type="http://schemas.openxmlformats.org/officeDocument/2006/relationships/notesSlide" Target="../notesSlides/notesSlide1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25.png"/><Relationship Id="rId5" Type="http://schemas.openxmlformats.org/officeDocument/2006/relationships/image" Target="../media/image3.png"/><Relationship Id="rId6" Type="http://schemas.openxmlformats.org/officeDocument/2006/relationships/image" Target="../media/image21.png"/><Relationship Id="rId7" Type="http://schemas.openxmlformats.org/officeDocument/2006/relationships/image" Target="../media/image26.png"/><Relationship Id="rId8" Type="http://schemas.openxmlformats.org/officeDocument/2006/relationships/notesSlide" Target="../notesSlides/notesSlide1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10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29.png"/><Relationship Id="rId7" Type="http://schemas.openxmlformats.org/officeDocument/2006/relationships/notesSlide" Target="../notesSlides/notesSlide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30.png"/><Relationship Id="rId4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31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Relationship Id="rId6" Type="http://schemas.openxmlformats.org/officeDocument/2006/relationships/image" Target="../media/image12.png"/><Relationship Id="rId7" Type="http://schemas.openxmlformats.org/officeDocument/2006/relationships/image" Target="../media/image29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image" Target="../media/image5.png"/><Relationship Id="rId12" Type="http://schemas.openxmlformats.org/officeDocument/2006/relationships/image" Target="../media/image35.png"/><Relationship Id="rId13" Type="http://schemas.openxmlformats.org/officeDocument/2006/relationships/image" Target="../media/image36.png"/><Relationship Id="rId14" Type="http://schemas.openxmlformats.org/officeDocument/2006/relationships/notesSlide" Target="../notesSlides/notesSlide1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notesSlide" Target="../notesSlides/notesSlide1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3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1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notesSlide" Target="../notesSlides/notesSlide1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KXR MODULAR ROBOTS × EUSLISP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6858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kxreus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14600"/>
            <a:ext cx="6583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部品を組み合わせて、ロボットを</a:t>
            </a:r>
          </a:p>
          <a:p>
            <a:pPr algn="l"/>
            <a:r>
              <a:rPr sz="2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「設計・生成・動かす」システム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6400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C5D0DE"/>
                </a:solidFill>
                <a:latin typeface="Yu Gothic"/>
                <a:ea typeface="Yu Gothic"/>
                <a:cs typeface="Yu Gothic"/>
              </a:rPr>
              <a:t>システムの構想・使い方・ロボット骨格の分類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C5D0DE"/>
                </a:solidFill>
                <a:latin typeface="Yu Gothic"/>
                <a:ea typeface="Yu Gothic"/>
                <a:cs typeface="Yu Gothic"/>
              </a:rPr>
              <a:t>+ 演習：自分だけのロボット構造をつくる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607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AA8BA"/>
                </a:solidFill>
                <a:latin typeface="Courier New"/>
                <a:ea typeface="Yu Gothic"/>
                <a:cs typeface="Yu Gothic"/>
              </a:rPr>
              <a:t>github.com/inabajsk/kxreus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685800"/>
            <a:ext cx="1783080" cy="178308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8" name="Picture 7" descr="kxrl2l6a6h2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685800"/>
            <a:ext cx="1783080" cy="17830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692640" y="685800"/>
            <a:ext cx="1783080" cy="178308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0" name="Picture 9" descr="kxrl4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685800"/>
            <a:ext cx="1783080" cy="1783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543800" y="2606040"/>
            <a:ext cx="1783080" cy="178308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2" name="Picture 11" descr="kxrkamakir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2606040"/>
            <a:ext cx="1783080" cy="17830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692640" y="2606040"/>
            <a:ext cx="1783080" cy="178308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4" name="Picture 13" descr="kxrl6a6h2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0" y="2606040"/>
            <a:ext cx="1783080" cy="178308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543800" y="4526280"/>
            <a:ext cx="1783080" cy="178308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6" name="Picture 15" descr="kxrrobosetmw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0" y="4526280"/>
            <a:ext cx="1783080" cy="178308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9692640" y="4526280"/>
            <a:ext cx="1783080" cy="178308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8" name="Picture 17" descr="kxrl2makab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2640" y="4526280"/>
            <a:ext cx="1783080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本日の構成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474720" cy="201168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22959" y="1828800"/>
            <a:ext cx="1097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5146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構想と意義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97180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同じ部品から多様な身体を、1つのソフトで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600200"/>
            <a:ext cx="3474720" cy="201168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71999" y="1828800"/>
            <a:ext cx="1097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1999" y="25146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Euslispファイルの役割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99" y="297180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部品→リンク→ロボット→設定→実機 の層構造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600200"/>
            <a:ext cx="3474720" cy="201168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321040" y="1828800"/>
            <a:ext cx="1097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5146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環境の構築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97180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roseus の導入から最初の1体を表示するまで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31920"/>
            <a:ext cx="3474720" cy="201168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2959" y="4160520"/>
            <a:ext cx="1097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484632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ロボットの種類と骨格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530352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rcb4robotconfig.l の599エントリを分類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79" y="3931920"/>
            <a:ext cx="3474720" cy="201168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571999" y="4160520"/>
            <a:ext cx="1097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484632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デモプログラム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530352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実機制御・RCB4 Lisp・キューブ・強化学習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9" y="3931920"/>
            <a:ext cx="3474720" cy="2011680"/>
          </a:xfrm>
          <a:prstGeom prst="roundRect">
            <a:avLst>
              <a:gd name="adj" fmla="val 8000"/>
            </a:avLst>
          </a:prstGeom>
          <a:solidFill>
            <a:srgbClr val="FDEBD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321040" y="4160520"/>
            <a:ext cx="1097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84632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演習：独自ロボット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530352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設定追加 / モジュール組替え / 新部品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73736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246120"/>
            <a:ext cx="6583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構想と意義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069080"/>
            <a:ext cx="6217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C5D0DE"/>
                </a:solidFill>
                <a:latin typeface="Yu Gothic"/>
                <a:ea typeface="Yu Gothic"/>
                <a:cs typeface="Yu Gothic"/>
              </a:rPr>
              <a:t>「脳（ソフト）は共通、身体は交換可能」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C5D0DE"/>
                </a:solidFill>
                <a:latin typeface="Yu Gothic"/>
                <a:ea typeface="Yu Gothic"/>
                <a:cs typeface="Yu Gothic"/>
              </a:rPr>
              <a:t>— モジュール型ロボットを、データで記述して扱う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371600"/>
            <a:ext cx="1920240" cy="192024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6" name="Picture 5" descr="kxrl2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1920240" cy="1920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692640" y="1371600"/>
            <a:ext cx="1920240" cy="192024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8" name="Picture 7" descr="kxrl4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1371600"/>
            <a:ext cx="1920240" cy="19202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589520" y="3474720"/>
            <a:ext cx="1920240" cy="192024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0" name="Picture 9" descr="kxrl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3474720"/>
            <a:ext cx="1920240" cy="1920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692640" y="3474720"/>
            <a:ext cx="1920240" cy="192024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2" name="Picture 11" descr="kxrmw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0" y="3474720"/>
            <a:ext cx="1920240" cy="19202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AA8BA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同じ部品から、多様な身体を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5120640" cy="43891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marL="201168" indent="-182880">
              <a:spcAft>
                <a:spcPts val="1000"/>
              </a:spcAft>
              <a:buClr>
                <a:srgbClr val="EE7B1E"/>
              </a:buClr>
              <a:buFont typeface="Arial"/>
              <a:buChar char="■"/>
            </a:pPr>
            <a:r>
              <a:rPr sz="160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KXR</a:t>
            </a:r>
            <a:r>
              <a:rPr sz="160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：近藤科学のサーボ(KRS)・フレーム・制御基板(RCB-4)で構成するモジュール型ロボットキット</a:t>
            </a:r>
          </a:p>
          <a:p>
            <a:pPr marL="201168" indent="-182880">
              <a:spcAft>
                <a:spcPts val="1000"/>
              </a:spcAft>
              <a:buClr>
                <a:srgbClr val="EE7B1E"/>
              </a:buClr>
              <a:buFont typeface="Arial"/>
              <a:buChar char="■"/>
            </a:pPr>
            <a:r>
              <a:rPr sz="160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kxreus</a:t>
            </a:r>
            <a:r>
              <a:rPr sz="160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：部品の3D形状から全身モデルを</a:t>
            </a:r>
            <a:r>
              <a:rPr sz="16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設定データだけで自動生成</a:t>
            </a:r>
            <a:r>
              <a:rPr sz="160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し、同じAPIでシミュレーションと実機を動かす</a:t>
            </a:r>
          </a:p>
          <a:p>
            <a:pPr marL="201168" indent="-182880">
              <a:spcAft>
                <a:spcPts val="1000"/>
              </a:spcAft>
              <a:buClr>
                <a:srgbClr val="EE7B1E"/>
              </a:buClr>
              <a:buFont typeface="Arial"/>
              <a:buChar char="■"/>
            </a:pPr>
            <a:r>
              <a:rPr sz="160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源流</a:t>
            </a:r>
            <a:r>
              <a:rPr sz="160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：1990年代のリモートブレイン研究。外部の計算機(脳)を共通にし、軽量な身体を次々に作り替えて全身行動を研究した</a:t>
            </a:r>
          </a:p>
          <a:p>
            <a:pPr marL="201168" indent="-182880">
              <a:spcAft>
                <a:spcPts val="1000"/>
              </a:spcAft>
              <a:buClr>
                <a:srgbClr val="EE7B1E"/>
              </a:buClr>
              <a:buFont typeface="Arial"/>
              <a:buChar char="■"/>
            </a:pPr>
            <a:r>
              <a:rPr sz="160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身体を変えても、IK・歩行・視覚・学習のプログラムはそのまま使える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00200"/>
            <a:ext cx="2148840" cy="3566160"/>
          </a:xfrm>
          <a:prstGeom prst="roundRect">
            <a:avLst>
              <a:gd name="adj" fmla="val 8000"/>
            </a:avLst>
          </a:prstGeom>
          <a:solidFill>
            <a:srgbClr val="172233"/>
          </a:solidFill>
          <a:ln>
            <a:noFill/>
          </a:ln>
        </p:spPr>
        <p:txBody>
          <a:bodyPr rtlCol="0" anchor="ctr" wrap="square" lIns="73152" rIns="73152" tIns="73152" bIns="73152"/>
          <a:lstStyle/>
          <a:p>
            <a:pPr algn="ctr"/>
            <a:r>
              <a:rPr sz="1300" b="1" i="0">
                <a:solidFill>
                  <a:srgbClr val="EE7B1E"/>
                </a:solidFill>
                <a:latin typeface="Courier New"/>
                <a:ea typeface="Yu Gothic"/>
                <a:cs typeface="Yu Gothic"/>
              </a:rPr>
              <a:t>rcb4robotconfig.l</a:t>
            </a:r>
          </a:p>
          <a:p>
            <a:pPr algn="ctr"/>
            <a:r>
              <a:rPr sz="60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 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Courier New"/>
                <a:ea typeface="Yu Gothic"/>
                <a:cs typeface="Yu Gothic"/>
              </a:rPr>
              <a:t>*kxr-body-config-alist*</a:t>
            </a:r>
          </a:p>
          <a:p>
            <a:pPr algn="ctr"/>
            <a:r>
              <a:rPr sz="60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 </a:t>
            </a:r>
          </a:p>
          <a:p>
            <a:pPr algn="ctr"/>
            <a:r>
              <a:rPr sz="20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599 エントリ</a:t>
            </a:r>
          </a:p>
          <a:p>
            <a:pPr algn="ctr"/>
            <a:r>
              <a:rPr sz="1100" b="0" i="0">
                <a:solidFill>
                  <a:srgbClr val="C5D0DE"/>
                </a:solidFill>
                <a:latin typeface="Yu Gothic"/>
                <a:ea typeface="Yu Gothic"/>
                <a:cs typeface="Yu Gothic"/>
              </a:rPr>
              <a:t>名前・部品構成・サーボID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32520" y="1463040"/>
            <a:ext cx="1463040" cy="146304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7" name="Picture 6" descr="kxrl2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1463040"/>
            <a:ext cx="1463040" cy="1463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732520" y="297180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2脚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78440" y="1463040"/>
            <a:ext cx="1463040" cy="146304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0" name="Picture 9" descr="kxrl4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1463040"/>
            <a:ext cx="1463040" cy="1463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378440" y="297180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4脚(犬型)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3520440"/>
            <a:ext cx="1463040" cy="146304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3" name="Picture 12" descr="kxrl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0" y="3520440"/>
            <a:ext cx="1463040" cy="1463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732520" y="502920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6脚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378440" y="3520440"/>
            <a:ext cx="1463040" cy="146304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6" name="Picture 15" descr="kxrmw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8440" y="3520440"/>
            <a:ext cx="1463040" cy="14630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378440" y="502920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メカナム車輪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8302752" y="2194560"/>
            <a:ext cx="384048" cy="1188720"/>
          </a:xfrm>
          <a:prstGeom prst="line">
            <a:avLst/>
          </a:prstGeom>
          <a:ln w="25400">
            <a:solidFill>
              <a:srgbClr val="EE7B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302752" y="3383280"/>
            <a:ext cx="384048" cy="914400"/>
          </a:xfrm>
          <a:prstGeom prst="line">
            <a:avLst/>
          </a:prstGeom>
          <a:ln w="25400">
            <a:solidFill>
              <a:srgbClr val="EE7B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126480" y="5394960"/>
            <a:ext cx="5577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1エントリ ＝ 1台のロボット。</a:t>
            </a:r>
            <a:r>
              <a:rPr sz="140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部品の組み合わせを変えれば、コードを書き足さずに新しい身体のモデルが生成される。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システム全体構成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設計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実機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1206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展開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1508760"/>
            <a:ext cx="2286000" cy="1005840"/>
          </a:xfrm>
          <a:prstGeom prst="roundRect">
            <a:avLst>
              <a:gd name="adj" fmla="val 8000"/>
            </a:avLst>
          </a:prstGeom>
          <a:solidFill>
            <a:srgbClr val="FDEBDB"/>
          </a:solidFill>
          <a:ln>
            <a:noFill/>
          </a:ln>
        </p:spPr>
        <p:txBody>
          <a:bodyPr rtlCol="0" anchor="ctr" wrap="square" lIns="73152" rIns="73152" tIns="73152" bIns="73152"/>
          <a:lstStyle/>
          <a:p>
            <a:pPr algn="ctr"/>
            <a:r>
              <a:rPr sz="1300" b="1" i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rcb4robotconfig.l</a:t>
            </a:r>
          </a:p>
          <a:p>
            <a:pPr algn="ctr"/>
            <a:r>
              <a:rPr sz="105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設定: 部品構成＋サーボID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0" y="1508760"/>
            <a:ext cx="2377440" cy="100584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 wrap="square" lIns="73152" rIns="73152" tIns="73152" bIns="73152"/>
          <a:lstStyle/>
          <a:p>
            <a:pPr algn="ctr"/>
            <a:r>
              <a:rPr sz="1300" b="1" i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kxrmodels.l ほか</a:t>
            </a:r>
          </a:p>
          <a:p>
            <a:pPr algn="ctr"/>
            <a:r>
              <a:rPr sz="105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kxr-robot :init が部品を自動組立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508760"/>
            <a:ext cx="2103120" cy="100584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 wrap="square" lIns="73152" rIns="73152" tIns="73152" bIns="73152"/>
          <a:lstStyle/>
          <a:p>
            <a:pPr algn="ctr"/>
            <a:r>
              <a:rPr sz="1300" b="1" i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robot-model</a:t>
            </a:r>
          </a:p>
          <a:p>
            <a:pPr algn="ctr"/>
            <a:r>
              <a:rPr sz="105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*robot*  IK・重心・干渉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18320" y="1508760"/>
            <a:ext cx="2286000" cy="100584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 wrap="square" lIns="73152" rIns="73152" tIns="73152" bIns="73152"/>
          <a:lstStyle/>
          <a:p>
            <a:pPr algn="ctr"/>
            <a:r>
              <a:rPr sz="1300" b="1" i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irtviewer</a:t>
            </a:r>
          </a:p>
          <a:p>
            <a:pPr algn="ctr"/>
            <a:r>
              <a:rPr sz="105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3D表示・歩行・動作生成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566160" y="2011680"/>
            <a:ext cx="457200" cy="0"/>
          </a:xfrm>
          <a:prstGeom prst="line">
            <a:avLst/>
          </a:prstGeom>
          <a:ln w="25400">
            <a:solidFill>
              <a:srgbClr val="5B67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400800" y="2011680"/>
            <a:ext cx="457200" cy="0"/>
          </a:xfrm>
          <a:prstGeom prst="line">
            <a:avLst/>
          </a:prstGeom>
          <a:ln w="25400">
            <a:solidFill>
              <a:srgbClr val="5B67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961120" y="2011680"/>
            <a:ext cx="457200" cy="0"/>
          </a:xfrm>
          <a:prstGeom prst="line">
            <a:avLst/>
          </a:prstGeom>
          <a:ln w="25400">
            <a:solidFill>
              <a:srgbClr val="5B67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280160" y="3154680"/>
            <a:ext cx="2286000" cy="100584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 wrap="square" lIns="73152" rIns="73152" tIns="73152" bIns="73152"/>
          <a:lstStyle/>
          <a:p>
            <a:pPr algn="ctr"/>
            <a:r>
              <a:rPr sz="1300" b="1" i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rcb4interface.l</a:t>
            </a:r>
          </a:p>
          <a:p>
            <a:pPr algn="ctr"/>
            <a:r>
              <a:rPr sz="105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*ri*  角度指令・読み取り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23360" y="3154680"/>
            <a:ext cx="2377440" cy="100584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 wrap="square" lIns="73152" rIns="73152" tIns="73152" bIns="73152"/>
          <a:lstStyle/>
          <a:p>
            <a:pPr algn="ctr"/>
            <a:r>
              <a:rPr sz="1300" b="1" i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USB Dual Adapter</a:t>
            </a:r>
          </a:p>
          <a:p>
            <a:pPr algn="ctr"/>
            <a:r>
              <a:rPr sz="105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または AtomS3 ESP-NOW無線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3154680"/>
            <a:ext cx="2103120" cy="100584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 wrap="square" lIns="73152" rIns="73152" tIns="73152" bIns="73152"/>
          <a:lstStyle/>
          <a:p>
            <a:pPr algn="ctr"/>
            <a:r>
              <a:rPr sz="1300" b="1" i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RCB-4</a:t>
            </a:r>
          </a:p>
          <a:p>
            <a:pPr algn="ctr"/>
            <a:r>
              <a:rPr sz="105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モーションROM・Lisp実行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18320" y="3154680"/>
            <a:ext cx="2286000" cy="100584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 wrap="square" lIns="73152" rIns="73152" tIns="73152" bIns="73152"/>
          <a:lstStyle/>
          <a:p>
            <a:pPr algn="ctr"/>
            <a:r>
              <a:rPr sz="1300" b="1" i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KRSサーボ群</a:t>
            </a:r>
          </a:p>
          <a:p>
            <a:pPr algn="ctr"/>
            <a:r>
              <a:rPr sz="105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位置指令・角度読み取り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566160" y="3657600"/>
            <a:ext cx="457200" cy="0"/>
          </a:xfrm>
          <a:prstGeom prst="line">
            <a:avLst/>
          </a:prstGeom>
          <a:ln w="25400">
            <a:solidFill>
              <a:srgbClr val="5B67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400800" y="3657600"/>
            <a:ext cx="457200" cy="0"/>
          </a:xfrm>
          <a:prstGeom prst="line">
            <a:avLst/>
          </a:prstGeom>
          <a:ln w="25400">
            <a:solidFill>
              <a:srgbClr val="5B67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961120" y="3657600"/>
            <a:ext cx="457200" cy="0"/>
          </a:xfrm>
          <a:prstGeom prst="line">
            <a:avLst/>
          </a:prstGeom>
          <a:ln w="25400">
            <a:solidFill>
              <a:srgbClr val="5B67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2423160" y="2514600"/>
            <a:ext cx="5486400" cy="640080"/>
          </a:xfrm>
          <a:prstGeom prst="line">
            <a:avLst/>
          </a:prstGeom>
          <a:ln w="25400">
            <a:solidFill>
              <a:srgbClr val="EE7B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046720" y="257860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*robot* の姿勢を *ri* 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80160" y="4800600"/>
            <a:ext cx="2286000" cy="100584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 wrap="square" lIns="73152" rIns="73152" tIns="73152" bIns="73152"/>
          <a:lstStyle/>
          <a:p>
            <a:pPr algn="ctr"/>
            <a:r>
              <a:rPr sz="1300" b="1" i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eus2urdf / eus2mujoco</a:t>
            </a:r>
          </a:p>
          <a:p>
            <a:pPr algn="ctr"/>
            <a:r>
              <a:rPr sz="105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URDF・MJCF・COLLADA出力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23360" y="4800600"/>
            <a:ext cx="2377440" cy="100584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 wrap="square" lIns="73152" rIns="73152" tIns="73152" bIns="73152"/>
          <a:lstStyle/>
          <a:p>
            <a:pPr algn="ctr"/>
            <a:r>
              <a:rPr sz="1300" b="1" i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walking-kxr-rl</a:t>
            </a:r>
          </a:p>
          <a:p>
            <a:pPr algn="ctr"/>
            <a:r>
              <a:rPr sz="105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MuJoCoで立上り・歩行を学習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0" y="4800600"/>
            <a:ext cx="2103120" cy="100584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 wrap="square" lIns="73152" rIns="73152" tIns="73152" bIns="73152"/>
          <a:lstStyle/>
          <a:p>
            <a:pPr algn="ctr"/>
            <a:r>
              <a:rPr sz="1300" b="1" i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M5Stack ファーム</a:t>
            </a:r>
          </a:p>
          <a:p>
            <a:pPr algn="ctr"/>
            <a:r>
              <a:rPr sz="105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kxr5s: 方策を搭載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18320" y="4800600"/>
            <a:ext cx="2286000" cy="100584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 wrap="square" lIns="73152" rIns="73152" tIns="73152" bIns="73152"/>
          <a:lstStyle/>
          <a:p>
            <a:pPr algn="ctr"/>
            <a:r>
              <a:rPr sz="1300" b="1" i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URDF Webビューア</a:t>
            </a:r>
          </a:p>
          <a:p>
            <a:pPr algn="ctr"/>
            <a:r>
              <a:rPr sz="105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docs/urdf_viewer (GitHub Pages)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566160" y="5303520"/>
            <a:ext cx="457200" cy="0"/>
          </a:xfrm>
          <a:prstGeom prst="line">
            <a:avLst/>
          </a:prstGeom>
          <a:ln w="25400">
            <a:solidFill>
              <a:srgbClr val="5B67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400800" y="5303520"/>
            <a:ext cx="457200" cy="0"/>
          </a:xfrm>
          <a:prstGeom prst="line">
            <a:avLst/>
          </a:prstGeom>
          <a:ln w="25400">
            <a:solidFill>
              <a:srgbClr val="5B67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280160" y="60350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モデル生成・変換はすべて Euslisp 内で完結（ROSの collada_urdf 等の外部ツール不要）。同じモデルが「表示・実機・学習・Web」の4方向に流れる。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このシステムの意義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2651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599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設定エントリ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ロボット・部品モジュールの定義数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463040"/>
            <a:ext cx="2651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4688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骨格ファミリー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834640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2脚・4肢・6肢・車輪・着脱モジュール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463040"/>
            <a:ext cx="2651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4688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外部ツール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834640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モデル生成・URDF/MJCF変換まで自前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463040"/>
            <a:ext cx="2651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4688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公開モデル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834640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Webビューアで閲覧可能なURDF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49039"/>
            <a:ext cx="3474720" cy="237744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2959" y="39319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F7A8C"/>
                </a:solidFill>
                <a:latin typeface="Yu Gothic"/>
                <a:ea typeface="Yu Gothic"/>
                <a:cs typeface="Yu Gothic"/>
              </a:rPr>
              <a:t>教育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4434840"/>
            <a:ext cx="29718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組み立てた機体がそのまま3Dモデルになり、順・逆運動学、重心、干渉をすぐ試せる。部品の選択と身体の能力の関係を体験的に学べる。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79" y="3749039"/>
            <a:ext cx="3474720" cy="237744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571999" y="39319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F7A8C"/>
                </a:solidFill>
                <a:latin typeface="Yu Gothic"/>
                <a:ea typeface="Yu Gothic"/>
                <a:cs typeface="Yu Gothic"/>
              </a:rPr>
              <a:t>研究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1999" y="4434840"/>
            <a:ext cx="29718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身体(形態)だけを変えて同じアルゴリズムを比較できる。多様な身体で全身行動・道具使用・学習を検証する基盤になる。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19" y="3749039"/>
            <a:ext cx="3474720" cy="237744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321040" y="39319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F7A8C"/>
                </a:solidFill>
                <a:latin typeface="Yu Gothic"/>
                <a:ea typeface="Yu Gothic"/>
                <a:cs typeface="Yu Gothic"/>
              </a:rPr>
              <a:t>Sim2Real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434840"/>
            <a:ext cx="29718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同一モデルから URDF/MJCF を出力して強化学習し、得た方策を実機のマイコンで動かす。シミュレーションと実機の差が小さい。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73736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246120"/>
            <a:ext cx="6583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Euslispファイルの役割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069080"/>
            <a:ext cx="6217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C5D0DE"/>
                </a:solidFill>
                <a:latin typeface="Yu Gothic"/>
                <a:ea typeface="Yu Gothic"/>
                <a:cs typeface="Yu Gothic"/>
              </a:rPr>
              <a:t>kxreus 直下の約60個の .l ファイルを、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C5D0DE"/>
                </a:solidFill>
                <a:latin typeface="Yu Gothic"/>
                <a:ea typeface="Yu Gothic"/>
                <a:cs typeface="Yu Gothic"/>
              </a:rPr>
              <a:t>層構造で理解する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371600"/>
            <a:ext cx="1920240" cy="192024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6" name="Picture 5" descr="la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1920240" cy="1920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692640" y="1371600"/>
            <a:ext cx="1920240" cy="192024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8" name="Picture 7" descr="lleg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1371600"/>
            <a:ext cx="1920240" cy="19202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589520" y="3474720"/>
            <a:ext cx="1920240" cy="192024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0" name="Picture 9" descr="kxrl2bod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3474720"/>
            <a:ext cx="1920240" cy="1920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692640" y="3474720"/>
            <a:ext cx="1920240" cy="192024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2" name="Picture 11" descr="lg1s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0" y="3474720"/>
            <a:ext cx="1920240" cy="19202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AA8BA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層構造：部品 → リンク → ロボット → 設定 → 実機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6949440" cy="566928"/>
          </a:xfrm>
          <a:prstGeom prst="roundRect">
            <a:avLst>
              <a:gd name="adj" fmla="val 12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554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7  実機通信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463040"/>
            <a:ext cx="3108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rcb4interface.l  atominterface.l  ftdi.l  uart.l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0" y="1463040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USB/無線でRCB-4と通信、*ri*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30552"/>
            <a:ext cx="6949440" cy="566928"/>
          </a:xfrm>
          <a:prstGeom prst="roundRect">
            <a:avLst>
              <a:gd name="adj" fmla="val 12000"/>
            </a:avLst>
          </a:prstGeom>
          <a:solidFill>
            <a:srgbClr val="DDEEF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2130552"/>
            <a:ext cx="1554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6 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2130552"/>
            <a:ext cx="3108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rcb4robots.l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2130552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make-kxr-robot / kxr-create-robot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98064"/>
            <a:ext cx="6949440" cy="566928"/>
          </a:xfrm>
          <a:prstGeom prst="roundRect">
            <a:avLst>
              <a:gd name="adj" fmla="val 12000"/>
            </a:avLst>
          </a:prstGeom>
          <a:solidFill>
            <a:srgbClr val="FDEBD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1520" y="2798064"/>
            <a:ext cx="1554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5  設定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798064"/>
            <a:ext cx="3108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rcb4robotconfig.l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2798064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ロボット名 → model-param・サーボID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65576"/>
            <a:ext cx="6949440" cy="566928"/>
          </a:xfrm>
          <a:prstGeom prst="roundRect">
            <a:avLst>
              <a:gd name="adj" fmla="val 12000"/>
            </a:avLst>
          </a:prstGeom>
          <a:solidFill>
            <a:srgbClr val="DDEEF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31520" y="3465576"/>
            <a:ext cx="1554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4  ロボット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3465576"/>
            <a:ext cx="3108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kxrmodels.l  khrmodels.l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3465576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kxr-robot クラスと :setup-xxx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133087"/>
            <a:ext cx="6949440" cy="566928"/>
          </a:xfrm>
          <a:prstGeom prst="roundRect">
            <a:avLst>
              <a:gd name="adj" fmla="val 12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31520" y="4133087"/>
            <a:ext cx="1554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3  リンク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4133087"/>
            <a:ext cx="3108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kxrlinks.l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4133087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質量・重心付き bodyset-link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800600"/>
            <a:ext cx="6949440" cy="566928"/>
          </a:xfrm>
          <a:prstGeom prst="roundRect">
            <a:avLst>
              <a:gd name="adj" fmla="val 12000"/>
            </a:avLst>
          </a:prstGeom>
          <a:solidFill>
            <a:srgbClr val="DDEEF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31520" y="4800600"/>
            <a:ext cx="1554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2  部品組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4800600"/>
            <a:ext cx="3108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kxrbodyset.l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7800" y="4800600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複数部品＋関節座標(joint-coord)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468112"/>
            <a:ext cx="6949440" cy="566928"/>
          </a:xfrm>
          <a:prstGeom prst="roundRect">
            <a:avLst>
              <a:gd name="adj" fmla="val 12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31520" y="5468112"/>
            <a:ext cx="1554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1  部品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5468112"/>
            <a:ext cx="3108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kxrbody.l  m5models.l  kxrboards.l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57800" y="5468112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サーボ・フレーム・基板の形状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146304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下から上へ組み上がる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1920240"/>
            <a:ext cx="3749039" cy="29260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marL="201168" indent="-182880">
              <a:spcAft>
                <a:spcPts val="800"/>
              </a:spcAft>
              <a:buClr>
                <a:srgbClr val="EE7B1E"/>
              </a:buClr>
              <a:buFont typeface="Arial"/>
              <a:buChar char="■"/>
            </a:pPr>
            <a:r>
              <a:rPr sz="140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層1〜3は「形」と「物理」(質量・重心・慣性)</a:t>
            </a:r>
          </a:p>
          <a:p>
            <a:pPr marL="201168" indent="-182880">
              <a:spcAft>
                <a:spcPts val="800"/>
              </a:spcAft>
              <a:buClr>
                <a:srgbClr val="EE7B1E"/>
              </a:buClr>
              <a:buFont typeface="Arial"/>
              <a:buChar char="■"/>
            </a:pPr>
            <a:r>
              <a:rPr sz="140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層4が関節をつないで robot-model を作る</a:t>
            </a:r>
          </a:p>
          <a:p>
            <a:pPr marL="201168" indent="-182880">
              <a:spcAft>
                <a:spcPts val="800"/>
              </a:spcAft>
              <a:buClr>
                <a:srgbClr val="EE7B1E"/>
              </a:buClr>
              <a:buFont typeface="Arial"/>
              <a:buChar char="■"/>
            </a:pPr>
            <a:r>
              <a:rPr sz="140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層5の設定を書き換えるだけで別のロボットになる</a:t>
            </a:r>
          </a:p>
          <a:p>
            <a:pPr marL="201168" indent="-182880">
              <a:spcAft>
                <a:spcPts val="800"/>
              </a:spcAft>
              <a:buClr>
                <a:srgbClr val="EE7B1E"/>
              </a:buClr>
              <a:buFont typeface="Arial"/>
              <a:buChar char="■"/>
            </a:pPr>
            <a:r>
              <a:rPr sz="140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層6・7は実機接続。サーボIDの集合から機種を自動判定(:scan-robot-name)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0" y="4800600"/>
            <a:ext cx="1463040" cy="146304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35" name="Picture 34" descr="lle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4800600"/>
            <a:ext cx="1463040" cy="1463040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9966960" y="4800600"/>
            <a:ext cx="1463040" cy="146304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37" name="Picture 36" descr="kxrl2l6a6h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4800600"/>
            <a:ext cx="1463040" cy="1463040"/>
          </a:xfrm>
          <a:prstGeom prst="rect">
            <a:avLst/>
          </a:prstGeom>
        </p:spPr>
      </p:pic>
      <p:cxnSp>
        <p:nvCxnSpPr>
          <p:cNvPr id="38" name="Connector 37"/>
          <p:cNvCxnSpPr/>
          <p:nvPr/>
        </p:nvCxnSpPr>
        <p:spPr>
          <a:xfrm>
            <a:off x="9555480" y="5532120"/>
            <a:ext cx="365760" cy="0"/>
          </a:xfrm>
          <a:prstGeom prst="line">
            <a:avLst/>
          </a:prstGeom>
          <a:ln w="25400">
            <a:solidFill>
              <a:srgbClr val="EE7B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ファイルの役割 (1)  モデル生成・可視化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1064239" cy="471830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566160"/>
                <a:gridCol w="7498079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ファイル</a:t>
                      </a:r>
                    </a:p>
                  </a:txBody>
                  <a:tcPr marL="73152" marR="73152" marT="27432" marB="27432" anchor="ctr">
                    <a:solidFill>
                      <a:srgbClr val="1722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役割</a:t>
                      </a:r>
                    </a:p>
                  </a:txBody>
                  <a:tcPr marL="73152" marR="73152" marT="27432" marB="27432" anchor="ctr">
                    <a:solidFill>
                      <a:srgbClr val="172233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E293B"/>
                          </a:solidFill>
                          <a:latin typeface="Courier New"/>
                          <a:ea typeface="Yu Gothic"/>
                          <a:cs typeface="Yu Gothic"/>
                        </a:rPr>
                        <a:t>kxrbody.l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KRSサーボ・フレーム・ジョイントベース・ネジ等、部品の3D形状(body)を定義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E293B"/>
                          </a:solidFill>
                          <a:latin typeface="Courier New"/>
                          <a:ea typeface="Yu Gothic"/>
                          <a:cs typeface="Yu Gothic"/>
                        </a:rPr>
                        <a:t>m5models.l / kxrboards.l</a:t>
                      </a:r>
                    </a:p>
                  </a:txBody>
                  <a:tcPr marL="73152" marR="73152" marT="27432" marB="27432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M5Stack(AtomS3, M5StickV等)、RCB-4/ARM基板などの電子部品モデル</a:t>
                      </a:r>
                    </a:p>
                  </a:txBody>
                  <a:tcPr marL="73152" marR="73152" marT="27432" marB="27432" anchor="ctr">
                    <a:solidFill>
                      <a:srgbClr val="EDF2F7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E293B"/>
                          </a:solidFill>
                          <a:latin typeface="Courier New"/>
                          <a:ea typeface="Yu Gothic"/>
                          <a:cs typeface="Yu Gothic"/>
                        </a:rPr>
                        <a:t>kxr-body-minus-holes.l / kxr-stl-cache.l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多数の穴あけの高速化、STL読み込みのディスクキャッシュ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E293B"/>
                          </a:solidFill>
                          <a:latin typeface="Courier New"/>
                          <a:ea typeface="Yu Gothic"/>
                          <a:cs typeface="Yu Gothic"/>
                        </a:rPr>
                        <a:t>kxrbodyset.l</a:t>
                      </a:r>
                    </a:p>
                  </a:txBody>
                  <a:tcPr marL="73152" marR="73152" marT="27432" marB="27432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部品を組み合わせた bodyset と関節座標を作る関数群</a:t>
                      </a:r>
                    </a:p>
                  </a:txBody>
                  <a:tcPr marL="73152" marR="73152" marT="27432" marB="27432" anchor="ctr">
                    <a:solidFill>
                      <a:srgbClr val="EDF2F7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E293B"/>
                          </a:solidFill>
                          <a:latin typeface="Courier New"/>
                          <a:ea typeface="Yu Gothic"/>
                          <a:cs typeface="Yu Gothic"/>
                        </a:rPr>
                        <a:t>kxrlinks.l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bodyset から質量・重心付きリンク(kxr-link-create)を作る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E293B"/>
                          </a:solidFill>
                          <a:latin typeface="Courier New"/>
                          <a:ea typeface="Yu Gothic"/>
                          <a:cs typeface="Yu Gothic"/>
                        </a:rPr>
                        <a:t>kxrmodels.l</a:t>
                      </a:r>
                    </a:p>
                  </a:txBody>
                  <a:tcPr marL="73152" marR="73152" marT="27432" marB="27432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kxr-robot クラス。:setup-body/torso/neck/head/arm/leg/gripper… で全身を組立</a:t>
                      </a:r>
                    </a:p>
                  </a:txBody>
                  <a:tcPr marL="73152" marR="73152" marT="27432" marB="27432" anchor="ctr">
                    <a:solidFill>
                      <a:srgbClr val="EDF2F7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E293B"/>
                          </a:solidFill>
                          <a:latin typeface="Courier New"/>
                          <a:ea typeface="Yu Gothic"/>
                          <a:cs typeface="Yu Gothic"/>
                        </a:rPr>
                        <a:t>khrmodels.l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KHR シリーズ(KHR-3 等)のロボットモデル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E293B"/>
                          </a:solidFill>
                          <a:latin typeface="Courier New"/>
                          <a:ea typeface="Yu Gothic"/>
                          <a:cs typeface="Yu Gothic"/>
                        </a:rPr>
                        <a:t>rcb4robotconfig.l</a:t>
                      </a:r>
                    </a:p>
                  </a:txBody>
                  <a:tcPr marL="73152" marR="73152" marT="27432" marB="27432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全ロボット・モジュールの設定 *kxr-body-config-alist* (599件)</a:t>
                      </a:r>
                    </a:p>
                  </a:txBody>
                  <a:tcPr marL="73152" marR="73152" marT="27432" marB="27432" anchor="ctr">
                    <a:solidFill>
                      <a:srgbClr val="EDF2F7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E293B"/>
                          </a:solidFill>
                          <a:latin typeface="Courier New"/>
                          <a:ea typeface="Yu Gothic"/>
                          <a:cs typeface="Yu Gothic"/>
                        </a:rPr>
                        <a:t>rcb4robots.l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make-kxr-robot 等の生成API、実機からの機種自動判定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E293B"/>
                          </a:solidFill>
                          <a:latin typeface="Courier New"/>
                          <a:ea typeface="Yu Gothic"/>
                          <a:cs typeface="Yu Gothic"/>
                        </a:rPr>
                        <a:t>kxranimate.l / kxrviewer.l</a:t>
                      </a:r>
                    </a:p>
                  </a:txBody>
                  <a:tcPr marL="73152" marR="73152" marT="27432" marB="27432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一覧表示(objects-kxr-robots)、アニメーション・GIF保存、ビューア</a:t>
                      </a:r>
                    </a:p>
                  </a:txBody>
                  <a:tcPr marL="73152" marR="73152" marT="27432" marB="27432" anchor="ctr">
                    <a:solidFill>
                      <a:srgbClr val="EDF2F7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E293B"/>
                          </a:solidFill>
                          <a:latin typeface="Courier New"/>
                          <a:ea typeface="Yu Gothic"/>
                          <a:cs typeface="Yu Gothic"/>
                        </a:rPr>
                        <a:t>utils.l / eusrc.l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共通ユーティリティ(歩行 :walk-motion 等)、ロードパス設定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ファイルの役割 (2)  実機通信・モーション・言語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1064239" cy="4114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566160"/>
                <a:gridCol w="7498079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ファイル</a:t>
                      </a:r>
                    </a:p>
                  </a:txBody>
                  <a:tcPr marL="73152" marR="73152" marT="27432" marB="27432" anchor="ctr">
                    <a:solidFill>
                      <a:srgbClr val="1722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役割</a:t>
                      </a:r>
                    </a:p>
                  </a:txBody>
                  <a:tcPr marL="73152" marR="73152" marT="27432" marB="27432" anchor="ctr">
                    <a:solidFill>
                      <a:srgbClr val="17223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E293B"/>
                          </a:solidFill>
                          <a:latin typeface="Courier New"/>
                          <a:ea typeface="Yu Gothic"/>
                          <a:cs typeface="Yu Gothic"/>
                        </a:rPr>
                        <a:t>rcb4interface.l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RCB-4 通信クラス(*ri*)。:angle-vector, :free/:hold, :call-motion, :read-servo-connected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E293B"/>
                          </a:solidFill>
                          <a:latin typeface="Courier New"/>
                          <a:ea typeface="Yu Gothic"/>
                          <a:cs typeface="Yu Gothic"/>
                        </a:rPr>
                        <a:t>atominterface.l</a:t>
                      </a:r>
                    </a:p>
                  </a:txBody>
                  <a:tcPr marL="73152" marR="73152" marT="27432" marB="27432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ATOM Echo / AtomS3 の ESP-NOW 無線ブリッジ、M5StickV カメラ連携</a:t>
                      </a:r>
                    </a:p>
                  </a:txBody>
                  <a:tcPr marL="73152" marR="73152" marT="27432" marB="27432" anchor="ctr">
                    <a:solidFill>
                      <a:srgbClr val="EDF2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E293B"/>
                          </a:solidFill>
                          <a:latin typeface="Courier New"/>
                          <a:ea typeface="Yu Gothic"/>
                          <a:cs typeface="Yu Gothic"/>
                        </a:rPr>
                        <a:t>ftdi.l / uart.l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libftdi による Dual USB Adapter 通信、汎用UART(高ボーレート対応)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E293B"/>
                          </a:solidFill>
                          <a:latin typeface="Courier New"/>
                          <a:ea typeface="Yu Gothic"/>
                          <a:cs typeface="Yu Gothic"/>
                        </a:rPr>
                        <a:t>rcb4asm.l</a:t>
                      </a:r>
                    </a:p>
                  </a:txBody>
                  <a:tcPr marL="73152" marR="73152" marT="27432" marB="27432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RCB-4 命令のアセンブラ／逆アセンブラ(ROM上のモーション操作)</a:t>
                      </a:r>
                    </a:p>
                  </a:txBody>
                  <a:tcPr marL="73152" marR="73152" marT="27432" marB="27432" anchor="ctr">
                    <a:solidFill>
                      <a:srgbClr val="EDF2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E293B"/>
                          </a:solidFill>
                          <a:latin typeface="Courier New"/>
                          <a:ea typeface="Yu Gothic"/>
                          <a:cs typeface="Yu Gothic"/>
                        </a:rPr>
                        <a:t>rcb4lisp.l / rcb4machine.l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RCB-4 上で動く小さな Lisp のコンパイラと仮想機械 (千葉滋 2019)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E293B"/>
                          </a:solidFill>
                          <a:latin typeface="Courier New"/>
                          <a:ea typeface="Yu Gothic"/>
                          <a:cs typeface="Yu Gothic"/>
                        </a:rPr>
                        <a:t>rcb4file.l</a:t>
                      </a:r>
                    </a:p>
                  </a:txBody>
                  <a:tcPr marL="73152" marR="73152" marT="27432" marB="27432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プロジェクトファイル読込、HeartToHeart 互換 CanvasData 出力</a:t>
                      </a:r>
                    </a:p>
                  </a:txBody>
                  <a:tcPr marL="73152" marR="73152" marT="27432" marB="27432" anchor="ctr">
                    <a:solidFill>
                      <a:srgbClr val="EDF2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E293B"/>
                          </a:solidFill>
                          <a:latin typeface="Courier New"/>
                          <a:ea typeface="Yu Gothic"/>
                          <a:cs typeface="Yu Gothic"/>
                        </a:rPr>
                        <a:t>kxrremocon.l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KRC リモコンのエミュレータ・ボタン割り当て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E293B"/>
                          </a:solidFill>
                          <a:latin typeface="Courier New"/>
                          <a:ea typeface="Yu Gothic"/>
                          <a:cs typeface="Yu Gothic"/>
                        </a:rPr>
                        <a:t>rcb4rosinterface.l / rcb4roscontroller.l</a:t>
                      </a:r>
                    </a:p>
                  </a:txBody>
                  <a:tcPr marL="73152" marR="73152" marT="27432" marB="27432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ROS 連携(トピック・コントローラ)</a:t>
                      </a:r>
                    </a:p>
                  </a:txBody>
                  <a:tcPr marL="73152" marR="73152" marT="27432" marB="27432" anchor="ctr"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5715000"/>
            <a:ext cx="11064240" cy="658368"/>
          </a:xfrm>
          <a:prstGeom prst="roundRect">
            <a:avLst>
              <a:gd name="adj" fmla="val 4000"/>
            </a:avLst>
          </a:prstGeom>
          <a:solidFill>
            <a:srgbClr val="1E273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5824728"/>
            <a:ext cx="10789919" cy="4389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(send *ri* :angle-vector (send *robot* :angle-vector) 2000)  </a:t>
            </a:r>
            <a:r>
              <a:rPr sz="1300" b="0" i="0">
                <a:solidFill>
                  <a:srgbClr val="8FB38A"/>
                </a:solidFill>
                <a:latin typeface="Courier New"/>
                <a:ea typeface="Yu Gothic"/>
                <a:cs typeface="Yu Gothic"/>
              </a:rPr>
              <a:t>;; モデルの姿勢を2秒で実機へ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ファイルの役割 (3)  モデル変換・アプリケーション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7A8C"/>
                </a:solidFill>
                <a:latin typeface="Yu Gothic"/>
                <a:ea typeface="Yu Gothic"/>
                <a:cs typeface="Yu Gothic"/>
              </a:rPr>
              <a:t>モデル変換（外部ツール不要）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83080"/>
          <a:ext cx="5486400" cy="3657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651760"/>
                <a:gridCol w="28346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ファイル</a:t>
                      </a:r>
                    </a:p>
                  </a:txBody>
                  <a:tcPr marL="73152" marR="73152" marT="27432" marB="27432" anchor="ctr">
                    <a:solidFill>
                      <a:srgbClr val="1722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変換</a:t>
                      </a:r>
                    </a:p>
                  </a:txBody>
                  <a:tcPr marL="73152" marR="73152" marT="27432" marB="27432" anchor="ctr">
                    <a:solidFill>
                      <a:srgbClr val="17223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E293B"/>
                          </a:solidFill>
                          <a:latin typeface="Courier New"/>
                          <a:ea typeface="Yu Gothic"/>
                          <a:cs typeface="Yu Gothic"/>
                        </a:rPr>
                        <a:t>eus2urdf.l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robot-model → URDF+STL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E293B"/>
                          </a:solidFill>
                          <a:latin typeface="Courier New"/>
                          <a:ea typeface="Yu Gothic"/>
                          <a:cs typeface="Yu Gothic"/>
                        </a:rPr>
                        <a:t>eus2mujoco.l</a:t>
                      </a:r>
                    </a:p>
                  </a:txBody>
                  <a:tcPr marL="73152" marR="73152" marT="27432" marB="27432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robot-model → MuJoCo MJCF</a:t>
                      </a:r>
                    </a:p>
                  </a:txBody>
                  <a:tcPr marL="73152" marR="73152" marT="27432" marB="27432" anchor="ctr">
                    <a:solidFill>
                      <a:srgbClr val="EDF2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E293B"/>
                          </a:solidFill>
                          <a:latin typeface="Courier New"/>
                          <a:ea typeface="Yu Gothic"/>
                          <a:cs typeface="Yu Gothic"/>
                        </a:rPr>
                        <a:t>eus2native-collada.l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robot-model → models/&lt;名前&gt;.l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E293B"/>
                          </a:solidFill>
                          <a:latin typeface="Courier New"/>
                          <a:ea typeface="Yu Gothic"/>
                          <a:cs typeface="Yu Gothic"/>
                        </a:rPr>
                        <a:t>eus2collada.l / eus2wrl.l</a:t>
                      </a:r>
                    </a:p>
                  </a:txBody>
                  <a:tcPr marL="73152" marR="73152" marT="27432" marB="27432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→ COLLADA / VRML</a:t>
                      </a:r>
                    </a:p>
                  </a:txBody>
                  <a:tcPr marL="73152" marR="73152" marT="27432" marB="27432" anchor="ctr">
                    <a:solidFill>
                      <a:srgbClr val="EDF2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E293B"/>
                          </a:solidFill>
                          <a:latin typeface="Courier New"/>
                          <a:ea typeface="Yu Gothic"/>
                          <a:cs typeface="Yu Gothic"/>
                        </a:rPr>
                        <a:t>urdf2eus.l / mujoco2eus.l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URDF / MJCF → Euslisp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E293B"/>
                          </a:solidFill>
                          <a:latin typeface="Courier New"/>
                          <a:ea typeface="Yu Gothic"/>
                          <a:cs typeface="Yu Gothic"/>
                        </a:rPr>
                        <a:t>collada2eus.l / vrml2eus.l</a:t>
                      </a:r>
                    </a:p>
                  </a:txBody>
                  <a:tcPr marL="73152" marR="73152" marT="27432" marB="27432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COLLADA / VRML → Euslisp</a:t>
                      </a:r>
                    </a:p>
                  </a:txBody>
                  <a:tcPr marL="73152" marR="73152" marT="27432" marB="27432" anchor="ctr">
                    <a:solidFill>
                      <a:srgbClr val="EDF2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E293B"/>
                          </a:solidFill>
                          <a:latin typeface="Courier New"/>
                          <a:ea typeface="Yu Gothic"/>
                          <a:cs typeface="Yu Gothic"/>
                        </a:rPr>
                        <a:t>tiny-xml.l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上記で使う軽量XMLパーサ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55080" y="13716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7A8C"/>
                </a:solidFill>
                <a:latin typeface="Yu Gothic"/>
                <a:ea typeface="Yu Gothic"/>
                <a:cs typeface="Yu Gothic"/>
              </a:rPr>
              <a:t>アプリケーション・デモ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55080" y="1783080"/>
          <a:ext cx="5303520" cy="3657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60"/>
                <a:gridCol w="31089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ファイル</a:t>
                      </a:r>
                    </a:p>
                  </a:txBody>
                  <a:tcPr marL="73152" marR="73152" marT="27432" marB="27432" anchor="ctr">
                    <a:solidFill>
                      <a:srgbClr val="1722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内容</a:t>
                      </a:r>
                    </a:p>
                  </a:txBody>
                  <a:tcPr marL="73152" marR="73152" marT="27432" marB="27432" anchor="ctr">
                    <a:solidFill>
                      <a:srgbClr val="17223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E293B"/>
                          </a:solidFill>
                          <a:latin typeface="Courier New"/>
                          <a:ea typeface="Yu Gothic"/>
                          <a:cs typeface="Yu Gothic"/>
                        </a:rPr>
                        <a:t>semi2024.l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演習用デモ集(実機・車輪・Lisp・音声)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E293B"/>
                          </a:solidFill>
                          <a:latin typeface="Courier New"/>
                          <a:ea typeface="Yu Gothic"/>
                          <a:cs typeface="Yu Gothic"/>
                        </a:rPr>
                        <a:t>rubikcube.l ほか</a:t>
                      </a:r>
                    </a:p>
                  </a:txBody>
                  <a:tcPr marL="73152" marR="73152" marT="27432" marB="27432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キューブを持ち替えて解く(D405/M5)</a:t>
                      </a:r>
                    </a:p>
                  </a:txBody>
                  <a:tcPr marL="73152" marR="73152" marT="27432" marB="27432" anchor="ctr">
                    <a:solidFill>
                      <a:srgbClr val="EDF2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E293B"/>
                          </a:solidFill>
                          <a:latin typeface="Courier New"/>
                          <a:ea typeface="Yu Gothic"/>
                          <a:cs typeface="Yu Gothic"/>
                        </a:rPr>
                        <a:t>load-robot.l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models/ からの簡易読込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E293B"/>
                          </a:solidFill>
                          <a:latin typeface="Courier New"/>
                          <a:ea typeface="Yu Gothic"/>
                          <a:cs typeface="Yu Gothic"/>
                        </a:rPr>
                        <a:t>iarm.l</a:t>
                      </a:r>
                    </a:p>
                  </a:txBody>
                  <a:tcPr marL="73152" marR="73152" marT="27432" marB="27432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Ichiro Arm (富山県立大) 用</a:t>
                      </a:r>
                    </a:p>
                  </a:txBody>
                  <a:tcPr marL="73152" marR="73152" marT="27432" marB="27432" anchor="ctr">
                    <a:solidFill>
                      <a:srgbClr val="EDF2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E293B"/>
                          </a:solidFill>
                          <a:latin typeface="Courier New"/>
                          <a:ea typeface="Yu Gothic"/>
                          <a:cs typeface="Yu Gothic"/>
                        </a:rPr>
                        <a:t>lispcontest1979.l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Lispコンテスト(竹内郁雄)課題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E293B"/>
                          </a:solidFill>
                          <a:latin typeface="Courier New"/>
                          <a:ea typeface="Yu Gothic"/>
                          <a:cs typeface="Yu Gothic"/>
                        </a:rPr>
                        <a:t>walking-kxr-rl/</a:t>
                      </a:r>
                    </a:p>
                  </a:txBody>
                  <a:tcPr marL="73152" marR="73152" marT="27432" marB="27432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MuJoCo 強化学習 (Python, uv)</a:t>
                      </a:r>
                    </a:p>
                  </a:txBody>
                  <a:tcPr marL="73152" marR="73152" marT="27432" marB="27432" anchor="ctr">
                    <a:solidFill>
                      <a:srgbClr val="EDF2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E293B"/>
                          </a:solidFill>
                          <a:latin typeface="Courier New"/>
                          <a:ea typeface="Yu Gothic"/>
                          <a:cs typeface="Yu Gothic"/>
                        </a:rPr>
                        <a:t>m5stack/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AtomS3/M5StickC ファームウェア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その他のディレクトリ：models/(生成済みモデル)・eusurdf/・eusmjcf/(変換出力)・stls/(部品メッシュ)・glbodies/(形状キャッシュ)・docs/(Webビューア)・udevs/(USB権限)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73736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246120"/>
            <a:ext cx="6583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環境の構築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069080"/>
            <a:ext cx="6217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C5D0DE"/>
                </a:solidFill>
                <a:latin typeface="Yu Gothic"/>
                <a:ea typeface="Yu Gothic"/>
                <a:cs typeface="Yu Gothic"/>
              </a:rPr>
              <a:t>Ubuntu + ROS(roseus) の上に kxreus を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C5D0DE"/>
                </a:solidFill>
                <a:latin typeface="Yu Gothic"/>
                <a:ea typeface="Yu Gothic"/>
                <a:cs typeface="Yu Gothic"/>
              </a:rPr>
              <a:t>ビルドし、最初の1体を表示する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371600"/>
            <a:ext cx="1920240" cy="192024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6" name="Picture 5" descr="kxrl2l2a6h2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1920240" cy="1920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692640" y="1371600"/>
            <a:ext cx="1920240" cy="192024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8" name="Picture 7" descr="kxrl4th2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1371600"/>
            <a:ext cx="1920240" cy="19202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589520" y="3474720"/>
            <a:ext cx="1920240" cy="192024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0" name="Picture 9" descr="kxra6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3474720"/>
            <a:ext cx="1920240" cy="1920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692640" y="3474720"/>
            <a:ext cx="1920240" cy="192024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2" name="Picture 11" descr="kxrl2l5a4h2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0" y="3474720"/>
            <a:ext cx="1920240" cy="19202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AA8BA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環境構築の手順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481328"/>
            <a:ext cx="457200" cy="457200"/>
          </a:xfrm>
          <a:prstGeom prst="ellipse">
            <a:avLst/>
          </a:prstGeom>
          <a:solidFill>
            <a:srgbClr val="EE7B1E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417320"/>
            <a:ext cx="29260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ROS と roseus を導入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463040"/>
            <a:ext cx="3840480" cy="493776"/>
          </a:xfrm>
          <a:prstGeom prst="roundRect">
            <a:avLst>
              <a:gd name="adj" fmla="val 12000"/>
            </a:avLst>
          </a:prstGeom>
          <a:solidFill>
            <a:srgbClr val="1E273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251960" y="1463040"/>
            <a:ext cx="36576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sudo apt install ros-noetic-roseus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48840"/>
            <a:ext cx="457200" cy="457200"/>
          </a:xfrm>
          <a:prstGeom prst="ellipse">
            <a:avLst/>
          </a:prstGeom>
          <a:solidFill>
            <a:srgbClr val="EE7B1E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084832"/>
            <a:ext cx="29260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再起動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2130552"/>
            <a:ext cx="3840480" cy="493776"/>
          </a:xfrm>
          <a:prstGeom prst="roundRect">
            <a:avLst>
              <a:gd name="adj" fmla="val 12000"/>
            </a:avLst>
          </a:prstGeom>
          <a:solidFill>
            <a:srgbClr val="1E273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251960" y="2130552"/>
            <a:ext cx="36576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sudo reboot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816351"/>
            <a:ext cx="457200" cy="457200"/>
          </a:xfrm>
          <a:prstGeom prst="ellipse">
            <a:avLst/>
          </a:prstGeom>
          <a:solidFill>
            <a:srgbClr val="EE7B1E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752344"/>
            <a:ext cx="29260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USBドライバ等のライブラリ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2798063"/>
            <a:ext cx="3840480" cy="493776"/>
          </a:xfrm>
          <a:prstGeom prst="roundRect">
            <a:avLst>
              <a:gd name="adj" fmla="val 12000"/>
            </a:avLst>
          </a:prstGeom>
          <a:solidFill>
            <a:srgbClr val="1E273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251960" y="2798063"/>
            <a:ext cx="36576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cd kxreus &amp;&amp; make libs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483864"/>
            <a:ext cx="457200" cy="457200"/>
          </a:xfrm>
          <a:prstGeom prst="ellipse">
            <a:avLst/>
          </a:prstGeom>
          <a:solidFill>
            <a:srgbClr val="EE7B1E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419856"/>
            <a:ext cx="29260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Euslisp をコンパイル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0" y="3465576"/>
            <a:ext cx="3840480" cy="493776"/>
          </a:xfrm>
          <a:prstGeom prst="roundRect">
            <a:avLst>
              <a:gd name="adj" fmla="val 12000"/>
            </a:avLst>
          </a:prstGeom>
          <a:solidFill>
            <a:srgbClr val="1E273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251960" y="3465576"/>
            <a:ext cx="36576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make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4151376"/>
            <a:ext cx="457200" cy="457200"/>
          </a:xfrm>
          <a:prstGeom prst="ellipse">
            <a:avLst/>
          </a:prstGeom>
          <a:solidFill>
            <a:srgbClr val="EE7B1E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087368"/>
            <a:ext cx="29260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代表ロボットを生成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0" y="4133087"/>
            <a:ext cx="3840480" cy="493776"/>
          </a:xfrm>
          <a:prstGeom prst="roundRect">
            <a:avLst>
              <a:gd name="adj" fmla="val 12000"/>
            </a:avLst>
          </a:prstGeom>
          <a:solidFill>
            <a:srgbClr val="1E273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251960" y="4133087"/>
            <a:ext cx="36576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make gen   # models/ に出力</a:t>
            </a:r>
          </a:p>
        </p:txBody>
      </p:sp>
      <p:sp>
        <p:nvSpPr>
          <p:cNvPr id="24" name="Oval 23"/>
          <p:cNvSpPr/>
          <p:nvPr/>
        </p:nvSpPr>
        <p:spPr>
          <a:xfrm>
            <a:off x="548640" y="4818888"/>
            <a:ext cx="457200" cy="457200"/>
          </a:xfrm>
          <a:prstGeom prst="ellipse">
            <a:avLst/>
          </a:prstGeom>
          <a:solidFill>
            <a:srgbClr val="EE7B1E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754880"/>
            <a:ext cx="29260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Dual USB Adapter を接続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0" y="4800600"/>
            <a:ext cx="3840480" cy="493776"/>
          </a:xfrm>
          <a:prstGeom prst="roundRect">
            <a:avLst>
              <a:gd name="adj" fmla="val 12000"/>
            </a:avLst>
          </a:prstGeom>
          <a:solidFill>
            <a:srgbClr val="1E273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251960" y="4800600"/>
            <a:ext cx="36576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lsusb   # "Kondo Kagaku" を確認</a:t>
            </a:r>
          </a:p>
        </p:txBody>
      </p:sp>
      <p:sp>
        <p:nvSpPr>
          <p:cNvPr id="28" name="Oval 27"/>
          <p:cNvSpPr/>
          <p:nvPr/>
        </p:nvSpPr>
        <p:spPr>
          <a:xfrm>
            <a:off x="548640" y="5486400"/>
            <a:ext cx="457200" cy="457200"/>
          </a:xfrm>
          <a:prstGeom prst="ellipse">
            <a:avLst/>
          </a:prstGeom>
          <a:solidFill>
            <a:srgbClr val="EE7B1E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422392"/>
            <a:ext cx="29260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起動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0" y="5468112"/>
            <a:ext cx="3840480" cy="493776"/>
          </a:xfrm>
          <a:prstGeom prst="roundRect">
            <a:avLst>
              <a:gd name="adj" fmla="val 12000"/>
            </a:avLst>
          </a:prstGeom>
          <a:solidFill>
            <a:srgbClr val="1E273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251960" y="5468112"/>
            <a:ext cx="36576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roseus semi2024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21040" y="1463040"/>
            <a:ext cx="3383280" cy="457200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549640" y="164592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7A8C"/>
                </a:solidFill>
                <a:latin typeface="Yu Gothic"/>
                <a:ea typeface="Yu Gothic"/>
                <a:cs typeface="Yu Gothic"/>
              </a:rPr>
              <a:t>必要なもの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9640" y="2103120"/>
            <a:ext cx="3017520" cy="38404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marL="201168" indent="-182880">
              <a:spcAft>
                <a:spcPts val="700"/>
              </a:spcAft>
              <a:buClr>
                <a:srgbClr val="EE7B1E"/>
              </a:buClr>
              <a:buFont typeface="Arial"/>
              <a:buChar char="■"/>
            </a:pPr>
            <a:r>
              <a:rPr sz="12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Ubuntu 20.04 / 18.04 と ROS noetic / melodic</a:t>
            </a:r>
          </a:p>
          <a:p>
            <a:pPr marL="201168" indent="-182880">
              <a:spcAft>
                <a:spcPts val="700"/>
              </a:spcAft>
              <a:buClr>
                <a:srgbClr val="EE7B1E"/>
              </a:buClr>
              <a:buFont typeface="Arial"/>
              <a:buChar char="■"/>
            </a:pPr>
            <a:r>
              <a:rPr sz="12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(ROSなしでも jskeus の irteusgl で可)</a:t>
            </a:r>
          </a:p>
          <a:p>
            <a:pPr marL="201168" indent="-182880">
              <a:spcAft>
                <a:spcPts val="700"/>
              </a:spcAft>
              <a:buClr>
                <a:srgbClr val="EE7B1E"/>
              </a:buClr>
              <a:buFont typeface="Arial"/>
              <a:buChar char="■"/>
            </a:pPr>
            <a:r>
              <a:rPr sz="12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近藤科学 Dual USB Adapter HS と RCB-4 (実機を動かす場合)</a:t>
            </a:r>
          </a:p>
          <a:p>
            <a:pPr marL="201168" indent="-182880">
              <a:spcAft>
                <a:spcPts val="700"/>
              </a:spcAft>
              <a:buClr>
                <a:srgbClr val="EE7B1E"/>
              </a:buClr>
              <a:buFont typeface="Arial"/>
              <a:buChar char="■"/>
            </a:pPr>
            <a:r>
              <a:rPr sz="125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任意：</a:t>
            </a:r>
            <a:r>
              <a:rPr sz="12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NVIDIA GPU + uv (強化学習)、PlatformIO (M5Stackファーム)</a:t>
            </a:r>
          </a:p>
          <a:p>
            <a:pPr marL="201168" indent="-182880">
              <a:spcAft>
                <a:spcPts val="700"/>
              </a:spcAft>
              <a:buClr>
                <a:srgbClr val="EE7B1E"/>
              </a:buClr>
              <a:buFont typeface="Arial"/>
              <a:buChar char="■"/>
            </a:pPr>
            <a:r>
              <a:rPr sz="12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モデル生成だけなら実機は不要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HELLO ROBOT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最初の一歩：モデルを表示して動かす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6766560" cy="3931920"/>
          </a:xfrm>
          <a:prstGeom prst="roundRect">
            <a:avLst>
              <a:gd name="adj" fmla="val 4000"/>
            </a:avLst>
          </a:prstGeom>
          <a:solidFill>
            <a:srgbClr val="1E273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85800" y="1572768"/>
            <a:ext cx="6492240" cy="3712463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F7C08A"/>
                </a:solidFill>
                <a:latin typeface="Courier New"/>
                <a:ea typeface="Yu Gothic"/>
                <a:cs typeface="Yu Gothic"/>
              </a:rPr>
              <a:t>$ cd kxreus; roseus semi2024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(semi-init)            </a:t>
            </a:r>
            <a:r>
              <a:rPr sz="1250" b="0" i="0">
                <a:solidFill>
                  <a:srgbClr val="8FB38A"/>
                </a:solidFill>
                <a:latin typeface="Courier New"/>
                <a:ea typeface="Yu Gothic"/>
                <a:cs typeface="Yu Gothic"/>
              </a:rPr>
              <a:t>;; デモ用UIとビューアを準備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(send *robot* :walk-motion :x 200 :y 200 :angle 10)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                      </a:t>
            </a:r>
            <a:r>
              <a:rPr sz="1250" b="0" i="0">
                <a:solidFill>
                  <a:srgbClr val="8FB38A"/>
                </a:solidFill>
                <a:latin typeface="Courier New"/>
                <a:ea typeface="Yu Gothic"/>
                <a:cs typeface="Yu Gothic"/>
              </a:rPr>
              <a:t>;; 歩行動作(irteus demo 由来)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(load "kxranimate.l")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(objects-kxr-robots)   </a:t>
            </a:r>
            <a:r>
              <a:rPr sz="1250" b="0" i="0">
                <a:solidFill>
                  <a:srgbClr val="8FB38A"/>
                </a:solidFill>
                <a:latin typeface="Courier New"/>
                <a:ea typeface="Yu Gothic"/>
                <a:cs typeface="Yu Gothic"/>
              </a:rPr>
              <a:t>;; 代表ロボットを並べて表示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(make-kxr-robot "kxrkamakiri")          </a:t>
            </a:r>
            <a:r>
              <a:rPr sz="1250" b="0" i="0">
                <a:solidFill>
                  <a:srgbClr val="8FB38A"/>
                </a:solidFill>
                <a:latin typeface="Courier New"/>
                <a:ea typeface="Yu Gothic"/>
                <a:cs typeface="Yu Gothic"/>
              </a:rPr>
              <a:t>;; models/ から読込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(make-kxr-robot "kxrkamakiri" :model nil)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                      </a:t>
            </a:r>
            <a:r>
              <a:rPr sz="1250" b="0" i="0">
                <a:solidFill>
                  <a:srgbClr val="8FB38A"/>
                </a:solidFill>
                <a:latin typeface="Courier New"/>
                <a:ea typeface="Yu Gothic"/>
                <a:cs typeface="Yu Gothic"/>
              </a:rPr>
              <a:t>;; 設定からその場で組立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(make-kxr-robot "kxrl2l6a6h2m" :generate t)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                      </a:t>
            </a:r>
            <a:r>
              <a:rPr sz="1250" b="0" i="0">
                <a:solidFill>
                  <a:srgbClr val="8FB38A"/>
                </a:solidFill>
                <a:latin typeface="Courier New"/>
                <a:ea typeface="Yu Gothic"/>
                <a:cs typeface="Yu Gothic"/>
              </a:rPr>
              <a:t>;; models/ のファイルを再生成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577840"/>
            <a:ext cx="6766560" cy="73152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5577840"/>
            <a:ext cx="6492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ビューア操作  </a:t>
            </a:r>
            <a:r>
              <a:rPr sz="130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左ドラッグ：回転  /  Shift+左：平行移動  /  Ctrl+左：拡大縮小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463040"/>
            <a:ext cx="3931920" cy="393192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9" name="Picture 8" descr="kxrkamakir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463040"/>
            <a:ext cx="3931920" cy="3931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0" y="5440680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kxrkamakiri  (27関節)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5760720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カマキリ型：4本の脚＋6自由度の双腕グリッパ＋D405カメラ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73736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246120"/>
            <a:ext cx="6583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ロボットの種類と骨格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069080"/>
            <a:ext cx="6217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C5D0DE"/>
                </a:solidFill>
                <a:latin typeface="Yu Gothic"/>
                <a:ea typeface="Yu Gothic"/>
                <a:cs typeface="Yu Gothic"/>
              </a:rPr>
              <a:t>rcb4robotconfig.l の定義を骨格の型で分類し、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C5D0DE"/>
                </a:solidFill>
                <a:latin typeface="Yu Gothic"/>
                <a:ea typeface="Yu Gothic"/>
                <a:cs typeface="Yu Gothic"/>
              </a:rPr>
              <a:t>骨格ごとに可能になることを見る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371600"/>
            <a:ext cx="1920240" cy="192024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6" name="Picture 5" descr="kxrl2t2l6a7h2d4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1920240" cy="1920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692640" y="1371600"/>
            <a:ext cx="1920240" cy="192024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8" name="Picture 7" descr="kxrl4nh4g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1371600"/>
            <a:ext cx="1920240" cy="19202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589520" y="3474720"/>
            <a:ext cx="1920240" cy="192024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0" name="Picture 9" descr="kxrl6a6h2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3474720"/>
            <a:ext cx="1920240" cy="1920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692640" y="3474720"/>
            <a:ext cx="1920240" cy="192024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2" name="Picture 11" descr="kxrdw4a6h2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0" y="3474720"/>
            <a:ext cx="1920240" cy="19202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AA8BA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NAMING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ロボット名の読み方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325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000" b="1" i="0">
                <a:solidFill>
                  <a:srgbClr val="5B6778"/>
                </a:solidFill>
                <a:latin typeface="Courier New"/>
                <a:ea typeface="Yu Gothic"/>
                <a:cs typeface="Yu Gothic"/>
              </a:rPr>
              <a:t>kxr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19" y="2423160"/>
            <a:ext cx="1417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共通の</a:t>
            </a:r>
          </a:p>
          <a:p>
            <a:pPr algn="ctr"/>
            <a:r>
              <a:rPr sz="12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接頭辞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47672" y="1463040"/>
            <a:ext cx="1005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000" b="1" i="0">
                <a:solidFill>
                  <a:srgbClr val="EE7B1E"/>
                </a:solidFill>
                <a:latin typeface="Courier New"/>
                <a:ea typeface="Yu Gothic"/>
                <a:cs typeface="Yu Gothic"/>
              </a:rPr>
              <a:t>l2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1952" y="2423160"/>
            <a:ext cx="1097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脚2本</a:t>
            </a:r>
          </a:p>
          <a:p>
            <a:pPr algn="ctr"/>
            <a:r>
              <a:rPr sz="12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(2脚型)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26664" y="1463040"/>
            <a:ext cx="1005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000" b="1" i="0">
                <a:solidFill>
                  <a:srgbClr val="1F7A8C"/>
                </a:solidFill>
                <a:latin typeface="Courier New"/>
                <a:ea typeface="Yu Gothic"/>
                <a:cs typeface="Yu Gothic"/>
              </a:rPr>
              <a:t>l6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80944" y="2423160"/>
            <a:ext cx="1097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脚1本が</a:t>
            </a:r>
          </a:p>
          <a:p>
            <a:pPr algn="ctr"/>
            <a:r>
              <a:rPr sz="12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6自由度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05656" y="1463040"/>
            <a:ext cx="1005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000" b="1" i="0">
                <a:solidFill>
                  <a:srgbClr val="EE7B1E"/>
                </a:solidFill>
                <a:latin typeface="Courier New"/>
                <a:ea typeface="Yu Gothic"/>
                <a:cs typeface="Yu Gothic"/>
              </a:rPr>
              <a:t>a6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59936" y="2423160"/>
            <a:ext cx="1097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腕1本が</a:t>
            </a:r>
          </a:p>
          <a:p>
            <a:pPr algn="ctr"/>
            <a:r>
              <a:rPr sz="12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6自由度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4648" y="1463040"/>
            <a:ext cx="1005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000" b="1" i="0">
                <a:solidFill>
                  <a:srgbClr val="1F7A8C"/>
                </a:solidFill>
                <a:latin typeface="Courier New"/>
                <a:ea typeface="Yu Gothic"/>
                <a:cs typeface="Yu Gothic"/>
              </a:rPr>
              <a:t>h2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38928" y="2423160"/>
            <a:ext cx="1097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首が</a:t>
            </a:r>
          </a:p>
          <a:p>
            <a:pPr algn="ctr"/>
            <a:r>
              <a:rPr sz="12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2自由度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463040"/>
            <a:ext cx="731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000" b="1" i="0">
                <a:solidFill>
                  <a:srgbClr val="EE7B1E"/>
                </a:solidFill>
                <a:latin typeface="Courier New"/>
                <a:ea typeface="Yu Gothic"/>
                <a:cs typeface="Yu Gothic"/>
              </a:rPr>
              <a:t>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423160"/>
            <a:ext cx="822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マグネット</a:t>
            </a:r>
          </a:p>
          <a:p>
            <a:pPr algn="ctr"/>
            <a:r>
              <a:rPr sz="12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着脱部品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48640" y="3291840"/>
          <a:ext cx="7223760" cy="299923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60"/>
                <a:gridCol w="2926080"/>
                <a:gridCol w="2103120"/>
              </a:tblGrid>
              <a:tr h="37490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記号</a:t>
                      </a:r>
                    </a:p>
                  </a:txBody>
                  <a:tcPr marL="73152" marR="73152" marT="27432" marB="27432" anchor="ctr">
                    <a:solidFill>
                      <a:srgbClr val="1722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意味</a:t>
                      </a:r>
                    </a:p>
                  </a:txBody>
                  <a:tcPr marL="73152" marR="73152" marT="27432" marB="27432" anchor="ctr">
                    <a:solidFill>
                      <a:srgbClr val="1722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例</a:t>
                      </a:r>
                    </a:p>
                  </a:txBody>
                  <a:tcPr marL="73152" marR="73152" marT="27432" marB="27432" anchor="ctr">
                    <a:solidFill>
                      <a:srgbClr val="172233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E293B"/>
                          </a:solidFill>
                          <a:latin typeface="Courier New"/>
                          <a:ea typeface="Yu Gothic"/>
                          <a:cs typeface="Yu Gothic"/>
                        </a:rPr>
                        <a:t>l2 / l4 / l6 (先頭)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2脚型 / 4肢型 / 6肢型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kxrl2g, kxrl4t, kxrl6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E293B"/>
                          </a:solidFill>
                          <a:latin typeface="Courier New"/>
                          <a:ea typeface="Yu Gothic"/>
                          <a:cs typeface="Yu Gothic"/>
                        </a:rPr>
                        <a:t>l5 / l6 (脚)</a:t>
                      </a:r>
                    </a:p>
                  </a:txBody>
                  <a:tcPr marL="73152" marR="73152" marT="27432" marB="27432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脚の自由度</a:t>
                      </a:r>
                    </a:p>
                  </a:txBody>
                  <a:tcPr marL="73152" marR="73152" marT="27432" marB="27432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kxrl2l5a3</a:t>
                      </a:r>
                    </a:p>
                  </a:txBody>
                  <a:tcPr marL="73152" marR="73152" marT="27432" marB="27432" anchor="ctr">
                    <a:solidFill>
                      <a:srgbClr val="EDF2F7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E293B"/>
                          </a:solidFill>
                          <a:latin typeface="Courier New"/>
                          <a:ea typeface="Yu Gothic"/>
                          <a:cs typeface="Yu Gothic"/>
                        </a:rPr>
                        <a:t>a3〜a7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腕の自由度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kxrl2l6a7h2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E293B"/>
                          </a:solidFill>
                          <a:latin typeface="Courier New"/>
                          <a:ea typeface="Yu Gothic"/>
                          <a:cs typeface="Yu Gothic"/>
                        </a:rPr>
                        <a:t>g</a:t>
                      </a:r>
                    </a:p>
                  </a:txBody>
                  <a:tcPr marL="73152" marR="73152" marT="27432" marB="27432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グリッパ付き</a:t>
                      </a:r>
                    </a:p>
                  </a:txBody>
                  <a:tcPr marL="73152" marR="73152" marT="27432" marB="27432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kxrl2l5a4h2g</a:t>
                      </a:r>
                    </a:p>
                  </a:txBody>
                  <a:tcPr marL="73152" marR="73152" marT="27432" marB="27432" anchor="ctr">
                    <a:solidFill>
                      <a:srgbClr val="EDF2F7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E293B"/>
                          </a:solidFill>
                          <a:latin typeface="Courier New"/>
                          <a:ea typeface="Yu Gothic"/>
                          <a:cs typeface="Yu Gothic"/>
                        </a:rPr>
                        <a:t>w2 / t2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車輪付き胴体 / 胴体2自由度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kxrl2t2l6a7h2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E293B"/>
                          </a:solidFill>
                          <a:latin typeface="Courier New"/>
                          <a:ea typeface="Yu Gothic"/>
                          <a:cs typeface="Yu Gothic"/>
                        </a:rPr>
                        <a:t>mw4 / ow4 / dw4</a:t>
                      </a:r>
                    </a:p>
                  </a:txBody>
                  <a:tcPr marL="73152" marR="73152" marT="27432" marB="27432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メカナム / オムニ / 差動の4輪</a:t>
                      </a:r>
                    </a:p>
                  </a:txBody>
                  <a:tcPr marL="73152" marR="73152" marT="27432" marB="27432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kxrmw4a6h2m</a:t>
                      </a:r>
                    </a:p>
                  </a:txBody>
                  <a:tcPr marL="73152" marR="73152" marT="27432" marB="27432" anchor="ctr">
                    <a:solidFill>
                      <a:srgbClr val="EDF2F7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E293B"/>
                          </a:solidFill>
                          <a:latin typeface="Courier New"/>
                          <a:ea typeface="Yu Gothic"/>
                          <a:cs typeface="Yu Gothic"/>
                        </a:rPr>
                        <a:t>roboset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マグネット着脱モジュールの組合せ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kxrrobosetl4t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8183879" y="1463040"/>
            <a:ext cx="3520440" cy="352044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8" name="Picture 17" descr="kxrl2l6a6h2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1463040"/>
            <a:ext cx="3520440" cy="35204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183879" y="5029200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kxrl2l6a6h2m  (30関節)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5623560"/>
            <a:ext cx="3520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名前は慣例。正確な構成は設定の model-param を見る（研究室の個人名が付いた機体もある）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rcb4robotconfig.l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設定エントリの構造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6675120" cy="3840480"/>
          </a:xfrm>
          <a:prstGeom prst="roundRect">
            <a:avLst>
              <a:gd name="adj" fmla="val 4000"/>
            </a:avLst>
          </a:prstGeom>
          <a:solidFill>
            <a:srgbClr val="1E273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85800" y="1572768"/>
            <a:ext cx="6400800" cy="36210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(("kxrl4t")                       </a:t>
            </a:r>
            <a:r>
              <a:rPr sz="1250" b="0" i="0">
                <a:solidFill>
                  <a:srgbClr val="8FB38A"/>
                </a:solidFill>
                <a:latin typeface="Courier New"/>
                <a:ea typeface="Yu Gothic"/>
                <a:cs typeface="Yu Gothic"/>
              </a:rPr>
              <a:t>;; ①名前(別名も列挙可)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(:body :l4t :type :l4            </a:t>
            </a:r>
            <a:r>
              <a:rPr sz="1250" b="0" i="0">
                <a:solidFill>
                  <a:srgbClr val="8FB38A"/>
                </a:solidFill>
                <a:latin typeface="Courier New"/>
                <a:ea typeface="Yu Gothic"/>
                <a:cs typeface="Yu Gothic"/>
              </a:rPr>
              <a:t>;; ②model-param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 :arm :j2 :leg :j2 :head :h1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 :project-file "kxrl4t")         </a:t>
            </a:r>
            <a:r>
              <a:rPr sz="1250" b="0" i="0">
                <a:solidFill>
                  <a:srgbClr val="8FB38A"/>
                </a:solidFill>
                <a:latin typeface="Courier New"/>
                <a:ea typeface="Yu Gothic"/>
                <a:cs typeface="Yu Gothic"/>
              </a:rPr>
              <a:t>;; ④モーション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(1 :head-neck-y -1)   (31 :head-neck-p 1)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(2 :rarm-shoulder-y -1) (3 :larm-shoulder-y -1)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(4 :rarm-shoulder-r -1) (5 :larm-shoulder-r 1)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(6 :rleg-crotch-y -1) (7 :lleg-crotch-y -1)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(8 :rleg-crotch-r -1) (9 :lleg-crotch-r 1))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   </a:t>
            </a:r>
            <a:r>
              <a:rPr sz="1250" b="0" i="0">
                <a:solidFill>
                  <a:srgbClr val="8FB38A"/>
                </a:solidFill>
                <a:latin typeface="Courier New"/>
                <a:ea typeface="Yu Gothic"/>
                <a:cs typeface="Yu Gothic"/>
              </a:rPr>
              <a:t>;; ③(サーボID 関節名 回転方向 [オフセット])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463040"/>
            <a:ext cx="4206240" cy="86868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80960" y="1536192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①  名前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1847088"/>
            <a:ext cx="3931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(make-kxr-robot "kxrl4t") で呼ぶ名前。重複は check-duplicated-names で検出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2450592"/>
            <a:ext cx="4206240" cy="86868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80960" y="2523744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②  model-param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834640"/>
            <a:ext cx="3931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kxr-robot :init へのキーワード引数。:body で胴体、:arm/:leg で肢の構造、:head で頭部を選ぶ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438144"/>
            <a:ext cx="4206240" cy="86868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680960" y="3511296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③  サーボ対応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3822192"/>
            <a:ext cx="3931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RCB-4 のサーボIDと関節名。回転方向 ±1、グリッパは 1/2 で1サーボ2指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4425696"/>
            <a:ext cx="4206240" cy="86868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680960" y="4498848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④  :project-file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4809744"/>
            <a:ext cx="3931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HeartToHeart のモーションファイル。:call-motion で呼び出し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53212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別の書き方：</a:t>
            </a:r>
            <a:r>
              <a:rPr sz="130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:robotset (マグネット着脱モジュールの組合せ)、:file/:form (robot_assembler などの外部モデルを読込)。  </a:t>
            </a:r>
            <a:r>
              <a:rPr sz="130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(kxr-typed-configs)</a:t>
            </a:r>
            <a:r>
              <a:rPr sz="130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 で各キーが取りうる値の一覧を表示できる。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599エントリの分類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371600"/>
          <a:ext cx="676656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89520" y="14630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分類の方法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920240"/>
            <a:ext cx="4114800" cy="29260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marL="201168" indent="-182880">
              <a:spcAft>
                <a:spcPts val="800"/>
              </a:spcAft>
              <a:buClr>
                <a:srgbClr val="EE7B1E"/>
              </a:buClr>
              <a:buFont typeface="Arial"/>
              <a:buChar char="■"/>
            </a:pPr>
            <a:r>
              <a:rPr sz="13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model-param の </a:t>
            </a:r>
            <a:r>
              <a:rPr sz="135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:type</a:t>
            </a:r>
            <a:r>
              <a:rPr sz="13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 で骨格型(:l2 / :l4 / :l6)を判定</a:t>
            </a:r>
          </a:p>
          <a:p>
            <a:pPr marL="201168" indent="-182880">
              <a:spcAft>
                <a:spcPts val="800"/>
              </a:spcAft>
              <a:buClr>
                <a:srgbClr val="EE7B1E"/>
              </a:buClr>
              <a:buFont typeface="Arial"/>
              <a:buChar char="■"/>
            </a:pPr>
            <a:r>
              <a:rPr sz="135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:robotset</a:t>
            </a:r>
            <a:r>
              <a:rPr sz="13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 はモジュールの組合せ、:type :module は単体の部品</a:t>
            </a:r>
          </a:p>
          <a:p>
            <a:pPr marL="201168" indent="-182880">
              <a:spcAft>
                <a:spcPts val="800"/>
              </a:spcAft>
              <a:buClr>
                <a:srgbClr val="EE7B1E"/>
              </a:buClr>
              <a:buFont typeface="Arial"/>
              <a:buChar char="■"/>
            </a:pPr>
            <a:r>
              <a:rPr sz="13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KHR シリーズや外部モデル(:file)は「その他」</a:t>
            </a:r>
          </a:p>
          <a:p>
            <a:pPr marL="201168" indent="-182880">
              <a:spcAft>
                <a:spcPts val="800"/>
              </a:spcAft>
              <a:buClr>
                <a:srgbClr val="EE7B1E"/>
              </a:buClr>
              <a:buFont typeface="Arial"/>
              <a:buChar char="■"/>
            </a:pPr>
            <a:r>
              <a:rPr sz="13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車輪型は :l4 の中に含まれる(脚の先が車輪)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4892040"/>
            <a:ext cx="4114800" cy="1325880"/>
          </a:xfrm>
          <a:prstGeom prst="roundRect">
            <a:avLst>
              <a:gd name="adj" fmla="val 4000"/>
            </a:avLst>
          </a:prstGeom>
          <a:solidFill>
            <a:srgbClr val="1E273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26680" y="5001768"/>
            <a:ext cx="3840480" cy="11064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(kxr-typed-configs)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(kxr-wheeled-robots)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(kxr-find-robots-by-prop :gripper)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BIPED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2脚型 (:l2)  223エントリ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783080" cy="178308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5" name="Picture 4" descr="kxrl2l5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1783080" cy="1783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324612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kxrl2l5a3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19" y="3502152"/>
            <a:ext cx="18745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17関節 最小構成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60" y="1417320"/>
            <a:ext cx="1783080" cy="178308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9" name="Picture 8" descr="kxrl2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1417320"/>
            <a:ext cx="1783080" cy="1783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423160" y="324612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kxrl2g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3502152"/>
            <a:ext cx="18745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22関節 5自由度脚+指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1417320"/>
            <a:ext cx="1783080" cy="178308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3" name="Picture 12" descr="kxrl2l6a6h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79" y="1417320"/>
            <a:ext cx="1783080" cy="17830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97679" y="324612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kxrl2l6a6h2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59" y="3502152"/>
            <a:ext cx="18745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30関節 6自由度脚・腕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199" y="1417320"/>
            <a:ext cx="1783080" cy="178308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7" name="Picture 16" descr="kxrl2t2l6a7h2d4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199" y="1417320"/>
            <a:ext cx="1783080" cy="17830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172199" y="324612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kxrl2t2l6a7h2d405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79" y="3502152"/>
            <a:ext cx="18745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34関節 胴2自由度+D405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1417320"/>
            <a:ext cx="1783080" cy="178308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21" name="Picture 20" descr="kxrl2maka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19" y="1417320"/>
            <a:ext cx="1783080" cy="17830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046719" y="324612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kxrl2makabe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0999" y="3502152"/>
            <a:ext cx="18745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37関節 多関節胴体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21240" y="1417320"/>
            <a:ext cx="1783080" cy="178308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25" name="Picture 24" descr="kxrl2l6anzaifl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240" y="1417320"/>
            <a:ext cx="1783080" cy="17830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921240" y="324612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kxrl2l6anzaifly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19" y="3502152"/>
            <a:ext cx="18745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36関節 翼付き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343400"/>
            <a:ext cx="11064240" cy="1508760"/>
          </a:xfrm>
          <a:prstGeom prst="roundRect">
            <a:avLst>
              <a:gd name="adj" fmla="val 8000"/>
            </a:avLst>
          </a:prstGeom>
          <a:solidFill>
            <a:srgbClr val="DDEEF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7240" y="4526280"/>
            <a:ext cx="10698480" cy="1645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marL="201168" indent="-182880">
              <a:spcAft>
                <a:spcPts val="900"/>
              </a:spcAft>
              <a:buClr>
                <a:srgbClr val="EE7B1E"/>
              </a:buClr>
              <a:buFont typeface="Arial"/>
              <a:buChar char="■"/>
            </a:pPr>
            <a:r>
              <a:rPr sz="150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脚 5自由度</a:t>
            </a:r>
            <a:r>
              <a:rPr sz="150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：前後・左右の歩行、しゃがみ　</a:t>
            </a:r>
            <a:r>
              <a:rPr sz="150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6自由度</a:t>
            </a:r>
            <a:r>
              <a:rPr sz="150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：股ヨー軸が加わり旋回歩行・足先の向き制御</a:t>
            </a:r>
          </a:p>
          <a:p>
            <a:pPr marL="201168" indent="-182880">
              <a:spcAft>
                <a:spcPts val="900"/>
              </a:spcAft>
              <a:buClr>
                <a:srgbClr val="EE7B1E"/>
              </a:buClr>
              <a:buFont typeface="Arial"/>
              <a:buChar char="■"/>
            </a:pPr>
            <a:r>
              <a:rPr sz="150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腕 3〜7自由度＋グリッパ</a:t>
            </a:r>
            <a:r>
              <a:rPr sz="150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：逆運動学で手先の位置姿勢を指定、把持、両手でのキューブ操作</a:t>
            </a:r>
          </a:p>
          <a:p>
            <a:pPr marL="201168" indent="-182880">
              <a:spcAft>
                <a:spcPts val="900"/>
              </a:spcAft>
              <a:buClr>
                <a:srgbClr val="EE7B1E"/>
              </a:buClr>
              <a:buFont typeface="Arial"/>
              <a:buChar char="■"/>
            </a:pPr>
            <a:r>
              <a:rPr sz="150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胴体・首</a:t>
            </a:r>
            <a:r>
              <a:rPr sz="150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：胴体の自由度で全身のリーチを拡大、首＋カメラ(D405/M5StickV)で視覚行動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QUADRUPED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4肢型 (:l4)  107エントリ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783080" cy="178308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5" name="Picture 4" descr="kxrl4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1783080" cy="1783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324612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kxrl4t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19" y="3502152"/>
            <a:ext cx="18745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10関節 全肢2自由度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60" y="1417320"/>
            <a:ext cx="1783080" cy="178308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9" name="Picture 8" descr="kxrl4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1417320"/>
            <a:ext cx="1783080" cy="1783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423160" y="324612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kxrl4d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3502152"/>
            <a:ext cx="18745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19関節 犬型4自由度脚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1417320"/>
            <a:ext cx="1783080" cy="178308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3" name="Picture 12" descr="kxrl4l3a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79" y="1417320"/>
            <a:ext cx="1783080" cy="17830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97679" y="324612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kxrl4l3a3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59" y="3502152"/>
            <a:ext cx="18745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14関節 3自由度脚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199" y="1417320"/>
            <a:ext cx="1783080" cy="178308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7" name="Picture 16" descr="kxrkamakir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199" y="1417320"/>
            <a:ext cx="1783080" cy="17830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172199" y="324612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kxrkamakiri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79" y="3502152"/>
            <a:ext cx="18745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27関節 カマキリ型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1417320"/>
            <a:ext cx="1783080" cy="178308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21" name="Picture 20" descr="kxrl4nh4gi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19" y="1417320"/>
            <a:ext cx="1783080" cy="17830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046719" y="324612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kxrl4nh4gir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0999" y="3502152"/>
            <a:ext cx="18745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14関節 長い首+指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21240" y="1417320"/>
            <a:ext cx="1783080" cy="178308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25" name="Picture 24" descr="kxrl4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240" y="1417320"/>
            <a:ext cx="1783080" cy="17830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921240" y="324612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kxrl4c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19" y="3502152"/>
            <a:ext cx="18745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37関節 4脚+双腕+胴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343400"/>
            <a:ext cx="11064240" cy="1508760"/>
          </a:xfrm>
          <a:prstGeom prst="roundRect">
            <a:avLst>
              <a:gd name="adj" fmla="val 8000"/>
            </a:avLst>
          </a:prstGeom>
          <a:solidFill>
            <a:srgbClr val="DDEEF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7240" y="4526280"/>
            <a:ext cx="10698480" cy="1645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marL="201168" indent="-182880">
              <a:spcAft>
                <a:spcPts val="900"/>
              </a:spcAft>
              <a:buClr>
                <a:srgbClr val="EE7B1E"/>
              </a:buClr>
              <a:buFont typeface="Arial"/>
              <a:buChar char="■"/>
            </a:pPr>
            <a:r>
              <a:rPr sz="150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腕と脚が同じ構造</a:t>
            </a:r>
            <a:r>
              <a:rPr sz="150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(kxrl4t)：4本全部で立って歩く。腕を持ち上げれば3点支持で「手」として使える</a:t>
            </a:r>
          </a:p>
          <a:p>
            <a:pPr marL="201168" indent="-182880">
              <a:spcAft>
                <a:spcPts val="900"/>
              </a:spcAft>
              <a:buClr>
                <a:srgbClr val="EE7B1E"/>
              </a:buClr>
              <a:buFont typeface="Arial"/>
              <a:buChar char="■"/>
            </a:pPr>
            <a:r>
              <a:rPr sz="150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4点支持</a:t>
            </a:r>
            <a:r>
              <a:rPr sz="150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：静的に安定で、2脚より転倒しにくい。トロット・クロール歩容</a:t>
            </a:r>
          </a:p>
          <a:p>
            <a:pPr marL="201168" indent="-182880">
              <a:spcAft>
                <a:spcPts val="900"/>
              </a:spcAft>
              <a:buClr>
                <a:srgbClr val="EE7B1E"/>
              </a:buClr>
              <a:buFont typeface="Arial"/>
              <a:buChar char="■"/>
            </a:pPr>
            <a:r>
              <a:rPr sz="150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上半身の追加</a:t>
            </a:r>
            <a:r>
              <a:rPr sz="150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(kxrkamakiri, kxrl4c)：移動しながら双腕で操作するケンタウロス型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WHEELED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車輪型 (:l4 の脚が車輪)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783080" cy="178308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5" name="Picture 4" descr="kxrw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1783080" cy="1783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324612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kxrw4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19" y="3502152"/>
            <a:ext cx="18745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4輪のみ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60" y="1417320"/>
            <a:ext cx="1783080" cy="178308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9" name="Picture 8" descr="kxrw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1417320"/>
            <a:ext cx="1783080" cy="1783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423160" y="324612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kxrl4r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3502152"/>
            <a:ext cx="18745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12関節 肢先が車輪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1417320"/>
            <a:ext cx="1783080" cy="178308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3" name="Picture 12" descr="kxrmw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79" y="1417320"/>
            <a:ext cx="1783080" cy="17830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97679" y="324612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kxrmw4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59" y="3502152"/>
            <a:ext cx="18745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メカナム4輪+双腕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199" y="1417320"/>
            <a:ext cx="1783080" cy="178308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7" name="Picture 16" descr="kxrow4a6h2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199" y="1417320"/>
            <a:ext cx="1783080" cy="17830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172199" y="324612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kxrow4a6h2m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79" y="3502152"/>
            <a:ext cx="18745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オムニ4輪+6自由度腕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1417320"/>
            <a:ext cx="1783080" cy="178308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21" name="Picture 20" descr="kxrdw4a6h2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19" y="1417320"/>
            <a:ext cx="1783080" cy="17830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046719" y="324612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kxrdw4a6h2m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0999" y="3502152"/>
            <a:ext cx="18745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差動2輪+受動オムニ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21240" y="1417320"/>
            <a:ext cx="1783080" cy="178308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25" name="Picture 24" descr="kxrmw4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1240" y="1417320"/>
            <a:ext cx="1783080" cy="17830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921240" y="324612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kxrmw4base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19" y="3502152"/>
            <a:ext cx="18745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着脱式メカナム台車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343400"/>
            <a:ext cx="11064240" cy="1508760"/>
          </a:xfrm>
          <a:prstGeom prst="roundRect">
            <a:avLst>
              <a:gd name="adj" fmla="val 8000"/>
            </a:avLst>
          </a:prstGeom>
          <a:solidFill>
            <a:srgbClr val="DDEEF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7240" y="4526280"/>
            <a:ext cx="10698480" cy="1645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marL="201168" indent="-182880">
              <a:spcAft>
                <a:spcPts val="900"/>
              </a:spcAft>
              <a:buClr>
                <a:srgbClr val="EE7B1E"/>
              </a:buClr>
              <a:buFont typeface="Arial"/>
              <a:buChar char="■"/>
            </a:pPr>
            <a:r>
              <a:rPr sz="150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メカナム・オムニ</a:t>
            </a:r>
            <a:r>
              <a:rPr sz="150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：その場で横移動・斜め移動・回転ができる全方向移動 (mw-move-xy, ow-move)</a:t>
            </a:r>
          </a:p>
          <a:p>
            <a:pPr marL="201168" indent="-182880">
              <a:spcAft>
                <a:spcPts val="900"/>
              </a:spcAft>
              <a:buClr>
                <a:srgbClr val="EE7B1E"/>
              </a:buClr>
              <a:buFont typeface="Arial"/>
              <a:buChar char="■"/>
            </a:pPr>
            <a:r>
              <a:rPr sz="150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差動2輪</a:t>
            </a:r>
            <a:r>
              <a:rPr sz="150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：構造が単純で速い。受動オムニ輪で支持 (dw-fore, dw-turn)</a:t>
            </a:r>
          </a:p>
          <a:p>
            <a:pPr marL="201168" indent="-182880">
              <a:spcAft>
                <a:spcPts val="900"/>
              </a:spcAft>
              <a:buClr>
                <a:srgbClr val="EE7B1E"/>
              </a:buClr>
              <a:buFont typeface="Arial"/>
              <a:buChar char="■"/>
            </a:pPr>
            <a:r>
              <a:rPr sz="150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車輪＋双腕</a:t>
            </a:r>
            <a:r>
              <a:rPr sz="150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：移動マニピュレーション。脚型より速く安定で、配膳・ピッキング課題に向く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HEXAPOD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6肢型 (:l6)  19エントリ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286000" cy="22860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5" name="Picture 4" descr="kxrl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3794759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kxrl6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19" y="4050791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18関節  6本×3自由度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1463040"/>
            <a:ext cx="2286000" cy="22860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9" name="Picture 8" descr="kxrl6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1463040"/>
            <a:ext cx="2286000" cy="2286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063240" y="3794759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kxrl6d1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4050791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22関節  脚の変種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1463040"/>
            <a:ext cx="2286000" cy="22860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3" name="Picture 12" descr="kxrl6a6h2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1463040"/>
            <a:ext cx="2286000" cy="2286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577840" y="3794759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kxrl6a6h2m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4050791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36関節  6脚+双腕+D405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463040"/>
            <a:ext cx="3520440" cy="365760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412480" y="164592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7A8C"/>
                </a:solidFill>
                <a:latin typeface="Yu Gothic"/>
                <a:ea typeface="Yu Gothic"/>
                <a:cs typeface="Yu Gothic"/>
              </a:rPr>
              <a:t>骨格の特色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103120"/>
            <a:ext cx="3154680" cy="30175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marL="201168" indent="-182880">
              <a:spcAft>
                <a:spcPts val="800"/>
              </a:spcAft>
              <a:buClr>
                <a:srgbClr val="EE7B1E"/>
              </a:buClr>
              <a:buFont typeface="Arial"/>
              <a:buChar char="■"/>
            </a:pPr>
            <a:r>
              <a:rPr sz="13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3本ずつ交互に動かす三脚歩容で、常に静的に安定</a:t>
            </a:r>
          </a:p>
          <a:p>
            <a:pPr marL="201168" indent="-182880">
              <a:spcAft>
                <a:spcPts val="800"/>
              </a:spcAft>
              <a:buClr>
                <a:srgbClr val="EE7B1E"/>
              </a:buClr>
              <a:buFont typeface="Arial"/>
              <a:buChar char="■"/>
            </a:pPr>
            <a:r>
              <a:rPr sz="13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前・中・後の肢(arm / marm / leg)を区別。前肢を持ち上げて手として使える</a:t>
            </a:r>
          </a:p>
          <a:p>
            <a:pPr marL="201168" indent="-182880">
              <a:spcAft>
                <a:spcPts val="800"/>
              </a:spcAft>
              <a:buClr>
                <a:srgbClr val="EE7B1E"/>
              </a:buClr>
              <a:buFont typeface="Arial"/>
              <a:buChar char="■"/>
            </a:pPr>
            <a:r>
              <a:rPr sz="13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不整地・傾斜でも倒れにくい</a:t>
            </a:r>
          </a:p>
          <a:p>
            <a:pPr marL="201168" indent="-182880">
              <a:spcAft>
                <a:spcPts val="800"/>
              </a:spcAft>
              <a:buClr>
                <a:srgbClr val="EE7B1E"/>
              </a:buClr>
              <a:buFont typeface="Arial"/>
              <a:buChar char="■"/>
            </a:pPr>
            <a:r>
              <a:rPr sz="13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強化学習でも安定して歩行を獲得しやすい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34924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FDEBD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7240" y="5349240"/>
            <a:ext cx="107899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中間肢 marm：</a:t>
            </a:r>
            <a:r>
              <a:rPr sz="140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設定では :marm で中間肢の構造を指定し、関節名は </a:t>
            </a:r>
            <a:r>
              <a:rPr sz="140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:lmarm-shoulder-y</a:t>
            </a:r>
            <a:r>
              <a:rPr sz="140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 のように lmarm / rmarm を使う。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MODULAR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マグネット着脱モジュール (:robotset)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7A8C"/>
                </a:solidFill>
                <a:latin typeface="Yu Gothic"/>
                <a:ea typeface="Yu Gothic"/>
                <a:cs typeface="Yu Gothic"/>
              </a:rPr>
              <a:t>モジュール部品 (:type :module)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1234440" cy="123444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6" name="Picture 5" descr="kxrl2bo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1234440" cy="1234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063239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上半身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65960" y="1783080"/>
            <a:ext cx="1234440" cy="123444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9" name="Picture 8" descr="d405ey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960" y="1783080"/>
            <a:ext cx="1234440" cy="1234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65960" y="3063239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頭(D405)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783080"/>
            <a:ext cx="1234440" cy="123444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2" name="Picture 11" descr="la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783080"/>
            <a:ext cx="1234440" cy="12344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383280" y="3063239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6自由度腕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600" y="1783080"/>
            <a:ext cx="1234440" cy="123444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5" name="Picture 14" descr="lg1s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1783080"/>
            <a:ext cx="1234440" cy="1234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00600" y="3063239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グリッパ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783080"/>
            <a:ext cx="1234440" cy="123444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8" name="Picture 17" descr="lleg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1783080"/>
            <a:ext cx="1234440" cy="12344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17920" y="3063239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5自由度脚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1783080"/>
            <a:ext cx="1234440" cy="123444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21" name="Picture 20" descr="kxrmw4b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5240" y="1783080"/>
            <a:ext cx="1234440" cy="12344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635240" y="3063239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メカナム台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2560" y="1783080"/>
            <a:ext cx="1234440" cy="123444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24" name="Picture 23" descr="kxrl4tbas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52560" y="1783080"/>
            <a:ext cx="1234440" cy="12344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052560" y="3063239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4肢台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469880" y="1783080"/>
            <a:ext cx="1234440" cy="123444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27" name="Picture 26" descr="kxrl6bas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69880" y="1783080"/>
            <a:ext cx="1234440" cy="12344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469880" y="3063239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6肢台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4747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7A8C"/>
                </a:solidFill>
                <a:latin typeface="Yu Gothic"/>
                <a:ea typeface="Yu Gothic"/>
                <a:cs typeface="Yu Gothic"/>
              </a:rPr>
              <a:t>組合せの例：同じ上半身、下半身だけ交換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886200"/>
            <a:ext cx="1600200" cy="16002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31" name="Picture 30" descr="kxrroboset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3886200"/>
            <a:ext cx="1600200" cy="16002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48640" y="5532120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kxrroboset1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331720" y="3886200"/>
            <a:ext cx="1600200" cy="16002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34" name="Picture 33" descr="kxrrobosetmw4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31720" y="3886200"/>
            <a:ext cx="1600200" cy="16002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331720" y="5532120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kxrrobosetmw4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14800" y="3886200"/>
            <a:ext cx="1600200" cy="16002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37" name="Picture 36" descr="kxrrobosetl4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0" y="3886200"/>
            <a:ext cx="1600200" cy="16002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114800" y="5532120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kxrrobosetl4t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897879" y="3886200"/>
            <a:ext cx="1600200" cy="16002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40" name="Picture 39" descr="kxrrobosetl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97879" y="3886200"/>
            <a:ext cx="1600200" cy="16002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897879" y="5532120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kxrrobosetl6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0" y="3886200"/>
            <a:ext cx="3931920" cy="2103120"/>
          </a:xfrm>
          <a:prstGeom prst="roundRect">
            <a:avLst>
              <a:gd name="adj" fmla="val 4000"/>
            </a:avLst>
          </a:prstGeom>
          <a:solidFill>
            <a:srgbClr val="1E273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909560" y="3995928"/>
            <a:ext cx="3657600" cy="1883663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(("kxrrobosetl4t")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(:robotset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 ("kxrl2body"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  (:neck "d405echos")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  (:larm "la6" "lg1sx")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  (:rarm "ra6" "rg1sx")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  (:mbase "kxrl4tbase"))))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OTHERS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KHR・外部モデル・その他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286000" cy="22860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5" name="Picture 4" descr="khr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3794759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khr3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19" y="4050791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KHR-3 (17関節)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1463040"/>
            <a:ext cx="2286000" cy="22860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9" name="Picture 8" descr="khranzaifly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1463040"/>
            <a:ext cx="2286000" cy="2286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063240" y="3794759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khranzaifly5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4050791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飛行ユニット付き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1463040"/>
            <a:ext cx="2286000" cy="22860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3" name="Picture 12" descr="kxrdri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1463040"/>
            <a:ext cx="2286000" cy="2286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577840" y="3794759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kxrdrill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4050791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道具(ドリル)を持つ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554480"/>
            <a:ext cx="3474720" cy="42062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marL="201168" indent="-182880">
              <a:spcAft>
                <a:spcPts val="1000"/>
              </a:spcAft>
              <a:buClr>
                <a:srgbClr val="EE7B1E"/>
              </a:buClr>
              <a:buFont typeface="Arial"/>
              <a:buChar char="■"/>
            </a:pPr>
            <a:r>
              <a:rPr sz="135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KHRシリーズ</a:t>
            </a:r>
            <a:r>
              <a:rPr sz="13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：khrmodels.l で定義。名前に "khr" を含むと khr-robot で生成</a:t>
            </a:r>
          </a:p>
          <a:p>
            <a:pPr marL="201168" indent="-182880">
              <a:spcAft>
                <a:spcPts val="1000"/>
              </a:spcAft>
              <a:buClr>
                <a:srgbClr val="EE7B1E"/>
              </a:buClr>
              <a:buFont typeface="Arial"/>
              <a:buChar char="■"/>
            </a:pPr>
            <a:r>
              <a:rPr sz="135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:file / :form</a:t>
            </a:r>
            <a:r>
              <a:rPr sz="13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：robot_assembler 等で作った既存モデルファイルを読み込む (kxr_auv など)</a:t>
            </a:r>
          </a:p>
          <a:p>
            <a:pPr marL="201168" indent="-182880">
              <a:spcAft>
                <a:spcPts val="1000"/>
              </a:spcAft>
              <a:buClr>
                <a:srgbClr val="EE7B1E"/>
              </a:buClr>
              <a:buFont typeface="Arial"/>
              <a:buChar char="■"/>
            </a:pPr>
            <a:r>
              <a:rPr sz="135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取り込み</a:t>
            </a:r>
            <a:r>
              <a:rPr sz="13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：URDF・MJCF・COLLADA・VRML から Euslisp モデルへ変換できる</a:t>
            </a:r>
          </a:p>
          <a:p>
            <a:pPr marL="201168" indent="-182880">
              <a:spcAft>
                <a:spcPts val="1000"/>
              </a:spcAft>
              <a:buClr>
                <a:srgbClr val="EE7B1E"/>
              </a:buClr>
              <a:buFont typeface="Arial"/>
              <a:buChar char="■"/>
            </a:pPr>
            <a:r>
              <a:rPr sz="135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飛行・水中</a:t>
            </a:r>
            <a:r>
              <a:rPr sz="13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：翼(:wing)やフロートを持つ UAV/AUV 型の実験機も同じ枠組み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SKELETON → 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骨格と、それにより可能になること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64240" cy="34015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645920"/>
                <a:gridCol w="1737360"/>
                <a:gridCol w="2103120"/>
                <a:gridCol w="1920240"/>
                <a:gridCol w="2286000"/>
                <a:gridCol w="137160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骨格</a:t>
                      </a:r>
                    </a:p>
                  </a:txBody>
                  <a:tcPr marL="73152" marR="73152" marT="27432" marB="27432" anchor="ctr">
                    <a:solidFill>
                      <a:srgbClr val="1722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安定性</a:t>
                      </a:r>
                    </a:p>
                  </a:txBody>
                  <a:tcPr marL="73152" marR="73152" marT="27432" marB="27432" anchor="ctr">
                    <a:solidFill>
                      <a:srgbClr val="1722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移動</a:t>
                      </a:r>
                    </a:p>
                  </a:txBody>
                  <a:tcPr marL="73152" marR="73152" marT="27432" marB="27432" anchor="ctr">
                    <a:solidFill>
                      <a:srgbClr val="1722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操作</a:t>
                      </a:r>
                    </a:p>
                  </a:txBody>
                  <a:tcPr marL="73152" marR="73152" marT="27432" marB="27432" anchor="ctr">
                    <a:solidFill>
                      <a:srgbClr val="1722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向く課題</a:t>
                      </a:r>
                    </a:p>
                  </a:txBody>
                  <a:tcPr marL="73152" marR="73152" marT="27432" marB="27432" anchor="ctr">
                    <a:solidFill>
                      <a:srgbClr val="1722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代表</a:t>
                      </a:r>
                    </a:p>
                  </a:txBody>
                  <a:tcPr marL="73152" marR="73152" marT="27432" marB="27432" anchor="ctr">
                    <a:solidFill>
                      <a:srgbClr val="17223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2脚型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動的 (転倒あり)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歩行・旋回・起き上がり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双腕・把持・両手操作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人型の全身行動、道具使用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kxrl2g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4肢型</a:t>
                      </a:r>
                    </a:p>
                  </a:txBody>
                  <a:tcPr marL="73152" marR="73152" marT="27432" marB="27432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静的 (4点)</a:t>
                      </a:r>
                    </a:p>
                  </a:txBody>
                  <a:tcPr marL="73152" marR="73152" marT="27432" marB="27432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トロット・クロール</a:t>
                      </a:r>
                    </a:p>
                  </a:txBody>
                  <a:tcPr marL="73152" marR="73152" marT="27432" marB="27432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肢を手として使う</a:t>
                      </a:r>
                    </a:p>
                  </a:txBody>
                  <a:tcPr marL="73152" marR="73152" marT="27432" marB="27432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不整地移動、肢の兼用</a:t>
                      </a:r>
                    </a:p>
                  </a:txBody>
                  <a:tcPr marL="73152" marR="73152" marT="27432" marB="27432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kxrl4d</a:t>
                      </a:r>
                    </a:p>
                  </a:txBody>
                  <a:tcPr marL="73152" marR="73152" marT="27432" marB="27432" anchor="ctr">
                    <a:solidFill>
                      <a:srgbClr val="EDF2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6肢型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常に静的 (3点)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三脚歩容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前肢で操作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安定な移動、学習の入門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kxrl6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車輪型</a:t>
                      </a:r>
                    </a:p>
                  </a:txBody>
                  <a:tcPr marL="73152" marR="73152" marT="27432" marB="27432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静的</a:t>
                      </a:r>
                    </a:p>
                  </a:txBody>
                  <a:tcPr marL="73152" marR="73152" marT="27432" marB="27432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高速・全方向移動</a:t>
                      </a:r>
                    </a:p>
                  </a:txBody>
                  <a:tcPr marL="73152" marR="73152" marT="27432" marB="27432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上半身の双腕</a:t>
                      </a:r>
                    </a:p>
                  </a:txBody>
                  <a:tcPr marL="73152" marR="73152" marT="27432" marB="27432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移動マニピュレーション</a:t>
                      </a:r>
                    </a:p>
                  </a:txBody>
                  <a:tcPr marL="73152" marR="73152" marT="27432" marB="27432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kxrmw4</a:t>
                      </a:r>
                    </a:p>
                  </a:txBody>
                  <a:tcPr marL="73152" marR="73152" marT="27432" marB="27432" anchor="ctr">
                    <a:solidFill>
                      <a:srgbClr val="EDF2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着脱モジュール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構成次第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台車を交換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腕・頭を交換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形態の比較実験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kxrroboset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51206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DEBD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5120640"/>
            <a:ext cx="1069848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同じサーボ・同じソフトで身体だけを変えられるので、</a:t>
            </a:r>
            <a:r>
              <a:rPr sz="150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「その課題にはどの身体が向いているか」を実験で比べられる。演習では、課題から逆に骨格を設計してみる。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73736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246120"/>
            <a:ext cx="6583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デモプログラム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069080"/>
            <a:ext cx="6217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C5D0DE"/>
                </a:solidFill>
                <a:latin typeface="Yu Gothic"/>
                <a:ea typeface="Yu Gothic"/>
                <a:cs typeface="Yu Gothic"/>
              </a:rPr>
              <a:t>実機を動かす・RCB-4でLispを走らせる・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C5D0DE"/>
                </a:solidFill>
                <a:latin typeface="Yu Gothic"/>
                <a:ea typeface="Yu Gothic"/>
                <a:cs typeface="Yu Gothic"/>
              </a:rPr>
              <a:t>キューブを解く・学習した歩行を実機へ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371600"/>
            <a:ext cx="1920240" cy="192024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6" name="Picture 5" descr="kxrl2l2a6h2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1920240" cy="1920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692640" y="1371600"/>
            <a:ext cx="1920240" cy="192024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8" name="Picture 7" descr="kxrl2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1371600"/>
            <a:ext cx="1920240" cy="19202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589520" y="3474720"/>
            <a:ext cx="1920240" cy="192024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0" name="Picture 9" descr="kxrl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3474720"/>
            <a:ext cx="1920240" cy="1920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692640" y="3474720"/>
            <a:ext cx="1920240" cy="192024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2" name="Picture 11" descr="kxrl4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0" y="3474720"/>
            <a:ext cx="1920240" cy="19202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AA8BA"/>
                </a:solidFill>
                <a:latin typeface="Yu Gothic"/>
                <a:ea typeface="Yu Gothic"/>
                <a:cs typeface="Yu Gothic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デモ1：実機を動かす (kxrl2g)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6949440" cy="4846320"/>
          </a:xfrm>
          <a:prstGeom prst="roundRect">
            <a:avLst>
              <a:gd name="adj" fmla="val 4000"/>
            </a:avLst>
          </a:prstGeom>
          <a:solidFill>
            <a:srgbClr val="1E273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85800" y="1572768"/>
            <a:ext cx="6675120" cy="462686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F7C08A"/>
                </a:solidFill>
                <a:latin typeface="Courier New"/>
                <a:ea typeface="Yu Gothic"/>
                <a:cs typeface="Yu Gothic"/>
              </a:rPr>
              <a:t>$ roseus semi2024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(make-kxr-robot "kxrl2g")  </a:t>
            </a:r>
            <a:r>
              <a:rPr sz="1250" b="0" i="0">
                <a:solidFill>
                  <a:srgbClr val="8FB38A"/>
                </a:solidFill>
                <a:latin typeface="Courier New"/>
                <a:ea typeface="Yu Gothic"/>
                <a:cs typeface="Yu Gothic"/>
              </a:rPr>
              <a:t>;; *robot* と *ri*、2つのビューア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(send *ri* :timer-on)      </a:t>
            </a:r>
            <a:r>
              <a:rPr sz="1250" b="0" i="0">
                <a:solidFill>
                  <a:srgbClr val="8FB38A"/>
                </a:solidFill>
                <a:latin typeface="Courier New"/>
                <a:ea typeface="Yu Gothic"/>
                <a:cs typeface="Yu Gothic"/>
              </a:rPr>
              <a:t>;; 実機の姿勢を*ri*ビューアに反映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(send *ri* :free :larm :rarm :head)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                          </a:t>
            </a:r>
            <a:r>
              <a:rPr sz="1250" b="0" i="0">
                <a:solidFill>
                  <a:srgbClr val="8FB38A"/>
                </a:solidFill>
                <a:latin typeface="Courier New"/>
                <a:ea typeface="Yu Gothic"/>
                <a:cs typeface="Yu Gothic"/>
              </a:rPr>
              <a:t>;; 上半身を脱力→手で動かせる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(setq a (send *ri* :read-angle-vector))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                          </a:t>
            </a:r>
            <a:r>
              <a:rPr sz="1250" b="0" i="0">
                <a:solidFill>
                  <a:srgbClr val="8FB38A"/>
                </a:solidFill>
                <a:latin typeface="Courier New"/>
                <a:ea typeface="Yu Gothic"/>
                <a:cs typeface="Yu Gothic"/>
              </a:rPr>
              <a:t>;; 現在の姿勢を記録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(send *ri* :hold)          </a:t>
            </a:r>
            <a:r>
              <a:rPr sz="1250" b="0" i="0">
                <a:solidFill>
                  <a:srgbClr val="8FB38A"/>
                </a:solidFill>
                <a:latin typeface="Courier New"/>
                <a:ea typeface="Yu Gothic"/>
                <a:cs typeface="Yu Gothic"/>
              </a:rPr>
              <a:t>;; 全関節を保持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(send *ri* :angle-vector a 2000)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                          </a:t>
            </a:r>
            <a:r>
              <a:rPr sz="1250" b="0" i="0">
                <a:solidFill>
                  <a:srgbClr val="8FB38A"/>
                </a:solidFill>
                <a:latin typeface="Courier New"/>
                <a:ea typeface="Yu Gothic"/>
                <a:cs typeface="Yu Gothic"/>
              </a:rPr>
              <a:t>;; 2秒で記録した姿勢へ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(send *ri* :call-motion 22) </a:t>
            </a:r>
            <a:r>
              <a:rPr sz="1250" b="0" i="0">
                <a:solidFill>
                  <a:srgbClr val="8FB38A"/>
                </a:solidFill>
                <a:latin typeface="Courier New"/>
                <a:ea typeface="Yu Gothic"/>
                <a:cs typeface="Yu Gothic"/>
              </a:rPr>
              <a:t>;; ROMのモーション22番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(send *ri* :timer-off)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(send *ri* :draw-project-file) </a:t>
            </a:r>
            <a:r>
              <a:rPr sz="1250" b="0" i="0">
                <a:solidFill>
                  <a:srgbClr val="8FB38A"/>
                </a:solidFill>
                <a:latin typeface="Courier New"/>
                <a:ea typeface="Yu Gothic"/>
                <a:cs typeface="Yu Gothic"/>
              </a:rPr>
              <a:t>;; モーション表を再生表示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463040"/>
            <a:ext cx="2377440" cy="237744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7" name="Picture 6" descr="kxrl2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463040"/>
            <a:ext cx="2377440" cy="2377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63840" y="4023360"/>
            <a:ext cx="3840480" cy="23774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marL="201168" indent="-182880">
              <a:spcAft>
                <a:spcPts val="600"/>
              </a:spcAft>
              <a:buClr>
                <a:srgbClr val="EE7B1E"/>
              </a:buClr>
              <a:buFont typeface="Arial"/>
              <a:buChar char="■"/>
            </a:pPr>
            <a:r>
              <a:rPr sz="130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緑のビューア</a:t>
            </a:r>
            <a:r>
              <a:rPr sz="130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＝モデル *robot*、</a:t>
            </a:r>
            <a:r>
              <a:rPr sz="130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紫</a:t>
            </a:r>
            <a:r>
              <a:rPr sz="130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＝実機 *ri*</a:t>
            </a:r>
          </a:p>
          <a:p>
            <a:pPr marL="201168" indent="-182880">
              <a:spcAft>
                <a:spcPts val="600"/>
              </a:spcAft>
              <a:buClr>
                <a:srgbClr val="EE7B1E"/>
              </a:buClr>
              <a:buFont typeface="Arial"/>
              <a:buChar char="■"/>
            </a:pPr>
            <a:r>
              <a:rPr sz="130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脱力して手で姿勢を作り、記録して再生する「教示」ができる</a:t>
            </a:r>
          </a:p>
          <a:p>
            <a:pPr marL="201168" indent="-182880">
              <a:spcAft>
                <a:spcPts val="600"/>
              </a:spcAft>
              <a:buClr>
                <a:srgbClr val="EE7B1E"/>
              </a:buClr>
              <a:buFont typeface="Arial"/>
              <a:buChar char="■"/>
            </a:pPr>
            <a:r>
              <a:rPr sz="130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エラー時は (reset)、固まったら Ctrl-C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DEMO  rcb4lisp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デモ2：RCB-4 の上で Lisp を動かす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5120640" cy="23774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marL="201168" indent="-182880">
              <a:spcAft>
                <a:spcPts val="800"/>
              </a:spcAft>
              <a:buClr>
                <a:srgbClr val="EE7B1E"/>
              </a:buClr>
              <a:buFont typeface="Arial"/>
              <a:buChar char="■"/>
            </a:pPr>
            <a:r>
              <a:rPr sz="14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PC 上で書いた Lisp 風のプログラムを RCB-4 の命令にコンパイルし、ROM に書き込む (rcb4lisp.l, 千葉滋 2019)</a:t>
            </a:r>
          </a:p>
          <a:p>
            <a:pPr marL="201168" indent="-182880">
              <a:spcAft>
                <a:spcPts val="800"/>
              </a:spcAft>
              <a:buClr>
                <a:srgbClr val="EE7B1E"/>
              </a:buClr>
              <a:buFont typeface="Arial"/>
              <a:buChar char="■"/>
            </a:pPr>
            <a:r>
              <a:rPr sz="14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PC から切り離しても、ロボット単体でリモコン入力やセンサに反応して動く</a:t>
            </a:r>
          </a:p>
          <a:p>
            <a:pPr marL="201168" indent="-182880">
              <a:spcAft>
                <a:spcPts val="800"/>
              </a:spcAft>
              <a:buClr>
                <a:srgbClr val="EE7B1E"/>
              </a:buClr>
              <a:buFont typeface="Arial"/>
              <a:buChar char="■"/>
            </a:pPr>
            <a:r>
              <a:rPr sz="14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逆運動学を使ったスクワットなど、モデルで計算した動作も書き込める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463040"/>
            <a:ext cx="5669280" cy="3566160"/>
          </a:xfrm>
          <a:prstGeom prst="roundRect">
            <a:avLst>
              <a:gd name="adj" fmla="val 4000"/>
            </a:avLst>
          </a:prstGeom>
          <a:solidFill>
            <a:srgbClr val="1E273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172200" y="1572768"/>
            <a:ext cx="5394960" cy="33467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(make-kxr-robot "kxrl2g")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(send *ri* :com-init)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(semi-comp-jswing) </a:t>
            </a:r>
            <a:r>
              <a:rPr sz="1200" b="0" i="0">
                <a:solidFill>
                  <a:srgbClr val="8FB38A"/>
                </a:solidFill>
                <a:latin typeface="Courier New"/>
                <a:ea typeface="Yu Gothic"/>
                <a:cs typeface="Yu Gothic"/>
              </a:rPr>
              <a:t>;; 首振りを定義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(comp-jswing)      </a:t>
            </a:r>
            <a:r>
              <a:rPr sz="1200" b="0" i="0">
                <a:solidFill>
                  <a:srgbClr val="8FB38A"/>
                </a:solidFill>
                <a:latin typeface="Courier New"/>
                <a:ea typeface="Yu Gothic"/>
                <a:cs typeface="Yu Gothic"/>
              </a:rPr>
              <a:t>;; 実行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(semi-comp-remocon) </a:t>
            </a:r>
            <a:r>
              <a:rPr sz="1200" b="0" i="0">
                <a:solidFill>
                  <a:srgbClr val="8FB38A"/>
                </a:solidFill>
                <a:latin typeface="Courier New"/>
                <a:ea typeface="Yu Gothic"/>
                <a:cs typeface="Yu Gothic"/>
              </a:rPr>
              <a:t>;; リモコンで首を操作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(comp-remocon)  </a:t>
            </a:r>
            <a:r>
              <a:rPr sz="1200" b="0" i="0">
                <a:solidFill>
                  <a:srgbClr val="8FB38A"/>
                </a:solidFill>
                <a:latin typeface="Courier New"/>
                <a:ea typeface="Yu Gothic"/>
                <a:cs typeface="Yu Gothic"/>
              </a:rPr>
              <a:t>;; &lt;r-forward&gt; で終了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(semi-comp-squat)   (comp-squat)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(semi-comp-iksquat) (comp-iksquat)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               </a:t>
            </a:r>
            <a:r>
              <a:rPr sz="1200" b="0" i="0">
                <a:solidFill>
                  <a:srgbClr val="8FB38A"/>
                </a:solidFill>
                <a:latin typeface="Courier New"/>
                <a:ea typeface="Yu Gothic"/>
                <a:cs typeface="Yu Gothic"/>
              </a:rPr>
              <a:t>;; IKで作るスクワット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57800"/>
            <a:ext cx="2468880" cy="96012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 wrap="square" lIns="73152" rIns="73152" tIns="73152" bIns="73152"/>
          <a:lstStyle/>
          <a:p>
            <a:pPr algn="ctr"/>
            <a:r>
              <a:rPr sz="140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Lisp風の記述</a:t>
            </a:r>
          </a:p>
          <a:p>
            <a:pPr algn="ctr"/>
            <a:r>
              <a:rPr sz="1100" b="0" i="0">
                <a:solidFill>
                  <a:srgbClr val="5B6778"/>
                </a:solidFill>
                <a:latin typeface="Courier New"/>
                <a:ea typeface="Yu Gothic"/>
                <a:cs typeface="Yu Gothic"/>
              </a:rPr>
              <a:t>semi-comp-xxx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35808" y="5733288"/>
            <a:ext cx="329184" cy="0"/>
          </a:xfrm>
          <a:prstGeom prst="line">
            <a:avLst/>
          </a:prstGeom>
          <a:ln w="25400">
            <a:solidFill>
              <a:srgbClr val="EE7B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383280" y="5257800"/>
            <a:ext cx="2468880" cy="96012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 wrap="square" lIns="73152" rIns="73152" tIns="73152" bIns="73152"/>
          <a:lstStyle/>
          <a:p>
            <a:pPr algn="ctr"/>
            <a:r>
              <a:rPr sz="140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コンパイル</a:t>
            </a:r>
          </a:p>
          <a:p>
            <a:pPr algn="ctr"/>
            <a:r>
              <a:rPr sz="1100" b="0" i="0">
                <a:solidFill>
                  <a:srgbClr val="5B6778"/>
                </a:solidFill>
                <a:latin typeface="Courier New"/>
                <a:ea typeface="Yu Gothic"/>
                <a:cs typeface="Yu Gothic"/>
              </a:rPr>
              <a:t>rcb4lisp.l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70448" y="5733288"/>
            <a:ext cx="329184" cy="0"/>
          </a:xfrm>
          <a:prstGeom prst="line">
            <a:avLst/>
          </a:prstGeom>
          <a:ln w="25400">
            <a:solidFill>
              <a:srgbClr val="EE7B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217920" y="5257800"/>
            <a:ext cx="2468880" cy="96012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 wrap="square" lIns="73152" rIns="73152" tIns="73152" bIns="73152"/>
          <a:lstStyle/>
          <a:p>
            <a:pPr algn="ctr"/>
            <a:r>
              <a:rPr sz="140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RCB-4 命令</a:t>
            </a:r>
          </a:p>
          <a:p>
            <a:pPr algn="ctr"/>
            <a:r>
              <a:rPr sz="1100" b="0" i="0">
                <a:solidFill>
                  <a:srgbClr val="5B6778"/>
                </a:solidFill>
                <a:latin typeface="Courier New"/>
                <a:ea typeface="Yu Gothic"/>
                <a:cs typeface="Yu Gothic"/>
              </a:rPr>
              <a:t>rcb4asm.l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705088" y="5733288"/>
            <a:ext cx="329184" cy="0"/>
          </a:xfrm>
          <a:prstGeom prst="line">
            <a:avLst/>
          </a:prstGeom>
          <a:ln w="25400">
            <a:solidFill>
              <a:srgbClr val="EE7B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052560" y="5257800"/>
            <a:ext cx="2468880" cy="960120"/>
          </a:xfrm>
          <a:prstGeom prst="roundRect">
            <a:avLst>
              <a:gd name="adj" fmla="val 8000"/>
            </a:avLst>
          </a:prstGeom>
          <a:solidFill>
            <a:srgbClr val="FDEBDB"/>
          </a:solidFill>
          <a:ln>
            <a:noFill/>
          </a:ln>
        </p:spPr>
        <p:txBody>
          <a:bodyPr rtlCol="0" anchor="ctr" wrap="square" lIns="73152" rIns="73152" tIns="73152" bIns="73152"/>
          <a:lstStyle/>
          <a:p>
            <a:pPr algn="ctr"/>
            <a:r>
              <a:rPr sz="140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ROM・実行</a:t>
            </a:r>
          </a:p>
          <a:p>
            <a:pPr algn="ctr"/>
            <a:r>
              <a:rPr sz="1100" b="0" i="0">
                <a:solidFill>
                  <a:srgbClr val="5B6778"/>
                </a:solidFill>
                <a:latin typeface="Courier New"/>
                <a:ea typeface="Yu Gothic"/>
                <a:cs typeface="Yu Gothic"/>
              </a:rPr>
              <a:t>RCB-4 単体で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DEMO  rubikcube.l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デモ3：ルービックキューブを持ち替えて解く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291840" cy="329184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5" name="Picture 4" descr="kxrl2l2a6h2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3291840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80060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kxrl2l2a6h2m  (22関節)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19" y="5056632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2自由度脚・6自由度腕・2自由度首・マグネット</a:t>
            </a:r>
          </a:p>
        </p:txBody>
      </p:sp>
      <p:sp>
        <p:nvSpPr>
          <p:cNvPr id="8" name="Oval 7"/>
          <p:cNvSpPr/>
          <p:nvPr/>
        </p:nvSpPr>
        <p:spPr>
          <a:xfrm>
            <a:off x="4297680" y="1554480"/>
            <a:ext cx="457200" cy="457200"/>
          </a:xfrm>
          <a:prstGeom prst="ellipse">
            <a:avLst/>
          </a:prstGeom>
          <a:solidFill>
            <a:srgbClr val="EE7B1E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46304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init-hold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810512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両手でキューブを持つ姿勢</a:t>
            </a:r>
          </a:p>
        </p:txBody>
      </p:sp>
      <p:sp>
        <p:nvSpPr>
          <p:cNvPr id="11" name="Oval 10"/>
          <p:cNvSpPr/>
          <p:nvPr/>
        </p:nvSpPr>
        <p:spPr>
          <a:xfrm>
            <a:off x="4297680" y="2340864"/>
            <a:ext cx="457200" cy="457200"/>
          </a:xfrm>
          <a:prstGeom prst="ellipse">
            <a:avLst/>
          </a:prstGeom>
          <a:solidFill>
            <a:srgbClr val="EE7B1E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249424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cube-scan-faces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596896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D405 カメラで6面の色を認識</a:t>
            </a:r>
          </a:p>
        </p:txBody>
      </p:sp>
      <p:sp>
        <p:nvSpPr>
          <p:cNvPr id="14" name="Oval 13"/>
          <p:cNvSpPr/>
          <p:nvPr/>
        </p:nvSpPr>
        <p:spPr>
          <a:xfrm>
            <a:off x="4297680" y="3127248"/>
            <a:ext cx="457200" cy="457200"/>
          </a:xfrm>
          <a:prstGeom prst="ellipse">
            <a:avLst/>
          </a:prstGeom>
          <a:solidFill>
            <a:srgbClr val="EE7B1E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3035808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cube-generate-solve-actions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38328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解法を持ち替え動作列に変換</a:t>
            </a:r>
          </a:p>
        </p:txBody>
      </p:sp>
      <p:sp>
        <p:nvSpPr>
          <p:cNvPr id="17" name="Oval 16"/>
          <p:cNvSpPr/>
          <p:nvPr/>
        </p:nvSpPr>
        <p:spPr>
          <a:xfrm>
            <a:off x="4297680" y="3913631"/>
            <a:ext cx="457200" cy="457200"/>
          </a:xfrm>
          <a:prstGeom prst="ellipse">
            <a:avLst/>
          </a:prstGeom>
          <a:solidFill>
            <a:srgbClr val="EE7B1E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3822191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cube-execute-actions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4169663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手首回転・グリッパ開閉で実行</a:t>
            </a:r>
          </a:p>
        </p:txBody>
      </p:sp>
      <p:sp>
        <p:nvSpPr>
          <p:cNvPr id="20" name="Oval 19"/>
          <p:cNvSpPr/>
          <p:nvPr/>
        </p:nvSpPr>
        <p:spPr>
          <a:xfrm>
            <a:off x="4297680" y="4700016"/>
            <a:ext cx="457200" cy="457200"/>
          </a:xfrm>
          <a:prstGeom prst="ellipse">
            <a:avLst/>
          </a:prstGeom>
          <a:solidFill>
            <a:srgbClr val="EE7B1E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4608576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cube-solve-cube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4956048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上の一連を通しで実行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69680" y="1463040"/>
            <a:ext cx="2834640" cy="393192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052560" y="160020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7A8C"/>
                </a:solidFill>
                <a:latin typeface="Yu Gothic"/>
                <a:ea typeface="Yu Gothic"/>
                <a:cs typeface="Yu Gothic"/>
              </a:rPr>
              <a:t>安全な段階テスト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2011680"/>
            <a:ext cx="2560320" cy="32918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marL="201168" indent="-182880">
              <a:spcAft>
                <a:spcPts val="600"/>
              </a:spcAft>
              <a:buClr>
                <a:srgbClr val="EE7B1E"/>
              </a:buClr>
              <a:buFont typeface="Arial"/>
              <a:buChar char="■"/>
            </a:pPr>
            <a:r>
              <a:rPr sz="12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Steps.md に8段階の実機テスト手順</a:t>
            </a:r>
          </a:p>
          <a:p>
            <a:pPr marL="201168" indent="-182880">
              <a:spcAft>
                <a:spcPts val="600"/>
              </a:spcAft>
              <a:buClr>
                <a:srgbClr val="EE7B1E"/>
              </a:buClr>
              <a:buFont typeface="Arial"/>
              <a:buChar char="■"/>
            </a:pPr>
            <a:r>
              <a:rPr sz="12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片手ずつグリッパ角度を較正</a:t>
            </a:r>
          </a:p>
          <a:p>
            <a:pPr marL="201168" indent="-182880">
              <a:spcAft>
                <a:spcPts val="600"/>
              </a:spcAft>
              <a:buClr>
                <a:srgbClr val="EE7B1E"/>
              </a:buClr>
              <a:buFont typeface="Arial"/>
              <a:buChar char="■"/>
            </a:pPr>
            <a:r>
              <a:rPr sz="12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1面ずつ見せて確認してから通し実行</a:t>
            </a:r>
          </a:p>
          <a:p>
            <a:pPr marL="201168" indent="-182880">
              <a:spcAft>
                <a:spcPts val="600"/>
              </a:spcAft>
              <a:buClr>
                <a:srgbClr val="EE7B1E"/>
              </a:buClr>
              <a:buFont typeface="Arial"/>
              <a:buChar char="■"/>
            </a:pPr>
            <a:r>
              <a:rPr sz="12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異常時はすぐ :neutral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5669280"/>
            <a:ext cx="7406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原型：kxr_cube_solver (github.com/fkanehiro/kxr_cube_solver)。d405rubikcube.l / m5rubikcube.l でカメラを切替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DEMO  walking-kxr-rl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デモ4：シミュレーションで学習した歩行を実機へ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2011680" cy="141732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 wrap="square" lIns="73152" rIns="73152" tIns="73152" bIns="73152"/>
          <a:lstStyle/>
          <a:p>
            <a:pPr algn="ctr"/>
            <a:r>
              <a:rPr sz="135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robot-model</a:t>
            </a:r>
          </a:p>
          <a:p>
            <a:pPr algn="ctr"/>
            <a:r>
              <a:rPr sz="1050" b="0" i="0">
                <a:solidFill>
                  <a:srgbClr val="5B6778"/>
                </a:solidFill>
                <a:latin typeface="Courier New"/>
                <a:ea typeface="Yu Gothic"/>
                <a:cs typeface="Yu Gothic"/>
              </a:rPr>
              <a:t>make-kxr-robot</a:t>
            </a:r>
          </a:p>
          <a:p>
            <a:pPr algn="ctr"/>
            <a:r>
              <a:rPr sz="1050" b="0" i="0">
                <a:solidFill>
                  <a:srgbClr val="5B6778"/>
                </a:solidFill>
                <a:latin typeface="Courier New"/>
                <a:ea typeface="Yu Gothic"/>
                <a:cs typeface="Yu Gothic"/>
              </a:rPr>
              <a:t>:model nil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78608" y="2212848"/>
            <a:ext cx="219456" cy="0"/>
          </a:xfrm>
          <a:prstGeom prst="line">
            <a:avLst/>
          </a:prstGeom>
          <a:ln w="25400">
            <a:solidFill>
              <a:srgbClr val="EE7B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816352" y="1508760"/>
            <a:ext cx="2011680" cy="141732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 wrap="square" lIns="73152" rIns="73152" tIns="73152" bIns="73152"/>
          <a:lstStyle/>
          <a:p>
            <a:pPr algn="ctr"/>
            <a:r>
              <a:rPr sz="135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URDF / MJCF</a:t>
            </a:r>
          </a:p>
          <a:p>
            <a:pPr algn="ctr"/>
            <a:r>
              <a:rPr sz="1050" b="0" i="0">
                <a:solidFill>
                  <a:srgbClr val="5B6778"/>
                </a:solidFill>
                <a:latin typeface="Courier New"/>
                <a:ea typeface="Yu Gothic"/>
                <a:cs typeface="Yu Gothic"/>
              </a:rPr>
              <a:t>native-robot-to-</a:t>
            </a:r>
          </a:p>
          <a:p>
            <a:pPr algn="ctr"/>
            <a:r>
              <a:rPr sz="1050" b="0" i="0">
                <a:solidFill>
                  <a:srgbClr val="5B6778"/>
                </a:solidFill>
                <a:latin typeface="Courier New"/>
                <a:ea typeface="Yu Gothic"/>
                <a:cs typeface="Yu Gothic"/>
              </a:rPr>
              <a:t>urdf-file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846320" y="2212848"/>
            <a:ext cx="219456" cy="0"/>
          </a:xfrm>
          <a:prstGeom prst="line">
            <a:avLst/>
          </a:prstGeom>
          <a:ln w="25400">
            <a:solidFill>
              <a:srgbClr val="EE7B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84064" y="1508760"/>
            <a:ext cx="2011680" cy="141732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 wrap="square" lIns="73152" rIns="73152" tIns="73152" bIns="73152"/>
          <a:lstStyle/>
          <a:p>
            <a:pPr algn="ctr"/>
            <a:r>
              <a:rPr sz="135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MuJoCo で学習</a:t>
            </a:r>
          </a:p>
          <a:p>
            <a:pPr algn="ctr"/>
            <a:r>
              <a:rPr sz="1050" b="0" i="0">
                <a:solidFill>
                  <a:srgbClr val="5B6778"/>
                </a:solidFill>
                <a:latin typeface="Courier New"/>
                <a:ea typeface="Yu Gothic"/>
                <a:cs typeface="Yu Gothic"/>
              </a:rPr>
              <a:t>mjlab + rsl_rl PPO</a:t>
            </a:r>
          </a:p>
          <a:p>
            <a:pPr algn="ctr"/>
            <a:r>
              <a:rPr sz="1050" b="0" i="0">
                <a:solidFill>
                  <a:srgbClr val="5B6778"/>
                </a:solidFill>
                <a:latin typeface="Courier New"/>
                <a:ea typeface="Yu Gothic"/>
                <a:cs typeface="Yu Gothic"/>
              </a:rPr>
              <a:t>uv run train.py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14031" y="2212848"/>
            <a:ext cx="219457" cy="0"/>
          </a:xfrm>
          <a:prstGeom prst="line">
            <a:avLst/>
          </a:prstGeom>
          <a:ln w="25400">
            <a:solidFill>
              <a:srgbClr val="EE7B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351775" y="1508760"/>
            <a:ext cx="2011680" cy="141732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 wrap="square" lIns="73152" rIns="73152" tIns="73152" bIns="73152"/>
          <a:lstStyle/>
          <a:p>
            <a:pPr algn="ctr"/>
            <a:r>
              <a:rPr sz="135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方策 .pt → .bin</a:t>
            </a:r>
          </a:p>
          <a:p>
            <a:pPr algn="ctr"/>
            <a:r>
              <a:rPr sz="1050" b="0" i="0">
                <a:solidFill>
                  <a:srgbClr val="5B6778"/>
                </a:solidFill>
                <a:latin typeface="Courier New"/>
                <a:ea typeface="Yu Gothic"/>
                <a:cs typeface="Yu Gothic"/>
              </a:rPr>
              <a:t>量子化して</a:t>
            </a:r>
          </a:p>
          <a:p>
            <a:pPr algn="ctr"/>
            <a:r>
              <a:rPr sz="1050" b="0" i="0">
                <a:solidFill>
                  <a:srgbClr val="5B6778"/>
                </a:solidFill>
                <a:latin typeface="Courier New"/>
                <a:ea typeface="Yu Gothic"/>
                <a:cs typeface="Yu Gothic"/>
              </a:rPr>
              <a:t>GitHubで配信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381744" y="2212848"/>
            <a:ext cx="219456" cy="0"/>
          </a:xfrm>
          <a:prstGeom prst="line">
            <a:avLst/>
          </a:prstGeom>
          <a:ln w="25400">
            <a:solidFill>
              <a:srgbClr val="EE7B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619488" y="1508760"/>
            <a:ext cx="2011680" cy="1417320"/>
          </a:xfrm>
          <a:prstGeom prst="roundRect">
            <a:avLst>
              <a:gd name="adj" fmla="val 8000"/>
            </a:avLst>
          </a:prstGeom>
          <a:solidFill>
            <a:srgbClr val="FDEBDB"/>
          </a:solidFill>
          <a:ln>
            <a:noFill/>
          </a:ln>
        </p:spPr>
        <p:txBody>
          <a:bodyPr rtlCol="0" anchor="ctr" wrap="square" lIns="73152" rIns="73152" tIns="73152" bIns="73152"/>
          <a:lstStyle/>
          <a:p>
            <a:pPr algn="ctr"/>
            <a:r>
              <a:rPr sz="135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M5Stack 上で推論</a:t>
            </a:r>
          </a:p>
          <a:p>
            <a:pPr algn="ctr"/>
            <a:r>
              <a:rPr sz="1050" b="0" i="0">
                <a:solidFill>
                  <a:srgbClr val="5B6778"/>
                </a:solidFill>
                <a:latin typeface="Courier New"/>
                <a:ea typeface="Yu Gothic"/>
                <a:cs typeface="Yu Gothic"/>
              </a:rPr>
              <a:t>AtomS3 / M5StickC</a:t>
            </a:r>
          </a:p>
          <a:p>
            <a:pPr algn="ctr"/>
            <a:r>
              <a:rPr sz="1050" b="0" i="0">
                <a:solidFill>
                  <a:srgbClr val="5B6778"/>
                </a:solidFill>
                <a:latin typeface="Courier New"/>
                <a:ea typeface="Yu Gothic"/>
                <a:cs typeface="Yu Gothic"/>
              </a:rPr>
              <a:t>→ RCB-4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46120"/>
            <a:ext cx="1554480" cy="155448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4" name="Picture 13" descr="kxrl2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46120"/>
            <a:ext cx="1554480" cy="1554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484632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kxrl2g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2064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0.30 m/s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31720" y="3246120"/>
            <a:ext cx="1554480" cy="155448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8" name="Picture 17" descr="kxrl4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720" y="3246120"/>
            <a:ext cx="1554480" cy="15544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331720" y="484632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kxrl4d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512064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0.26 m/s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0" y="3246120"/>
            <a:ext cx="1554480" cy="155448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22" name="Picture 21" descr="kxrl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3246120"/>
            <a:ext cx="1554480" cy="15544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114800" y="484632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kxrl6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512064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0.24 m/s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97879" y="3246120"/>
            <a:ext cx="1554480" cy="155448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26" name="Picture 25" descr="kxrl4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7879" y="3246120"/>
            <a:ext cx="1554480" cy="15544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897879" y="484632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kxrl4t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7879" y="512064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0.12 m/s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577840"/>
            <a:ext cx="6949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学習した前進速度 (シミュレーション, 1シード実測)。脚の構造が違っても同じレシピで学習できる。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0" y="3246120"/>
            <a:ext cx="3840480" cy="2148840"/>
          </a:xfrm>
          <a:prstGeom prst="roundRect">
            <a:avLst>
              <a:gd name="adj" fmla="val 4000"/>
            </a:avLst>
          </a:prstGeom>
          <a:solidFill>
            <a:srgbClr val="1E273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001000" y="3355848"/>
            <a:ext cx="3566160" cy="19293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7C08A"/>
                </a:solidFill>
                <a:latin typeface="Courier New"/>
                <a:ea typeface="Yu Gothic"/>
                <a:cs typeface="Yu Gothic"/>
              </a:rPr>
              <a:t>$ cd walking-kxr-rl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7C08A"/>
                </a:solidFill>
                <a:latin typeface="Courier New"/>
                <a:ea typeface="Yu Gothic"/>
                <a:cs typeface="Yu Gothic"/>
              </a:rPr>
              <a:t>$ uv run check.py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7C08A"/>
                </a:solidFill>
                <a:latin typeface="Courier New"/>
                <a:ea typeface="Yu Gothic"/>
                <a:cs typeface="Yu Gothic"/>
              </a:rPr>
              <a:t>$ uv run play.py kxrl4d standwalk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7C08A"/>
                </a:solidFill>
                <a:latin typeface="Courier New"/>
                <a:ea typeface="Yu Gothic"/>
                <a:cs typeface="Yu Gothic"/>
              </a:rPr>
              <a:t>$ uv run train.py kxrl4d walk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5532120"/>
            <a:ext cx="3840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URDF の関節名(lleg-/rarm-/head- …)から肢と足先を自動判別し、ロボットごとのコード無しでタスクを構成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DEMO  M5Stack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デモ5：無線・カメラ・音声で動かす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440680" cy="219456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22959" y="1664208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F7A8C"/>
                </a:solidFill>
                <a:latin typeface="Yu Gothic"/>
                <a:ea typeface="Yu Gothic"/>
                <a:cs typeface="Yu Gothic"/>
              </a:rPr>
              <a:t>無線ブリッジ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148840"/>
            <a:ext cx="4892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AtomS3 / ATOM Echo を RCB-4 に載せ、PC と ESP-NOW で通信。ケーブル無しで *ri* が使える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15468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778"/>
                </a:solidFill>
                <a:latin typeface="Courier New"/>
                <a:ea typeface="Yu Gothic"/>
                <a:cs typeface="Yu Gothic"/>
              </a:rPr>
              <a:t>atominterface.l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63040"/>
            <a:ext cx="5440680" cy="219456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46520" y="1664208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F7A8C"/>
                </a:solidFill>
                <a:latin typeface="Yu Gothic"/>
                <a:ea typeface="Yu Gothic"/>
                <a:cs typeface="Yu Gothic"/>
              </a:rPr>
              <a:t>オンボード知能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48840"/>
            <a:ext cx="4892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M5StickC / AtomS3 のファーム (kxr5s) が、サーボIDから機種を判別し、学習済み方策で歩く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15468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778"/>
                </a:solidFill>
                <a:latin typeface="Courier New"/>
                <a:ea typeface="Yu Gothic"/>
                <a:cs typeface="Yu Gothic"/>
              </a:rPr>
              <a:t>m5stack/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86200"/>
            <a:ext cx="5440680" cy="219456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2959" y="4087368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F7A8C"/>
                </a:solidFill>
                <a:latin typeface="Yu Gothic"/>
                <a:ea typeface="Yu Gothic"/>
                <a:cs typeface="Yu Gothic"/>
              </a:rPr>
              <a:t>カメラ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572000"/>
            <a:ext cx="4892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M5StickV / UnitV で物体検出、I2C で結果を渡す。D405 で3次元の色認識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55778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778"/>
                </a:solidFill>
                <a:latin typeface="Courier New"/>
                <a:ea typeface="Yu Gothic"/>
                <a:cs typeface="Yu Gothic"/>
              </a:rPr>
              <a:t>object_detection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886200"/>
            <a:ext cx="5440680" cy="219456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46520" y="4087368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F7A8C"/>
                </a:solidFill>
                <a:latin typeface="Yu Gothic"/>
                <a:ea typeface="Yu Gothic"/>
                <a:cs typeface="Yu Gothic"/>
              </a:rPr>
              <a:t>音声・スマホ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572000"/>
            <a:ext cx="4892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音声コマンドで登録したモーションを実行。スマホのブラウザから操作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55778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778"/>
                </a:solidFill>
                <a:latin typeface="Courier New"/>
                <a:ea typeface="Yu Gothic"/>
                <a:cs typeface="Yu Gothic"/>
              </a:rPr>
              <a:t>voice-words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73736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246120"/>
            <a:ext cx="6583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演習：独自ロボットをつくる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069080"/>
            <a:ext cx="6217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C5D0DE"/>
                </a:solidFill>
                <a:latin typeface="Yu Gothic"/>
                <a:ea typeface="Yu Gothic"/>
                <a:cs typeface="Yu Gothic"/>
              </a:rPr>
              <a:t>設定を1つ書き足すところから、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C5D0DE"/>
                </a:solidFill>
                <a:latin typeface="Yu Gothic"/>
                <a:ea typeface="Yu Gothic"/>
                <a:cs typeface="Yu Gothic"/>
              </a:rPr>
              <a:t>新しい部品の定義まで、3つのレベルで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371600"/>
            <a:ext cx="1920240" cy="192024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6" name="Picture 5" descr="kxrmyl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1920240" cy="1920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692640" y="1371600"/>
            <a:ext cx="1920240" cy="192024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8" name="Picture 7" descr="kxrmy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1371600"/>
            <a:ext cx="1920240" cy="19202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589520" y="3474720"/>
            <a:ext cx="1920240" cy="192024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0" name="Picture 9" descr="la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3474720"/>
            <a:ext cx="1920240" cy="1920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692640" y="3474720"/>
            <a:ext cx="1920240" cy="192024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2" name="Picture 11" descr="d405ey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0" y="3474720"/>
            <a:ext cx="1920240" cy="19202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AA8BA"/>
                </a:solidFill>
                <a:latin typeface="Yu Gothic"/>
                <a:ea typeface="Yu Gothic"/>
                <a:cs typeface="Yu Gothic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拡張の3つのレベル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474720" cy="402336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22959" y="1691640"/>
            <a:ext cx="731520" cy="731520"/>
          </a:xfrm>
          <a:prstGeom prst="ellipse">
            <a:avLst/>
          </a:prstGeom>
          <a:solidFill>
            <a:srgbClr val="EE7B1E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6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737360"/>
            <a:ext cx="21945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設定だけで作る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51760"/>
            <a:ext cx="2971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既存の model-param の組合せを変えて、設定エントリを1つ追加する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977639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触るファイル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42519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rcb4robotconfig.l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466344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難しさ</a:t>
            </a:r>
          </a:p>
        </p:txBody>
      </p:sp>
      <p:sp>
        <p:nvSpPr>
          <p:cNvPr id="11" name="Oval 10"/>
          <p:cNvSpPr/>
          <p:nvPr/>
        </p:nvSpPr>
        <p:spPr>
          <a:xfrm>
            <a:off x="822959" y="4983480"/>
            <a:ext cx="228600" cy="228600"/>
          </a:xfrm>
          <a:prstGeom prst="ellipse">
            <a:avLst/>
          </a:prstGeom>
          <a:solidFill>
            <a:srgbClr val="EE7B1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1143000" y="4983480"/>
            <a:ext cx="228600" cy="228600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463039" y="4983480"/>
            <a:ext cx="228600" cy="228600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874519" y="49194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コード追加なし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1463040"/>
            <a:ext cx="3474720" cy="402336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4571999" y="1691640"/>
            <a:ext cx="731520" cy="731520"/>
          </a:xfrm>
          <a:prstGeom prst="ellipse">
            <a:avLst/>
          </a:prstGeom>
          <a:solidFill>
            <a:srgbClr val="EE7B1E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6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79" y="1737360"/>
            <a:ext cx="21945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モジュールを組み替える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1999" y="2651760"/>
            <a:ext cx="2971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:robotset でマグネット着脱モジュールを取り付け場所ごとに並べる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999" y="3977639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触るファイル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1999" y="42519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rcb4robotconfig.l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1999" y="466344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難しさ</a:t>
            </a:r>
          </a:p>
        </p:txBody>
      </p:sp>
      <p:sp>
        <p:nvSpPr>
          <p:cNvPr id="22" name="Oval 21"/>
          <p:cNvSpPr/>
          <p:nvPr/>
        </p:nvSpPr>
        <p:spPr>
          <a:xfrm>
            <a:off x="4571999" y="4983480"/>
            <a:ext cx="228600" cy="228600"/>
          </a:xfrm>
          <a:prstGeom prst="ellipse">
            <a:avLst/>
          </a:prstGeom>
          <a:solidFill>
            <a:srgbClr val="EE7B1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892039" y="4983480"/>
            <a:ext cx="228600" cy="228600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5212079" y="4983480"/>
            <a:ext cx="228600" cy="228600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623559" y="49194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コード追加なし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19" y="1463040"/>
            <a:ext cx="3474720" cy="4023360"/>
          </a:xfrm>
          <a:prstGeom prst="roundRect">
            <a:avLst>
              <a:gd name="adj" fmla="val 8000"/>
            </a:avLst>
          </a:prstGeom>
          <a:solidFill>
            <a:srgbClr val="FDEBD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321040" y="1691640"/>
            <a:ext cx="731520" cy="731520"/>
          </a:xfrm>
          <a:prstGeom prst="ellipse">
            <a:avLst/>
          </a:prstGeom>
          <a:solidFill>
            <a:srgbClr val="EE7B1E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6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19" y="1737360"/>
            <a:ext cx="21945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新しい部品・関節構造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2651760"/>
            <a:ext cx="2971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部品(body) → 部品組 → リンク → :setup-xxx の順に新しい型を追加する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977639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触るファイル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2519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kxrbody.l ほか4層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66344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難しさ</a:t>
            </a:r>
          </a:p>
        </p:txBody>
      </p:sp>
      <p:sp>
        <p:nvSpPr>
          <p:cNvPr id="33" name="Oval 32"/>
          <p:cNvSpPr/>
          <p:nvPr/>
        </p:nvSpPr>
        <p:spPr>
          <a:xfrm>
            <a:off x="8321040" y="4983480"/>
            <a:ext cx="228600" cy="228600"/>
          </a:xfrm>
          <a:prstGeom prst="ellipse">
            <a:avLst/>
          </a:prstGeom>
          <a:solidFill>
            <a:srgbClr val="EE7B1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8641080" y="4983480"/>
            <a:ext cx="228600" cy="228600"/>
          </a:xfrm>
          <a:prstGeom prst="ellipse">
            <a:avLst/>
          </a:prstGeom>
          <a:solidFill>
            <a:srgbClr val="EE7B1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961119" y="4983480"/>
            <a:ext cx="228600" cy="228600"/>
          </a:xfrm>
          <a:prstGeom prst="ellipse">
            <a:avLst/>
          </a:prstGeom>
          <a:solidFill>
            <a:srgbClr val="EE7B1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372599" y="49194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Euslisp で記述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まず A か B で「どの部品の組合せで何ができるか」を試し、既存の部品で表せない構造が必要になったら C に進む。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全体の手順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474720" cy="210312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22959" y="1645920"/>
            <a:ext cx="731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737360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構想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2971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課題を決め、必要な移動・操作・センサから骨格をスケッチ。関節の一覧を作る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41648" y="2514600"/>
            <a:ext cx="237744" cy="0"/>
          </a:xfrm>
          <a:prstGeom prst="line">
            <a:avLst/>
          </a:prstGeom>
          <a:ln w="25400">
            <a:solidFill>
              <a:srgbClr val="EE7B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297679" y="1463040"/>
            <a:ext cx="3474720" cy="210312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71999" y="1645920"/>
            <a:ext cx="731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9" y="1737360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設定を書く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2423160"/>
            <a:ext cx="2971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rcb4robotconfig.l にエントリを追加(A/B)。足りなければ部品を作る(C)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90688" y="2514600"/>
            <a:ext cx="237743" cy="0"/>
          </a:xfrm>
          <a:prstGeom prst="line">
            <a:avLst/>
          </a:prstGeom>
          <a:ln w="25400">
            <a:solidFill>
              <a:srgbClr val="EE7B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046719" y="1463040"/>
            <a:ext cx="3474720" cy="210312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21040" y="1645920"/>
            <a:ext cx="731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19" y="1737360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モデルで確認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423160"/>
            <a:ext cx="2971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:model nil で生成し、関節名・可動範囲・自己干渉・立ち姿勢を確認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40480"/>
            <a:ext cx="3474720" cy="210312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2959" y="4023360"/>
            <a:ext cx="731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114800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実機と対応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4800600"/>
            <a:ext cx="2971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サーボIDと回転方向を合わせる。脱力してモデルと実機を見比べる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041648" y="4892040"/>
            <a:ext cx="237744" cy="0"/>
          </a:xfrm>
          <a:prstGeom prst="line">
            <a:avLst/>
          </a:prstGeom>
          <a:ln w="25400">
            <a:solidFill>
              <a:srgbClr val="EE7B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297679" y="3840480"/>
            <a:ext cx="3474720" cy="210312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571999" y="4023360"/>
            <a:ext cx="731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4114800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動作を作る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1999" y="4800600"/>
            <a:ext cx="2971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IK・歩行・教示で姿勢列を作り、実機へ送る／ROMに書く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790688" y="4892040"/>
            <a:ext cx="237743" cy="0"/>
          </a:xfrm>
          <a:prstGeom prst="line">
            <a:avLst/>
          </a:prstGeom>
          <a:ln w="25400">
            <a:solidFill>
              <a:srgbClr val="EE7B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046719" y="3840480"/>
            <a:ext cx="3474720" cy="210312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321040" y="4023360"/>
            <a:ext cx="731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19" y="4114800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展開する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800600"/>
            <a:ext cx="2971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models/ に保存、URDF/MJCF に書き出して学習・Web公開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STEP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レベルA ①：設定エントリを書く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6949440" cy="4206240"/>
          </a:xfrm>
          <a:prstGeom prst="roundRect">
            <a:avLst>
              <a:gd name="adj" fmla="val 4000"/>
            </a:avLst>
          </a:prstGeom>
          <a:solidFill>
            <a:srgbClr val="1E273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85800" y="1572768"/>
            <a:ext cx="6675120" cy="3986783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8FB38A"/>
                </a:solidFill>
                <a:latin typeface="Courier New"/>
                <a:ea typeface="Yu Gothic"/>
                <a:cs typeface="Yu Gothic"/>
              </a:rPr>
              <a:t>;; kxrl4t (2自由度の肢) を 3自由度の肢に変えた4肢型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(("kxrmyl4")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(:body :l4t :type :l4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 :arm :j3 :leg :j3      </a:t>
            </a:r>
            <a:r>
              <a:rPr sz="1250" b="0" i="0">
                <a:solidFill>
                  <a:srgbClr val="8FB38A"/>
                </a:solidFill>
                <a:latin typeface="Courier New"/>
                <a:ea typeface="Yu Gothic"/>
                <a:cs typeface="Yu Gothic"/>
              </a:rPr>
              <a:t>;; ← :j2 を :j3 に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 :head :h1)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(1 :head-neck-y -1)     (31 :head-neck-p 1)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(2 :rarm-shoulder-y -1) (3 :larm-shoulder-y -1)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(4 :rarm-shoulder-r -1) (5 :larm-shoulder-r 1)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(10 :rarm-elbow-r 1)    (11 :larm-elbow-r -1)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(6 :rleg-crotch-y -1)   (7 :lleg-crotch-y -1)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(8 :rleg-crotch-r -1)   (9 :lleg-crotch-r 1)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(12 :rleg-knee-r 1)     (13 :lleg-knee-r -1))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463040"/>
            <a:ext cx="2926080" cy="292608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7" name="Picture 6" descr="kxrmyl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463040"/>
            <a:ext cx="2926080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63840" y="443484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kxrmyl4  (14関節)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19" y="469087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この設定から実際に生成したモデル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06440"/>
            <a:ext cx="11155680" cy="6400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marL="201168" indent="-182880">
              <a:spcAft>
                <a:spcPts val="600"/>
              </a:spcAft>
              <a:buClr>
                <a:srgbClr val="EE7B1E"/>
              </a:buClr>
              <a:buFont typeface="Arial"/>
              <a:buChar char="■"/>
            </a:pPr>
            <a:r>
              <a:rPr sz="130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似たロボットのエントリをコピーして変えるのが近道。 </a:t>
            </a:r>
            <a:r>
              <a:rPr sz="130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(kxr-typed-configs)</a:t>
            </a:r>
            <a:r>
              <a:rPr sz="130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 で :arm / :leg / :head などに書ける値を一覧できる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STEP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レベルA ②：モデルを生成して確かめる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6949440" cy="4754880"/>
          </a:xfrm>
          <a:prstGeom prst="roundRect">
            <a:avLst>
              <a:gd name="adj" fmla="val 4000"/>
            </a:avLst>
          </a:prstGeom>
          <a:solidFill>
            <a:srgbClr val="1E273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85800" y="1572768"/>
            <a:ext cx="6675120" cy="45354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(make-kxr-robot "kxrmyl4" :model nil)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(send-all (send *robot* :joint-list) :name)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</a:t>
            </a:r>
            <a:r>
              <a:rPr sz="1250" b="0" i="0">
                <a:solidFill>
                  <a:srgbClr val="8FB38A"/>
                </a:solidFill>
                <a:latin typeface="Courier New"/>
                <a:ea typeface="Yu Gothic"/>
                <a:cs typeface="Yu Gothic"/>
              </a:rPr>
              <a:t>;; =&gt; (:rarm-shoulder-y :rarm-shoulder-r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</a:t>
            </a:r>
            <a:r>
              <a:rPr sz="1250" b="0" i="0">
                <a:solidFill>
                  <a:srgbClr val="8FB38A"/>
                </a:solidFill>
                <a:latin typeface="Courier New"/>
                <a:ea typeface="Yu Gothic"/>
                <a:cs typeface="Yu Gothic"/>
              </a:rPr>
              <a:t>;;     :rarm-elbow-r ... :head-neck-p)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(send *robot* :reset-pose)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(send *robot* :self-collision-check)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</a:t>
            </a:r>
            <a:r>
              <a:rPr sz="1250" b="0" i="0">
                <a:solidFill>
                  <a:srgbClr val="8FB38A"/>
                </a:solidFill>
                <a:latin typeface="Courier New"/>
                <a:ea typeface="Yu Gothic"/>
                <a:cs typeface="Yu Gothic"/>
              </a:rPr>
              <a:t>;; 自己干渉するリンクの組を確認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(send *robot* :larm :elbow-r :joint-angle 45)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(send *irtviewer* :draw-objects)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(check-duplicated-names)  </a:t>
            </a:r>
            <a:r>
              <a:rPr sz="1250" b="0" i="0">
                <a:solidFill>
                  <a:srgbClr val="8FB38A"/>
                </a:solidFill>
                <a:latin typeface="Courier New"/>
                <a:ea typeface="Yu Gothic"/>
                <a:cs typeface="Yu Gothic"/>
              </a:rPr>
              <a:t>;; 名前の重複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(check-same-model-params) </a:t>
            </a:r>
            <a:r>
              <a:rPr sz="1250" b="0" i="0">
                <a:solidFill>
                  <a:srgbClr val="8FB38A"/>
                </a:solidFill>
                <a:latin typeface="Courier New"/>
                <a:ea typeface="Yu Gothic"/>
                <a:cs typeface="Yu Gothic"/>
              </a:rPr>
              <a:t>;; 同じ構成の重複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(make-kxr-robot "kxrmyl4" :generate t)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</a:t>
            </a:r>
            <a:r>
              <a:rPr sz="1250" b="0" i="0">
                <a:solidFill>
                  <a:srgbClr val="8FB38A"/>
                </a:solidFill>
                <a:latin typeface="Courier New"/>
                <a:ea typeface="Yu Gothic"/>
                <a:cs typeface="Yu Gothic"/>
              </a:rPr>
              <a:t>;; models/kxrmyl4.l として保存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463040"/>
            <a:ext cx="3840480" cy="475488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092440" y="16459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7A8C"/>
                </a:solidFill>
                <a:latin typeface="Yu Gothic"/>
                <a:ea typeface="Yu Gothic"/>
                <a:cs typeface="Yu Gothic"/>
              </a:rPr>
              <a:t>確認すること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2103120"/>
            <a:ext cx="3429000" cy="40233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marL="201168" indent="-182880">
              <a:spcAft>
                <a:spcPts val="900"/>
              </a:spcAft>
              <a:buClr>
                <a:srgbClr val="EE7B1E"/>
              </a:buClr>
              <a:buFont typeface="Arial"/>
              <a:buChar char="■"/>
            </a:pPr>
            <a:r>
              <a:rPr sz="13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関節の数と名前が構想どおりか</a:t>
            </a:r>
          </a:p>
          <a:p>
            <a:pPr marL="201168" indent="-182880">
              <a:spcAft>
                <a:spcPts val="900"/>
              </a:spcAft>
              <a:buClr>
                <a:srgbClr val="EE7B1E"/>
              </a:buClr>
              <a:buFont typeface="Arial"/>
              <a:buChar char="■"/>
            </a:pPr>
            <a:r>
              <a:rPr sz="13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可動範囲の中で肢どうしがぶつからないか</a:t>
            </a:r>
          </a:p>
          <a:p>
            <a:pPr marL="201168" indent="-182880">
              <a:spcAft>
                <a:spcPts val="900"/>
              </a:spcAft>
              <a:buClr>
                <a:srgbClr val="EE7B1E"/>
              </a:buClr>
              <a:buFont typeface="Arial"/>
              <a:buChar char="■"/>
            </a:pPr>
            <a:r>
              <a:rPr sz="13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足先・手先の座標 (:end-coords) が妥当か</a:t>
            </a:r>
          </a:p>
          <a:p>
            <a:pPr marL="201168" indent="-182880">
              <a:spcAft>
                <a:spcPts val="900"/>
              </a:spcAft>
              <a:buClr>
                <a:srgbClr val="EE7B1E"/>
              </a:buClr>
              <a:buFont typeface="Arial"/>
              <a:buChar char="■"/>
            </a:pPr>
            <a:r>
              <a:rPr sz="13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重心 (:centroid) が支持多角形の中にあるか</a:t>
            </a:r>
          </a:p>
          <a:p>
            <a:pPr marL="201168" indent="-182880">
              <a:spcAft>
                <a:spcPts val="900"/>
              </a:spcAft>
              <a:buClr>
                <a:srgbClr val="EE7B1E"/>
              </a:buClr>
              <a:buFont typeface="Arial"/>
              <a:buChar char="■"/>
            </a:pPr>
            <a:r>
              <a:rPr sz="13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設定のサーボ番号が全関節を網羅しているか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STEP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レベルA ③：実機のサーボと対応づける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6035040" cy="3200400"/>
          </a:xfrm>
          <a:prstGeom prst="roundRect">
            <a:avLst>
              <a:gd name="adj" fmla="val 4000"/>
            </a:avLst>
          </a:prstGeom>
          <a:solidFill>
            <a:srgbClr val="1E273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85800" y="1572768"/>
            <a:ext cx="5760720" cy="29809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(make-kxr-robot "kxrmyl4")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(send *ri* :read-servo-connected)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</a:t>
            </a:r>
            <a:r>
              <a:rPr sz="1250" b="0" i="0">
                <a:solidFill>
                  <a:srgbClr val="8FB38A"/>
                </a:solidFill>
                <a:latin typeface="Courier New"/>
                <a:ea typeface="Yu Gothic"/>
                <a:cs typeface="Yu Gothic"/>
              </a:rPr>
              <a:t>;; =&gt; 接続されているサーボID一覧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(send *ri* :timer-on)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(send *ri* :free)  </a:t>
            </a:r>
            <a:r>
              <a:rPr sz="1250" b="0" i="0">
                <a:solidFill>
                  <a:srgbClr val="8FB38A"/>
                </a:solidFill>
                <a:latin typeface="Courier New"/>
                <a:ea typeface="Yu Gothic"/>
                <a:cs typeface="Yu Gothic"/>
              </a:rPr>
              <a:t>;; 脱力して手で動かす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</a:t>
            </a:r>
            <a:r>
              <a:rPr sz="1250" b="0" i="0">
                <a:solidFill>
                  <a:srgbClr val="8FB38A"/>
                </a:solidFill>
                <a:latin typeface="Courier New"/>
                <a:ea typeface="Yu Gothic"/>
                <a:cs typeface="Yu Gothic"/>
              </a:rPr>
              <a:t>;; *ri* ビューアの関節の動く向きを確認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0" y="1463040"/>
          <a:ext cx="4846320" cy="30175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11680"/>
                <a:gridCol w="283464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症状</a:t>
                      </a:r>
                    </a:p>
                  </a:txBody>
                  <a:tcPr marL="73152" marR="73152" marT="27432" marB="27432" anchor="ctr">
                    <a:solidFill>
                      <a:srgbClr val="1722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直し方</a:t>
                      </a:r>
                    </a:p>
                  </a:txBody>
                  <a:tcPr marL="73152" marR="73152" marT="27432" marB="27432" anchor="ctr">
                    <a:solidFill>
                      <a:srgbClr val="172233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別の関節が動く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サーボID と関節名の組を入れ替える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動く向きが逆</a:t>
                      </a:r>
                    </a:p>
                  </a:txBody>
                  <a:tcPr marL="73152" marR="73152" marT="27432" marB="27432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回転方向 1 ↔ -1 を反転する</a:t>
                      </a:r>
                    </a:p>
                  </a:txBody>
                  <a:tcPr marL="73152" marR="73152" marT="27432" marB="27432" anchor="ctr">
                    <a:solidFill>
                      <a:srgbClr val="EDF2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ゼロ点がずれる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4番目の要素にオフセット角を書く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指が1本しか動かない</a:t>
                      </a:r>
                    </a:p>
                  </a:txBody>
                  <a:tcPr marL="73152" marR="73152" marT="27432" marB="27432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1/2 で1サーボを2指に割り当てる</a:t>
                      </a:r>
                    </a:p>
                  </a:txBody>
                  <a:tcPr marL="73152" marR="73152" marT="27432" marB="27432" anchor="ctr">
                    <a:solidFill>
                      <a:srgbClr val="EDF2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機種が自動判定されない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サーボIDの集合を他機種と重ならないようにする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4892040"/>
            <a:ext cx="11155680" cy="1371600"/>
          </a:xfrm>
          <a:prstGeom prst="roundRect">
            <a:avLst>
              <a:gd name="adj" fmla="val 8000"/>
            </a:avLst>
          </a:prstGeom>
          <a:solidFill>
            <a:srgbClr val="FDEBD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4937760"/>
            <a:ext cx="1078992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自動判定のしくみ：</a:t>
            </a:r>
            <a:r>
              <a:rPr sz="140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名前を指定せず (make-kxr-robot) を呼ぶと、接続サーボIDの集合を読み、同じ集合を持つ設定エントリを探して機種を決める (:scan-robot-name)。ID集合が他と同じだと別機種と誤認されるので注意。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ROBOTSET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レベルB：モジュールを組み替える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852160" cy="2926080"/>
          </a:xfrm>
          <a:prstGeom prst="roundRect">
            <a:avLst>
              <a:gd name="adj" fmla="val 4000"/>
            </a:avLst>
          </a:prstGeom>
          <a:solidFill>
            <a:srgbClr val="1E273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85800" y="1572768"/>
            <a:ext cx="5577840" cy="27066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8FB38A"/>
                </a:solidFill>
                <a:latin typeface="Courier New"/>
                <a:ea typeface="Yu Gothic"/>
                <a:cs typeface="Yu Gothic"/>
              </a:rPr>
              <a:t>;; 7自由度の双腕 + メカナム台車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(("kxrmyset")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(:robotset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 ("kxrl2body"                </a:t>
            </a:r>
            <a:r>
              <a:rPr sz="1200" b="0" i="0">
                <a:solidFill>
                  <a:srgbClr val="8FB38A"/>
                </a:solidFill>
                <a:latin typeface="Courier New"/>
                <a:ea typeface="Yu Gothic"/>
                <a:cs typeface="Yu Gothic"/>
              </a:rPr>
              <a:t>;; 土台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  (:neck "d405eyes")         </a:t>
            </a:r>
            <a:r>
              <a:rPr sz="1200" b="0" i="0">
                <a:solidFill>
                  <a:srgbClr val="8FB38A"/>
                </a:solidFill>
                <a:latin typeface="Courier New"/>
                <a:ea typeface="Yu Gothic"/>
                <a:cs typeface="Yu Gothic"/>
              </a:rPr>
              <a:t>;; 取付場所 部品...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  (:larm "la7" "lg1sx")      </a:t>
            </a:r>
            <a:r>
              <a:rPr sz="1200" b="0" i="0">
                <a:solidFill>
                  <a:srgbClr val="8FB38A"/>
                </a:solidFill>
                <a:latin typeface="Courier New"/>
                <a:ea typeface="Yu Gothic"/>
                <a:cs typeface="Yu Gothic"/>
              </a:rPr>
              <a:t>;; 腕→指の順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  (:rarm "ra7" "rg1sx")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  (:mbase "kxrmw4base"))))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463040"/>
            <a:ext cx="2743200" cy="27432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7" name="Picture 6" descr="kxrmy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463040"/>
            <a:ext cx="2743200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66560" y="4251959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kxrmyset (24関節)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1463040"/>
            <a:ext cx="20116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取付場所</a:t>
            </a:r>
          </a:p>
          <a:p>
            <a:pPr algn="l"/>
            <a:r>
              <a:rPr sz="12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:neck :larm :rarm</a:t>
            </a:r>
          </a:p>
          <a:p>
            <a:pPr algn="l"/>
            <a:r>
              <a:rPr sz="12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:lleg :rleg :mbase</a:t>
            </a:r>
          </a:p>
          <a:p>
            <a:pPr algn="l"/>
            <a:r>
              <a:rPr sz="12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/>
            </a:r>
          </a:p>
          <a:p>
            <a:pPr algn="l"/>
            <a:r>
              <a:rPr sz="12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1つの場所に</a:t>
            </a:r>
          </a:p>
          <a:p>
            <a:pPr algn="l"/>
            <a:r>
              <a:rPr sz="12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複数部品を並べると</a:t>
            </a:r>
          </a:p>
          <a:p>
            <a:pPr algn="l"/>
            <a:r>
              <a:rPr sz="12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先に付けた部品の</a:t>
            </a:r>
          </a:p>
          <a:p>
            <a:pPr algn="l"/>
            <a:r>
              <a:rPr sz="12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先端につながる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572000"/>
          <a:ext cx="11155680" cy="181051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63040"/>
                <a:gridCol w="9692640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種類</a:t>
                      </a:r>
                    </a:p>
                  </a:txBody>
                  <a:tcPr marL="73152" marR="73152" marT="27432" marB="27432" anchor="ctr">
                    <a:solidFill>
                      <a:srgbClr val="1722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使えるモジュール(例)</a:t>
                      </a:r>
                    </a:p>
                  </a:txBody>
                  <a:tcPr marL="73152" marR="73152" marT="27432" marB="27432" anchor="ctr">
                    <a:solidFill>
                      <a:srgbClr val="17223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土台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kxrl2body  kxrl2sbody  kxrl27body  kxrl2a6h2body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頭</a:t>
                      </a:r>
                    </a:p>
                  </a:txBody>
                  <a:tcPr marL="73152" marR="73152" marT="27432" marB="27432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d405eyes  d405cam  d405echos</a:t>
                      </a:r>
                    </a:p>
                  </a:txBody>
                  <a:tcPr marL="73152" marR="73152" marT="27432" marB="27432" anchor="ctr">
                    <a:solidFill>
                      <a:srgbClr val="EDF2F7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腕・指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la6/ra6  la7/ra7  la5/ra5  lg1sx/rg1sx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脚</a:t>
                      </a:r>
                    </a:p>
                  </a:txBody>
                  <a:tcPr marL="73152" marR="73152" marT="27432" marB="27432" anchor="ctr">
                    <a:solidFill>
                      <a:srgbClr val="EDF2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lleg5  lleg6  llegs6  kxrlleg1y  lsf(足裏)</a:t>
                      </a:r>
                    </a:p>
                  </a:txBody>
                  <a:tcPr marL="73152" marR="73152" marT="27432" marB="27432" anchor="ctr">
                    <a:solidFill>
                      <a:srgbClr val="EDF2F7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台車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E293B"/>
                          </a:solidFill>
                          <a:latin typeface="Yu Gothic"/>
                          <a:ea typeface="Yu Gothic"/>
                          <a:cs typeface="Yu Gothic"/>
                        </a:rPr>
                        <a:t>kxrl2l2base  kxrl4tbase  kxrl6base  kxrmw4base  kxrow4base  kxrdw4base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NEW PARTS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レベルC：新しい部品と関節構造を追加する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① 部品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389888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kxrbody.l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394960" cy="1481328"/>
          </a:xfrm>
          <a:prstGeom prst="roundRect">
            <a:avLst>
              <a:gd name="adj" fmla="val 4000"/>
            </a:avLst>
          </a:prstGeom>
          <a:solidFill>
            <a:srgbClr val="1E273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85800" y="1847088"/>
            <a:ext cx="5120640" cy="12618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(defun kxr-my-plate ()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 (let ((b (make-cube 60 40 2)))  </a:t>
            </a:r>
            <a:r>
              <a:rPr sz="1100" b="0" i="0">
                <a:solidFill>
                  <a:srgbClr val="8FB38A"/>
                </a:solidFill>
                <a:latin typeface="Courier New"/>
                <a:ea typeface="Yu Gothic"/>
                <a:cs typeface="Yu Gothic"/>
              </a:rPr>
              <a:t>;; 60x40x2mm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   (send b :name "my-plate")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   (send b :set-color #f(0.9 0.9 0.9))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   b))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37160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② 部品組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1389888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kxrbodyset.l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394960" cy="1481328"/>
          </a:xfrm>
          <a:prstGeom prst="roundRect">
            <a:avLst>
              <a:gd name="adj" fmla="val 4000"/>
            </a:avLst>
          </a:prstGeom>
          <a:solidFill>
            <a:srgbClr val="1E273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355080" y="1847088"/>
            <a:ext cx="5120640" cy="12618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(defun kxr-my-neck-bodyset ()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 (kxr-bodyset-create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  (list (kxr-servo-s3301) (kxr-my-plate))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  (make-cascoords :pos #f(0 0 30))))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  </a:t>
            </a:r>
            <a:r>
              <a:rPr sz="1100" b="0" i="0">
                <a:solidFill>
                  <a:srgbClr val="8FB38A"/>
                </a:solidFill>
                <a:latin typeface="Courier New"/>
                <a:ea typeface="Yu Gothic"/>
                <a:cs typeface="Yu Gothic"/>
              </a:rPr>
              <a:t>;; ↑ 次の関節がつく座標 (joint-coord)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8328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③ リンク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401568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kxrlinks.l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49040"/>
            <a:ext cx="5394960" cy="1481328"/>
          </a:xfrm>
          <a:prstGeom prst="roundRect">
            <a:avLst>
              <a:gd name="adj" fmla="val 4000"/>
            </a:avLst>
          </a:prstGeom>
          <a:solidFill>
            <a:srgbClr val="1E273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85800" y="3858768"/>
            <a:ext cx="5120640" cy="12618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(defun kxr-my-neck-link ()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 (let ((bs (kxr-my-neck-bodyset)))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   (kxr-link-create bs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     :joint-coord (get bs :joint-coord))))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 </a:t>
            </a:r>
            <a:r>
              <a:rPr sz="1100" b="0" i="0">
                <a:solidFill>
                  <a:srgbClr val="8FB38A"/>
                </a:solidFill>
                <a:latin typeface="Courier New"/>
                <a:ea typeface="Yu Gothic"/>
                <a:cs typeface="Yu Gothic"/>
              </a:rPr>
              <a:t>;; 質量・重心を部品から自動計算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38328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④ ロボット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3401568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kxrmodels.l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749040"/>
            <a:ext cx="5394960" cy="1481328"/>
          </a:xfrm>
          <a:prstGeom prst="roundRect">
            <a:avLst>
              <a:gd name="adj" fmla="val 4000"/>
            </a:avLst>
          </a:prstGeom>
          <a:solidFill>
            <a:srgbClr val="1E273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355080" y="3858768"/>
            <a:ext cx="5120640" cy="12618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8FB38A"/>
                </a:solidFill>
                <a:latin typeface="Courier New"/>
                <a:ea typeface="Yu Gothic"/>
                <a:cs typeface="Yu Gothic"/>
              </a:rPr>
              <a:t>;; (:setup-head ...) の (case hd ...) に節を追加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(:my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 (send self :push-joint :head "neck-y" :z -90 90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       :child-link (kxr-my-neck-link)))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8FB38A"/>
                </a:solidFill>
                <a:latin typeface="Courier New"/>
                <a:ea typeface="Yu Gothic"/>
                <a:cs typeface="Yu Gothic"/>
              </a:rPr>
              <a:t>;; → 設定で :head :my と書ける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44068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DDEEF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77240" y="5504688"/>
            <a:ext cx="10789920" cy="8229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marL="201168" indent="-182880">
              <a:spcAft>
                <a:spcPts val="300"/>
              </a:spcAft>
              <a:buClr>
                <a:srgbClr val="EE7B1E"/>
              </a:buClr>
              <a:buFont typeface="Arial"/>
              <a:buChar char="■"/>
            </a:pPr>
            <a:r>
              <a:rPr sz="120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部品</a:t>
            </a:r>
            <a:r>
              <a:rPr sz="120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：make-cube / make-cylinder と body+ / body- で形を作る (穴は kxr-body-minus-holes、STLは stl2eus)。</a:t>
            </a:r>
            <a:r>
              <a:rPr sz="120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部品組・リンク</a:t>
            </a:r>
            <a:r>
              <a:rPr sz="120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：次の関節の位置を joint-coord に置く。質量・重心は自動計算</a:t>
            </a:r>
          </a:p>
          <a:p>
            <a:pPr marL="201168" indent="-182880">
              <a:spcAft>
                <a:spcPts val="300"/>
              </a:spcAft>
              <a:buClr>
                <a:srgbClr val="EE7B1E"/>
              </a:buClr>
              <a:buFont typeface="Arial"/>
              <a:buChar char="■"/>
            </a:pPr>
            <a:r>
              <a:rPr sz="120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ロボット</a:t>
            </a:r>
            <a:r>
              <a:rPr sz="120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：:setup-xxx に新しいキーワードを足すと、設定から </a:t>
            </a:r>
            <a:r>
              <a:rPr sz="1200" b="1" i="0">
                <a:solidFill>
                  <a:srgbClr val="1E293B"/>
                </a:solidFill>
                <a:latin typeface="Courier New"/>
                <a:ea typeface="Yu Gothic"/>
                <a:cs typeface="Yu Gothic"/>
              </a:rPr>
              <a:t>:head :my</a:t>
            </a:r>
            <a:r>
              <a:rPr sz="120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 のように選べる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STEP 5–6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動作を作り、外へ展開する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760720" cy="4754880"/>
          </a:xfrm>
          <a:prstGeom prst="roundRect">
            <a:avLst>
              <a:gd name="adj" fmla="val 4000"/>
            </a:avLst>
          </a:prstGeom>
          <a:solidFill>
            <a:srgbClr val="1E273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85800" y="1572768"/>
            <a:ext cx="5486400" cy="45354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8FB38A"/>
                </a:solidFill>
                <a:latin typeface="Courier New"/>
                <a:ea typeface="Yu Gothic"/>
                <a:cs typeface="Yu Gothic"/>
              </a:rPr>
              <a:t>;; 動作を作る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(send *robot* :larm :move-end-pos #f(0 0 30))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</a:t>
            </a:r>
            <a:r>
              <a:rPr sz="1250" b="0" i="0">
                <a:solidFill>
                  <a:srgbClr val="8FB38A"/>
                </a:solidFill>
                <a:latin typeface="Courier New"/>
                <a:ea typeface="Yu Gothic"/>
                <a:cs typeface="Yu Gothic"/>
              </a:rPr>
              <a:t>;; 手先を30mm上げるIK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(send *ri* :angle-vector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     (send *robot* :angle-vector) 1500)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8FB38A"/>
                </a:solidFill>
                <a:latin typeface="Courier New"/>
                <a:ea typeface="Yu Gothic"/>
                <a:cs typeface="Yu Gothic"/>
              </a:rPr>
              <a:t>;; 外へ書き出す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(native-robot-to-urdf-file "kxrmyl4")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</a:t>
            </a:r>
            <a:r>
              <a:rPr sz="1250" b="0" i="0">
                <a:solidFill>
                  <a:srgbClr val="8FB38A"/>
                </a:solidFill>
                <a:latin typeface="Courier New"/>
                <a:ea typeface="Yu Gothic"/>
                <a:cs typeface="Yu Gothic"/>
              </a:rPr>
              <a:t>;; =&gt; eusurdf/kxrmyl4.urdf + STL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(native-robot-to-mujoco-file "kxrmyl4")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E6EDF3"/>
                </a:solidFill>
                <a:latin typeface="Courier New"/>
                <a:ea typeface="Yu Gothic"/>
                <a:cs typeface="Yu Gothic"/>
              </a:rPr>
              <a:t> </a:t>
            </a:r>
            <a:r>
              <a:rPr sz="1250" b="0" i="0">
                <a:solidFill>
                  <a:srgbClr val="8FB38A"/>
                </a:solidFill>
                <a:latin typeface="Courier New"/>
                <a:ea typeface="Yu Gothic"/>
                <a:cs typeface="Yu Gothic"/>
              </a:rPr>
              <a:t>;; =&gt; eusmjcf/kxrmyl4.xml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4630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7A8C"/>
                </a:solidFill>
                <a:latin typeface="Yu Gothic"/>
                <a:ea typeface="Yu Gothic"/>
                <a:cs typeface="Yu Gothic"/>
              </a:rPr>
              <a:t>強化学習に載せる (walking-kxr-rl)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920240"/>
            <a:ext cx="5029200" cy="2651760"/>
          </a:xfrm>
          <a:prstGeom prst="roundRect">
            <a:avLst>
              <a:gd name="adj" fmla="val 4000"/>
            </a:avLst>
          </a:prstGeom>
          <a:solidFill>
            <a:srgbClr val="1E273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812280" y="2029968"/>
            <a:ext cx="4754880" cy="2432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F7C08A"/>
                </a:solidFill>
                <a:latin typeface="Courier New"/>
                <a:ea typeface="Yu Gothic"/>
                <a:cs typeface="Yu Gothic"/>
              </a:rPr>
              <a:t># kxr_rl/robots.py の DEFAULT_ROBOTS に追加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F7C08A"/>
                </a:solidFill>
                <a:latin typeface="Courier New"/>
                <a:ea typeface="Yu Gothic"/>
                <a:cs typeface="Yu Gothic"/>
              </a:rPr>
              <a:t>$ uv run robot/build_mjcf.py kxrmyl4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F7C08A"/>
                </a:solidFill>
                <a:latin typeface="Courier New"/>
                <a:ea typeface="Yu Gothic"/>
                <a:cs typeface="Yu Gothic"/>
              </a:rPr>
              <a:t>$ uv run robot/measure_home.py kxrmyl4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F7C08A"/>
                </a:solidFill>
                <a:latin typeface="Courier New"/>
                <a:ea typeface="Yu Gothic"/>
                <a:cs typeface="Yu Gothic"/>
              </a:rPr>
              <a:t>$ uv run check.py kxrmyl4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F7C08A"/>
                </a:solidFill>
                <a:latin typeface="Courier New"/>
                <a:ea typeface="Yu Gothic"/>
                <a:cs typeface="Yu Gothic"/>
              </a:rPr>
              <a:t>$ uv run train.py kxrmyl4 walk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F7C08A"/>
                </a:solidFill>
                <a:latin typeface="Courier New"/>
                <a:ea typeface="Yu Gothic"/>
                <a:cs typeface="Yu Gothic"/>
              </a:rPr>
              <a:t>$ uv run train.py kxrmyl4 getup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4754880"/>
            <a:ext cx="5029200" cy="15544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marL="201168" indent="-182880">
              <a:spcAft>
                <a:spcPts val="600"/>
              </a:spcAft>
              <a:buClr>
                <a:srgbClr val="EE7B1E"/>
              </a:buClr>
              <a:buFont typeface="Arial"/>
              <a:buChar char="■"/>
            </a:pPr>
            <a:r>
              <a:rPr sz="130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関節名の規則 (lleg- / rarm- / head- …) を守れば、学習側のコードは変更不要</a:t>
            </a:r>
          </a:p>
          <a:p>
            <a:pPr marL="201168" indent="-182880">
              <a:spcAft>
                <a:spcPts val="600"/>
              </a:spcAft>
              <a:buClr>
                <a:srgbClr val="EE7B1E"/>
              </a:buClr>
              <a:buFont typeface="Arial"/>
              <a:buChar char="■"/>
            </a:pPr>
            <a:r>
              <a:rPr sz="130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学習後は方策を量子化して M5Stack ファームで実機に載せる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ASSIGNMENTS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2233"/>
                </a:solidFill>
                <a:latin typeface="Yu Gothic"/>
                <a:ea typeface="Yu Gothic"/>
                <a:cs typeface="Yu Gothic"/>
              </a:rPr>
              <a:t>演習課題の例とチェックリスト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6675120" cy="118872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777240" y="1737360"/>
            <a:ext cx="640080" cy="640080"/>
          </a:xfrm>
          <a:prstGeom prst="ellipse">
            <a:avLst/>
          </a:prstGeom>
          <a:solidFill>
            <a:srgbClr val="EE7B1E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5544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初級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874520"/>
            <a:ext cx="5486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既存の2脚型の腕を a3 から a6 に変え、手先を IK で動かす。関節数の変化と、届く範囲の違いを比べる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34640"/>
            <a:ext cx="6675120" cy="118872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77240" y="3108960"/>
            <a:ext cx="640080" cy="640080"/>
          </a:xfrm>
          <a:prstGeom prst="ellipse">
            <a:avLst/>
          </a:prstGeom>
          <a:solidFill>
            <a:srgbClr val="EE7B1E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9260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中級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246120"/>
            <a:ext cx="5486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双腕＋車輪台車の robotset を作り、机の上の物に手を伸ばす姿勢を作る。台車の種類による違いを考察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06240"/>
            <a:ext cx="6675120" cy="1188720"/>
          </a:xfrm>
          <a:prstGeom prst="roundRect">
            <a:avLst>
              <a:gd name="adj" fmla="val 8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777240" y="4480559"/>
            <a:ext cx="640080" cy="640080"/>
          </a:xfrm>
          <a:prstGeom prst="ellipse">
            <a:avLst/>
          </a:prstGeom>
          <a:solidFill>
            <a:srgbClr val="EE7B1E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4297679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上級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617720"/>
            <a:ext cx="5486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新しい首部品を作ってカメラを載せた4肢型を設計。URDF を書き出してシミュレーションで歩かせる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1463040"/>
            <a:ext cx="4114800" cy="4846320"/>
          </a:xfrm>
          <a:prstGeom prst="roundRect">
            <a:avLst>
              <a:gd name="adj" fmla="val 8000"/>
            </a:avLst>
          </a:prstGeom>
          <a:solidFill>
            <a:srgbClr val="FDEBD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818120" y="164592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つまずきやすい点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2103120"/>
            <a:ext cx="3703320" cy="41148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marL="201168" indent="-182880">
              <a:spcAft>
                <a:spcPts val="700"/>
              </a:spcAft>
              <a:buClr>
                <a:srgbClr val="EE7B1E"/>
              </a:buClr>
              <a:buFont typeface="Arial"/>
              <a:buChar char="■"/>
            </a:pPr>
            <a:r>
              <a:rPr sz="12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ロボット名が既存と重複 → check-duplicated-names</a:t>
            </a:r>
          </a:p>
          <a:p>
            <a:pPr marL="201168" indent="-182880">
              <a:spcAft>
                <a:spcPts val="700"/>
              </a:spcAft>
              <a:buClr>
                <a:srgbClr val="EE7B1E"/>
              </a:buClr>
              <a:buFont typeface="Arial"/>
              <a:buChar char="■"/>
            </a:pPr>
            <a:r>
              <a:rPr sz="12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関節名の綴り違い (:larm-elbow-p と :larm-elbow-r)</a:t>
            </a:r>
          </a:p>
          <a:p>
            <a:pPr marL="201168" indent="-182880">
              <a:spcAft>
                <a:spcPts val="700"/>
              </a:spcAft>
              <a:buClr>
                <a:srgbClr val="EE7B1E"/>
              </a:buClr>
              <a:buFont typeface="Arial"/>
              <a:buChar char="■"/>
            </a:pPr>
            <a:r>
              <a:rPr sz="12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回転方向の符号が逆で、左右対称に動かない</a:t>
            </a:r>
          </a:p>
          <a:p>
            <a:pPr marL="201168" indent="-182880">
              <a:spcAft>
                <a:spcPts val="700"/>
              </a:spcAft>
              <a:buClr>
                <a:srgbClr val="EE7B1E"/>
              </a:buClr>
              <a:buFont typeface="Arial"/>
              <a:buChar char="■"/>
            </a:pPr>
            <a:r>
              <a:rPr sz="12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サーボIDの重複・抜け</a:t>
            </a:r>
          </a:p>
          <a:p>
            <a:pPr marL="201168" indent="-182880">
              <a:spcAft>
                <a:spcPts val="700"/>
              </a:spcAft>
              <a:buClr>
                <a:srgbClr val="EE7B1E"/>
              </a:buClr>
              <a:buFont typeface="Arial"/>
              <a:buChar char="■"/>
            </a:pPr>
            <a:r>
              <a:rPr sz="12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重心が足の外に出て立てない</a:t>
            </a:r>
          </a:p>
          <a:p>
            <a:pPr marL="201168" indent="-182880">
              <a:spcAft>
                <a:spcPts val="700"/>
              </a:spcAft>
              <a:buClr>
                <a:srgbClr val="EE7B1E"/>
              </a:buClr>
              <a:buFont typeface="Arial"/>
              <a:buChar char="■"/>
            </a:pPr>
            <a:r>
              <a:rPr sz="1250" b="0" i="0">
                <a:solidFill>
                  <a:srgbClr val="1E293B"/>
                </a:solidFill>
                <a:latin typeface="Yu Gothic"/>
                <a:ea typeface="Yu Gothic"/>
                <a:cs typeface="Yu Gothic"/>
              </a:rPr>
              <a:t>古い models/ のキャッシュを見ている → :model nil か :generate 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71500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成果物：設定エントリ・モデル画像・関節一覧・動作デモ・考察(骨格と課題の関係)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Yu Gothic"/>
                <a:ea typeface="Yu Gothic"/>
                <a:cs typeface="Yu Gothic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6858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331720"/>
            <a:ext cx="6035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ロボットを「データ(設定)」として記述し、部品から全身モデルを自動生成する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246120"/>
            <a:ext cx="6035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同じモデルが、表示・IK・実機制御・強化学習・Web公開に共通に使える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160520"/>
            <a:ext cx="6035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2脚・4肢・6肢・車輪・着脱モジュールの骨格を比べ、課題に合う身体を選べる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2920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EE7B1E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5074920"/>
            <a:ext cx="6035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演習：A 設定追加 → B モジュール組替え → C 新部品、の順に拡張する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03504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AA8BA"/>
                </a:solidFill>
                <a:latin typeface="Courier New"/>
                <a:ea typeface="Yu Gothic"/>
                <a:cs typeface="Yu Gothic"/>
              </a:rPr>
              <a:t>github.com/inabajsk/kxreus  ·  README.md / kxr-document.txt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123444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4" name="Picture 13" descr="kxrl2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234440"/>
            <a:ext cx="1828800" cy="18288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9829800" y="123444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6" name="Picture 15" descr="kxrl4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1234440"/>
            <a:ext cx="1828800" cy="18288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7818120" y="338328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8" name="Picture 17" descr="kxrl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3383280"/>
            <a:ext cx="1828800" cy="182880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9829800" y="338328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20" name="Picture 19" descr="kxrmys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0" y="3383280"/>
            <a:ext cx="1828800" cy="1828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818120" y="553212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9AA8BA"/>
                </a:solidFill>
                <a:latin typeface="Yu Gothic"/>
                <a:ea typeface="Yu Gothic"/>
                <a:cs typeface="Yu Gothic"/>
              </a:rPr>
              <a:t>右下は演習で作った kxrmyset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